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derivative index of her work. All credit for the ideas is hers.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61C"/>
        </a:solidFill>
      </p:bgPr>
    </p:bg>
    <p:spTree>
      <p:nvGrpSpPr>
        <p:cNvPr id="1" name=""/>
        <p:cNvGrpSpPr/>
        <p:nvPr/>
      </p:nvGrpSpPr>
      <p:grpSpPr>
        <a:xfrm>
          <a:off x="0" y="0"/>
          <a:ext cx="0" cy="0"/>
          <a:chOff x="0" y="0"/>
          <a:chExt cx="0" cy="0"/>
        </a:xfrm>
      </p:grpSpPr>
      <p:sp>
        <p:nvSpPr>
          <p:cNvPr id="2" name="Text 0"/>
          <p:cNvSpPr txBox="1"/>
          <p:nvPr/>
        </p:nvSpPr>
        <p:spPr>
          <a:xfrm>
            <a:off x="11076127" y="384048"/>
            <a:ext cx="457200" cy="237744"/>
          </a:xfrm>
          <a:prstGeom prst="rect">
            <a:avLst/>
          </a:prstGeom>
          <a:noFill/>
          <a:ln/>
        </p:spPr>
        <p:txBody>
          <a:bodyPr wrap="square" lIns="0" tIns="0" rIns="0" bIns="0" rtlCol="0" anchor="ctr"/>
          <a:lstStyle/>
          <a:p>
            <a:pPr algn="r" indent="0" marL="0">
              <a:buNone/>
            </a:pPr>
            <a:r>
              <a:rPr lang="en-US" sz="900" dirty="0">
                <a:solidFill>
                  <a:srgbClr val="52505C"/>
                </a:solidFill>
                <a:latin typeface="Calibri" pitchFamily="34" charset="0"/>
                <a:ea typeface="Calibri" pitchFamily="34" charset="-122"/>
                <a:cs typeface="Calibri" pitchFamily="34" charset="-120"/>
              </a:rPr>
              <a:t>1</a:t>
            </a:r>
            <a:endParaRPr lang="en-US" sz="900" dirty="0"/>
          </a:p>
        </p:txBody>
      </p:sp>
      <p:sp>
        <p:nvSpPr>
          <p:cNvPr id="3" name="Text 1"/>
          <p:cNvSpPr txBox="1"/>
          <p:nvPr/>
        </p:nvSpPr>
        <p:spPr>
          <a:xfrm>
            <a:off x="658368" y="2011680"/>
            <a:ext cx="7863840" cy="1828800"/>
          </a:xfrm>
          <a:prstGeom prst="rect">
            <a:avLst/>
          </a:prstGeom>
          <a:noFill/>
          <a:ln/>
        </p:spPr>
        <p:txBody>
          <a:bodyPr wrap="square" lIns="0" tIns="0" rIns="0" bIns="0" rtlCol="0" anchor="ctr"/>
          <a:lstStyle/>
          <a:p>
            <a:pPr indent="0" marL="0">
              <a:lnSpc>
                <a:spcPts val="5800"/>
              </a:lnSpc>
              <a:buNone/>
            </a:pPr>
            <a:r>
              <a:rPr lang="en-US" sz="5200" b="1" dirty="0">
                <a:solidFill>
                  <a:srgbClr val="FFFFFF"/>
                </a:solidFill>
                <a:latin typeface="Cambria" pitchFamily="34" charset="0"/>
                <a:ea typeface="Cambria" pitchFamily="34" charset="-122"/>
                <a:cs typeface="Cambria" pitchFamily="34" charset="-120"/>
              </a:rPr>
              <a:t>Attachment,</a:t>
            </a:r>
            <a:endParaRPr lang="en-US" sz="5200" dirty="0"/>
          </a:p>
          <a:p>
            <a:pPr indent="0" marL="0">
              <a:lnSpc>
                <a:spcPts val="5800"/>
              </a:lnSpc>
              <a:buNone/>
            </a:pPr>
            <a:r>
              <a:rPr lang="en-US" sz="5200" b="1" dirty="0">
                <a:solidFill>
                  <a:srgbClr val="FFFFFF"/>
                </a:solidFill>
                <a:latin typeface="Cambria" pitchFamily="34" charset="0"/>
                <a:ea typeface="Cambria" pitchFamily="34" charset="-122"/>
                <a:cs typeface="Cambria" pitchFamily="34" charset="-120"/>
              </a:rPr>
              <a:t>as a graph</a:t>
            </a:r>
            <a:endParaRPr lang="en-US" sz="5200" dirty="0"/>
          </a:p>
        </p:txBody>
      </p:sp>
      <p:sp>
        <p:nvSpPr>
          <p:cNvPr id="4" name="Text 2"/>
          <p:cNvSpPr txBox="1"/>
          <p:nvPr/>
        </p:nvSpPr>
        <p:spPr>
          <a:xfrm>
            <a:off x="658368" y="4023360"/>
            <a:ext cx="6949440" cy="914400"/>
          </a:xfrm>
          <a:prstGeom prst="rect">
            <a:avLst/>
          </a:prstGeom>
          <a:noFill/>
          <a:ln/>
        </p:spPr>
        <p:txBody>
          <a:bodyPr wrap="square" lIns="0" tIns="0" rIns="0" bIns="0" rtlCol="0" anchor="ctr"/>
          <a:lstStyle/>
          <a:p>
            <a:pPr indent="0" marL="0">
              <a:lnSpc>
                <a:spcPts val="2400"/>
              </a:lnSpc>
              <a:buNone/>
            </a:pPr>
            <a:r>
              <a:rPr lang="en-US" sz="1600" dirty="0">
                <a:solidFill>
                  <a:srgbClr val="BDB9C6"/>
                </a:solidFill>
                <a:latin typeface="Calibri" pitchFamily="34" charset="0"/>
                <a:ea typeface="Calibri" pitchFamily="34" charset="-122"/>
                <a:cs typeface="Calibri" pitchFamily="34" charset="-120"/>
              </a:rPr>
              <a:t>54 videos of Heidi Priebe's work on attachment theory, taken apart into something you can ask questions of — and three ways to use it.</a:t>
            </a:r>
            <a:endParaRPr lang="en-US" sz="1600" dirty="0"/>
          </a:p>
        </p:txBody>
      </p:sp>
      <p:sp>
        <p:nvSpPr>
          <p:cNvPr id="5" name="Text 3"/>
          <p:cNvSpPr txBox="1"/>
          <p:nvPr/>
        </p:nvSpPr>
        <p:spPr>
          <a:xfrm>
            <a:off x="658368" y="5120640"/>
            <a:ext cx="6400800" cy="310896"/>
          </a:xfrm>
          <a:prstGeom prst="rect">
            <a:avLst/>
          </a:prstGeom>
          <a:noFill/>
          <a:ln/>
        </p:spPr>
        <p:txBody>
          <a:bodyPr wrap="square" lIns="0" tIns="0" rIns="0" bIns="0" rtlCol="0" anchor="ctr"/>
          <a:lstStyle/>
          <a:p>
            <a:pPr indent="0" marL="0">
              <a:buNone/>
            </a:pPr>
            <a:r>
              <a:rPr lang="en-US" sz="1300" dirty="0">
                <a:solidFill>
                  <a:srgbClr val="9E86E8"/>
                </a:solidFill>
                <a:latin typeface="Courier New" pitchFamily="34" charset="0"/>
                <a:ea typeface="Courier New" pitchFamily="34" charset="-122"/>
                <a:cs typeface="Courier New" pitchFamily="34" charset="-120"/>
              </a:rPr>
              <a:t>touyette.github.io/AS-KG</a:t>
            </a:r>
            <a:endParaRPr lang="en-US" sz="1300" dirty="0"/>
          </a:p>
        </p:txBody>
      </p:sp>
      <p:sp>
        <p:nvSpPr>
          <p:cNvPr id="6" name="Shape 4"/>
          <p:cNvSpPr/>
          <p:nvPr/>
        </p:nvSpPr>
        <p:spPr>
          <a:xfrm>
            <a:off x="658368" y="5760720"/>
            <a:ext cx="201168" cy="201168"/>
          </a:xfrm>
          <a:prstGeom prst="ellipse">
            <a:avLst/>
          </a:prstGeom>
          <a:solidFill>
            <a:srgbClr val="F2643E"/>
          </a:solidFill>
          <a:ln w="12700">
            <a:solidFill>
              <a:srgbClr val="333333"/>
            </a:solidFill>
            <a:prstDash val="solid"/>
          </a:ln>
        </p:spPr>
      </p:sp>
      <p:sp>
        <p:nvSpPr>
          <p:cNvPr id="7" name="Shape 5"/>
          <p:cNvSpPr/>
          <p:nvPr/>
        </p:nvSpPr>
        <p:spPr>
          <a:xfrm>
            <a:off x="987552" y="5760720"/>
            <a:ext cx="201168" cy="201168"/>
          </a:xfrm>
          <a:prstGeom prst="ellipse">
            <a:avLst/>
          </a:prstGeom>
          <a:solidFill>
            <a:srgbClr val="EDA72C"/>
          </a:solidFill>
          <a:ln w="12700">
            <a:solidFill>
              <a:srgbClr val="333333"/>
            </a:solidFill>
            <a:prstDash val="solid"/>
          </a:ln>
        </p:spPr>
      </p:sp>
      <p:sp>
        <p:nvSpPr>
          <p:cNvPr id="8" name="Shape 6"/>
          <p:cNvSpPr/>
          <p:nvPr/>
        </p:nvSpPr>
        <p:spPr>
          <a:xfrm>
            <a:off x="1316736" y="5760720"/>
            <a:ext cx="201168" cy="201168"/>
          </a:xfrm>
          <a:prstGeom prst="ellipse">
            <a:avLst/>
          </a:prstGeom>
          <a:solidFill>
            <a:srgbClr val="E04F86"/>
          </a:solidFill>
          <a:ln w="12700">
            <a:solidFill>
              <a:srgbClr val="333333"/>
            </a:solidFill>
            <a:prstDash val="solid"/>
          </a:ln>
        </p:spPr>
      </p:sp>
      <p:sp>
        <p:nvSpPr>
          <p:cNvPr id="9" name="Shape 7"/>
          <p:cNvSpPr/>
          <p:nvPr/>
        </p:nvSpPr>
        <p:spPr>
          <a:xfrm>
            <a:off x="1645920" y="5760720"/>
            <a:ext cx="201168" cy="201168"/>
          </a:xfrm>
          <a:prstGeom prst="ellipse">
            <a:avLst/>
          </a:prstGeom>
          <a:solidFill>
            <a:srgbClr val="C56AD9"/>
          </a:solidFill>
          <a:ln w="12700">
            <a:solidFill>
              <a:srgbClr val="333333"/>
            </a:solidFill>
            <a:prstDash val="solid"/>
          </a:ln>
        </p:spPr>
      </p:sp>
      <p:sp>
        <p:nvSpPr>
          <p:cNvPr id="10" name="Shape 8"/>
          <p:cNvSpPr/>
          <p:nvPr/>
        </p:nvSpPr>
        <p:spPr>
          <a:xfrm>
            <a:off x="1975104" y="5760720"/>
            <a:ext cx="201168" cy="201168"/>
          </a:xfrm>
          <a:prstGeom prst="ellipse">
            <a:avLst/>
          </a:prstGeom>
          <a:solidFill>
            <a:srgbClr val="5B83E8"/>
          </a:solidFill>
          <a:ln w="12700">
            <a:solidFill>
              <a:srgbClr val="333333"/>
            </a:solidFill>
            <a:prstDash val="solid"/>
          </a:ln>
        </p:spPr>
      </p:sp>
      <p:sp>
        <p:nvSpPr>
          <p:cNvPr id="11" name="Shape 9"/>
          <p:cNvSpPr/>
          <p:nvPr/>
        </p:nvSpPr>
        <p:spPr>
          <a:xfrm>
            <a:off x="2304288" y="5760720"/>
            <a:ext cx="201168" cy="201168"/>
          </a:xfrm>
          <a:prstGeom prst="ellipse">
            <a:avLst/>
          </a:prstGeom>
          <a:solidFill>
            <a:srgbClr val="3C5FA8"/>
          </a:solidFill>
          <a:ln w="12700">
            <a:solidFill>
              <a:srgbClr val="333333"/>
            </a:solidFill>
            <a:prstDash val="solid"/>
          </a:ln>
        </p:spPr>
      </p:sp>
      <p:sp>
        <p:nvSpPr>
          <p:cNvPr id="12" name="Shape 10"/>
          <p:cNvSpPr/>
          <p:nvPr/>
        </p:nvSpPr>
        <p:spPr>
          <a:xfrm>
            <a:off x="2633472" y="5760720"/>
            <a:ext cx="201168" cy="201168"/>
          </a:xfrm>
          <a:prstGeom prst="ellipse">
            <a:avLst/>
          </a:prstGeom>
          <a:solidFill>
            <a:srgbClr val="5BB84F"/>
          </a:solidFill>
          <a:ln w="12700">
            <a:solidFill>
              <a:srgbClr val="333333"/>
            </a:solidFill>
            <a:prstDash val="solid"/>
          </a:ln>
        </p:spPr>
      </p:sp>
      <p:sp>
        <p:nvSpPr>
          <p:cNvPr id="13" name="Shape 11"/>
          <p:cNvSpPr/>
          <p:nvPr/>
        </p:nvSpPr>
        <p:spPr>
          <a:xfrm>
            <a:off x="2962656" y="5760720"/>
            <a:ext cx="201168" cy="201168"/>
          </a:xfrm>
          <a:prstGeom prst="ellipse">
            <a:avLst/>
          </a:prstGeom>
          <a:solidFill>
            <a:srgbClr val="2BB0A3"/>
          </a:solidFill>
          <a:ln w="12700">
            <a:solidFill>
              <a:srgbClr val="333333"/>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076127" y="384048"/>
            <a:ext cx="457200" cy="237744"/>
          </a:xfrm>
          <a:prstGeom prst="rect">
            <a:avLst/>
          </a:prstGeom>
          <a:noFill/>
          <a:ln/>
        </p:spPr>
        <p:txBody>
          <a:bodyPr wrap="square" lIns="0" tIns="0" rIns="0" bIns="0" rtlCol="0" anchor="ctr"/>
          <a:lstStyle/>
          <a:p>
            <a:pPr algn="r" indent="0" marL="0">
              <a:buNone/>
            </a:pPr>
            <a:r>
              <a:rPr lang="en-US" sz="900" dirty="0">
                <a:solidFill>
                  <a:srgbClr val="807C8A"/>
                </a:solidFill>
                <a:latin typeface="Calibri" pitchFamily="34" charset="0"/>
                <a:ea typeface="Calibri" pitchFamily="34" charset="-122"/>
                <a:cs typeface="Calibri" pitchFamily="34" charset="-120"/>
              </a:rPr>
              <a:t>2</a:t>
            </a:r>
            <a:endParaRPr lang="en-US" sz="900" dirty="0"/>
          </a:p>
        </p:txBody>
      </p:sp>
      <p:sp>
        <p:nvSpPr>
          <p:cNvPr id="3" name="Text 1"/>
          <p:cNvSpPr txBox="1"/>
          <p:nvPr/>
        </p:nvSpPr>
        <p:spPr>
          <a:xfrm>
            <a:off x="658368" y="475488"/>
            <a:ext cx="10874959" cy="219456"/>
          </a:xfrm>
          <a:prstGeom prst="rect">
            <a:avLst/>
          </a:prstGeom>
          <a:noFill/>
          <a:ln/>
        </p:spPr>
        <p:txBody>
          <a:bodyPr wrap="square" lIns="0" tIns="0" rIns="0" bIns="0" rtlCol="0" anchor="ctr"/>
          <a:lstStyle/>
          <a:p>
            <a:pPr indent="0" marL="0">
              <a:buNone/>
            </a:pPr>
            <a:r>
              <a:rPr lang="en-US" sz="1050" b="1" spc="160" kern="0" dirty="0">
                <a:solidFill>
                  <a:srgbClr val="7B4BD8"/>
                </a:solidFill>
                <a:latin typeface="Calibri" pitchFamily="34" charset="0"/>
                <a:ea typeface="Calibri" pitchFamily="34" charset="-122"/>
                <a:cs typeface="Calibri" pitchFamily="34" charset="-120"/>
              </a:rPr>
              <a:t>THE PROBLEM</a:t>
            </a:r>
            <a:endParaRPr lang="en-US" sz="1050" dirty="0"/>
          </a:p>
        </p:txBody>
      </p:sp>
      <p:sp>
        <p:nvSpPr>
          <p:cNvPr id="4" name="Text 2"/>
          <p:cNvSpPr txBox="1"/>
          <p:nvPr/>
        </p:nvSpPr>
        <p:spPr>
          <a:xfrm>
            <a:off x="658368" y="768096"/>
            <a:ext cx="10874959" cy="658368"/>
          </a:xfrm>
          <a:prstGeom prst="rect">
            <a:avLst/>
          </a:prstGeom>
          <a:noFill/>
          <a:ln/>
        </p:spPr>
        <p:txBody>
          <a:bodyPr wrap="square" lIns="0" tIns="0" rIns="0" bIns="0" rtlCol="0" anchor="ctr"/>
          <a:lstStyle/>
          <a:p>
            <a:pPr indent="0" marL="0">
              <a:buNone/>
            </a:pPr>
            <a:r>
              <a:rPr lang="en-US" sz="3800" b="1" dirty="0">
                <a:solidFill>
                  <a:srgbClr val="22222A"/>
                </a:solidFill>
                <a:latin typeface="Cambria" pitchFamily="34" charset="0"/>
                <a:ea typeface="Cambria" pitchFamily="34" charset="-122"/>
                <a:cs typeface="Cambria" pitchFamily="34" charset="-120"/>
              </a:rPr>
              <a:t>Video is linear. Ideas are not.</a:t>
            </a:r>
            <a:endParaRPr lang="en-US" sz="3800" dirty="0"/>
          </a:p>
        </p:txBody>
      </p:sp>
      <p:sp>
        <p:nvSpPr>
          <p:cNvPr id="5" name="Text 3"/>
          <p:cNvSpPr txBox="1"/>
          <p:nvPr/>
        </p:nvSpPr>
        <p:spPr>
          <a:xfrm>
            <a:off x="658368" y="2011680"/>
            <a:ext cx="9601200" cy="548640"/>
          </a:xfrm>
          <a:prstGeom prst="rect">
            <a:avLst/>
          </a:prstGeom>
          <a:noFill/>
          <a:ln/>
        </p:spPr>
        <p:txBody>
          <a:bodyPr wrap="square" lIns="0" tIns="0" rIns="0" bIns="0" rtlCol="0" anchor="ctr"/>
          <a:lstStyle/>
          <a:p>
            <a:pPr indent="0" marL="0">
              <a:buNone/>
            </a:pPr>
            <a:r>
              <a:rPr lang="en-US" sz="2400" b="1" dirty="0">
                <a:solidFill>
                  <a:srgbClr val="7B4BD8"/>
                </a:solidFill>
                <a:latin typeface="Cambria" pitchFamily="34" charset="0"/>
                <a:ea typeface="Cambria" pitchFamily="34" charset="-122"/>
                <a:cs typeface="Cambria" pitchFamily="34" charset="-120"/>
              </a:rPr>
              <a:t>You cannot ask a video what connects to what.</a:t>
            </a:r>
            <a:endParaRPr lang="en-US" sz="2400" dirty="0"/>
          </a:p>
        </p:txBody>
      </p:sp>
      <p:sp>
        <p:nvSpPr>
          <p:cNvPr id="6" name="Shape 4"/>
          <p:cNvSpPr/>
          <p:nvPr/>
        </p:nvSpPr>
        <p:spPr>
          <a:xfrm>
            <a:off x="658368" y="3118104"/>
            <a:ext cx="137160" cy="137160"/>
          </a:xfrm>
          <a:prstGeom prst="ellipse">
            <a:avLst/>
          </a:prstGeom>
          <a:solidFill>
            <a:srgbClr val="807C8A"/>
          </a:solidFill>
          <a:ln w="12700">
            <a:solidFill>
              <a:srgbClr val="333333"/>
            </a:solidFill>
            <a:prstDash val="solid"/>
          </a:ln>
        </p:spPr>
      </p:sp>
      <p:sp>
        <p:nvSpPr>
          <p:cNvPr id="7" name="Text 5"/>
          <p:cNvSpPr txBox="1"/>
          <p:nvPr/>
        </p:nvSpPr>
        <p:spPr>
          <a:xfrm>
            <a:off x="1042416" y="2971800"/>
            <a:ext cx="3657600" cy="365760"/>
          </a:xfrm>
          <a:prstGeom prst="rect">
            <a:avLst/>
          </a:prstGeom>
          <a:noFill/>
          <a:ln/>
        </p:spPr>
        <p:txBody>
          <a:bodyPr wrap="square" lIns="0" tIns="0" rIns="0" bIns="0" rtlCol="0" anchor="t"/>
          <a:lstStyle/>
          <a:p>
            <a:pPr indent="0" marL="0">
              <a:lnSpc>
                <a:spcPts val="2000"/>
              </a:lnSpc>
              <a:buNone/>
            </a:pPr>
            <a:r>
              <a:rPr lang="en-US" sz="1500" b="1" dirty="0">
                <a:solidFill>
                  <a:srgbClr val="22222A"/>
                </a:solidFill>
                <a:latin typeface="Calibri" pitchFamily="34" charset="0"/>
                <a:ea typeface="Calibri" pitchFamily="34" charset="-122"/>
                <a:cs typeface="Calibri" pitchFamily="34" charset="-120"/>
              </a:rPr>
              <a:t>A strategy explained in one video</a:t>
            </a:r>
            <a:endParaRPr lang="en-US" sz="1500" dirty="0"/>
          </a:p>
        </p:txBody>
      </p:sp>
      <p:sp>
        <p:nvSpPr>
          <p:cNvPr id="8" name="Text 6"/>
          <p:cNvSpPr txBox="1"/>
          <p:nvPr/>
        </p:nvSpPr>
        <p:spPr>
          <a:xfrm>
            <a:off x="4773168" y="2962656"/>
            <a:ext cx="6760159" cy="777240"/>
          </a:xfrm>
          <a:prstGeom prst="rect">
            <a:avLst/>
          </a:prstGeom>
          <a:noFill/>
          <a:ln/>
        </p:spPr>
        <p:txBody>
          <a:bodyPr wrap="square" lIns="0" tIns="0" rIns="0" bIns="0" rtlCol="0" anchor="t"/>
          <a:lstStyle/>
          <a:p>
            <a:pPr indent="0" marL="0">
              <a:lnSpc>
                <a:spcPts val="2000"/>
              </a:lnSpc>
              <a:buNone/>
            </a:pPr>
            <a:r>
              <a:rPr lang="en-US" sz="1450" dirty="0">
                <a:solidFill>
                  <a:srgbClr val="6A6875"/>
                </a:solidFill>
                <a:latin typeface="Calibri" pitchFamily="34" charset="0"/>
                <a:ea typeface="Calibri" pitchFamily="34" charset="-122"/>
                <a:cs typeface="Calibri" pitchFamily="34" charset="-120"/>
              </a:rPr>
              <a:t>is the mirror of one explained in another.</a:t>
            </a:r>
            <a:endParaRPr lang="en-US" sz="1450" dirty="0"/>
          </a:p>
        </p:txBody>
      </p:sp>
      <p:sp>
        <p:nvSpPr>
          <p:cNvPr id="9" name="Shape 7"/>
          <p:cNvSpPr/>
          <p:nvPr/>
        </p:nvSpPr>
        <p:spPr>
          <a:xfrm>
            <a:off x="658368" y="4142232"/>
            <a:ext cx="137160" cy="137160"/>
          </a:xfrm>
          <a:prstGeom prst="ellipse">
            <a:avLst/>
          </a:prstGeom>
          <a:solidFill>
            <a:srgbClr val="807C8A"/>
          </a:solidFill>
          <a:ln w="12700">
            <a:solidFill>
              <a:srgbClr val="333333"/>
            </a:solidFill>
            <a:prstDash val="solid"/>
          </a:ln>
        </p:spPr>
      </p:sp>
      <p:sp>
        <p:nvSpPr>
          <p:cNvPr id="10" name="Text 8"/>
          <p:cNvSpPr txBox="1"/>
          <p:nvPr/>
        </p:nvSpPr>
        <p:spPr>
          <a:xfrm>
            <a:off x="1042416" y="3995928"/>
            <a:ext cx="3657600" cy="365760"/>
          </a:xfrm>
          <a:prstGeom prst="rect">
            <a:avLst/>
          </a:prstGeom>
          <a:noFill/>
          <a:ln/>
        </p:spPr>
        <p:txBody>
          <a:bodyPr wrap="square" lIns="0" tIns="0" rIns="0" bIns="0" rtlCol="0" anchor="t"/>
          <a:lstStyle/>
          <a:p>
            <a:pPr indent="0" marL="0">
              <a:lnSpc>
                <a:spcPts val="2000"/>
              </a:lnSpc>
              <a:buNone/>
            </a:pPr>
            <a:r>
              <a:rPr lang="en-US" sz="1500" b="1" dirty="0">
                <a:solidFill>
                  <a:srgbClr val="22222A"/>
                </a:solidFill>
                <a:latin typeface="Calibri" pitchFamily="34" charset="0"/>
                <a:ea typeface="Calibri" pitchFamily="34" charset="-122"/>
                <a:cs typeface="Calibri" pitchFamily="34" charset="-120"/>
              </a:rPr>
              <a:t>The practice that unwinds both</a:t>
            </a:r>
            <a:endParaRPr lang="en-US" sz="1500" dirty="0"/>
          </a:p>
        </p:txBody>
      </p:sp>
      <p:sp>
        <p:nvSpPr>
          <p:cNvPr id="11" name="Text 9"/>
          <p:cNvSpPr txBox="1"/>
          <p:nvPr/>
        </p:nvSpPr>
        <p:spPr>
          <a:xfrm>
            <a:off x="4773168" y="3986784"/>
            <a:ext cx="6760159" cy="777240"/>
          </a:xfrm>
          <a:prstGeom prst="rect">
            <a:avLst/>
          </a:prstGeom>
          <a:noFill/>
          <a:ln/>
        </p:spPr>
        <p:txBody>
          <a:bodyPr wrap="square" lIns="0" tIns="0" rIns="0" bIns="0" rtlCol="0" anchor="t"/>
          <a:lstStyle/>
          <a:p>
            <a:pPr indent="0" marL="0">
              <a:lnSpc>
                <a:spcPts val="2000"/>
              </a:lnSpc>
              <a:buNone/>
            </a:pPr>
            <a:r>
              <a:rPr lang="en-US" sz="1450" dirty="0">
                <a:solidFill>
                  <a:srgbClr val="6A6875"/>
                </a:solidFill>
                <a:latin typeface="Calibri" pitchFamily="34" charset="0"/>
                <a:ea typeface="Calibri" pitchFamily="34" charset="-122"/>
                <a:cs typeface="Calibri" pitchFamily="34" charset="-120"/>
              </a:rPr>
              <a:t>is in a third.</a:t>
            </a:r>
            <a:endParaRPr lang="en-US" sz="1450" dirty="0"/>
          </a:p>
        </p:txBody>
      </p:sp>
      <p:sp>
        <p:nvSpPr>
          <p:cNvPr id="12" name="Shape 10"/>
          <p:cNvSpPr/>
          <p:nvPr/>
        </p:nvSpPr>
        <p:spPr>
          <a:xfrm>
            <a:off x="658368" y="5166360"/>
            <a:ext cx="137160" cy="137160"/>
          </a:xfrm>
          <a:prstGeom prst="ellipse">
            <a:avLst/>
          </a:prstGeom>
          <a:solidFill>
            <a:srgbClr val="807C8A"/>
          </a:solidFill>
          <a:ln w="12700">
            <a:solidFill>
              <a:srgbClr val="333333"/>
            </a:solidFill>
            <a:prstDash val="solid"/>
          </a:ln>
        </p:spPr>
      </p:sp>
      <p:sp>
        <p:nvSpPr>
          <p:cNvPr id="13" name="Text 11"/>
          <p:cNvSpPr txBox="1"/>
          <p:nvPr/>
        </p:nvSpPr>
        <p:spPr>
          <a:xfrm>
            <a:off x="1042416" y="5020056"/>
            <a:ext cx="3657600" cy="365760"/>
          </a:xfrm>
          <a:prstGeom prst="rect">
            <a:avLst/>
          </a:prstGeom>
          <a:noFill/>
          <a:ln/>
        </p:spPr>
        <p:txBody>
          <a:bodyPr wrap="square" lIns="0" tIns="0" rIns="0" bIns="0" rtlCol="0" anchor="t"/>
          <a:lstStyle/>
          <a:p>
            <a:pPr indent="0" marL="0">
              <a:lnSpc>
                <a:spcPts val="2000"/>
              </a:lnSpc>
              <a:buNone/>
            </a:pPr>
            <a:r>
              <a:rPr lang="en-US" sz="1500" b="1" dirty="0">
                <a:solidFill>
                  <a:srgbClr val="22222A"/>
                </a:solidFill>
                <a:latin typeface="Calibri" pitchFamily="34" charset="0"/>
                <a:ea typeface="Calibri" pitchFamily="34" charset="-122"/>
                <a:cs typeface="Calibri" pitchFamily="34" charset="-120"/>
              </a:rPr>
              <a:t>Recognising yourself in it</a:t>
            </a:r>
            <a:endParaRPr lang="en-US" sz="1500" dirty="0"/>
          </a:p>
        </p:txBody>
      </p:sp>
      <p:sp>
        <p:nvSpPr>
          <p:cNvPr id="14" name="Text 12"/>
          <p:cNvSpPr txBox="1"/>
          <p:nvPr/>
        </p:nvSpPr>
        <p:spPr>
          <a:xfrm>
            <a:off x="4773168" y="5010912"/>
            <a:ext cx="6760159" cy="777240"/>
          </a:xfrm>
          <a:prstGeom prst="rect">
            <a:avLst/>
          </a:prstGeom>
          <a:noFill/>
          <a:ln/>
        </p:spPr>
        <p:txBody>
          <a:bodyPr wrap="square" lIns="0" tIns="0" rIns="0" bIns="0" rtlCol="0" anchor="t"/>
          <a:lstStyle/>
          <a:p>
            <a:pPr indent="0" marL="0">
              <a:lnSpc>
                <a:spcPts val="2000"/>
              </a:lnSpc>
              <a:buNone/>
            </a:pPr>
            <a:r>
              <a:rPr lang="en-US" sz="1450" dirty="0">
                <a:solidFill>
                  <a:srgbClr val="6A6875"/>
                </a:solidFill>
                <a:latin typeface="Calibri" pitchFamily="34" charset="0"/>
                <a:ea typeface="Calibri" pitchFamily="34" charset="-122"/>
                <a:cs typeface="Calibri" pitchFamily="34" charset="-120"/>
              </a:rPr>
              <a:t>means holding all of that at once — which is exactly what someone in the middle of a hard relationship cannot do.</a:t>
            </a:r>
            <a:endParaRPr lang="en-US" sz="1450" dirty="0"/>
          </a:p>
        </p:txBody>
      </p:sp>
      <p:sp>
        <p:nvSpPr>
          <p:cNvPr id="15" name="Text 13"/>
          <p:cNvSpPr txBox="1"/>
          <p:nvPr/>
        </p:nvSpPr>
        <p:spPr>
          <a:xfrm>
            <a:off x="658368" y="6126480"/>
            <a:ext cx="10874959" cy="365760"/>
          </a:xfrm>
          <a:prstGeom prst="rect">
            <a:avLst/>
          </a:prstGeom>
          <a:noFill/>
          <a:ln/>
        </p:spPr>
        <p:txBody>
          <a:bodyPr wrap="square" lIns="0" tIns="0" rIns="0" bIns="0" rtlCol="0" anchor="ctr"/>
          <a:lstStyle/>
          <a:p>
            <a:pPr indent="0" marL="0">
              <a:buNone/>
            </a:pPr>
            <a:r>
              <a:rPr lang="en-US" sz="1300" i="1" dirty="0">
                <a:solidFill>
                  <a:srgbClr val="807C8A"/>
                </a:solidFill>
                <a:latin typeface="Calibri" pitchFamily="34" charset="0"/>
                <a:ea typeface="Calibri" pitchFamily="34" charset="-122"/>
                <a:cs typeface="Calibri" pitchFamily="34" charset="-120"/>
              </a:rPr>
              <a:t>The material is not the problem — it is very good. The shape is.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076127" y="384048"/>
            <a:ext cx="457200" cy="237744"/>
          </a:xfrm>
          <a:prstGeom prst="rect">
            <a:avLst/>
          </a:prstGeom>
          <a:noFill/>
          <a:ln/>
        </p:spPr>
        <p:txBody>
          <a:bodyPr wrap="square" lIns="0" tIns="0" rIns="0" bIns="0" rtlCol="0" anchor="ctr"/>
          <a:lstStyle/>
          <a:p>
            <a:pPr algn="r" indent="0" marL="0">
              <a:buNone/>
            </a:pPr>
            <a:r>
              <a:rPr lang="en-US" sz="900" dirty="0">
                <a:solidFill>
                  <a:srgbClr val="807C8A"/>
                </a:solidFill>
                <a:latin typeface="Calibri" pitchFamily="34" charset="0"/>
                <a:ea typeface="Calibri" pitchFamily="34" charset="-122"/>
                <a:cs typeface="Calibri" pitchFamily="34" charset="-120"/>
              </a:rPr>
              <a:t>3</a:t>
            </a:r>
            <a:endParaRPr lang="en-US" sz="900" dirty="0"/>
          </a:p>
        </p:txBody>
      </p:sp>
      <p:sp>
        <p:nvSpPr>
          <p:cNvPr id="3" name="Text 1"/>
          <p:cNvSpPr txBox="1"/>
          <p:nvPr/>
        </p:nvSpPr>
        <p:spPr>
          <a:xfrm>
            <a:off x="658368" y="475488"/>
            <a:ext cx="10874959" cy="219456"/>
          </a:xfrm>
          <a:prstGeom prst="rect">
            <a:avLst/>
          </a:prstGeom>
          <a:noFill/>
          <a:ln/>
        </p:spPr>
        <p:txBody>
          <a:bodyPr wrap="square" lIns="0" tIns="0" rIns="0" bIns="0" rtlCol="0" anchor="ctr"/>
          <a:lstStyle/>
          <a:p>
            <a:pPr indent="0" marL="0">
              <a:buNone/>
            </a:pPr>
            <a:r>
              <a:rPr lang="en-US" sz="1050" b="1" spc="160" kern="0" dirty="0">
                <a:solidFill>
                  <a:srgbClr val="7B4BD8"/>
                </a:solidFill>
                <a:latin typeface="Calibri" pitchFamily="34" charset="0"/>
                <a:ea typeface="Calibri" pitchFamily="34" charset="-122"/>
                <a:cs typeface="Calibri" pitchFamily="34" charset="-120"/>
              </a:rPr>
              <a:t>WHAT IT IS</a:t>
            </a:r>
            <a:endParaRPr lang="en-US" sz="1050" dirty="0"/>
          </a:p>
        </p:txBody>
      </p:sp>
      <p:sp>
        <p:nvSpPr>
          <p:cNvPr id="4" name="Text 2"/>
          <p:cNvSpPr txBox="1"/>
          <p:nvPr/>
        </p:nvSpPr>
        <p:spPr>
          <a:xfrm>
            <a:off x="658368" y="768096"/>
            <a:ext cx="10874959" cy="658368"/>
          </a:xfrm>
          <a:prstGeom prst="rect">
            <a:avLst/>
          </a:prstGeom>
          <a:noFill/>
          <a:ln/>
        </p:spPr>
        <p:txBody>
          <a:bodyPr wrap="square" lIns="0" tIns="0" rIns="0" bIns="0" rtlCol="0" anchor="ctr"/>
          <a:lstStyle/>
          <a:p>
            <a:pPr indent="0" marL="0">
              <a:buNone/>
            </a:pPr>
            <a:r>
              <a:rPr lang="en-US" sz="3400" b="1" dirty="0">
                <a:solidFill>
                  <a:srgbClr val="22222A"/>
                </a:solidFill>
                <a:latin typeface="Cambria" pitchFamily="34" charset="0"/>
                <a:ea typeface="Cambria" pitchFamily="34" charset="-122"/>
                <a:cs typeface="Cambria" pitchFamily="34" charset="-120"/>
              </a:rPr>
              <a:t>Every idea is a node. Every link says how.</a:t>
            </a:r>
            <a:endParaRPr lang="en-US" sz="3400" dirty="0"/>
          </a:p>
        </p:txBody>
      </p:sp>
      <p:sp>
        <p:nvSpPr>
          <p:cNvPr id="5" name="Shape 3"/>
          <p:cNvSpPr/>
          <p:nvPr/>
        </p:nvSpPr>
        <p:spPr>
          <a:xfrm>
            <a:off x="658368" y="1737360"/>
            <a:ext cx="10874959" cy="1600200"/>
          </a:xfrm>
          <a:prstGeom prst="roundRect">
            <a:avLst>
              <a:gd name="adj" fmla="val 4571"/>
            </a:avLst>
          </a:prstGeom>
          <a:solidFill>
            <a:srgbClr val="F7F5FA"/>
          </a:solidFill>
          <a:ln w="9525">
            <a:solidFill>
              <a:srgbClr val="E5E2E8"/>
            </a:solidFill>
            <a:prstDash val="solid"/>
          </a:ln>
        </p:spPr>
      </p:sp>
      <p:sp>
        <p:nvSpPr>
          <p:cNvPr id="6" name="Text 4"/>
          <p:cNvSpPr txBox="1"/>
          <p:nvPr/>
        </p:nvSpPr>
        <p:spPr>
          <a:xfrm>
            <a:off x="1042416" y="2029968"/>
            <a:ext cx="10106863" cy="411480"/>
          </a:xfrm>
          <a:prstGeom prst="rect">
            <a:avLst/>
          </a:prstGeom>
          <a:noFill/>
          <a:ln/>
        </p:spPr>
        <p:txBody>
          <a:bodyPr wrap="square" lIns="0" tIns="0" rIns="0" bIns="0" rtlCol="0" anchor="ctr"/>
          <a:lstStyle/>
          <a:p>
            <a:pPr indent="0" marL="0">
              <a:buNone/>
            </a:pPr>
            <a:r>
              <a:rPr lang="en-US" sz="1800" b="1" dirty="0">
                <a:solidFill>
                  <a:srgbClr val="22222A"/>
                </a:solidFill>
                <a:latin typeface="Calibri" pitchFamily="34" charset="0"/>
                <a:ea typeface="Calibri" pitchFamily="34" charset="-122"/>
                <a:cs typeface="Calibri" pitchFamily="34" charset="-120"/>
              </a:rPr>
              <a:t>Deactivating Strategies</a:t>
            </a:r>
            <a:pPr indent="0" marL="0">
              <a:buNone/>
            </a:pPr>
            <a:r>
              <a:rPr lang="en-US" sz="1500" dirty="0">
                <a:solidFill>
                  <a:srgbClr val="7B4BD8"/>
                </a:solidFill>
                <a:latin typeface="Courier New" pitchFamily="34" charset="0"/>
                <a:ea typeface="Courier New" pitchFamily="34" charset="-122"/>
                <a:cs typeface="Courier New" pitchFamily="34" charset="-120"/>
              </a:rPr>
              <a:t>     mirrors     </a:t>
            </a:r>
            <a:pPr indent="0" marL="0">
              <a:buNone/>
            </a:pPr>
            <a:r>
              <a:rPr lang="en-US" sz="1800" b="1" dirty="0">
                <a:solidFill>
                  <a:srgbClr val="22222A"/>
                </a:solidFill>
                <a:latin typeface="Calibri" pitchFamily="34" charset="0"/>
                <a:ea typeface="Calibri" pitchFamily="34" charset="-122"/>
                <a:cs typeface="Calibri" pitchFamily="34" charset="-120"/>
              </a:rPr>
              <a:t>Hyperactivating Strategies</a:t>
            </a:r>
            <a:pPr indent="0" marL="0">
              <a:buNone/>
            </a:pPr>
            <a:r>
              <a:rPr lang="en-US" sz="1300" dirty="0">
                <a:solidFill>
                  <a:srgbClr val="807C8A"/>
                </a:solidFill>
                <a:latin typeface="Calibri" pitchFamily="34" charset="0"/>
                <a:ea typeface="Calibri" pitchFamily="34" charset="-122"/>
                <a:cs typeface="Calibri" pitchFamily="34" charset="-120"/>
              </a:rPr>
              <a:t>     @ 6:05</a:t>
            </a:r>
            <a:endParaRPr lang="en-US" sz="1800" dirty="0"/>
          </a:p>
        </p:txBody>
      </p:sp>
      <p:sp>
        <p:nvSpPr>
          <p:cNvPr id="7" name="Text 5"/>
          <p:cNvSpPr txBox="1"/>
          <p:nvPr/>
        </p:nvSpPr>
        <p:spPr>
          <a:xfrm>
            <a:off x="1042416" y="2523744"/>
            <a:ext cx="10106863" cy="731520"/>
          </a:xfrm>
          <a:prstGeom prst="rect">
            <a:avLst/>
          </a:prstGeom>
          <a:noFill/>
          <a:ln/>
        </p:spPr>
        <p:txBody>
          <a:bodyPr wrap="square" lIns="0" tIns="0" rIns="0" bIns="0" rtlCol="0" anchor="ctr"/>
          <a:lstStyle/>
          <a:p>
            <a:pPr indent="0" marL="0">
              <a:lnSpc>
                <a:spcPts val="1900"/>
              </a:lnSpc>
              <a:buNone/>
            </a:pPr>
            <a:r>
              <a:rPr lang="en-US" sz="1350" dirty="0">
                <a:solidFill>
                  <a:srgbClr val="6A6875"/>
                </a:solidFill>
                <a:latin typeface="Calibri" pitchFamily="34" charset="0"/>
                <a:ea typeface="Calibri" pitchFamily="34" charset="-122"/>
                <a:cs typeface="Calibri" pitchFamily="34" charset="-120"/>
              </a:rPr>
              <a:t>Not "these are related". The avoidant move and the anxious move are the same move — one scanning for cost, the other for signs the bond is at risk. And the claim carries the video and the second where she says it, so you can check her rather than take my word for it.</a:t>
            </a:r>
            <a:endParaRPr lang="en-US" sz="1350" dirty="0"/>
          </a:p>
        </p:txBody>
      </p:sp>
      <p:sp>
        <p:nvSpPr>
          <p:cNvPr id="8" name="Text 6"/>
          <p:cNvSpPr txBox="1"/>
          <p:nvPr/>
        </p:nvSpPr>
        <p:spPr>
          <a:xfrm>
            <a:off x="658368" y="3749040"/>
            <a:ext cx="2194560" cy="365760"/>
          </a:xfrm>
          <a:prstGeom prst="rect">
            <a:avLst/>
          </a:prstGeom>
          <a:noFill/>
          <a:ln/>
        </p:spPr>
        <p:txBody>
          <a:bodyPr wrap="square" lIns="0" tIns="0" rIns="0" bIns="0" rtlCol="0" anchor="ctr"/>
          <a:lstStyle/>
          <a:p>
            <a:pPr indent="0" marL="0">
              <a:buNone/>
            </a:pPr>
            <a:r>
              <a:rPr lang="en-US" sz="1700" b="1" dirty="0">
                <a:solidFill>
                  <a:srgbClr val="7B4BD8"/>
                </a:solidFill>
                <a:latin typeface="Cambria" pitchFamily="34" charset="0"/>
                <a:ea typeface="Cambria" pitchFamily="34" charset="-122"/>
                <a:cs typeface="Cambria" pitchFamily="34" charset="-120"/>
              </a:rPr>
              <a:t>616 nodes</a:t>
            </a:r>
            <a:endParaRPr lang="en-US" sz="1700" dirty="0"/>
          </a:p>
        </p:txBody>
      </p:sp>
      <p:sp>
        <p:nvSpPr>
          <p:cNvPr id="9" name="Text 7"/>
          <p:cNvSpPr txBox="1"/>
          <p:nvPr/>
        </p:nvSpPr>
        <p:spPr>
          <a:xfrm>
            <a:off x="3035808" y="3794760"/>
            <a:ext cx="8497519" cy="365760"/>
          </a:xfrm>
          <a:prstGeom prst="rect">
            <a:avLst/>
          </a:prstGeom>
          <a:noFill/>
          <a:ln/>
        </p:spPr>
        <p:txBody>
          <a:bodyPr wrap="square" lIns="0" tIns="0" rIns="0" bIns="0" rtlCol="0" anchor="ctr"/>
          <a:lstStyle/>
          <a:p>
            <a:pPr indent="0" marL="0">
              <a:buNone/>
            </a:pPr>
            <a:r>
              <a:rPr lang="en-US" sz="1350" dirty="0">
                <a:solidFill>
                  <a:srgbClr val="6A6875"/>
                </a:solidFill>
                <a:latin typeface="Calibri" pitchFamily="34" charset="0"/>
                <a:ea typeface="Calibri" pitchFamily="34" charset="-122"/>
                <a:cs typeface="Calibri" pitchFamily="34" charset="-120"/>
              </a:rPr>
              <a:t>one per idea, each with its own page</a:t>
            </a:r>
            <a:endParaRPr lang="en-US" sz="1350" dirty="0"/>
          </a:p>
        </p:txBody>
      </p:sp>
      <p:sp>
        <p:nvSpPr>
          <p:cNvPr id="10" name="Text 8"/>
          <p:cNvSpPr txBox="1"/>
          <p:nvPr/>
        </p:nvSpPr>
        <p:spPr>
          <a:xfrm>
            <a:off x="658368" y="4407408"/>
            <a:ext cx="2194560" cy="365760"/>
          </a:xfrm>
          <a:prstGeom prst="rect">
            <a:avLst/>
          </a:prstGeom>
          <a:noFill/>
          <a:ln/>
        </p:spPr>
        <p:txBody>
          <a:bodyPr wrap="square" lIns="0" tIns="0" rIns="0" bIns="0" rtlCol="0" anchor="ctr"/>
          <a:lstStyle/>
          <a:p>
            <a:pPr indent="0" marL="0">
              <a:buNone/>
            </a:pPr>
            <a:r>
              <a:rPr lang="en-US" sz="1700" b="1" dirty="0">
                <a:solidFill>
                  <a:srgbClr val="7B4BD8"/>
                </a:solidFill>
                <a:latin typeface="Cambria" pitchFamily="34" charset="0"/>
                <a:ea typeface="Cambria" pitchFamily="34" charset="-122"/>
                <a:cs typeface="Cambria" pitchFamily="34" charset="-120"/>
              </a:rPr>
              <a:t>2411 links</a:t>
            </a:r>
            <a:endParaRPr lang="en-US" sz="1700" dirty="0"/>
          </a:p>
        </p:txBody>
      </p:sp>
      <p:sp>
        <p:nvSpPr>
          <p:cNvPr id="11" name="Text 9"/>
          <p:cNvSpPr txBox="1"/>
          <p:nvPr/>
        </p:nvSpPr>
        <p:spPr>
          <a:xfrm>
            <a:off x="3035808" y="4453128"/>
            <a:ext cx="8497519" cy="365760"/>
          </a:xfrm>
          <a:prstGeom prst="rect">
            <a:avLst/>
          </a:prstGeom>
          <a:noFill/>
          <a:ln/>
        </p:spPr>
        <p:txBody>
          <a:bodyPr wrap="square" lIns="0" tIns="0" rIns="0" bIns="0" rtlCol="0" anchor="ctr"/>
          <a:lstStyle/>
          <a:p>
            <a:pPr indent="0" marL="0">
              <a:buNone/>
            </a:pPr>
            <a:r>
              <a:rPr lang="en-US" sz="1350" dirty="0">
                <a:solidFill>
                  <a:srgbClr val="6A6875"/>
                </a:solidFill>
                <a:latin typeface="Calibri" pitchFamily="34" charset="0"/>
                <a:ea typeface="Calibri" pitchFamily="34" charset="-122"/>
                <a:cs typeface="Calibri" pitchFamily="34" charset="-120"/>
              </a:rPr>
              <a:t>sixteen kinds: what fires, defends, heals, mirrors</a:t>
            </a:r>
            <a:endParaRPr lang="en-US" sz="1350" dirty="0"/>
          </a:p>
        </p:txBody>
      </p:sp>
      <p:sp>
        <p:nvSpPr>
          <p:cNvPr id="12" name="Text 10"/>
          <p:cNvSpPr txBox="1"/>
          <p:nvPr/>
        </p:nvSpPr>
        <p:spPr>
          <a:xfrm>
            <a:off x="658368" y="5065776"/>
            <a:ext cx="2194560" cy="365760"/>
          </a:xfrm>
          <a:prstGeom prst="rect">
            <a:avLst/>
          </a:prstGeom>
          <a:noFill/>
          <a:ln/>
        </p:spPr>
        <p:txBody>
          <a:bodyPr wrap="square" lIns="0" tIns="0" rIns="0" bIns="0" rtlCol="0" anchor="ctr"/>
          <a:lstStyle/>
          <a:p>
            <a:pPr indent="0" marL="0">
              <a:buNone/>
            </a:pPr>
            <a:r>
              <a:rPr lang="en-US" sz="1700" b="1" dirty="0">
                <a:solidFill>
                  <a:srgbClr val="7B4BD8"/>
                </a:solidFill>
                <a:latin typeface="Cambria" pitchFamily="34" charset="0"/>
                <a:ea typeface="Cambria" pitchFamily="34" charset="-122"/>
                <a:cs typeface="Cambria" pitchFamily="34" charset="-120"/>
              </a:rPr>
              <a:t>54 videos</a:t>
            </a:r>
            <a:endParaRPr lang="en-US" sz="1700" dirty="0"/>
          </a:p>
        </p:txBody>
      </p:sp>
      <p:sp>
        <p:nvSpPr>
          <p:cNvPr id="13" name="Text 11"/>
          <p:cNvSpPr txBox="1"/>
          <p:nvPr/>
        </p:nvSpPr>
        <p:spPr>
          <a:xfrm>
            <a:off x="3035808" y="5111496"/>
            <a:ext cx="8497519" cy="365760"/>
          </a:xfrm>
          <a:prstGeom prst="rect">
            <a:avLst/>
          </a:prstGeom>
          <a:noFill/>
          <a:ln/>
        </p:spPr>
        <p:txBody>
          <a:bodyPr wrap="square" lIns="0" tIns="0" rIns="0" bIns="0" rtlCol="0" anchor="ctr"/>
          <a:lstStyle/>
          <a:p>
            <a:pPr indent="0" marL="0">
              <a:buNone/>
            </a:pPr>
            <a:r>
              <a:rPr lang="en-US" sz="1350" dirty="0">
                <a:solidFill>
                  <a:srgbClr val="6A6875"/>
                </a:solidFill>
                <a:latin typeface="Calibri" pitchFamily="34" charset="0"/>
                <a:ea typeface="Calibri" pitchFamily="34" charset="-122"/>
                <a:cs typeface="Calibri" pitchFamily="34" charset="-120"/>
              </a:rPr>
              <a:t>every claim traced to one, at a timestamp</a:t>
            </a:r>
            <a:endParaRPr lang="en-US" sz="1350" dirty="0"/>
          </a:p>
        </p:txBody>
      </p:sp>
      <p:sp>
        <p:nvSpPr>
          <p:cNvPr id="14" name="Text 12"/>
          <p:cNvSpPr txBox="1"/>
          <p:nvPr/>
        </p:nvSpPr>
        <p:spPr>
          <a:xfrm>
            <a:off x="658368" y="5724144"/>
            <a:ext cx="2194560" cy="365760"/>
          </a:xfrm>
          <a:prstGeom prst="rect">
            <a:avLst/>
          </a:prstGeom>
          <a:noFill/>
          <a:ln/>
        </p:spPr>
        <p:txBody>
          <a:bodyPr wrap="square" lIns="0" tIns="0" rIns="0" bIns="0" rtlCol="0" anchor="ctr"/>
          <a:lstStyle/>
          <a:p>
            <a:pPr indent="0" marL="0">
              <a:buNone/>
            </a:pPr>
            <a:r>
              <a:rPr lang="en-US" sz="1700" b="1" dirty="0">
                <a:solidFill>
                  <a:srgbClr val="7B4BD8"/>
                </a:solidFill>
                <a:latin typeface="Cambria" pitchFamily="34" charset="0"/>
                <a:ea typeface="Cambria" pitchFamily="34" charset="-122"/>
                <a:cs typeface="Cambria" pitchFamily="34" charset="-120"/>
              </a:rPr>
              <a:t>5 loops</a:t>
            </a:r>
            <a:endParaRPr lang="en-US" sz="1700" dirty="0"/>
          </a:p>
        </p:txBody>
      </p:sp>
      <p:sp>
        <p:nvSpPr>
          <p:cNvPr id="15" name="Text 13"/>
          <p:cNvSpPr txBox="1"/>
          <p:nvPr/>
        </p:nvSpPr>
        <p:spPr>
          <a:xfrm>
            <a:off x="3035808" y="5769864"/>
            <a:ext cx="8497519" cy="365760"/>
          </a:xfrm>
          <a:prstGeom prst="rect">
            <a:avLst/>
          </a:prstGeom>
          <a:noFill/>
          <a:ln/>
        </p:spPr>
        <p:txBody>
          <a:bodyPr wrap="square" lIns="0" tIns="0" rIns="0" bIns="0" rtlCol="0" anchor="ctr"/>
          <a:lstStyle/>
          <a:p>
            <a:pPr indent="0" marL="0">
              <a:buNone/>
            </a:pPr>
            <a:r>
              <a:rPr lang="en-US" sz="1350" dirty="0">
                <a:solidFill>
                  <a:srgbClr val="6A6875"/>
                </a:solidFill>
                <a:latin typeface="Calibri" pitchFamily="34" charset="0"/>
                <a:ea typeface="Calibri" pitchFamily="34" charset="-122"/>
                <a:cs typeface="Calibri" pitchFamily="34" charset="-120"/>
              </a:rPr>
              <a:t>found by searching, not asserted</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076127" y="384048"/>
            <a:ext cx="457200" cy="237744"/>
          </a:xfrm>
          <a:prstGeom prst="rect">
            <a:avLst/>
          </a:prstGeom>
          <a:noFill/>
          <a:ln/>
        </p:spPr>
        <p:txBody>
          <a:bodyPr wrap="square" lIns="0" tIns="0" rIns="0" bIns="0" rtlCol="0" anchor="ctr"/>
          <a:lstStyle/>
          <a:p>
            <a:pPr algn="r" indent="0" marL="0">
              <a:buNone/>
            </a:pPr>
            <a:r>
              <a:rPr lang="en-US" sz="900" dirty="0">
                <a:solidFill>
                  <a:srgbClr val="807C8A"/>
                </a:solidFill>
                <a:latin typeface="Calibri" pitchFamily="34" charset="0"/>
                <a:ea typeface="Calibri" pitchFamily="34" charset="-122"/>
                <a:cs typeface="Calibri" pitchFamily="34" charset="-120"/>
              </a:rPr>
              <a:t>4</a:t>
            </a:r>
            <a:endParaRPr lang="en-US" sz="900" dirty="0"/>
          </a:p>
        </p:txBody>
      </p:sp>
      <p:sp>
        <p:nvSpPr>
          <p:cNvPr id="3" name="Text 1"/>
          <p:cNvSpPr txBox="1"/>
          <p:nvPr/>
        </p:nvSpPr>
        <p:spPr>
          <a:xfrm>
            <a:off x="658368" y="475488"/>
            <a:ext cx="10874959" cy="219456"/>
          </a:xfrm>
          <a:prstGeom prst="rect">
            <a:avLst/>
          </a:prstGeom>
          <a:noFill/>
          <a:ln/>
        </p:spPr>
        <p:txBody>
          <a:bodyPr wrap="square" lIns="0" tIns="0" rIns="0" bIns="0" rtlCol="0" anchor="ctr"/>
          <a:lstStyle/>
          <a:p>
            <a:pPr indent="0" marL="0">
              <a:buNone/>
            </a:pPr>
            <a:r>
              <a:rPr lang="en-US" sz="1050" b="1" spc="160" kern="0" dirty="0">
                <a:solidFill>
                  <a:srgbClr val="7B4BD8"/>
                </a:solidFill>
                <a:latin typeface="Calibri" pitchFamily="34" charset="0"/>
                <a:ea typeface="Calibri" pitchFamily="34" charset="-122"/>
                <a:cs typeface="Calibri" pitchFamily="34" charset="-120"/>
              </a:rPr>
              <a:t>HOW TO USE IT</a:t>
            </a:r>
            <a:endParaRPr lang="en-US" sz="1050" dirty="0"/>
          </a:p>
        </p:txBody>
      </p:sp>
      <p:sp>
        <p:nvSpPr>
          <p:cNvPr id="4" name="Text 2"/>
          <p:cNvSpPr txBox="1"/>
          <p:nvPr/>
        </p:nvSpPr>
        <p:spPr>
          <a:xfrm>
            <a:off x="658368" y="768096"/>
            <a:ext cx="10874959" cy="658368"/>
          </a:xfrm>
          <a:prstGeom prst="rect">
            <a:avLst/>
          </a:prstGeom>
          <a:noFill/>
          <a:ln/>
        </p:spPr>
        <p:txBody>
          <a:bodyPr wrap="square" lIns="0" tIns="0" rIns="0" bIns="0" rtlCol="0" anchor="ctr"/>
          <a:lstStyle/>
          <a:p>
            <a:pPr indent="0" marL="0">
              <a:buNone/>
            </a:pPr>
            <a:r>
              <a:rPr lang="en-US" sz="3200" b="1" dirty="0">
                <a:solidFill>
                  <a:srgbClr val="22222A"/>
                </a:solidFill>
                <a:latin typeface="Cambria" pitchFamily="34" charset="0"/>
                <a:ea typeface="Cambria" pitchFamily="34" charset="-122"/>
                <a:cs typeface="Cambria" pitchFamily="34" charset="-120"/>
              </a:rPr>
              <a:t>Two ways in</a:t>
            </a:r>
            <a:endParaRPr lang="en-US" sz="3200" dirty="0"/>
          </a:p>
        </p:txBody>
      </p:sp>
      <p:sp>
        <p:nvSpPr>
          <p:cNvPr id="5" name="Text 3"/>
          <p:cNvSpPr txBox="1"/>
          <p:nvPr/>
        </p:nvSpPr>
        <p:spPr>
          <a:xfrm>
            <a:off x="658368" y="1609344"/>
            <a:ext cx="9134966" cy="457200"/>
          </a:xfrm>
          <a:prstGeom prst="rect">
            <a:avLst/>
          </a:prstGeom>
          <a:noFill/>
          <a:ln/>
        </p:spPr>
        <p:txBody>
          <a:bodyPr wrap="square" lIns="0" tIns="0" rIns="0" bIns="0" rtlCol="0" anchor="ctr"/>
          <a:lstStyle/>
          <a:p>
            <a:pPr indent="0" marL="0">
              <a:lnSpc>
                <a:spcPts val="2100"/>
              </a:lnSpc>
              <a:buNone/>
            </a:pPr>
            <a:r>
              <a:rPr lang="en-US" sz="1450" dirty="0">
                <a:solidFill>
                  <a:srgbClr val="6A6875"/>
                </a:solidFill>
                <a:latin typeface="Calibri" pitchFamily="34" charset="0"/>
                <a:ea typeface="Calibri" pitchFamily="34" charset="-122"/>
                <a:cs typeface="Calibri" pitchFamily="34" charset="-120"/>
              </a:rPr>
              <a:t>Pick by what you are doing. The first is a website and needs nothing installed; the second runs on your own machine.</a:t>
            </a:r>
            <a:endParaRPr lang="en-US" sz="1450" dirty="0"/>
          </a:p>
        </p:txBody>
      </p:sp>
      <p:sp>
        <p:nvSpPr>
          <p:cNvPr id="6" name="Shape 4"/>
          <p:cNvSpPr/>
          <p:nvPr/>
        </p:nvSpPr>
        <p:spPr>
          <a:xfrm>
            <a:off x="658368" y="2148840"/>
            <a:ext cx="4846320" cy="2606040"/>
          </a:xfrm>
          <a:prstGeom prst="roundRect">
            <a:avLst>
              <a:gd name="adj" fmla="val 2807"/>
            </a:avLst>
          </a:prstGeom>
          <a:solidFill>
            <a:srgbClr val="F7F5FA"/>
          </a:solidFill>
          <a:ln w="9525">
            <a:solidFill>
              <a:srgbClr val="E5E2E8"/>
            </a:solidFill>
            <a:prstDash val="solid"/>
          </a:ln>
        </p:spPr>
      </p:sp>
      <p:sp>
        <p:nvSpPr>
          <p:cNvPr id="7" name="Shape 5"/>
          <p:cNvSpPr/>
          <p:nvPr/>
        </p:nvSpPr>
        <p:spPr>
          <a:xfrm>
            <a:off x="969264" y="2450592"/>
            <a:ext cx="310896" cy="310896"/>
          </a:xfrm>
          <a:prstGeom prst="ellipse">
            <a:avLst/>
          </a:prstGeom>
          <a:solidFill>
            <a:srgbClr val="2BB0A3"/>
          </a:solidFill>
          <a:ln w="12700">
            <a:solidFill>
              <a:srgbClr val="333333"/>
            </a:solidFill>
            <a:prstDash val="solid"/>
          </a:ln>
        </p:spPr>
      </p:sp>
      <p:sp>
        <p:nvSpPr>
          <p:cNvPr id="8" name="Text 6"/>
          <p:cNvSpPr txBox="1"/>
          <p:nvPr/>
        </p:nvSpPr>
        <p:spPr>
          <a:xfrm>
            <a:off x="969264" y="245059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Text 7"/>
          <p:cNvSpPr txBox="1"/>
          <p:nvPr/>
        </p:nvSpPr>
        <p:spPr>
          <a:xfrm>
            <a:off x="969264" y="2880360"/>
            <a:ext cx="4224528" cy="274320"/>
          </a:xfrm>
          <a:prstGeom prst="rect">
            <a:avLst/>
          </a:prstGeom>
          <a:noFill/>
          <a:ln/>
        </p:spPr>
        <p:txBody>
          <a:bodyPr wrap="square" lIns="0" tIns="0" rIns="0" bIns="0" rtlCol="0" anchor="ctr"/>
          <a:lstStyle/>
          <a:p>
            <a:pPr indent="0" marL="0">
              <a:buNone/>
            </a:pPr>
            <a:r>
              <a:rPr lang="en-US" sz="1050" b="1" dirty="0">
                <a:solidFill>
                  <a:srgbClr val="2BB0A3"/>
                </a:solidFill>
                <a:latin typeface="Courier New" pitchFamily="34" charset="0"/>
                <a:ea typeface="Courier New" pitchFamily="34" charset="-122"/>
                <a:cs typeface="Courier New" pitchFamily="34" charset="-120"/>
              </a:rPr>
              <a:t>the explorer</a:t>
            </a:r>
            <a:endParaRPr lang="en-US" sz="1050" dirty="0"/>
          </a:p>
        </p:txBody>
      </p:sp>
      <p:sp>
        <p:nvSpPr>
          <p:cNvPr id="10" name="Text 8"/>
          <p:cNvSpPr txBox="1"/>
          <p:nvPr/>
        </p:nvSpPr>
        <p:spPr>
          <a:xfrm>
            <a:off x="969264" y="3200400"/>
            <a:ext cx="4224528" cy="548640"/>
          </a:xfrm>
          <a:prstGeom prst="rect">
            <a:avLst/>
          </a:prstGeom>
          <a:noFill/>
          <a:ln/>
        </p:spPr>
        <p:txBody>
          <a:bodyPr wrap="square" lIns="0" tIns="0" rIns="0" bIns="0" rtlCol="0" anchor="t"/>
          <a:lstStyle/>
          <a:p>
            <a:pPr indent="0" marL="0">
              <a:lnSpc>
                <a:spcPts val="2200"/>
              </a:lnSpc>
              <a:buNone/>
            </a:pPr>
            <a:r>
              <a:rPr lang="en-US" sz="1700" b="1" dirty="0">
                <a:solidFill>
                  <a:srgbClr val="22222A"/>
                </a:solidFill>
                <a:latin typeface="Calibri" pitchFamily="34" charset="0"/>
                <a:ea typeface="Calibri" pitchFamily="34" charset="-122"/>
                <a:cs typeface="Calibri" pitchFamily="34" charset="-120"/>
              </a:rPr>
              <a:t>Reading around</a:t>
            </a:r>
            <a:endParaRPr lang="en-US" sz="1700" dirty="0"/>
          </a:p>
        </p:txBody>
      </p:sp>
      <p:sp>
        <p:nvSpPr>
          <p:cNvPr id="11" name="Text 9"/>
          <p:cNvSpPr txBox="1"/>
          <p:nvPr/>
        </p:nvSpPr>
        <p:spPr>
          <a:xfrm>
            <a:off x="969264" y="3886200"/>
            <a:ext cx="4224528" cy="777240"/>
          </a:xfrm>
          <a:prstGeom prst="rect">
            <a:avLst/>
          </a:prstGeom>
          <a:noFill/>
          <a:ln/>
        </p:spPr>
        <p:txBody>
          <a:bodyPr wrap="square" lIns="0" tIns="0" rIns="0" bIns="0" rtlCol="0" anchor="t"/>
          <a:lstStyle/>
          <a:p>
            <a:pPr indent="0" marL="0">
              <a:lnSpc>
                <a:spcPts val="1650"/>
              </a:lnSpc>
              <a:buNone/>
            </a:pPr>
            <a:r>
              <a:rPr lang="en-US" sz="1200" dirty="0">
                <a:solidFill>
                  <a:srgbClr val="6A6875"/>
                </a:solidFill>
                <a:latin typeface="Calibri" pitchFamily="34" charset="0"/>
                <a:ea typeface="Calibri" pitchFamily="34" charset="-122"/>
                <a:cs typeface="Calibri" pitchFamily="34" charset="-120"/>
              </a:rPr>
              <a:t>You want to understand a pattern and follow it outward — on your own, at your own pace.</a:t>
            </a:r>
            <a:endParaRPr lang="en-US" sz="1200" dirty="0"/>
          </a:p>
        </p:txBody>
      </p:sp>
      <p:sp>
        <p:nvSpPr>
          <p:cNvPr id="12" name="Shape 10"/>
          <p:cNvSpPr/>
          <p:nvPr/>
        </p:nvSpPr>
        <p:spPr>
          <a:xfrm>
            <a:off x="6327648" y="2148840"/>
            <a:ext cx="4846320" cy="2606040"/>
          </a:xfrm>
          <a:prstGeom prst="roundRect">
            <a:avLst>
              <a:gd name="adj" fmla="val 2807"/>
            </a:avLst>
          </a:prstGeom>
          <a:solidFill>
            <a:srgbClr val="F7F5FA"/>
          </a:solidFill>
          <a:ln w="9525">
            <a:solidFill>
              <a:srgbClr val="E5E2E8"/>
            </a:solidFill>
            <a:prstDash val="solid"/>
          </a:ln>
        </p:spPr>
      </p:sp>
      <p:sp>
        <p:nvSpPr>
          <p:cNvPr id="13" name="Shape 11"/>
          <p:cNvSpPr/>
          <p:nvPr/>
        </p:nvSpPr>
        <p:spPr>
          <a:xfrm>
            <a:off x="6638544" y="2450592"/>
            <a:ext cx="310896" cy="310896"/>
          </a:xfrm>
          <a:prstGeom prst="ellipse">
            <a:avLst/>
          </a:prstGeom>
          <a:solidFill>
            <a:srgbClr val="E04F86"/>
          </a:solidFill>
          <a:ln w="12700">
            <a:solidFill>
              <a:srgbClr val="333333"/>
            </a:solidFill>
            <a:prstDash val="solid"/>
          </a:ln>
        </p:spPr>
      </p:sp>
      <p:sp>
        <p:nvSpPr>
          <p:cNvPr id="14" name="Text 12"/>
          <p:cNvSpPr txBox="1"/>
          <p:nvPr/>
        </p:nvSpPr>
        <p:spPr>
          <a:xfrm>
            <a:off x="6638544" y="245059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6638544" y="2880360"/>
            <a:ext cx="4224528" cy="274320"/>
          </a:xfrm>
          <a:prstGeom prst="rect">
            <a:avLst/>
          </a:prstGeom>
          <a:noFill/>
          <a:ln/>
        </p:spPr>
        <p:txBody>
          <a:bodyPr wrap="square" lIns="0" tIns="0" rIns="0" bIns="0" rtlCol="0" anchor="ctr"/>
          <a:lstStyle/>
          <a:p>
            <a:pPr indent="0" marL="0">
              <a:buNone/>
            </a:pPr>
            <a:r>
              <a:rPr lang="en-US" sz="1050" b="1" dirty="0">
                <a:solidFill>
                  <a:srgbClr val="E04F86"/>
                </a:solidFill>
                <a:latin typeface="Courier New" pitchFamily="34" charset="0"/>
                <a:ea typeface="Courier New" pitchFamily="34" charset="-122"/>
                <a:cs typeface="Courier New" pitchFamily="34" charset="-120"/>
              </a:rPr>
              <a:t>the assistant</a:t>
            </a:r>
            <a:endParaRPr lang="en-US" sz="1050" dirty="0"/>
          </a:p>
        </p:txBody>
      </p:sp>
      <p:sp>
        <p:nvSpPr>
          <p:cNvPr id="16" name="Text 14"/>
          <p:cNvSpPr txBox="1"/>
          <p:nvPr/>
        </p:nvSpPr>
        <p:spPr>
          <a:xfrm>
            <a:off x="6638544" y="3200400"/>
            <a:ext cx="4224528" cy="548640"/>
          </a:xfrm>
          <a:prstGeom prst="rect">
            <a:avLst/>
          </a:prstGeom>
          <a:noFill/>
          <a:ln/>
        </p:spPr>
        <p:txBody>
          <a:bodyPr wrap="square" lIns="0" tIns="0" rIns="0" bIns="0" rtlCol="0" anchor="t"/>
          <a:lstStyle/>
          <a:p>
            <a:pPr indent="0" marL="0">
              <a:lnSpc>
                <a:spcPts val="2200"/>
              </a:lnSpc>
              <a:buNone/>
            </a:pPr>
            <a:r>
              <a:rPr lang="en-US" sz="1700" b="1" dirty="0">
                <a:solidFill>
                  <a:srgbClr val="22222A"/>
                </a:solidFill>
                <a:latin typeface="Calibri" pitchFamily="34" charset="0"/>
                <a:ea typeface="Calibri" pitchFamily="34" charset="-122"/>
                <a:cs typeface="Calibri" pitchFamily="34" charset="-120"/>
              </a:rPr>
              <a:t>Talking it through</a:t>
            </a:r>
            <a:endParaRPr lang="en-US" sz="1700" dirty="0"/>
          </a:p>
        </p:txBody>
      </p:sp>
      <p:sp>
        <p:nvSpPr>
          <p:cNvPr id="17" name="Text 15"/>
          <p:cNvSpPr txBox="1"/>
          <p:nvPr/>
        </p:nvSpPr>
        <p:spPr>
          <a:xfrm>
            <a:off x="6638544" y="3886200"/>
            <a:ext cx="4224528" cy="777240"/>
          </a:xfrm>
          <a:prstGeom prst="rect">
            <a:avLst/>
          </a:prstGeom>
          <a:noFill/>
          <a:ln/>
        </p:spPr>
        <p:txBody>
          <a:bodyPr wrap="square" lIns="0" tIns="0" rIns="0" bIns="0" rtlCol="0" anchor="t"/>
          <a:lstStyle/>
          <a:p>
            <a:pPr indent="0" marL="0">
              <a:lnSpc>
                <a:spcPts val="1650"/>
              </a:lnSpc>
              <a:buNone/>
            </a:pPr>
            <a:r>
              <a:rPr lang="en-US" sz="1200" dirty="0">
                <a:solidFill>
                  <a:srgbClr val="6A6875"/>
                </a:solidFill>
                <a:latin typeface="Calibri" pitchFamily="34" charset="0"/>
                <a:ea typeface="Calibri" pitchFamily="34" charset="-122"/>
                <a:cs typeface="Calibri" pitchFamily="34" charset="-120"/>
              </a:rPr>
              <a:t>You have a situation and want to be asked about it rather than lectured at.</a:t>
            </a:r>
            <a:endParaRPr lang="en-US" sz="1200" dirty="0"/>
          </a:p>
        </p:txBody>
      </p:sp>
      <p:sp>
        <p:nvSpPr>
          <p:cNvPr id="18" name="Text 16"/>
          <p:cNvSpPr txBox="1"/>
          <p:nvPr/>
        </p:nvSpPr>
        <p:spPr>
          <a:xfrm>
            <a:off x="658368" y="5029200"/>
            <a:ext cx="10874959" cy="457200"/>
          </a:xfrm>
          <a:prstGeom prst="rect">
            <a:avLst/>
          </a:prstGeom>
          <a:noFill/>
          <a:ln/>
        </p:spPr>
        <p:txBody>
          <a:bodyPr wrap="square" lIns="0" tIns="0" rIns="0" bIns="0" rtlCol="0" anchor="ctr"/>
          <a:lstStyle/>
          <a:p>
            <a:pPr indent="0" marL="0">
              <a:buNone/>
            </a:pPr>
            <a:r>
              <a:rPr lang="en-US" sz="1350" dirty="0">
                <a:solidFill>
                  <a:srgbClr val="6A6875"/>
                </a:solidFill>
                <a:latin typeface="Calibri" pitchFamily="34" charset="0"/>
                <a:ea typeface="Calibri" pitchFamily="34" charset="-122"/>
                <a:cs typeface="Calibri" pitchFamily="34" charset="-120"/>
              </a:rPr>
              <a:t>Neither will tell you your attachment style, score you, or diagnose anyone. That is a design decision, not an omission.</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076127" y="384048"/>
            <a:ext cx="457200" cy="237744"/>
          </a:xfrm>
          <a:prstGeom prst="rect">
            <a:avLst/>
          </a:prstGeom>
          <a:noFill/>
          <a:ln/>
        </p:spPr>
        <p:txBody>
          <a:bodyPr wrap="square" lIns="0" tIns="0" rIns="0" bIns="0" rtlCol="0" anchor="ctr"/>
          <a:lstStyle/>
          <a:p>
            <a:pPr algn="r" indent="0" marL="0">
              <a:buNone/>
            </a:pPr>
            <a:r>
              <a:rPr lang="en-US" sz="900" dirty="0">
                <a:solidFill>
                  <a:srgbClr val="807C8A"/>
                </a:solidFill>
                <a:latin typeface="Calibri" pitchFamily="34" charset="0"/>
                <a:ea typeface="Calibri" pitchFamily="34" charset="-122"/>
                <a:cs typeface="Calibri" pitchFamily="34" charset="-120"/>
              </a:rPr>
              <a:t>5</a:t>
            </a:r>
            <a:endParaRPr lang="en-US" sz="900" dirty="0"/>
          </a:p>
        </p:txBody>
      </p:sp>
      <p:sp>
        <p:nvSpPr>
          <p:cNvPr id="3" name="Text 1"/>
          <p:cNvSpPr txBox="1"/>
          <p:nvPr/>
        </p:nvSpPr>
        <p:spPr>
          <a:xfrm>
            <a:off x="658368" y="475488"/>
            <a:ext cx="10874959" cy="219456"/>
          </a:xfrm>
          <a:prstGeom prst="rect">
            <a:avLst/>
          </a:prstGeom>
          <a:noFill/>
          <a:ln/>
        </p:spPr>
        <p:txBody>
          <a:bodyPr wrap="square" lIns="0" tIns="0" rIns="0" bIns="0" rtlCol="0" anchor="ctr"/>
          <a:lstStyle/>
          <a:p>
            <a:pPr indent="0" marL="0">
              <a:buNone/>
            </a:pPr>
            <a:r>
              <a:rPr lang="en-US" sz="1050" b="1" spc="160" kern="0" dirty="0">
                <a:solidFill>
                  <a:srgbClr val="7B4BD8"/>
                </a:solidFill>
                <a:latin typeface="Calibri" pitchFamily="34" charset="0"/>
                <a:ea typeface="Calibri" pitchFamily="34" charset="-122"/>
                <a:cs typeface="Calibri" pitchFamily="34" charset="-120"/>
              </a:rPr>
              <a:t>WAY ONE</a:t>
            </a:r>
            <a:endParaRPr lang="en-US" sz="1050" dirty="0"/>
          </a:p>
        </p:txBody>
      </p:sp>
      <p:sp>
        <p:nvSpPr>
          <p:cNvPr id="4" name="Text 2"/>
          <p:cNvSpPr txBox="1"/>
          <p:nvPr/>
        </p:nvSpPr>
        <p:spPr>
          <a:xfrm>
            <a:off x="658368" y="768096"/>
            <a:ext cx="10874959" cy="658368"/>
          </a:xfrm>
          <a:prstGeom prst="rect">
            <a:avLst/>
          </a:prstGeom>
          <a:noFill/>
          <a:ln/>
        </p:spPr>
        <p:txBody>
          <a:bodyPr wrap="square" lIns="0" tIns="0" rIns="0" bIns="0" rtlCol="0" anchor="ctr"/>
          <a:lstStyle/>
          <a:p>
            <a:pPr indent="0" marL="0">
              <a:buNone/>
            </a:pPr>
            <a:r>
              <a:rPr lang="en-US" sz="3200" b="1" dirty="0">
                <a:solidFill>
                  <a:srgbClr val="22222A"/>
                </a:solidFill>
                <a:latin typeface="Cambria" pitchFamily="34" charset="0"/>
                <a:ea typeface="Cambria" pitchFamily="34" charset="-122"/>
                <a:cs typeface="Cambria" pitchFamily="34" charset="-120"/>
              </a:rPr>
              <a:t>Read around an idea</a:t>
            </a:r>
            <a:endParaRPr lang="en-US" sz="3200" dirty="0"/>
          </a:p>
        </p:txBody>
      </p:sp>
      <p:pic>
        <p:nvPicPr>
          <p:cNvPr id="5" name="Image 0" descr="scripts/deck/assets/deck-explore.png">    </p:cNvPr>
          <p:cNvPicPr>
            <a:picLocks noChangeAspect="1"/>
          </p:cNvPicPr>
          <p:nvPr/>
        </p:nvPicPr>
        <p:blipFill>
          <a:blip r:embed="rId1"/>
          <a:stretch>
            <a:fillRect/>
          </a:stretch>
        </p:blipFill>
        <p:spPr>
          <a:xfrm>
            <a:off x="658368" y="1371600"/>
            <a:ext cx="7040880" cy="4398264"/>
          </a:xfrm>
          <a:prstGeom prst="rect">
            <a:avLst/>
          </a:prstGeom>
        </p:spPr>
      </p:pic>
      <p:sp>
        <p:nvSpPr>
          <p:cNvPr id="6" name="Text 3"/>
          <p:cNvSpPr txBox="1"/>
          <p:nvPr/>
        </p:nvSpPr>
        <p:spPr>
          <a:xfrm>
            <a:off x="7955280" y="1481328"/>
            <a:ext cx="3578047" cy="292608"/>
          </a:xfrm>
          <a:prstGeom prst="rect">
            <a:avLst/>
          </a:prstGeom>
          <a:noFill/>
          <a:ln/>
        </p:spPr>
        <p:txBody>
          <a:bodyPr wrap="square" lIns="0" tIns="0" rIns="0" bIns="0" rtlCol="0" anchor="ctr"/>
          <a:lstStyle/>
          <a:p>
            <a:pPr indent="0" marL="0">
              <a:buNone/>
            </a:pPr>
            <a:r>
              <a:rPr lang="en-US" sz="1300" b="1" dirty="0">
                <a:solidFill>
                  <a:srgbClr val="22222A"/>
                </a:solidFill>
                <a:latin typeface="Calibri" pitchFamily="34" charset="0"/>
                <a:ea typeface="Calibri" pitchFamily="34" charset="-122"/>
                <a:cs typeface="Calibri" pitchFamily="34" charset="-120"/>
              </a:rPr>
              <a:t>Colour is the style</a:t>
            </a:r>
            <a:endParaRPr lang="en-US" sz="1300" dirty="0"/>
          </a:p>
        </p:txBody>
      </p:sp>
      <p:sp>
        <p:nvSpPr>
          <p:cNvPr id="7" name="Text 4"/>
          <p:cNvSpPr txBox="1"/>
          <p:nvPr/>
        </p:nvSpPr>
        <p:spPr>
          <a:xfrm>
            <a:off x="7955280" y="1792224"/>
            <a:ext cx="3578047" cy="822960"/>
          </a:xfrm>
          <a:prstGeom prst="rect">
            <a:avLst/>
          </a:prstGeom>
          <a:noFill/>
          <a:ln/>
        </p:spPr>
        <p:txBody>
          <a:bodyPr wrap="square" lIns="0" tIns="0" rIns="0" bIns="0" rtlCol="0" anchor="t"/>
          <a:lstStyle/>
          <a:p>
            <a:pPr indent="0" marL="0">
              <a:lnSpc>
                <a:spcPts val="1500"/>
              </a:lnSpc>
              <a:buNone/>
            </a:pPr>
            <a:r>
              <a:rPr lang="en-US" sz="1100" dirty="0">
                <a:solidFill>
                  <a:srgbClr val="6A6875"/>
                </a:solidFill>
                <a:latin typeface="Calibri" pitchFamily="34" charset="0"/>
                <a:ea typeface="Calibri" pitchFamily="34" charset="-122"/>
                <a:cs typeface="Calibri" pitchFamily="34" charset="-120"/>
              </a:rPr>
              <a:t>Blue avoidant, orange anxious, red fearful-avoidant, green secure. Grey belongs to more than one.</a:t>
            </a:r>
            <a:endParaRPr lang="en-US" sz="1100" dirty="0"/>
          </a:p>
        </p:txBody>
      </p:sp>
      <p:sp>
        <p:nvSpPr>
          <p:cNvPr id="8" name="Text 5"/>
          <p:cNvSpPr txBox="1"/>
          <p:nvPr/>
        </p:nvSpPr>
        <p:spPr>
          <a:xfrm>
            <a:off x="7955280" y="2651760"/>
            <a:ext cx="3578047" cy="292608"/>
          </a:xfrm>
          <a:prstGeom prst="rect">
            <a:avLst/>
          </a:prstGeom>
          <a:noFill/>
          <a:ln/>
        </p:spPr>
        <p:txBody>
          <a:bodyPr wrap="square" lIns="0" tIns="0" rIns="0" bIns="0" rtlCol="0" anchor="ctr"/>
          <a:lstStyle/>
          <a:p>
            <a:pPr indent="0" marL="0">
              <a:buNone/>
            </a:pPr>
            <a:r>
              <a:rPr lang="en-US" sz="1300" b="1" dirty="0">
                <a:solidFill>
                  <a:srgbClr val="22222A"/>
                </a:solidFill>
                <a:latin typeface="Calibri" pitchFamily="34" charset="0"/>
                <a:ea typeface="Calibri" pitchFamily="34" charset="-122"/>
                <a:cs typeface="Calibri" pitchFamily="34" charset="-120"/>
              </a:rPr>
              <a:t>Shape is the kind of idea</a:t>
            </a:r>
            <a:endParaRPr lang="en-US" sz="1300" dirty="0"/>
          </a:p>
        </p:txBody>
      </p:sp>
      <p:sp>
        <p:nvSpPr>
          <p:cNvPr id="9" name="Text 6"/>
          <p:cNvSpPr txBox="1"/>
          <p:nvPr/>
        </p:nvSpPr>
        <p:spPr>
          <a:xfrm>
            <a:off x="7955280" y="2962656"/>
            <a:ext cx="3578047" cy="822960"/>
          </a:xfrm>
          <a:prstGeom prst="rect">
            <a:avLst/>
          </a:prstGeom>
          <a:noFill/>
          <a:ln/>
        </p:spPr>
        <p:txBody>
          <a:bodyPr wrap="square" lIns="0" tIns="0" rIns="0" bIns="0" rtlCol="0" anchor="t"/>
          <a:lstStyle/>
          <a:p>
            <a:pPr indent="0" marL="0">
              <a:lnSpc>
                <a:spcPts val="1500"/>
              </a:lnSpc>
              <a:buNone/>
            </a:pPr>
            <a:r>
              <a:rPr lang="en-US" sz="1100" dirty="0">
                <a:solidFill>
                  <a:srgbClr val="6A6875"/>
                </a:solidFill>
                <a:latin typeface="Calibri" pitchFamily="34" charset="0"/>
                <a:ea typeface="Calibri" pitchFamily="34" charset="-122"/>
                <a:cs typeface="Calibri" pitchFamily="34" charset="-120"/>
              </a:rPr>
              <a:t>Triangle a strategy, diamond a state, square a belief, pentagon a developmental origin.</a:t>
            </a:r>
            <a:endParaRPr lang="en-US" sz="1100" dirty="0"/>
          </a:p>
        </p:txBody>
      </p:sp>
      <p:sp>
        <p:nvSpPr>
          <p:cNvPr id="10" name="Text 7"/>
          <p:cNvSpPr txBox="1"/>
          <p:nvPr/>
        </p:nvSpPr>
        <p:spPr>
          <a:xfrm>
            <a:off x="7955280" y="3822192"/>
            <a:ext cx="3578047" cy="292608"/>
          </a:xfrm>
          <a:prstGeom prst="rect">
            <a:avLst/>
          </a:prstGeom>
          <a:noFill/>
          <a:ln/>
        </p:spPr>
        <p:txBody>
          <a:bodyPr wrap="square" lIns="0" tIns="0" rIns="0" bIns="0" rtlCol="0" anchor="ctr"/>
          <a:lstStyle/>
          <a:p>
            <a:pPr indent="0" marL="0">
              <a:buNone/>
            </a:pPr>
            <a:r>
              <a:rPr lang="en-US" sz="1300" b="1" dirty="0">
                <a:solidFill>
                  <a:srgbClr val="22222A"/>
                </a:solidFill>
                <a:latin typeface="Calibri" pitchFamily="34" charset="0"/>
                <a:ea typeface="Calibri" pitchFamily="34" charset="-122"/>
                <a:cs typeface="Calibri" pitchFamily="34" charset="-120"/>
              </a:rPr>
              <a:t>It never draws everything</a:t>
            </a:r>
            <a:endParaRPr lang="en-US" sz="1300" dirty="0"/>
          </a:p>
        </p:txBody>
      </p:sp>
      <p:sp>
        <p:nvSpPr>
          <p:cNvPr id="11" name="Text 8"/>
          <p:cNvSpPr txBox="1"/>
          <p:nvPr/>
        </p:nvSpPr>
        <p:spPr>
          <a:xfrm>
            <a:off x="7955280" y="4133088"/>
            <a:ext cx="3578047" cy="822960"/>
          </a:xfrm>
          <a:prstGeom prst="rect">
            <a:avLst/>
          </a:prstGeom>
          <a:noFill/>
          <a:ln/>
        </p:spPr>
        <p:txBody>
          <a:bodyPr wrap="square" lIns="0" tIns="0" rIns="0" bIns="0" rtlCol="0" anchor="t"/>
          <a:lstStyle/>
          <a:p>
            <a:pPr indent="0" marL="0">
              <a:lnSpc>
                <a:spcPts val="1500"/>
              </a:lnSpc>
              <a:buNone/>
            </a:pPr>
            <a:r>
              <a:rPr lang="en-US" sz="1100" dirty="0">
                <a:solidFill>
                  <a:srgbClr val="6A6875"/>
                </a:solidFill>
                <a:latin typeface="Calibri" pitchFamily="34" charset="0"/>
                <a:ea typeface="Calibri" pitchFamily="34" charset="-122"/>
                <a:cs typeface="Calibri" pitchFamily="34" charset="-120"/>
              </a:rPr>
              <a:t>One idea and its neighbours. A 616-node hairball tells you nothing.</a:t>
            </a:r>
            <a:endParaRPr lang="en-US" sz="1100" dirty="0"/>
          </a:p>
        </p:txBody>
      </p:sp>
      <p:sp>
        <p:nvSpPr>
          <p:cNvPr id="12" name="Text 9"/>
          <p:cNvSpPr txBox="1"/>
          <p:nvPr/>
        </p:nvSpPr>
        <p:spPr>
          <a:xfrm>
            <a:off x="7955280" y="4992624"/>
            <a:ext cx="3578047" cy="292608"/>
          </a:xfrm>
          <a:prstGeom prst="rect">
            <a:avLst/>
          </a:prstGeom>
          <a:noFill/>
          <a:ln/>
        </p:spPr>
        <p:txBody>
          <a:bodyPr wrap="square" lIns="0" tIns="0" rIns="0" bIns="0" rtlCol="0" anchor="ctr"/>
          <a:lstStyle/>
          <a:p>
            <a:pPr indent="0" marL="0">
              <a:buNone/>
            </a:pPr>
            <a:r>
              <a:rPr lang="en-US" sz="1300" b="1" dirty="0">
                <a:solidFill>
                  <a:srgbClr val="22222A"/>
                </a:solidFill>
                <a:latin typeface="Calibri" pitchFamily="34" charset="0"/>
                <a:ea typeface="Calibri" pitchFamily="34" charset="-122"/>
                <a:cs typeface="Calibri" pitchFamily="34" charset="-120"/>
              </a:rPr>
              <a:t>Click reads, double-click moves</a:t>
            </a:r>
            <a:endParaRPr lang="en-US" sz="1300" dirty="0"/>
          </a:p>
        </p:txBody>
      </p:sp>
      <p:sp>
        <p:nvSpPr>
          <p:cNvPr id="13" name="Text 10"/>
          <p:cNvSpPr txBox="1"/>
          <p:nvPr/>
        </p:nvSpPr>
        <p:spPr>
          <a:xfrm>
            <a:off x="7955280" y="5303520"/>
            <a:ext cx="3578047" cy="822960"/>
          </a:xfrm>
          <a:prstGeom prst="rect">
            <a:avLst/>
          </a:prstGeom>
          <a:noFill/>
          <a:ln/>
        </p:spPr>
        <p:txBody>
          <a:bodyPr wrap="square" lIns="0" tIns="0" rIns="0" bIns="0" rtlCol="0" anchor="t"/>
          <a:lstStyle/>
          <a:p>
            <a:pPr indent="0" marL="0">
              <a:lnSpc>
                <a:spcPts val="1500"/>
              </a:lnSpc>
              <a:buNone/>
            </a:pPr>
            <a:r>
              <a:rPr lang="en-US" sz="1100" dirty="0">
                <a:solidFill>
                  <a:srgbClr val="6A6875"/>
                </a:solidFill>
                <a:latin typeface="Calibri" pitchFamily="34" charset="0"/>
                <a:ea typeface="Calibri" pitchFamily="34" charset="-122"/>
                <a:cs typeface="Calibri" pitchFamily="34" charset="-120"/>
              </a:rPr>
              <a:t>So you can read your way around without losing your place.</a:t>
            </a:r>
            <a:endParaRPr lang="en-US" sz="1100" dirty="0"/>
          </a:p>
        </p:txBody>
      </p:sp>
      <p:sp>
        <p:nvSpPr>
          <p:cNvPr id="14" name="Text 11"/>
          <p:cNvSpPr txBox="1"/>
          <p:nvPr/>
        </p:nvSpPr>
        <p:spPr>
          <a:xfrm>
            <a:off x="658368" y="5897880"/>
            <a:ext cx="7040880" cy="274320"/>
          </a:xfrm>
          <a:prstGeom prst="rect">
            <a:avLst/>
          </a:prstGeom>
          <a:noFill/>
          <a:ln/>
        </p:spPr>
        <p:txBody>
          <a:bodyPr wrap="square" lIns="0" tIns="0" rIns="0" bIns="0" rtlCol="0" anchor="ctr"/>
          <a:lstStyle/>
          <a:p>
            <a:pPr indent="0" marL="0">
              <a:buNone/>
            </a:pPr>
            <a:r>
              <a:rPr lang="en-US" sz="1150" dirty="0">
                <a:solidFill>
                  <a:srgbClr val="7B4BD8"/>
                </a:solidFill>
                <a:latin typeface="Courier New" pitchFamily="34" charset="0"/>
                <a:ea typeface="Courier New" pitchFamily="34" charset="-122"/>
                <a:cs typeface="Courier New" pitchFamily="34" charset="-120"/>
              </a:rPr>
              <a:t>touyette.github.io/AS-KG/typed-graph/</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076127" y="384048"/>
            <a:ext cx="457200" cy="237744"/>
          </a:xfrm>
          <a:prstGeom prst="rect">
            <a:avLst/>
          </a:prstGeom>
          <a:noFill/>
          <a:ln/>
        </p:spPr>
        <p:txBody>
          <a:bodyPr wrap="square" lIns="0" tIns="0" rIns="0" bIns="0" rtlCol="0" anchor="ctr"/>
          <a:lstStyle/>
          <a:p>
            <a:pPr algn="r" indent="0" marL="0">
              <a:buNone/>
            </a:pPr>
            <a:r>
              <a:rPr lang="en-US" sz="900" dirty="0">
                <a:solidFill>
                  <a:srgbClr val="807C8A"/>
                </a:solidFill>
                <a:latin typeface="Calibri" pitchFamily="34" charset="0"/>
                <a:ea typeface="Calibri" pitchFamily="34" charset="-122"/>
                <a:cs typeface="Calibri" pitchFamily="34" charset="-120"/>
              </a:rPr>
              <a:t>6</a:t>
            </a:r>
            <a:endParaRPr lang="en-US" sz="900" dirty="0"/>
          </a:p>
        </p:txBody>
      </p:sp>
      <p:sp>
        <p:nvSpPr>
          <p:cNvPr id="3" name="Text 1"/>
          <p:cNvSpPr txBox="1"/>
          <p:nvPr/>
        </p:nvSpPr>
        <p:spPr>
          <a:xfrm>
            <a:off x="658368" y="475488"/>
            <a:ext cx="10874959" cy="219456"/>
          </a:xfrm>
          <a:prstGeom prst="rect">
            <a:avLst/>
          </a:prstGeom>
          <a:noFill/>
          <a:ln/>
        </p:spPr>
        <p:txBody>
          <a:bodyPr wrap="square" lIns="0" tIns="0" rIns="0" bIns="0" rtlCol="0" anchor="ctr"/>
          <a:lstStyle/>
          <a:p>
            <a:pPr indent="0" marL="0">
              <a:buNone/>
            </a:pPr>
            <a:r>
              <a:rPr lang="en-US" sz="1050" b="1" spc="160" kern="0" dirty="0">
                <a:solidFill>
                  <a:srgbClr val="7B4BD8"/>
                </a:solidFill>
                <a:latin typeface="Calibri" pitchFamily="34" charset="0"/>
                <a:ea typeface="Calibri" pitchFamily="34" charset="-122"/>
                <a:cs typeface="Calibri" pitchFamily="34" charset="-120"/>
              </a:rPr>
              <a:t>WAY TWO</a:t>
            </a:r>
            <a:endParaRPr lang="en-US" sz="1050" dirty="0"/>
          </a:p>
        </p:txBody>
      </p:sp>
      <p:sp>
        <p:nvSpPr>
          <p:cNvPr id="4" name="Text 2"/>
          <p:cNvSpPr txBox="1"/>
          <p:nvPr/>
        </p:nvSpPr>
        <p:spPr>
          <a:xfrm>
            <a:off x="658368" y="768096"/>
            <a:ext cx="10874959" cy="658368"/>
          </a:xfrm>
          <a:prstGeom prst="rect">
            <a:avLst/>
          </a:prstGeom>
          <a:noFill/>
          <a:ln/>
        </p:spPr>
        <p:txBody>
          <a:bodyPr wrap="square" lIns="0" tIns="0" rIns="0" bIns="0" rtlCol="0" anchor="ctr"/>
          <a:lstStyle/>
          <a:p>
            <a:pPr indent="0" marL="0">
              <a:buNone/>
            </a:pPr>
            <a:r>
              <a:rPr lang="en-US" sz="3200" b="1" dirty="0">
                <a:solidFill>
                  <a:srgbClr val="22222A"/>
                </a:solidFill>
                <a:latin typeface="Cambria" pitchFamily="34" charset="0"/>
                <a:ea typeface="Cambria" pitchFamily="34" charset="-122"/>
                <a:cs typeface="Cambria" pitchFamily="34" charset="-120"/>
              </a:rPr>
              <a:t>Talk it through with an assistant</a:t>
            </a:r>
            <a:endParaRPr lang="en-US" sz="3200" dirty="0"/>
          </a:p>
        </p:txBody>
      </p:sp>
      <p:pic>
        <p:nvPicPr>
          <p:cNvPr id="5" name="Image 0" descr="scripts/deck/assets/deck-discussion.png">    </p:cNvPr>
          <p:cNvPicPr>
            <a:picLocks noChangeAspect="1"/>
          </p:cNvPicPr>
          <p:nvPr/>
        </p:nvPicPr>
        <p:blipFill>
          <a:blip r:embed="rId1"/>
          <a:stretch>
            <a:fillRect/>
          </a:stretch>
        </p:blipFill>
        <p:spPr>
          <a:xfrm>
            <a:off x="658368" y="1371600"/>
            <a:ext cx="7040880" cy="4398264"/>
          </a:xfrm>
          <a:prstGeom prst="rect">
            <a:avLst/>
          </a:prstGeom>
        </p:spPr>
      </p:pic>
      <p:sp>
        <p:nvSpPr>
          <p:cNvPr id="6" name="Text 3"/>
          <p:cNvSpPr txBox="1"/>
          <p:nvPr/>
        </p:nvSpPr>
        <p:spPr>
          <a:xfrm>
            <a:off x="7955280" y="1481328"/>
            <a:ext cx="3578047" cy="274320"/>
          </a:xfrm>
          <a:prstGeom prst="rect">
            <a:avLst/>
          </a:prstGeom>
          <a:noFill/>
          <a:ln/>
        </p:spPr>
        <p:txBody>
          <a:bodyPr wrap="square" lIns="0" tIns="0" rIns="0" bIns="0" rtlCol="0" anchor="ctr"/>
          <a:lstStyle/>
          <a:p>
            <a:pPr indent="0" marL="0">
              <a:buNone/>
            </a:pPr>
            <a:r>
              <a:rPr lang="en-US" sz="1300" b="1" dirty="0">
                <a:solidFill>
                  <a:srgbClr val="22222A"/>
                </a:solidFill>
                <a:latin typeface="Calibri" pitchFamily="34" charset="0"/>
                <a:ea typeface="Calibri" pitchFamily="34" charset="-122"/>
                <a:cs typeface="Calibri" pitchFamily="34" charset="-120"/>
              </a:rPr>
              <a:t>Three commands</a:t>
            </a:r>
            <a:endParaRPr lang="en-US" sz="1300" dirty="0"/>
          </a:p>
        </p:txBody>
      </p:sp>
      <p:sp>
        <p:nvSpPr>
          <p:cNvPr id="7" name="Shape 4"/>
          <p:cNvSpPr/>
          <p:nvPr/>
        </p:nvSpPr>
        <p:spPr>
          <a:xfrm>
            <a:off x="7955280" y="1828800"/>
            <a:ext cx="3578047" cy="1024128"/>
          </a:xfrm>
          <a:prstGeom prst="roundRect">
            <a:avLst>
              <a:gd name="adj" fmla="val 7143"/>
            </a:avLst>
          </a:prstGeom>
          <a:solidFill>
            <a:srgbClr val="F7F5FA"/>
          </a:solidFill>
          <a:ln w="9525">
            <a:solidFill>
              <a:srgbClr val="E5E2E8"/>
            </a:solidFill>
            <a:prstDash val="solid"/>
          </a:ln>
        </p:spPr>
      </p:sp>
      <p:sp>
        <p:nvSpPr>
          <p:cNvPr id="8" name="Text 5"/>
          <p:cNvSpPr txBox="1"/>
          <p:nvPr/>
        </p:nvSpPr>
        <p:spPr>
          <a:xfrm>
            <a:off x="8138160" y="1938528"/>
            <a:ext cx="3212287" cy="868680"/>
          </a:xfrm>
          <a:prstGeom prst="rect">
            <a:avLst/>
          </a:prstGeom>
          <a:noFill/>
          <a:ln/>
        </p:spPr>
        <p:txBody>
          <a:bodyPr wrap="square" lIns="0" tIns="0" rIns="0" bIns="0" rtlCol="0" anchor="ctr"/>
          <a:lstStyle/>
          <a:p>
            <a:pPr indent="0" marL="0">
              <a:lnSpc>
                <a:spcPts val="1300"/>
              </a:lnSpc>
              <a:buNone/>
            </a:pPr>
            <a:r>
              <a:rPr lang="en-US" sz="950" dirty="0">
                <a:solidFill>
                  <a:srgbClr val="7B4BD8"/>
                </a:solidFill>
                <a:latin typeface="Courier New" pitchFamily="34" charset="0"/>
                <a:ea typeface="Courier New" pitchFamily="34" charset="-122"/>
                <a:cs typeface="Courier New" pitchFamily="34" charset="-120"/>
              </a:rPr>
              <a:t>git clone</a:t>
            </a:r>
            <a:endParaRPr lang="en-US" sz="950" dirty="0"/>
          </a:p>
          <a:p>
            <a:pPr indent="0" marL="0">
              <a:lnSpc>
                <a:spcPts val="1300"/>
              </a:lnSpc>
              <a:buNone/>
            </a:pPr>
            <a:r>
              <a:rPr lang="en-US" sz="950" dirty="0">
                <a:solidFill>
                  <a:srgbClr val="7B4BD8"/>
                </a:solidFill>
                <a:latin typeface="Courier New" pitchFamily="34" charset="0"/>
                <a:ea typeface="Courier New" pitchFamily="34" charset="-122"/>
                <a:cs typeface="Courier New" pitchFamily="34" charset="-120"/>
              </a:rPr>
              <a:t>  github.com/touyette/AS-KG</a:t>
            </a:r>
            <a:endParaRPr lang="en-US" sz="950" dirty="0"/>
          </a:p>
          <a:p>
            <a:pPr indent="0" marL="0">
              <a:lnSpc>
                <a:spcPts val="1300"/>
              </a:lnSpc>
              <a:buNone/>
            </a:pPr>
            <a:r>
              <a:rPr lang="en-US" sz="950" dirty="0">
                <a:solidFill>
                  <a:srgbClr val="7B4BD8"/>
                </a:solidFill>
                <a:latin typeface="Courier New" pitchFamily="34" charset="0"/>
                <a:ea typeface="Courier New" pitchFamily="34" charset="-122"/>
                <a:cs typeface="Courier New" pitchFamily="34" charset="-120"/>
              </a:rPr>
              <a:t>cd AS-KG</a:t>
            </a:r>
            <a:endParaRPr lang="en-US" sz="950" dirty="0"/>
          </a:p>
          <a:p>
            <a:pPr indent="0" marL="0">
              <a:lnSpc>
                <a:spcPts val="1300"/>
              </a:lnSpc>
              <a:buNone/>
            </a:pPr>
            <a:r>
              <a:rPr lang="en-US" sz="950" dirty="0">
                <a:solidFill>
                  <a:srgbClr val="7B4BD8"/>
                </a:solidFill>
                <a:latin typeface="Courier New" pitchFamily="34" charset="0"/>
                <a:ea typeface="Courier New" pitchFamily="34" charset="-122"/>
                <a:cs typeface="Courier New" pitchFamily="34" charset="-120"/>
              </a:rPr>
              <a:t>claude</a:t>
            </a:r>
            <a:endParaRPr lang="en-US" sz="950" dirty="0"/>
          </a:p>
        </p:txBody>
      </p:sp>
      <p:sp>
        <p:nvSpPr>
          <p:cNvPr id="9" name="Text 6"/>
          <p:cNvSpPr txBox="1"/>
          <p:nvPr/>
        </p:nvSpPr>
        <p:spPr>
          <a:xfrm>
            <a:off x="7955280" y="3063240"/>
            <a:ext cx="3578047" cy="274320"/>
          </a:xfrm>
          <a:prstGeom prst="rect">
            <a:avLst/>
          </a:prstGeom>
          <a:noFill/>
          <a:ln/>
        </p:spPr>
        <p:txBody>
          <a:bodyPr wrap="square" lIns="0" tIns="0" rIns="0" bIns="0" rtlCol="0" anchor="ctr"/>
          <a:lstStyle/>
          <a:p>
            <a:pPr indent="0" marL="0">
              <a:buNone/>
            </a:pPr>
            <a:r>
              <a:rPr lang="en-US" sz="1250" b="1" dirty="0">
                <a:solidFill>
                  <a:srgbClr val="22222A"/>
                </a:solidFill>
                <a:latin typeface="Calibri" pitchFamily="34" charset="0"/>
                <a:ea typeface="Calibri" pitchFamily="34" charset="-122"/>
                <a:cs typeface="Calibri" pitchFamily="34" charset="-120"/>
              </a:rPr>
              <a:t>It reads the briefing first</a:t>
            </a:r>
            <a:endParaRPr lang="en-US" sz="1250" dirty="0"/>
          </a:p>
        </p:txBody>
      </p:sp>
      <p:sp>
        <p:nvSpPr>
          <p:cNvPr id="10" name="Text 7"/>
          <p:cNvSpPr txBox="1"/>
          <p:nvPr/>
        </p:nvSpPr>
        <p:spPr>
          <a:xfrm>
            <a:off x="7955280" y="3355848"/>
            <a:ext cx="3578047" cy="713232"/>
          </a:xfrm>
          <a:prstGeom prst="rect">
            <a:avLst/>
          </a:prstGeom>
          <a:noFill/>
          <a:ln/>
        </p:spPr>
        <p:txBody>
          <a:bodyPr wrap="square" lIns="0" tIns="0" rIns="0" bIns="0" rtlCol="0" anchor="t"/>
          <a:lstStyle/>
          <a:p>
            <a:pPr indent="0" marL="0">
              <a:lnSpc>
                <a:spcPts val="1400"/>
              </a:lnSpc>
              <a:buNone/>
            </a:pPr>
            <a:r>
              <a:rPr lang="en-US" sz="1050" dirty="0">
                <a:solidFill>
                  <a:srgbClr val="6A6875"/>
                </a:solidFill>
                <a:latin typeface="Calibri" pitchFamily="34" charset="0"/>
                <a:ea typeface="Calibri" pitchFamily="34" charset="-122"/>
                <a:cs typeface="Calibri" pitchFamily="34" charset="-120"/>
              </a:rPr>
              <a:t>AGENTS.md tells it what the material is for, what to read, and the rules it works inside. You do not have to prompt any of that.</a:t>
            </a:r>
            <a:endParaRPr lang="en-US" sz="1050" dirty="0"/>
          </a:p>
        </p:txBody>
      </p:sp>
      <p:sp>
        <p:nvSpPr>
          <p:cNvPr id="11" name="Text 8"/>
          <p:cNvSpPr txBox="1"/>
          <p:nvPr/>
        </p:nvSpPr>
        <p:spPr>
          <a:xfrm>
            <a:off x="7955280" y="4087368"/>
            <a:ext cx="3578047" cy="274320"/>
          </a:xfrm>
          <a:prstGeom prst="rect">
            <a:avLst/>
          </a:prstGeom>
          <a:noFill/>
          <a:ln/>
        </p:spPr>
        <p:txBody>
          <a:bodyPr wrap="square" lIns="0" tIns="0" rIns="0" bIns="0" rtlCol="0" anchor="ctr"/>
          <a:lstStyle/>
          <a:p>
            <a:pPr indent="0" marL="0">
              <a:buNone/>
            </a:pPr>
            <a:r>
              <a:rPr lang="en-US" sz="1250" b="1" dirty="0">
                <a:solidFill>
                  <a:srgbClr val="22222A"/>
                </a:solidFill>
                <a:latin typeface="Calibri" pitchFamily="34" charset="0"/>
                <a:ea typeface="Calibri" pitchFamily="34" charset="-122"/>
                <a:cs typeface="Calibri" pitchFamily="34" charset="-120"/>
              </a:rPr>
              <a:t>It shows its working</a:t>
            </a:r>
            <a:endParaRPr lang="en-US" sz="1250" dirty="0"/>
          </a:p>
        </p:txBody>
      </p:sp>
      <p:sp>
        <p:nvSpPr>
          <p:cNvPr id="12" name="Text 9"/>
          <p:cNvSpPr txBox="1"/>
          <p:nvPr/>
        </p:nvSpPr>
        <p:spPr>
          <a:xfrm>
            <a:off x="7955280" y="4379976"/>
            <a:ext cx="3578047" cy="713232"/>
          </a:xfrm>
          <a:prstGeom prst="rect">
            <a:avLst/>
          </a:prstGeom>
          <a:noFill/>
          <a:ln/>
        </p:spPr>
        <p:txBody>
          <a:bodyPr wrap="square" lIns="0" tIns="0" rIns="0" bIns="0" rtlCol="0" anchor="t"/>
          <a:lstStyle/>
          <a:p>
            <a:pPr indent="0" marL="0">
              <a:lnSpc>
                <a:spcPts val="1400"/>
              </a:lnSpc>
              <a:buNone/>
            </a:pPr>
            <a:r>
              <a:rPr lang="en-US" sz="1050" dirty="0">
                <a:solidFill>
                  <a:srgbClr val="6A6875"/>
                </a:solidFill>
                <a:latin typeface="Calibri" pitchFamily="34" charset="0"/>
                <a:ea typeface="Calibri" pitchFamily="34" charset="-122"/>
                <a:cs typeface="Calibri" pitchFamily="34" charset="-120"/>
              </a:rPr>
              <a:t>A window opens with the nodes it is drawing on, so you can read the material yourself instead of taking its summary.</a:t>
            </a:r>
            <a:endParaRPr lang="en-US" sz="1050" dirty="0"/>
          </a:p>
        </p:txBody>
      </p:sp>
      <p:sp>
        <p:nvSpPr>
          <p:cNvPr id="13" name="Text 10"/>
          <p:cNvSpPr txBox="1"/>
          <p:nvPr/>
        </p:nvSpPr>
        <p:spPr>
          <a:xfrm>
            <a:off x="7955280" y="5111496"/>
            <a:ext cx="3578047" cy="274320"/>
          </a:xfrm>
          <a:prstGeom prst="rect">
            <a:avLst/>
          </a:prstGeom>
          <a:noFill/>
          <a:ln/>
        </p:spPr>
        <p:txBody>
          <a:bodyPr wrap="square" lIns="0" tIns="0" rIns="0" bIns="0" rtlCol="0" anchor="ctr"/>
          <a:lstStyle/>
          <a:p>
            <a:pPr indent="0" marL="0">
              <a:buNone/>
            </a:pPr>
            <a:r>
              <a:rPr lang="en-US" sz="1250" b="1" dirty="0">
                <a:solidFill>
                  <a:srgbClr val="22222A"/>
                </a:solidFill>
                <a:latin typeface="Calibri" pitchFamily="34" charset="0"/>
                <a:ea typeface="Calibri" pitchFamily="34" charset="-122"/>
                <a:cs typeface="Calibri" pitchFamily="34" charset="-120"/>
              </a:rPr>
              <a:t>Nothing leaves your machine</a:t>
            </a:r>
            <a:endParaRPr lang="en-US" sz="1250" dirty="0"/>
          </a:p>
        </p:txBody>
      </p:sp>
      <p:sp>
        <p:nvSpPr>
          <p:cNvPr id="14" name="Text 11"/>
          <p:cNvSpPr txBox="1"/>
          <p:nvPr/>
        </p:nvSpPr>
        <p:spPr>
          <a:xfrm>
            <a:off x="7955280" y="5404104"/>
            <a:ext cx="3578047" cy="713232"/>
          </a:xfrm>
          <a:prstGeom prst="rect">
            <a:avLst/>
          </a:prstGeom>
          <a:noFill/>
          <a:ln/>
        </p:spPr>
        <p:txBody>
          <a:bodyPr wrap="square" lIns="0" tIns="0" rIns="0" bIns="0" rtlCol="0" anchor="t"/>
          <a:lstStyle/>
          <a:p>
            <a:pPr indent="0" marL="0">
              <a:lnSpc>
                <a:spcPts val="1400"/>
              </a:lnSpc>
              <a:buNone/>
            </a:pPr>
            <a:r>
              <a:rPr lang="en-US" sz="1050" dirty="0">
                <a:solidFill>
                  <a:srgbClr val="6A6875"/>
                </a:solidFill>
                <a:latin typeface="Calibri" pitchFamily="34" charset="0"/>
                <a:ea typeface="Calibri" pitchFamily="34" charset="-122"/>
                <a:cs typeface="Calibri" pitchFamily="34" charset="-120"/>
              </a:rPr>
              <a:t>No account and no service. The corpus, the rules and the tools are all in the folder you downloaded.</a:t>
            </a:r>
            <a:endParaRPr lang="en-US" sz="1050" dirty="0"/>
          </a:p>
        </p:txBody>
      </p:sp>
      <p:sp>
        <p:nvSpPr>
          <p:cNvPr id="15" name="Text 12"/>
          <p:cNvSpPr txBox="1"/>
          <p:nvPr/>
        </p:nvSpPr>
        <p:spPr>
          <a:xfrm>
            <a:off x="658368" y="5897880"/>
            <a:ext cx="7040880" cy="274320"/>
          </a:xfrm>
          <a:prstGeom prst="rect">
            <a:avLst/>
          </a:prstGeom>
          <a:noFill/>
          <a:ln/>
        </p:spPr>
        <p:txBody>
          <a:bodyPr wrap="square" lIns="0" tIns="0" rIns="0" bIns="0" rtlCol="0" anchor="ctr"/>
          <a:lstStyle/>
          <a:p>
            <a:pPr indent="0" marL="0">
              <a:buNone/>
            </a:pPr>
            <a:r>
              <a:rPr lang="en-US" sz="1150" i="1" dirty="0">
                <a:solidFill>
                  <a:srgbClr val="807C8A"/>
                </a:solidFill>
                <a:latin typeface="Calibri" pitchFamily="34" charset="0"/>
                <a:ea typeface="Calibri" pitchFamily="34" charset="-122"/>
                <a:cs typeface="Calibri" pitchFamily="34" charset="-120"/>
              </a:rPr>
              <a:t>Works with Claude Code, Codex, or anything else that can read files and run a command.</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076127" y="384048"/>
            <a:ext cx="457200" cy="237744"/>
          </a:xfrm>
          <a:prstGeom prst="rect">
            <a:avLst/>
          </a:prstGeom>
          <a:noFill/>
          <a:ln/>
        </p:spPr>
        <p:txBody>
          <a:bodyPr wrap="square" lIns="0" tIns="0" rIns="0" bIns="0" rtlCol="0" anchor="ctr"/>
          <a:lstStyle/>
          <a:p>
            <a:pPr algn="r" indent="0" marL="0">
              <a:buNone/>
            </a:pPr>
            <a:r>
              <a:rPr lang="en-US" sz="900" dirty="0">
                <a:solidFill>
                  <a:srgbClr val="807C8A"/>
                </a:solidFill>
                <a:latin typeface="Calibri" pitchFamily="34" charset="0"/>
                <a:ea typeface="Calibri" pitchFamily="34" charset="-122"/>
                <a:cs typeface="Calibri" pitchFamily="34" charset="-120"/>
              </a:rPr>
              <a:t>7</a:t>
            </a:r>
            <a:endParaRPr lang="en-US" sz="900" dirty="0"/>
          </a:p>
        </p:txBody>
      </p:sp>
      <p:sp>
        <p:nvSpPr>
          <p:cNvPr id="3" name="Text 1"/>
          <p:cNvSpPr txBox="1"/>
          <p:nvPr/>
        </p:nvSpPr>
        <p:spPr>
          <a:xfrm>
            <a:off x="658368" y="475488"/>
            <a:ext cx="10874959" cy="219456"/>
          </a:xfrm>
          <a:prstGeom prst="rect">
            <a:avLst/>
          </a:prstGeom>
          <a:noFill/>
          <a:ln/>
        </p:spPr>
        <p:txBody>
          <a:bodyPr wrap="square" lIns="0" tIns="0" rIns="0" bIns="0" rtlCol="0" anchor="ctr"/>
          <a:lstStyle/>
          <a:p>
            <a:pPr indent="0" marL="0">
              <a:buNone/>
            </a:pPr>
            <a:r>
              <a:rPr lang="en-US" sz="1050" b="1" spc="160" kern="0" dirty="0">
                <a:solidFill>
                  <a:srgbClr val="7B4BD8"/>
                </a:solidFill>
                <a:latin typeface="Calibri" pitchFamily="34" charset="0"/>
                <a:ea typeface="Calibri" pitchFamily="34" charset="-122"/>
                <a:cs typeface="Calibri" pitchFamily="34" charset="-120"/>
              </a:rPr>
              <a:t>WHAT THAT IS LIKE</a:t>
            </a:r>
            <a:endParaRPr lang="en-US" sz="1050" dirty="0"/>
          </a:p>
        </p:txBody>
      </p:sp>
      <p:sp>
        <p:nvSpPr>
          <p:cNvPr id="4" name="Text 2"/>
          <p:cNvSpPr txBox="1"/>
          <p:nvPr/>
        </p:nvSpPr>
        <p:spPr>
          <a:xfrm>
            <a:off x="658368" y="768096"/>
            <a:ext cx="10874959" cy="658368"/>
          </a:xfrm>
          <a:prstGeom prst="rect">
            <a:avLst/>
          </a:prstGeom>
          <a:noFill/>
          <a:ln/>
        </p:spPr>
        <p:txBody>
          <a:bodyPr wrap="square" lIns="0" tIns="0" rIns="0" bIns="0" rtlCol="0" anchor="ctr"/>
          <a:lstStyle/>
          <a:p>
            <a:pPr indent="0" marL="0">
              <a:buNone/>
            </a:pPr>
            <a:r>
              <a:rPr lang="en-US" sz="3200" b="1" dirty="0">
                <a:solidFill>
                  <a:srgbClr val="22222A"/>
                </a:solidFill>
                <a:latin typeface="Cambria" pitchFamily="34" charset="0"/>
                <a:ea typeface="Cambria" pitchFamily="34" charset="-122"/>
                <a:cs typeface="Cambria" pitchFamily="34" charset="-120"/>
              </a:rPr>
              <a:t>It asks before it explains</a:t>
            </a:r>
            <a:endParaRPr lang="en-US" sz="3200" dirty="0"/>
          </a:p>
        </p:txBody>
      </p:sp>
      <p:sp>
        <p:nvSpPr>
          <p:cNvPr id="5" name="Text 3"/>
          <p:cNvSpPr txBox="1"/>
          <p:nvPr/>
        </p:nvSpPr>
        <p:spPr>
          <a:xfrm>
            <a:off x="658368" y="1609344"/>
            <a:ext cx="9134966" cy="548640"/>
          </a:xfrm>
          <a:prstGeom prst="rect">
            <a:avLst/>
          </a:prstGeom>
          <a:noFill/>
          <a:ln/>
        </p:spPr>
        <p:txBody>
          <a:bodyPr wrap="square" lIns="0" tIns="0" rIns="0" bIns="0" rtlCol="0" anchor="ctr"/>
          <a:lstStyle/>
          <a:p>
            <a:pPr indent="0" marL="0">
              <a:lnSpc>
                <a:spcPts val="2100"/>
              </a:lnSpc>
              <a:buNone/>
            </a:pPr>
            <a:r>
              <a:rPr lang="en-US" sz="1450" dirty="0">
                <a:solidFill>
                  <a:srgbClr val="6A6875"/>
                </a:solidFill>
                <a:latin typeface="Calibri" pitchFamily="34" charset="0"/>
                <a:ea typeface="Calibri" pitchFamily="34" charset="-122"/>
                <a:cs typeface="Calibri" pitchFamily="34" charset="-120"/>
              </a:rPr>
              <a:t>A real first exchange, shortened. The order is the safety mechanism, not a manner: a reading offered to someone who has not been heard arrives as a verdict from a stranger.</a:t>
            </a:r>
            <a:endParaRPr lang="en-US" sz="1450" dirty="0"/>
          </a:p>
        </p:txBody>
      </p:sp>
      <p:sp>
        <p:nvSpPr>
          <p:cNvPr id="6" name="Shape 4"/>
          <p:cNvSpPr/>
          <p:nvPr/>
        </p:nvSpPr>
        <p:spPr>
          <a:xfrm>
            <a:off x="1572768" y="2514600"/>
            <a:ext cx="9960559" cy="859536"/>
          </a:xfrm>
          <a:prstGeom prst="roundRect">
            <a:avLst>
              <a:gd name="adj" fmla="val 8511"/>
            </a:avLst>
          </a:prstGeom>
          <a:solidFill>
            <a:srgbClr val="F7F5FA"/>
          </a:solidFill>
          <a:ln w="9525">
            <a:solidFill>
              <a:srgbClr val="E5E2E8"/>
            </a:solidFill>
            <a:prstDash val="solid"/>
          </a:ln>
        </p:spPr>
      </p:sp>
      <p:sp>
        <p:nvSpPr>
          <p:cNvPr id="7" name="Text 5"/>
          <p:cNvSpPr txBox="1"/>
          <p:nvPr/>
        </p:nvSpPr>
        <p:spPr>
          <a:xfrm>
            <a:off x="658368" y="2624328"/>
            <a:ext cx="822960" cy="274320"/>
          </a:xfrm>
          <a:prstGeom prst="rect">
            <a:avLst/>
          </a:prstGeom>
          <a:noFill/>
          <a:ln/>
        </p:spPr>
        <p:txBody>
          <a:bodyPr wrap="square" lIns="0" tIns="0" rIns="0" bIns="0" rtlCol="0" anchor="ctr"/>
          <a:lstStyle/>
          <a:p>
            <a:pPr algn="r" indent="0" marL="0">
              <a:buNone/>
            </a:pPr>
            <a:r>
              <a:rPr lang="en-US" sz="1100" b="1" dirty="0">
                <a:solidFill>
                  <a:srgbClr val="807C8A"/>
                </a:solidFill>
                <a:latin typeface="Calibri" pitchFamily="34" charset="0"/>
                <a:ea typeface="Calibri" pitchFamily="34" charset="-122"/>
                <a:cs typeface="Calibri" pitchFamily="34" charset="-120"/>
              </a:rPr>
              <a:t>you</a:t>
            </a:r>
            <a:endParaRPr lang="en-US" sz="1100" dirty="0"/>
          </a:p>
        </p:txBody>
      </p:sp>
      <p:sp>
        <p:nvSpPr>
          <p:cNvPr id="8" name="Text 6"/>
          <p:cNvSpPr txBox="1"/>
          <p:nvPr/>
        </p:nvSpPr>
        <p:spPr>
          <a:xfrm>
            <a:off x="1810512" y="2660904"/>
            <a:ext cx="9457639" cy="585216"/>
          </a:xfrm>
          <a:prstGeom prst="rect">
            <a:avLst/>
          </a:prstGeom>
          <a:noFill/>
          <a:ln/>
        </p:spPr>
        <p:txBody>
          <a:bodyPr wrap="square" lIns="0" tIns="0" rIns="0" bIns="0" rtlCol="0" anchor="t"/>
          <a:lstStyle/>
          <a:p>
            <a:pPr indent="0" marL="0">
              <a:lnSpc>
                <a:spcPts val="1800"/>
              </a:lnSpc>
              <a:buNone/>
            </a:pPr>
            <a:r>
              <a:rPr lang="en-US" sz="1250" dirty="0">
                <a:solidFill>
                  <a:srgbClr val="22222A"/>
                </a:solidFill>
                <a:latin typeface="Calibri" pitchFamily="34" charset="0"/>
                <a:ea typeface="Calibri" pitchFamily="34" charset="-122"/>
                <a:cs typeface="Calibri" pitchFamily="34" charset="-120"/>
              </a:rPr>
              <a:t>I’m dating an avoidant guy and I want it to go well. Sometimes I struggle to feel connected to him, and I tend to feel like it’s my fault.</a:t>
            </a:r>
            <a:endParaRPr lang="en-US" sz="1250" dirty="0"/>
          </a:p>
        </p:txBody>
      </p:sp>
      <p:sp>
        <p:nvSpPr>
          <p:cNvPr id="9" name="Shape 7"/>
          <p:cNvSpPr/>
          <p:nvPr/>
        </p:nvSpPr>
        <p:spPr>
          <a:xfrm>
            <a:off x="1572768" y="3575304"/>
            <a:ext cx="9960559" cy="859536"/>
          </a:xfrm>
          <a:prstGeom prst="roundRect">
            <a:avLst>
              <a:gd name="adj" fmla="val 8511"/>
            </a:avLst>
          </a:prstGeom>
          <a:solidFill>
            <a:srgbClr val="F3EFFB"/>
          </a:solidFill>
          <a:ln w="9525">
            <a:solidFill>
              <a:srgbClr val="E5E2E8"/>
            </a:solidFill>
            <a:prstDash val="solid"/>
          </a:ln>
        </p:spPr>
      </p:sp>
      <p:sp>
        <p:nvSpPr>
          <p:cNvPr id="10" name="Text 8"/>
          <p:cNvSpPr txBox="1"/>
          <p:nvPr/>
        </p:nvSpPr>
        <p:spPr>
          <a:xfrm>
            <a:off x="658368" y="3685032"/>
            <a:ext cx="822960" cy="274320"/>
          </a:xfrm>
          <a:prstGeom prst="rect">
            <a:avLst/>
          </a:prstGeom>
          <a:noFill/>
          <a:ln/>
        </p:spPr>
        <p:txBody>
          <a:bodyPr wrap="square" lIns="0" tIns="0" rIns="0" bIns="0" rtlCol="0" anchor="ctr"/>
          <a:lstStyle/>
          <a:p>
            <a:pPr algn="r" indent="0" marL="0">
              <a:buNone/>
            </a:pPr>
            <a:r>
              <a:rPr lang="en-US" sz="1100" b="1" dirty="0">
                <a:solidFill>
                  <a:srgbClr val="807C8A"/>
                </a:solidFill>
                <a:latin typeface="Calibri" pitchFamily="34" charset="0"/>
                <a:ea typeface="Calibri" pitchFamily="34" charset="-122"/>
                <a:cs typeface="Calibri" pitchFamily="34" charset="-120"/>
              </a:rPr>
              <a:t>it</a:t>
            </a:r>
            <a:endParaRPr lang="en-US" sz="1100" dirty="0"/>
          </a:p>
        </p:txBody>
      </p:sp>
      <p:sp>
        <p:nvSpPr>
          <p:cNvPr id="11" name="Text 9"/>
          <p:cNvSpPr txBox="1"/>
          <p:nvPr/>
        </p:nvSpPr>
        <p:spPr>
          <a:xfrm>
            <a:off x="1810512" y="3721608"/>
            <a:ext cx="9457639" cy="585216"/>
          </a:xfrm>
          <a:prstGeom prst="rect">
            <a:avLst/>
          </a:prstGeom>
          <a:noFill/>
          <a:ln/>
        </p:spPr>
        <p:txBody>
          <a:bodyPr wrap="square" lIns="0" tIns="0" rIns="0" bIns="0" rtlCol="0" anchor="t"/>
          <a:lstStyle/>
          <a:p>
            <a:pPr indent="0" marL="0">
              <a:lnSpc>
                <a:spcPts val="1800"/>
              </a:lnSpc>
              <a:buNone/>
            </a:pPr>
            <a:r>
              <a:rPr lang="en-US" sz="1250" dirty="0">
                <a:solidFill>
                  <a:srgbClr val="22222A"/>
                </a:solidFill>
                <a:latin typeface="Calibri" pitchFamily="34" charset="0"/>
                <a:ea typeface="Calibri" pitchFamily="34" charset="-122"/>
                <a:cs typeface="Calibri" pitchFamily="34" charset="-120"/>
              </a:rPr>
              <a:t>That sounds like a hard spot — you want it to work, and when the connection does not land you are the one absorbing it. Before I say anything about patterns, three questions.</a:t>
            </a:r>
            <a:endParaRPr lang="en-US" sz="1250" dirty="0"/>
          </a:p>
        </p:txBody>
      </p:sp>
      <p:sp>
        <p:nvSpPr>
          <p:cNvPr id="12" name="Shape 10"/>
          <p:cNvSpPr/>
          <p:nvPr/>
        </p:nvSpPr>
        <p:spPr>
          <a:xfrm>
            <a:off x="1572768" y="4636008"/>
            <a:ext cx="9960559" cy="1627632"/>
          </a:xfrm>
          <a:prstGeom prst="roundRect">
            <a:avLst>
              <a:gd name="adj" fmla="val 4494"/>
            </a:avLst>
          </a:prstGeom>
          <a:solidFill>
            <a:srgbClr val="F3EFFB"/>
          </a:solidFill>
          <a:ln w="9525">
            <a:solidFill>
              <a:srgbClr val="E5E2E8"/>
            </a:solidFill>
            <a:prstDash val="solid"/>
          </a:ln>
        </p:spPr>
      </p:sp>
      <p:sp>
        <p:nvSpPr>
          <p:cNvPr id="13" name="Text 11"/>
          <p:cNvSpPr txBox="1"/>
          <p:nvPr/>
        </p:nvSpPr>
        <p:spPr>
          <a:xfrm>
            <a:off x="658368" y="4745736"/>
            <a:ext cx="822960" cy="274320"/>
          </a:xfrm>
          <a:prstGeom prst="rect">
            <a:avLst/>
          </a:prstGeom>
          <a:noFill/>
          <a:ln/>
        </p:spPr>
        <p:txBody>
          <a:bodyPr wrap="square" lIns="0" tIns="0" rIns="0" bIns="0" rtlCol="0" anchor="ctr"/>
          <a:lstStyle/>
          <a:p>
            <a:pPr algn="r" indent="0" marL="0">
              <a:buNone/>
            </a:pPr>
            <a:r>
              <a:rPr lang="en-US" sz="1100" b="1" dirty="0">
                <a:solidFill>
                  <a:srgbClr val="807C8A"/>
                </a:solidFill>
                <a:latin typeface="Calibri" pitchFamily="34" charset="0"/>
                <a:ea typeface="Calibri" pitchFamily="34" charset="-122"/>
                <a:cs typeface="Calibri" pitchFamily="34" charset="-120"/>
              </a:rPr>
              <a:t>it</a:t>
            </a:r>
            <a:endParaRPr lang="en-US" sz="1100" dirty="0"/>
          </a:p>
        </p:txBody>
      </p:sp>
      <p:sp>
        <p:nvSpPr>
          <p:cNvPr id="14" name="Text 12"/>
          <p:cNvSpPr txBox="1"/>
          <p:nvPr/>
        </p:nvSpPr>
        <p:spPr>
          <a:xfrm>
            <a:off x="1810512" y="4782312"/>
            <a:ext cx="9457639" cy="1353312"/>
          </a:xfrm>
          <a:prstGeom prst="rect">
            <a:avLst/>
          </a:prstGeom>
          <a:noFill/>
          <a:ln/>
        </p:spPr>
        <p:txBody>
          <a:bodyPr wrap="square" lIns="0" tIns="0" rIns="0" bIns="0" rtlCol="0" anchor="t"/>
          <a:lstStyle/>
          <a:p>
            <a:pPr indent="0" marL="0">
              <a:lnSpc>
                <a:spcPts val="1800"/>
              </a:lnSpc>
              <a:buNone/>
            </a:pPr>
            <a:r>
              <a:rPr lang="en-US" sz="1250" dirty="0">
                <a:solidFill>
                  <a:srgbClr val="22222A"/>
                </a:solidFill>
                <a:latin typeface="Calibri" pitchFamily="34" charset="0"/>
                <a:ea typeface="Calibri" pitchFamily="34" charset="-122"/>
                <a:cs typeface="Calibri" pitchFamily="34" charset="-120"/>
              </a:rPr>
              <a:t>— Is it a vibe, or something concrete: going quiet, cancelling, pulling back after good moments?</a:t>
            </a:r>
            <a:endParaRPr lang="en-US" sz="1250" dirty="0"/>
          </a:p>
          <a:p>
            <a:pPr indent="0" marL="0">
              <a:lnSpc>
                <a:spcPts val="1800"/>
              </a:lnSpc>
              <a:buNone/>
            </a:pPr>
            <a:r>
              <a:rPr lang="en-US" sz="1250" dirty="0">
                <a:solidFill>
                  <a:srgbClr val="22222A"/>
                </a:solidFill>
                <a:latin typeface="Calibri" pitchFamily="34" charset="0"/>
                <a:ea typeface="Calibri" pitchFamily="34" charset="-122"/>
                <a:cs typeface="Calibri" pitchFamily="34" charset="-120"/>
              </a:rPr>
              <a:t>— Is there anything that, if a friend described it, you would flag as a real problem rather than "not very expressive"?</a:t>
            </a:r>
            <a:endParaRPr lang="en-US" sz="1250" dirty="0"/>
          </a:p>
          <a:p>
            <a:pPr indent="0" marL="0">
              <a:lnSpc>
                <a:spcPts val="1800"/>
              </a:lnSpc>
              <a:buNone/>
            </a:pPr>
            <a:r>
              <a:rPr lang="en-US" sz="1250" dirty="0">
                <a:solidFill>
                  <a:srgbClr val="22222A"/>
                </a:solidFill>
                <a:latin typeface="Calibri" pitchFamily="34" charset="0"/>
                <a:ea typeface="Calibri" pitchFamily="34" charset="-122"/>
                <a:cs typeface="Calibri" pitchFamily="34" charset="-120"/>
              </a:rPr>
              <a:t>— How new is new, and does the distance cluster around particular moments?</a:t>
            </a:r>
            <a:endParaRPr lang="en-US" sz="1250" dirty="0"/>
          </a:p>
        </p:txBody>
      </p:sp>
      <p:sp>
        <p:nvSpPr>
          <p:cNvPr id="15" name="Text 13"/>
          <p:cNvSpPr txBox="1"/>
          <p:nvPr/>
        </p:nvSpPr>
        <p:spPr>
          <a:xfrm>
            <a:off x="658368" y="6053328"/>
            <a:ext cx="10874959" cy="457200"/>
          </a:xfrm>
          <a:prstGeom prst="rect">
            <a:avLst/>
          </a:prstGeom>
          <a:noFill/>
          <a:ln/>
        </p:spPr>
        <p:txBody>
          <a:bodyPr wrap="square" lIns="0" tIns="0" rIns="0" bIns="0" rtlCol="0" anchor="ctr"/>
          <a:lstStyle/>
          <a:p>
            <a:pPr indent="0" marL="0">
              <a:lnSpc>
                <a:spcPts val="1700"/>
              </a:lnSpc>
              <a:buNone/>
            </a:pPr>
            <a:r>
              <a:rPr lang="en-US" sz="1200" i="1" dirty="0">
                <a:solidFill>
                  <a:srgbClr val="807C8A"/>
                </a:solidFill>
                <a:latin typeface="Calibri" pitchFamily="34" charset="0"/>
                <a:ea typeface="Calibri" pitchFamily="34" charset="-122"/>
                <a:cs typeface="Calibri" pitchFamily="34" charset="-120"/>
              </a:rPr>
              <a:t>It also said it would not build a picture of him from her side of the conversation — he is not there to correct it. That is one of the eight rules, and it holds without being asked for.</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076127" y="384048"/>
            <a:ext cx="457200" cy="237744"/>
          </a:xfrm>
          <a:prstGeom prst="rect">
            <a:avLst/>
          </a:prstGeom>
          <a:noFill/>
          <a:ln/>
        </p:spPr>
        <p:txBody>
          <a:bodyPr wrap="square" lIns="0" tIns="0" rIns="0" bIns="0" rtlCol="0" anchor="ctr"/>
          <a:lstStyle/>
          <a:p>
            <a:pPr algn="r" indent="0" marL="0">
              <a:buNone/>
            </a:pPr>
            <a:r>
              <a:rPr lang="en-US" sz="900" dirty="0">
                <a:solidFill>
                  <a:srgbClr val="807C8A"/>
                </a:solidFill>
                <a:latin typeface="Calibri" pitchFamily="34" charset="0"/>
                <a:ea typeface="Calibri" pitchFamily="34" charset="-122"/>
                <a:cs typeface="Calibri" pitchFamily="34" charset="-120"/>
              </a:rPr>
              <a:t>8</a:t>
            </a:r>
            <a:endParaRPr lang="en-US" sz="900" dirty="0"/>
          </a:p>
        </p:txBody>
      </p:sp>
      <p:sp>
        <p:nvSpPr>
          <p:cNvPr id="3" name="Text 1"/>
          <p:cNvSpPr txBox="1"/>
          <p:nvPr/>
        </p:nvSpPr>
        <p:spPr>
          <a:xfrm>
            <a:off x="658368" y="475488"/>
            <a:ext cx="10874959" cy="219456"/>
          </a:xfrm>
          <a:prstGeom prst="rect">
            <a:avLst/>
          </a:prstGeom>
          <a:noFill/>
          <a:ln/>
        </p:spPr>
        <p:txBody>
          <a:bodyPr wrap="square" lIns="0" tIns="0" rIns="0" bIns="0" rtlCol="0" anchor="ctr"/>
          <a:lstStyle/>
          <a:p>
            <a:pPr indent="0" marL="0">
              <a:buNone/>
            </a:pPr>
            <a:r>
              <a:rPr lang="en-US" sz="1050" b="1" spc="160" kern="0" dirty="0">
                <a:solidFill>
                  <a:srgbClr val="7B4BD8"/>
                </a:solidFill>
                <a:latin typeface="Calibri" pitchFamily="34" charset="0"/>
                <a:ea typeface="Calibri" pitchFamily="34" charset="-122"/>
                <a:cs typeface="Calibri" pitchFamily="34" charset="-120"/>
              </a:rPr>
              <a:t>WHY A GRAPH AT ALL</a:t>
            </a:r>
            <a:endParaRPr lang="en-US" sz="1050" dirty="0"/>
          </a:p>
        </p:txBody>
      </p:sp>
      <p:sp>
        <p:nvSpPr>
          <p:cNvPr id="4" name="Text 2"/>
          <p:cNvSpPr txBox="1"/>
          <p:nvPr/>
        </p:nvSpPr>
        <p:spPr>
          <a:xfrm>
            <a:off x="658368" y="768096"/>
            <a:ext cx="10874959" cy="658368"/>
          </a:xfrm>
          <a:prstGeom prst="rect">
            <a:avLst/>
          </a:prstGeom>
          <a:noFill/>
          <a:ln/>
        </p:spPr>
        <p:txBody>
          <a:bodyPr wrap="square" lIns="0" tIns="0" rIns="0" bIns="0" rtlCol="0" anchor="ctr"/>
          <a:lstStyle/>
          <a:p>
            <a:pPr indent="0" marL="0">
              <a:buNone/>
            </a:pPr>
            <a:r>
              <a:rPr lang="en-US" sz="3200" b="1" dirty="0">
                <a:solidFill>
                  <a:srgbClr val="22222A"/>
                </a:solidFill>
                <a:latin typeface="Cambria" pitchFamily="34" charset="0"/>
                <a:ea typeface="Cambria" pitchFamily="34" charset="-122"/>
                <a:cs typeface="Cambria" pitchFamily="34" charset="-120"/>
              </a:rPr>
              <a:t>The loops are the point</a:t>
            </a:r>
            <a:endParaRPr lang="en-US" sz="3200" dirty="0"/>
          </a:p>
        </p:txBody>
      </p:sp>
      <p:sp>
        <p:nvSpPr>
          <p:cNvPr id="5" name="Text 3"/>
          <p:cNvSpPr txBox="1"/>
          <p:nvPr/>
        </p:nvSpPr>
        <p:spPr>
          <a:xfrm>
            <a:off x="658368" y="1609344"/>
            <a:ext cx="8917467" cy="502920"/>
          </a:xfrm>
          <a:prstGeom prst="rect">
            <a:avLst/>
          </a:prstGeom>
          <a:noFill/>
          <a:ln/>
        </p:spPr>
        <p:txBody>
          <a:bodyPr wrap="square" lIns="0" tIns="0" rIns="0" bIns="0" rtlCol="0" anchor="ctr"/>
          <a:lstStyle/>
          <a:p>
            <a:pPr indent="0" marL="0">
              <a:lnSpc>
                <a:spcPts val="2100"/>
              </a:lnSpc>
              <a:buNone/>
            </a:pPr>
            <a:r>
              <a:rPr lang="en-US" sz="1450" dirty="0">
                <a:solidFill>
                  <a:srgbClr val="6A6875"/>
                </a:solidFill>
                <a:latin typeface="Calibri" pitchFamily="34" charset="0"/>
                <a:ea typeface="Calibri" pitchFamily="34" charset="-122"/>
                <a:cs typeface="Calibri" pitchFamily="34" charset="-120"/>
              </a:rPr>
              <a:t>Cycles are found by searching the causal links, not asserted. Nobody wrote this one down — the notes were written separately, from different videos.</a:t>
            </a:r>
            <a:endParaRPr lang="en-US" sz="1450" dirty="0"/>
          </a:p>
        </p:txBody>
      </p:sp>
      <p:sp>
        <p:nvSpPr>
          <p:cNvPr id="6" name="Shape 4"/>
          <p:cNvSpPr/>
          <p:nvPr/>
        </p:nvSpPr>
        <p:spPr>
          <a:xfrm>
            <a:off x="710032" y="2606040"/>
            <a:ext cx="2432304" cy="1097280"/>
          </a:xfrm>
          <a:prstGeom prst="roundRect">
            <a:avLst>
              <a:gd name="adj" fmla="val 6667"/>
            </a:avLst>
          </a:prstGeom>
          <a:solidFill>
            <a:srgbClr val="F7F5FA"/>
          </a:solidFill>
          <a:ln w="12700">
            <a:solidFill>
              <a:srgbClr val="7B4BD8"/>
            </a:solidFill>
            <a:prstDash val="solid"/>
          </a:ln>
        </p:spPr>
      </p:sp>
      <p:sp>
        <p:nvSpPr>
          <p:cNvPr id="7" name="Text 5"/>
          <p:cNvSpPr txBox="1"/>
          <p:nvPr/>
        </p:nvSpPr>
        <p:spPr>
          <a:xfrm>
            <a:off x="856336" y="2606040"/>
            <a:ext cx="2139696" cy="1097280"/>
          </a:xfrm>
          <a:prstGeom prst="rect">
            <a:avLst/>
          </a:prstGeom>
          <a:noFill/>
          <a:ln/>
        </p:spPr>
        <p:txBody>
          <a:bodyPr wrap="square" lIns="0" tIns="0" rIns="0" bIns="0" rtlCol="0" anchor="ctr"/>
          <a:lstStyle/>
          <a:p>
            <a:pPr algn="ctr" indent="0" marL="0">
              <a:lnSpc>
                <a:spcPts val="1600"/>
              </a:lnSpc>
              <a:buNone/>
            </a:pPr>
            <a:r>
              <a:rPr lang="en-US" sz="1250" b="1" dirty="0">
                <a:solidFill>
                  <a:srgbClr val="22222A"/>
                </a:solidFill>
                <a:latin typeface="Calibri" pitchFamily="34" charset="0"/>
                <a:ea typeface="Calibri" pitchFamily="34" charset="-122"/>
                <a:cs typeface="Calibri" pitchFamily="34" charset="-120"/>
              </a:rPr>
              <a:t>Looking Down On The Partner</a:t>
            </a:r>
            <a:endParaRPr lang="en-US" sz="1250" dirty="0"/>
          </a:p>
        </p:txBody>
      </p:sp>
      <p:sp>
        <p:nvSpPr>
          <p:cNvPr id="8" name="Shape 6"/>
          <p:cNvSpPr/>
          <p:nvPr/>
        </p:nvSpPr>
        <p:spPr>
          <a:xfrm>
            <a:off x="3197200" y="3154680"/>
            <a:ext cx="237744" cy="0"/>
          </a:xfrm>
          <a:prstGeom prst="line">
            <a:avLst/>
          </a:prstGeom>
          <a:noFill/>
          <a:ln w="19050">
            <a:solidFill>
              <a:srgbClr val="7B4BD8"/>
            </a:solidFill>
            <a:prstDash val="solid"/>
            <a:tailEnd type="triangle"/>
          </a:ln>
        </p:spPr>
      </p:sp>
      <p:sp>
        <p:nvSpPr>
          <p:cNvPr id="9" name="Shape 7"/>
          <p:cNvSpPr/>
          <p:nvPr/>
        </p:nvSpPr>
        <p:spPr>
          <a:xfrm>
            <a:off x="3489808" y="2606040"/>
            <a:ext cx="2432304" cy="1097280"/>
          </a:xfrm>
          <a:prstGeom prst="roundRect">
            <a:avLst>
              <a:gd name="adj" fmla="val 6667"/>
            </a:avLst>
          </a:prstGeom>
          <a:solidFill>
            <a:srgbClr val="F7F5FA"/>
          </a:solidFill>
          <a:ln w="12700">
            <a:solidFill>
              <a:srgbClr val="7B4BD8"/>
            </a:solidFill>
            <a:prstDash val="solid"/>
          </a:ln>
        </p:spPr>
      </p:sp>
      <p:sp>
        <p:nvSpPr>
          <p:cNvPr id="10" name="Text 8"/>
          <p:cNvSpPr txBox="1"/>
          <p:nvPr/>
        </p:nvSpPr>
        <p:spPr>
          <a:xfrm>
            <a:off x="3636112" y="2606040"/>
            <a:ext cx="2139696" cy="1097280"/>
          </a:xfrm>
          <a:prstGeom prst="rect">
            <a:avLst/>
          </a:prstGeom>
          <a:noFill/>
          <a:ln/>
        </p:spPr>
        <p:txBody>
          <a:bodyPr wrap="square" lIns="0" tIns="0" rIns="0" bIns="0" rtlCol="0" anchor="ctr"/>
          <a:lstStyle/>
          <a:p>
            <a:pPr algn="ctr" indent="0" marL="0">
              <a:lnSpc>
                <a:spcPts val="1600"/>
              </a:lnSpc>
              <a:buNone/>
            </a:pPr>
            <a:r>
              <a:rPr lang="en-US" sz="1250" b="1" dirty="0">
                <a:solidFill>
                  <a:srgbClr val="22222A"/>
                </a:solidFill>
                <a:latin typeface="Calibri" pitchFamily="34" charset="0"/>
                <a:ea typeface="Calibri" pitchFamily="34" charset="-122"/>
                <a:cs typeface="Calibri" pitchFamily="34" charset="-120"/>
              </a:rPr>
              <a:t>The Partner's Dysregulation</a:t>
            </a:r>
            <a:endParaRPr lang="en-US" sz="1250" dirty="0"/>
          </a:p>
        </p:txBody>
      </p:sp>
      <p:sp>
        <p:nvSpPr>
          <p:cNvPr id="11" name="Shape 9"/>
          <p:cNvSpPr/>
          <p:nvPr/>
        </p:nvSpPr>
        <p:spPr>
          <a:xfrm>
            <a:off x="5976976" y="3154680"/>
            <a:ext cx="237744" cy="0"/>
          </a:xfrm>
          <a:prstGeom prst="line">
            <a:avLst/>
          </a:prstGeom>
          <a:noFill/>
          <a:ln w="19050">
            <a:solidFill>
              <a:srgbClr val="7B4BD8"/>
            </a:solidFill>
            <a:prstDash val="solid"/>
            <a:tailEnd type="triangle"/>
          </a:ln>
        </p:spPr>
      </p:sp>
      <p:sp>
        <p:nvSpPr>
          <p:cNvPr id="12" name="Shape 10"/>
          <p:cNvSpPr/>
          <p:nvPr/>
        </p:nvSpPr>
        <p:spPr>
          <a:xfrm>
            <a:off x="6269584" y="2606040"/>
            <a:ext cx="2432304" cy="1097280"/>
          </a:xfrm>
          <a:prstGeom prst="roundRect">
            <a:avLst>
              <a:gd name="adj" fmla="val 6667"/>
            </a:avLst>
          </a:prstGeom>
          <a:solidFill>
            <a:srgbClr val="F7F5FA"/>
          </a:solidFill>
          <a:ln w="12700">
            <a:solidFill>
              <a:srgbClr val="7B4BD8"/>
            </a:solidFill>
            <a:prstDash val="solid"/>
          </a:ln>
        </p:spPr>
      </p:sp>
      <p:sp>
        <p:nvSpPr>
          <p:cNvPr id="13" name="Text 11"/>
          <p:cNvSpPr txBox="1"/>
          <p:nvPr/>
        </p:nvSpPr>
        <p:spPr>
          <a:xfrm>
            <a:off x="6415888" y="2606040"/>
            <a:ext cx="2139696" cy="1097280"/>
          </a:xfrm>
          <a:prstGeom prst="rect">
            <a:avLst/>
          </a:prstGeom>
          <a:noFill/>
          <a:ln/>
        </p:spPr>
        <p:txBody>
          <a:bodyPr wrap="square" lIns="0" tIns="0" rIns="0" bIns="0" rtlCol="0" anchor="ctr"/>
          <a:lstStyle/>
          <a:p>
            <a:pPr algn="ctr" indent="0" marL="0">
              <a:lnSpc>
                <a:spcPts val="1600"/>
              </a:lnSpc>
              <a:buNone/>
            </a:pPr>
            <a:r>
              <a:rPr lang="en-US" sz="1250" b="1" dirty="0">
                <a:solidFill>
                  <a:srgbClr val="22222A"/>
                </a:solidFill>
                <a:latin typeface="Calibri" pitchFamily="34" charset="0"/>
                <a:ea typeface="Calibri" pitchFamily="34" charset="-122"/>
                <a:cs typeface="Calibri" pitchFamily="34" charset="-120"/>
              </a:rPr>
              <a:t>Partner Stops Rising To The Occasion</a:t>
            </a:r>
            <a:endParaRPr lang="en-US" sz="1250" dirty="0"/>
          </a:p>
        </p:txBody>
      </p:sp>
      <p:sp>
        <p:nvSpPr>
          <p:cNvPr id="14" name="Shape 12"/>
          <p:cNvSpPr/>
          <p:nvPr/>
        </p:nvSpPr>
        <p:spPr>
          <a:xfrm>
            <a:off x="8756752" y="3154680"/>
            <a:ext cx="237744" cy="0"/>
          </a:xfrm>
          <a:prstGeom prst="line">
            <a:avLst/>
          </a:prstGeom>
          <a:noFill/>
          <a:ln w="19050">
            <a:solidFill>
              <a:srgbClr val="7B4BD8"/>
            </a:solidFill>
            <a:prstDash val="solid"/>
            <a:tailEnd type="triangle"/>
          </a:ln>
        </p:spPr>
      </p:sp>
      <p:sp>
        <p:nvSpPr>
          <p:cNvPr id="15" name="Shape 13"/>
          <p:cNvSpPr/>
          <p:nvPr/>
        </p:nvSpPr>
        <p:spPr>
          <a:xfrm>
            <a:off x="9049360" y="2606040"/>
            <a:ext cx="2432304" cy="1097280"/>
          </a:xfrm>
          <a:prstGeom prst="roundRect">
            <a:avLst>
              <a:gd name="adj" fmla="val 6667"/>
            </a:avLst>
          </a:prstGeom>
          <a:solidFill>
            <a:srgbClr val="F7F5FA"/>
          </a:solidFill>
          <a:ln w="12700">
            <a:solidFill>
              <a:srgbClr val="7B4BD8"/>
            </a:solidFill>
            <a:prstDash val="solid"/>
          </a:ln>
        </p:spPr>
      </p:sp>
      <p:sp>
        <p:nvSpPr>
          <p:cNvPr id="16" name="Text 14"/>
          <p:cNvSpPr txBox="1"/>
          <p:nvPr/>
        </p:nvSpPr>
        <p:spPr>
          <a:xfrm>
            <a:off x="9195664" y="2606040"/>
            <a:ext cx="2139696" cy="1097280"/>
          </a:xfrm>
          <a:prstGeom prst="rect">
            <a:avLst/>
          </a:prstGeom>
          <a:noFill/>
          <a:ln/>
        </p:spPr>
        <p:txBody>
          <a:bodyPr wrap="square" lIns="0" tIns="0" rIns="0" bIns="0" rtlCol="0" anchor="ctr"/>
          <a:lstStyle/>
          <a:p>
            <a:pPr algn="ctr" indent="0" marL="0">
              <a:lnSpc>
                <a:spcPts val="1600"/>
              </a:lnSpc>
              <a:buNone/>
            </a:pPr>
            <a:r>
              <a:rPr lang="en-US" sz="1250" b="1" dirty="0">
                <a:solidFill>
                  <a:srgbClr val="22222A"/>
                </a:solidFill>
                <a:latin typeface="Calibri" pitchFamily="34" charset="0"/>
                <a:ea typeface="Calibri" pitchFamily="34" charset="-122"/>
                <a:cs typeface="Calibri" pitchFamily="34" charset="-120"/>
              </a:rPr>
              <a:t>Unregistered Hurt</a:t>
            </a:r>
            <a:endParaRPr lang="en-US" sz="1250" dirty="0"/>
          </a:p>
        </p:txBody>
      </p:sp>
      <p:sp>
        <p:nvSpPr>
          <p:cNvPr id="17" name="Shape 15"/>
          <p:cNvSpPr/>
          <p:nvPr/>
        </p:nvSpPr>
        <p:spPr>
          <a:xfrm>
            <a:off x="11115904" y="3703320"/>
            <a:ext cx="0" cy="502920"/>
          </a:xfrm>
          <a:prstGeom prst="line">
            <a:avLst/>
          </a:prstGeom>
          <a:noFill/>
          <a:ln w="19050">
            <a:solidFill>
              <a:srgbClr val="7B4BD8"/>
            </a:solidFill>
            <a:prstDash val="solid"/>
          </a:ln>
        </p:spPr>
      </p:sp>
      <p:sp>
        <p:nvSpPr>
          <p:cNvPr id="18" name="Shape 16"/>
          <p:cNvSpPr/>
          <p:nvPr/>
        </p:nvSpPr>
        <p:spPr>
          <a:xfrm>
            <a:off x="1075792" y="4206240"/>
            <a:ext cx="10040112" cy="0"/>
          </a:xfrm>
          <a:prstGeom prst="line">
            <a:avLst/>
          </a:prstGeom>
          <a:noFill/>
          <a:ln w="19050">
            <a:solidFill>
              <a:srgbClr val="7B4BD8"/>
            </a:solidFill>
            <a:prstDash val="solid"/>
          </a:ln>
        </p:spPr>
      </p:sp>
      <p:sp>
        <p:nvSpPr>
          <p:cNvPr id="19" name="Shape 17"/>
          <p:cNvSpPr/>
          <p:nvPr/>
        </p:nvSpPr>
        <p:spPr>
          <a:xfrm>
            <a:off x="1075792" y="3703320"/>
            <a:ext cx="0" cy="502920"/>
          </a:xfrm>
          <a:prstGeom prst="line">
            <a:avLst/>
          </a:prstGeom>
          <a:noFill/>
          <a:ln w="19050">
            <a:solidFill>
              <a:srgbClr val="7B4BD8"/>
            </a:solidFill>
            <a:prstDash val="solid"/>
            <a:headEnd type="triangle"/>
          </a:ln>
        </p:spPr>
      </p:sp>
      <p:sp>
        <p:nvSpPr>
          <p:cNvPr id="20" name="Text 18"/>
          <p:cNvSpPr txBox="1"/>
          <p:nvPr/>
        </p:nvSpPr>
        <p:spPr>
          <a:xfrm>
            <a:off x="658368" y="4251960"/>
            <a:ext cx="10874959" cy="274320"/>
          </a:xfrm>
          <a:prstGeom prst="rect">
            <a:avLst/>
          </a:prstGeom>
          <a:noFill/>
          <a:ln/>
        </p:spPr>
        <p:txBody>
          <a:bodyPr wrap="square" lIns="0" tIns="0" rIns="0" bIns="0" rtlCol="0" anchor="ctr"/>
          <a:lstStyle/>
          <a:p>
            <a:pPr algn="ctr" indent="0" marL="0">
              <a:buNone/>
            </a:pPr>
            <a:r>
              <a:rPr lang="en-US" sz="1100" i="1" dirty="0">
                <a:solidFill>
                  <a:srgbClr val="7B4BD8"/>
                </a:solidFill>
                <a:latin typeface="Calibri" pitchFamily="34" charset="0"/>
                <a:ea typeface="Calibri" pitchFamily="34" charset="-122"/>
                <a:cs typeface="Calibri" pitchFamily="34" charset="-120"/>
              </a:rPr>
              <a:t>and round again</a:t>
            </a:r>
            <a:endParaRPr lang="en-US" sz="1100" dirty="0"/>
          </a:p>
        </p:txBody>
      </p:sp>
      <p:sp>
        <p:nvSpPr>
          <p:cNvPr id="21" name="Text 19"/>
          <p:cNvSpPr txBox="1"/>
          <p:nvPr/>
        </p:nvSpPr>
        <p:spPr>
          <a:xfrm>
            <a:off x="658368" y="5120640"/>
            <a:ext cx="5303520" cy="310896"/>
          </a:xfrm>
          <a:prstGeom prst="rect">
            <a:avLst/>
          </a:prstGeom>
          <a:noFill/>
          <a:ln/>
        </p:spPr>
        <p:txBody>
          <a:bodyPr wrap="square" lIns="0" tIns="0" rIns="0" bIns="0" rtlCol="0" anchor="ctr"/>
          <a:lstStyle/>
          <a:p>
            <a:pPr indent="0" marL="0">
              <a:buNone/>
            </a:pPr>
            <a:r>
              <a:rPr lang="en-US" sz="1300" b="1" dirty="0">
                <a:solidFill>
                  <a:srgbClr val="22222A"/>
                </a:solidFill>
                <a:latin typeface="Calibri" pitchFamily="34" charset="0"/>
                <a:ea typeface="Calibri" pitchFamily="34" charset="-122"/>
                <a:cs typeface="Calibri" pitchFamily="34" charset="-120"/>
              </a:rPr>
              <a:t>It alternates between the two people</a:t>
            </a:r>
            <a:endParaRPr lang="en-US" sz="1300" dirty="0"/>
          </a:p>
        </p:txBody>
      </p:sp>
      <p:sp>
        <p:nvSpPr>
          <p:cNvPr id="22" name="Text 20"/>
          <p:cNvSpPr txBox="1"/>
          <p:nvPr/>
        </p:nvSpPr>
        <p:spPr>
          <a:xfrm>
            <a:off x="658368" y="5449824"/>
            <a:ext cx="5303520" cy="731520"/>
          </a:xfrm>
          <a:prstGeom prst="rect">
            <a:avLst/>
          </a:prstGeom>
          <a:noFill/>
          <a:ln/>
        </p:spPr>
        <p:txBody>
          <a:bodyPr wrap="square" lIns="0" tIns="0" rIns="0" bIns="0" rtlCol="0" anchor="t"/>
          <a:lstStyle/>
          <a:p>
            <a:pPr indent="0" marL="0">
              <a:lnSpc>
                <a:spcPts val="1600"/>
              </a:lnSpc>
              <a:buNone/>
            </a:pPr>
            <a:r>
              <a:rPr lang="en-US" sz="1150" dirty="0">
                <a:solidFill>
                  <a:srgbClr val="6A6875"/>
                </a:solidFill>
                <a:latin typeface="Calibri" pitchFamily="34" charset="0"/>
                <a:ea typeface="Calibri" pitchFamily="34" charset="-122"/>
                <a:cs typeface="Calibri" pitchFamily="34" charset="-120"/>
              </a:rPr>
              <a:t>which is why it survives good intentions — each is responding reasonably to the step before.</a:t>
            </a:r>
            <a:endParaRPr lang="en-US" sz="1150" dirty="0"/>
          </a:p>
        </p:txBody>
      </p:sp>
      <p:sp>
        <p:nvSpPr>
          <p:cNvPr id="23" name="Text 21"/>
          <p:cNvSpPr txBox="1"/>
          <p:nvPr/>
        </p:nvSpPr>
        <p:spPr>
          <a:xfrm>
            <a:off x="6327648" y="5120640"/>
            <a:ext cx="5303520" cy="310896"/>
          </a:xfrm>
          <a:prstGeom prst="rect">
            <a:avLst/>
          </a:prstGeom>
          <a:noFill/>
          <a:ln/>
        </p:spPr>
        <p:txBody>
          <a:bodyPr wrap="square" lIns="0" tIns="0" rIns="0" bIns="0" rtlCol="0" anchor="ctr"/>
          <a:lstStyle/>
          <a:p>
            <a:pPr indent="0" marL="0">
              <a:buNone/>
            </a:pPr>
            <a:r>
              <a:rPr lang="en-US" sz="1300" b="1" dirty="0">
                <a:solidFill>
                  <a:srgbClr val="22222A"/>
                </a:solidFill>
                <a:latin typeface="Calibri" pitchFamily="34" charset="0"/>
                <a:ea typeface="Calibri" pitchFamily="34" charset="-122"/>
                <a:cs typeface="Calibri" pitchFamily="34" charset="-120"/>
              </a:rPr>
              <a:t>A closed pattern needs no new fuel</a:t>
            </a:r>
            <a:endParaRPr lang="en-US" sz="1300" dirty="0"/>
          </a:p>
        </p:txBody>
      </p:sp>
      <p:sp>
        <p:nvSpPr>
          <p:cNvPr id="24" name="Text 22"/>
          <p:cNvSpPr txBox="1"/>
          <p:nvPr/>
        </p:nvSpPr>
        <p:spPr>
          <a:xfrm>
            <a:off x="6327648" y="5449824"/>
            <a:ext cx="5303520" cy="731520"/>
          </a:xfrm>
          <a:prstGeom prst="rect">
            <a:avLst/>
          </a:prstGeom>
          <a:noFill/>
          <a:ln/>
        </p:spPr>
        <p:txBody>
          <a:bodyPr wrap="square" lIns="0" tIns="0" rIns="0" bIns="0" rtlCol="0" anchor="t"/>
          <a:lstStyle/>
          <a:p>
            <a:pPr indent="0" marL="0">
              <a:lnSpc>
                <a:spcPts val="1600"/>
              </a:lnSpc>
              <a:buNone/>
            </a:pPr>
            <a:r>
              <a:rPr lang="en-US" sz="1150" dirty="0">
                <a:solidFill>
                  <a:srgbClr val="6A6875"/>
                </a:solidFill>
                <a:latin typeface="Calibri" pitchFamily="34" charset="0"/>
                <a:ea typeface="Calibri" pitchFamily="34" charset="-122"/>
                <a:cs typeface="Calibri" pitchFamily="34" charset="-120"/>
              </a:rPr>
              <a:t>so "where can this be broken" is a better question than "whose fault is it", and the healing links answer it.</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6161C"/>
        </a:solidFill>
      </p:bgPr>
    </p:bg>
    <p:spTree>
      <p:nvGrpSpPr>
        <p:cNvPr id="1" name=""/>
        <p:cNvGrpSpPr/>
        <p:nvPr/>
      </p:nvGrpSpPr>
      <p:grpSpPr>
        <a:xfrm>
          <a:off x="0" y="0"/>
          <a:ext cx="0" cy="0"/>
          <a:chOff x="0" y="0"/>
          <a:chExt cx="0" cy="0"/>
        </a:xfrm>
      </p:grpSpPr>
      <p:sp>
        <p:nvSpPr>
          <p:cNvPr id="2" name="Text 0"/>
          <p:cNvSpPr txBox="1"/>
          <p:nvPr/>
        </p:nvSpPr>
        <p:spPr>
          <a:xfrm>
            <a:off x="11076127" y="384048"/>
            <a:ext cx="457200" cy="237744"/>
          </a:xfrm>
          <a:prstGeom prst="rect">
            <a:avLst/>
          </a:prstGeom>
          <a:noFill/>
          <a:ln/>
        </p:spPr>
        <p:txBody>
          <a:bodyPr wrap="square" lIns="0" tIns="0" rIns="0" bIns="0" rtlCol="0" anchor="ctr"/>
          <a:lstStyle/>
          <a:p>
            <a:pPr algn="r" indent="0" marL="0">
              <a:buNone/>
            </a:pPr>
            <a:r>
              <a:rPr lang="en-US" sz="900" dirty="0">
                <a:solidFill>
                  <a:srgbClr val="52505C"/>
                </a:solidFill>
                <a:latin typeface="Calibri" pitchFamily="34" charset="0"/>
                <a:ea typeface="Calibri" pitchFamily="34" charset="-122"/>
                <a:cs typeface="Calibri" pitchFamily="34" charset="-120"/>
              </a:rPr>
              <a:t>9</a:t>
            </a:r>
            <a:endParaRPr lang="en-US" sz="900" dirty="0"/>
          </a:p>
        </p:txBody>
      </p:sp>
      <p:sp>
        <p:nvSpPr>
          <p:cNvPr id="3" name="Text 1"/>
          <p:cNvSpPr txBox="1"/>
          <p:nvPr/>
        </p:nvSpPr>
        <p:spPr>
          <a:xfrm>
            <a:off x="658368" y="475488"/>
            <a:ext cx="10874959" cy="219456"/>
          </a:xfrm>
          <a:prstGeom prst="rect">
            <a:avLst/>
          </a:prstGeom>
          <a:noFill/>
          <a:ln/>
        </p:spPr>
        <p:txBody>
          <a:bodyPr wrap="square" lIns="0" tIns="0" rIns="0" bIns="0" rtlCol="0" anchor="ctr"/>
          <a:lstStyle/>
          <a:p>
            <a:pPr indent="0" marL="0">
              <a:buNone/>
            </a:pPr>
            <a:r>
              <a:rPr lang="en-US" sz="1050" b="1" spc="160" kern="0" dirty="0">
                <a:solidFill>
                  <a:srgbClr val="9E86E8"/>
                </a:solidFill>
                <a:latin typeface="Calibri" pitchFamily="34" charset="0"/>
                <a:ea typeface="Calibri" pitchFamily="34" charset="-122"/>
                <a:cs typeface="Calibri" pitchFamily="34" charset="-120"/>
              </a:rPr>
              <a:t>THE CONSTRAINTS</a:t>
            </a:r>
            <a:endParaRPr lang="en-US" sz="1050" dirty="0"/>
          </a:p>
        </p:txBody>
      </p:sp>
      <p:sp>
        <p:nvSpPr>
          <p:cNvPr id="4" name="Text 2"/>
          <p:cNvSpPr txBox="1"/>
          <p:nvPr/>
        </p:nvSpPr>
        <p:spPr>
          <a:xfrm>
            <a:off x="658368" y="768096"/>
            <a:ext cx="10874959" cy="658368"/>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Eight rules it cannot talk its way out of</a:t>
            </a:r>
            <a:endParaRPr lang="en-US" sz="3200" dirty="0"/>
          </a:p>
        </p:txBody>
      </p:sp>
      <p:sp>
        <p:nvSpPr>
          <p:cNvPr id="5" name="Text 3"/>
          <p:cNvSpPr txBox="1"/>
          <p:nvPr/>
        </p:nvSpPr>
        <p:spPr>
          <a:xfrm>
            <a:off x="658368" y="1600200"/>
            <a:ext cx="8412480" cy="731520"/>
          </a:xfrm>
          <a:prstGeom prst="rect">
            <a:avLst/>
          </a:prstGeom>
          <a:noFill/>
          <a:ln/>
        </p:spPr>
        <p:txBody>
          <a:bodyPr wrap="square" lIns="0" tIns="0" rIns="0" bIns="0" rtlCol="0" anchor="ctr"/>
          <a:lstStyle/>
          <a:p>
            <a:pPr indent="0" marL="0">
              <a:lnSpc>
                <a:spcPts val="1900"/>
              </a:lnSpc>
              <a:buNone/>
            </a:pPr>
            <a:r>
              <a:rPr lang="en-US" sz="1300" dirty="0">
                <a:solidFill>
                  <a:srgbClr val="A9A5B4"/>
                </a:solidFill>
                <a:latin typeface="Calibri" pitchFamily="34" charset="0"/>
                <a:ea typeface="Calibri" pitchFamily="34" charset="-122"/>
                <a:cs typeface="Calibri" pitchFamily="34" charset="-120"/>
              </a:rPr>
              <a:t>They ship inside the file the assistant reads first, not in a prompt someone has to remember to paste. The first is enforced in code: the validator rejects any flow where a reframe step sits before its safety gate.</a:t>
            </a:r>
            <a:endParaRPr lang="en-US" sz="1300" dirty="0"/>
          </a:p>
        </p:txBody>
      </p:sp>
      <p:sp>
        <p:nvSpPr>
          <p:cNvPr id="6" name="Text 4"/>
          <p:cNvSpPr txBox="1"/>
          <p:nvPr/>
        </p:nvSpPr>
        <p:spPr>
          <a:xfrm>
            <a:off x="658368" y="2606040"/>
            <a:ext cx="310896" cy="274320"/>
          </a:xfrm>
          <a:prstGeom prst="rect">
            <a:avLst/>
          </a:prstGeom>
          <a:noFill/>
          <a:ln/>
        </p:spPr>
        <p:txBody>
          <a:bodyPr wrap="square" lIns="0" tIns="0" rIns="0" bIns="0" rtlCol="0" anchor="ctr"/>
          <a:lstStyle/>
          <a:p>
            <a:pPr indent="0" marL="0">
              <a:buNone/>
            </a:pPr>
            <a:r>
              <a:rPr lang="en-US" sz="1250" b="1" dirty="0">
                <a:solidFill>
                  <a:srgbClr val="9E86E8"/>
                </a:solidFill>
                <a:latin typeface="Cambria" pitchFamily="34" charset="0"/>
                <a:ea typeface="Cambria" pitchFamily="34" charset="-122"/>
                <a:cs typeface="Cambria" pitchFamily="34" charset="-120"/>
              </a:rPr>
              <a:t>1</a:t>
            </a:r>
            <a:endParaRPr lang="en-US" sz="1250" dirty="0"/>
          </a:p>
        </p:txBody>
      </p:sp>
      <p:sp>
        <p:nvSpPr>
          <p:cNvPr id="7" name="Text 5"/>
          <p:cNvSpPr txBox="1"/>
          <p:nvPr/>
        </p:nvSpPr>
        <p:spPr>
          <a:xfrm>
            <a:off x="1005840" y="2606040"/>
            <a:ext cx="5029200" cy="27432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Screen before you reframe</a:t>
            </a:r>
            <a:endParaRPr lang="en-US" sz="1350" dirty="0"/>
          </a:p>
        </p:txBody>
      </p:sp>
      <p:sp>
        <p:nvSpPr>
          <p:cNvPr id="8" name="Text 6"/>
          <p:cNvSpPr txBox="1"/>
          <p:nvPr/>
        </p:nvSpPr>
        <p:spPr>
          <a:xfrm>
            <a:off x="1005840" y="2898648"/>
            <a:ext cx="5029200" cy="457200"/>
          </a:xfrm>
          <a:prstGeom prst="rect">
            <a:avLst/>
          </a:prstGeom>
          <a:noFill/>
          <a:ln/>
        </p:spPr>
        <p:txBody>
          <a:bodyPr wrap="square" lIns="0" tIns="0" rIns="0" bIns="0" rtlCol="0" anchor="t"/>
          <a:lstStyle/>
          <a:p>
            <a:pPr indent="0" marL="0">
              <a:lnSpc>
                <a:spcPts val="1400"/>
              </a:lnSpc>
              <a:buNone/>
            </a:pPr>
            <a:r>
              <a:rPr lang="en-US" sz="1050" dirty="0">
                <a:solidFill>
                  <a:srgbClr val="918D9D"/>
                </a:solidFill>
                <a:latin typeface="Calibri" pitchFamily="34" charset="0"/>
                <a:ea typeface="Calibri" pitchFamily="34" charset="-122"/>
                <a:cs typeface="Calibri" pitchFamily="34" charset="-120"/>
              </a:rPr>
              <a:t>Establish nothing real is happening first.</a:t>
            </a:r>
            <a:endParaRPr lang="en-US" sz="1050" dirty="0"/>
          </a:p>
        </p:txBody>
      </p:sp>
      <p:sp>
        <p:nvSpPr>
          <p:cNvPr id="9" name="Text 7"/>
          <p:cNvSpPr txBox="1"/>
          <p:nvPr/>
        </p:nvSpPr>
        <p:spPr>
          <a:xfrm>
            <a:off x="6327648" y="2606040"/>
            <a:ext cx="310896" cy="274320"/>
          </a:xfrm>
          <a:prstGeom prst="rect">
            <a:avLst/>
          </a:prstGeom>
          <a:noFill/>
          <a:ln/>
        </p:spPr>
        <p:txBody>
          <a:bodyPr wrap="square" lIns="0" tIns="0" rIns="0" bIns="0" rtlCol="0" anchor="ctr"/>
          <a:lstStyle/>
          <a:p>
            <a:pPr indent="0" marL="0">
              <a:buNone/>
            </a:pPr>
            <a:r>
              <a:rPr lang="en-US" sz="1250" b="1" dirty="0">
                <a:solidFill>
                  <a:srgbClr val="9E86E8"/>
                </a:solidFill>
                <a:latin typeface="Cambria" pitchFamily="34" charset="0"/>
                <a:ea typeface="Cambria" pitchFamily="34" charset="-122"/>
                <a:cs typeface="Cambria" pitchFamily="34" charset="-120"/>
              </a:rPr>
              <a:t>2</a:t>
            </a:r>
            <a:endParaRPr lang="en-US" sz="1250" dirty="0"/>
          </a:p>
        </p:txBody>
      </p:sp>
      <p:sp>
        <p:nvSpPr>
          <p:cNvPr id="10" name="Text 8"/>
          <p:cNvSpPr txBox="1"/>
          <p:nvPr/>
        </p:nvSpPr>
        <p:spPr>
          <a:xfrm>
            <a:off x="6675120" y="2606040"/>
            <a:ext cx="5029200" cy="27432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Never tell anyone their style</a:t>
            </a:r>
            <a:endParaRPr lang="en-US" sz="1350" dirty="0"/>
          </a:p>
        </p:txBody>
      </p:sp>
      <p:sp>
        <p:nvSpPr>
          <p:cNvPr id="11" name="Text 9"/>
          <p:cNvSpPr txBox="1"/>
          <p:nvPr/>
        </p:nvSpPr>
        <p:spPr>
          <a:xfrm>
            <a:off x="6675120" y="2898648"/>
            <a:ext cx="5029200" cy="457200"/>
          </a:xfrm>
          <a:prstGeom prst="rect">
            <a:avLst/>
          </a:prstGeom>
          <a:noFill/>
          <a:ln/>
        </p:spPr>
        <p:txBody>
          <a:bodyPr wrap="square" lIns="0" tIns="0" rIns="0" bIns="0" rtlCol="0" anchor="t"/>
          <a:lstStyle/>
          <a:p>
            <a:pPr indent="0" marL="0">
              <a:lnSpc>
                <a:spcPts val="1400"/>
              </a:lnSpc>
              <a:buNone/>
            </a:pPr>
            <a:r>
              <a:rPr lang="en-US" sz="1050" dirty="0">
                <a:solidFill>
                  <a:srgbClr val="918D9D"/>
                </a:solidFill>
                <a:latin typeface="Calibri" pitchFamily="34" charset="0"/>
                <a:ea typeface="Calibri" pitchFamily="34" charset="-122"/>
                <a:cs typeface="Calibri" pitchFamily="34" charset="-120"/>
              </a:rPr>
              <a:t>Recognition, not classification.</a:t>
            </a:r>
            <a:endParaRPr lang="en-US" sz="1050" dirty="0"/>
          </a:p>
        </p:txBody>
      </p:sp>
      <p:sp>
        <p:nvSpPr>
          <p:cNvPr id="12" name="Text 10"/>
          <p:cNvSpPr txBox="1"/>
          <p:nvPr/>
        </p:nvSpPr>
        <p:spPr>
          <a:xfrm>
            <a:off x="658368" y="3538728"/>
            <a:ext cx="310896" cy="274320"/>
          </a:xfrm>
          <a:prstGeom prst="rect">
            <a:avLst/>
          </a:prstGeom>
          <a:noFill/>
          <a:ln/>
        </p:spPr>
        <p:txBody>
          <a:bodyPr wrap="square" lIns="0" tIns="0" rIns="0" bIns="0" rtlCol="0" anchor="ctr"/>
          <a:lstStyle/>
          <a:p>
            <a:pPr indent="0" marL="0">
              <a:buNone/>
            </a:pPr>
            <a:r>
              <a:rPr lang="en-US" sz="1250" b="1" dirty="0">
                <a:solidFill>
                  <a:srgbClr val="9E86E8"/>
                </a:solidFill>
                <a:latin typeface="Cambria" pitchFamily="34" charset="0"/>
                <a:ea typeface="Cambria" pitchFamily="34" charset="-122"/>
                <a:cs typeface="Cambria" pitchFamily="34" charset="-120"/>
              </a:rPr>
              <a:t>3</a:t>
            </a:r>
            <a:endParaRPr lang="en-US" sz="1250" dirty="0"/>
          </a:p>
        </p:txBody>
      </p:sp>
      <p:sp>
        <p:nvSpPr>
          <p:cNvPr id="13" name="Text 11"/>
          <p:cNvSpPr txBox="1"/>
          <p:nvPr/>
        </p:nvSpPr>
        <p:spPr>
          <a:xfrm>
            <a:off x="1005840" y="3538728"/>
            <a:ext cx="5029200" cy="27432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If they say no, it was no</a:t>
            </a:r>
            <a:endParaRPr lang="en-US" sz="1350" dirty="0"/>
          </a:p>
        </p:txBody>
      </p:sp>
      <p:sp>
        <p:nvSpPr>
          <p:cNvPr id="14" name="Text 12"/>
          <p:cNvSpPr txBox="1"/>
          <p:nvPr/>
        </p:nvSpPr>
        <p:spPr>
          <a:xfrm>
            <a:off x="1005840" y="3831336"/>
            <a:ext cx="5029200" cy="457200"/>
          </a:xfrm>
          <a:prstGeom prst="rect">
            <a:avLst/>
          </a:prstGeom>
          <a:noFill/>
          <a:ln/>
        </p:spPr>
        <p:txBody>
          <a:bodyPr wrap="square" lIns="0" tIns="0" rIns="0" bIns="0" rtlCol="0" anchor="t"/>
          <a:lstStyle/>
          <a:p>
            <a:pPr indent="0" marL="0">
              <a:lnSpc>
                <a:spcPts val="1400"/>
              </a:lnSpc>
              <a:buNone/>
            </a:pPr>
            <a:r>
              <a:rPr lang="en-US" sz="1050" dirty="0">
                <a:solidFill>
                  <a:srgbClr val="918D9D"/>
                </a:solidFill>
                <a:latin typeface="Calibri" pitchFamily="34" charset="0"/>
                <a:ea typeface="Calibri" pitchFamily="34" charset="-122"/>
                <a:cs typeface="Calibri" pitchFamily="34" charset="-120"/>
              </a:rPr>
              <a:t>They know their life better than the graph does.</a:t>
            </a:r>
            <a:endParaRPr lang="en-US" sz="1050" dirty="0"/>
          </a:p>
        </p:txBody>
      </p:sp>
      <p:sp>
        <p:nvSpPr>
          <p:cNvPr id="15" name="Text 13"/>
          <p:cNvSpPr txBox="1"/>
          <p:nvPr/>
        </p:nvSpPr>
        <p:spPr>
          <a:xfrm>
            <a:off x="6327648" y="3538728"/>
            <a:ext cx="310896" cy="274320"/>
          </a:xfrm>
          <a:prstGeom prst="rect">
            <a:avLst/>
          </a:prstGeom>
          <a:noFill/>
          <a:ln/>
        </p:spPr>
        <p:txBody>
          <a:bodyPr wrap="square" lIns="0" tIns="0" rIns="0" bIns="0" rtlCol="0" anchor="ctr"/>
          <a:lstStyle/>
          <a:p>
            <a:pPr indent="0" marL="0">
              <a:buNone/>
            </a:pPr>
            <a:r>
              <a:rPr lang="en-US" sz="1250" b="1" dirty="0">
                <a:solidFill>
                  <a:srgbClr val="9E86E8"/>
                </a:solidFill>
                <a:latin typeface="Cambria" pitchFamily="34" charset="0"/>
                <a:ea typeface="Cambria" pitchFamily="34" charset="-122"/>
                <a:cs typeface="Cambria" pitchFamily="34" charset="-120"/>
              </a:rPr>
              <a:t>4</a:t>
            </a:r>
            <a:endParaRPr lang="en-US" sz="1250" dirty="0"/>
          </a:p>
        </p:txBody>
      </p:sp>
      <p:sp>
        <p:nvSpPr>
          <p:cNvPr id="16" name="Text 14"/>
          <p:cNvSpPr txBox="1"/>
          <p:nvPr/>
        </p:nvSpPr>
        <p:spPr>
          <a:xfrm>
            <a:off x="6675120" y="3538728"/>
            <a:ext cx="5029200" cy="27432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Never type an absent partner</a:t>
            </a:r>
            <a:endParaRPr lang="en-US" sz="1350" dirty="0"/>
          </a:p>
        </p:txBody>
      </p:sp>
      <p:sp>
        <p:nvSpPr>
          <p:cNvPr id="17" name="Text 15"/>
          <p:cNvSpPr txBox="1"/>
          <p:nvPr/>
        </p:nvSpPr>
        <p:spPr>
          <a:xfrm>
            <a:off x="6675120" y="3831336"/>
            <a:ext cx="5029200" cy="457200"/>
          </a:xfrm>
          <a:prstGeom prst="rect">
            <a:avLst/>
          </a:prstGeom>
          <a:noFill/>
          <a:ln/>
        </p:spPr>
        <p:txBody>
          <a:bodyPr wrap="square" lIns="0" tIns="0" rIns="0" bIns="0" rtlCol="0" anchor="t"/>
          <a:lstStyle/>
          <a:p>
            <a:pPr indent="0" marL="0">
              <a:lnSpc>
                <a:spcPts val="1400"/>
              </a:lnSpc>
              <a:buNone/>
            </a:pPr>
            <a:r>
              <a:rPr lang="en-US" sz="1050" dirty="0">
                <a:solidFill>
                  <a:srgbClr val="918D9D"/>
                </a:solidFill>
                <a:latin typeface="Calibri" pitchFamily="34" charset="0"/>
                <a:ea typeface="Calibri" pitchFamily="34" charset="-122"/>
                <a:cs typeface="Calibri" pitchFamily="34" charset="-120"/>
              </a:rPr>
              <a:t>They are not there to correct it.</a:t>
            </a:r>
            <a:endParaRPr lang="en-US" sz="1050" dirty="0"/>
          </a:p>
        </p:txBody>
      </p:sp>
      <p:sp>
        <p:nvSpPr>
          <p:cNvPr id="18" name="Text 16"/>
          <p:cNvSpPr txBox="1"/>
          <p:nvPr/>
        </p:nvSpPr>
        <p:spPr>
          <a:xfrm>
            <a:off x="658368" y="4471416"/>
            <a:ext cx="310896" cy="274320"/>
          </a:xfrm>
          <a:prstGeom prst="rect">
            <a:avLst/>
          </a:prstGeom>
          <a:noFill/>
          <a:ln/>
        </p:spPr>
        <p:txBody>
          <a:bodyPr wrap="square" lIns="0" tIns="0" rIns="0" bIns="0" rtlCol="0" anchor="ctr"/>
          <a:lstStyle/>
          <a:p>
            <a:pPr indent="0" marL="0">
              <a:buNone/>
            </a:pPr>
            <a:r>
              <a:rPr lang="en-US" sz="1250" b="1" dirty="0">
                <a:solidFill>
                  <a:srgbClr val="9E86E8"/>
                </a:solidFill>
                <a:latin typeface="Cambria" pitchFamily="34" charset="0"/>
                <a:ea typeface="Cambria" pitchFamily="34" charset="-122"/>
                <a:cs typeface="Cambria" pitchFamily="34" charset="-120"/>
              </a:rPr>
              <a:t>5</a:t>
            </a:r>
            <a:endParaRPr lang="en-US" sz="1250" dirty="0"/>
          </a:p>
        </p:txBody>
      </p:sp>
      <p:sp>
        <p:nvSpPr>
          <p:cNvPr id="19" name="Text 17"/>
          <p:cNvSpPr txBox="1"/>
          <p:nvPr/>
        </p:nvSpPr>
        <p:spPr>
          <a:xfrm>
            <a:off x="1005840" y="4471416"/>
            <a:ext cx="5029200" cy="27432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Cite it or do not say it</a:t>
            </a:r>
            <a:endParaRPr lang="en-US" sz="1350" dirty="0"/>
          </a:p>
        </p:txBody>
      </p:sp>
      <p:sp>
        <p:nvSpPr>
          <p:cNvPr id="20" name="Text 18"/>
          <p:cNvSpPr txBox="1"/>
          <p:nvPr/>
        </p:nvSpPr>
        <p:spPr>
          <a:xfrm>
            <a:off x="1005840" y="4764024"/>
            <a:ext cx="5029200" cy="457200"/>
          </a:xfrm>
          <a:prstGeom prst="rect">
            <a:avLst/>
          </a:prstGeom>
          <a:noFill/>
          <a:ln/>
        </p:spPr>
        <p:txBody>
          <a:bodyPr wrap="square" lIns="0" tIns="0" rIns="0" bIns="0" rtlCol="0" anchor="t"/>
          <a:lstStyle/>
          <a:p>
            <a:pPr indent="0" marL="0">
              <a:lnSpc>
                <a:spcPts val="1400"/>
              </a:lnSpc>
              <a:buNone/>
            </a:pPr>
            <a:r>
              <a:rPr lang="en-US" sz="1050" dirty="0">
                <a:solidFill>
                  <a:srgbClr val="918D9D"/>
                </a:solidFill>
                <a:latin typeface="Calibri" pitchFamily="34" charset="0"/>
                <a:ea typeface="Calibri" pitchFamily="34" charset="-122"/>
                <a:cs typeface="Calibri" pitchFamily="34" charset="-120"/>
              </a:rPr>
              <a:t>Untraceable claims are flagged or dropped.</a:t>
            </a:r>
            <a:endParaRPr lang="en-US" sz="1050" dirty="0"/>
          </a:p>
        </p:txBody>
      </p:sp>
      <p:sp>
        <p:nvSpPr>
          <p:cNvPr id="21" name="Text 19"/>
          <p:cNvSpPr txBox="1"/>
          <p:nvPr/>
        </p:nvSpPr>
        <p:spPr>
          <a:xfrm>
            <a:off x="6327648" y="4471416"/>
            <a:ext cx="310896" cy="274320"/>
          </a:xfrm>
          <a:prstGeom prst="rect">
            <a:avLst/>
          </a:prstGeom>
          <a:noFill/>
          <a:ln/>
        </p:spPr>
        <p:txBody>
          <a:bodyPr wrap="square" lIns="0" tIns="0" rIns="0" bIns="0" rtlCol="0" anchor="ctr"/>
          <a:lstStyle/>
          <a:p>
            <a:pPr indent="0" marL="0">
              <a:buNone/>
            </a:pPr>
            <a:r>
              <a:rPr lang="en-US" sz="1250" b="1" dirty="0">
                <a:solidFill>
                  <a:srgbClr val="9E86E8"/>
                </a:solidFill>
                <a:latin typeface="Cambria" pitchFamily="34" charset="0"/>
                <a:ea typeface="Cambria" pitchFamily="34" charset="-122"/>
                <a:cs typeface="Cambria" pitchFamily="34" charset="-120"/>
              </a:rPr>
              <a:t>6</a:t>
            </a:r>
            <a:endParaRPr lang="en-US" sz="1250" dirty="0"/>
          </a:p>
        </p:txBody>
      </p:sp>
      <p:sp>
        <p:nvSpPr>
          <p:cNvPr id="22" name="Text 20"/>
          <p:cNvSpPr txBox="1"/>
          <p:nvPr/>
        </p:nvSpPr>
        <p:spPr>
          <a:xfrm>
            <a:off x="6675120" y="4471416"/>
            <a:ext cx="5029200" cy="27432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No diagnosis, no quiz, no scoring</a:t>
            </a:r>
            <a:endParaRPr lang="en-US" sz="1350" dirty="0"/>
          </a:p>
        </p:txBody>
      </p:sp>
      <p:sp>
        <p:nvSpPr>
          <p:cNvPr id="23" name="Text 21"/>
          <p:cNvSpPr txBox="1"/>
          <p:nvPr/>
        </p:nvSpPr>
        <p:spPr>
          <a:xfrm>
            <a:off x="6675120" y="4764024"/>
            <a:ext cx="5029200" cy="457200"/>
          </a:xfrm>
          <a:prstGeom prst="rect">
            <a:avLst/>
          </a:prstGeom>
          <a:noFill/>
          <a:ln/>
        </p:spPr>
        <p:txBody>
          <a:bodyPr wrap="square" lIns="0" tIns="0" rIns="0" bIns="0" rtlCol="0" anchor="t"/>
          <a:lstStyle/>
          <a:p>
            <a:pPr indent="0" marL="0">
              <a:lnSpc>
                <a:spcPts val="1400"/>
              </a:lnSpc>
              <a:buNone/>
            </a:pPr>
            <a:r>
              <a:rPr lang="en-US" sz="1050" dirty="0">
                <a:solidFill>
                  <a:srgbClr val="918D9D"/>
                </a:solidFill>
                <a:latin typeface="Calibri" pitchFamily="34" charset="0"/>
                <a:ea typeface="Calibri" pitchFamily="34" charset="-122"/>
                <a:cs typeface="Calibri" pitchFamily="34" charset="-120"/>
              </a:rPr>
              <a:t>Nothing that outputs a category.</a:t>
            </a:r>
            <a:endParaRPr lang="en-US" sz="1050" dirty="0"/>
          </a:p>
        </p:txBody>
      </p:sp>
      <p:sp>
        <p:nvSpPr>
          <p:cNvPr id="24" name="Text 22"/>
          <p:cNvSpPr txBox="1"/>
          <p:nvPr/>
        </p:nvSpPr>
        <p:spPr>
          <a:xfrm>
            <a:off x="658368" y="5404104"/>
            <a:ext cx="310896" cy="274320"/>
          </a:xfrm>
          <a:prstGeom prst="rect">
            <a:avLst/>
          </a:prstGeom>
          <a:noFill/>
          <a:ln/>
        </p:spPr>
        <p:txBody>
          <a:bodyPr wrap="square" lIns="0" tIns="0" rIns="0" bIns="0" rtlCol="0" anchor="ctr"/>
          <a:lstStyle/>
          <a:p>
            <a:pPr indent="0" marL="0">
              <a:buNone/>
            </a:pPr>
            <a:r>
              <a:rPr lang="en-US" sz="1250" b="1" dirty="0">
                <a:solidFill>
                  <a:srgbClr val="9E86E8"/>
                </a:solidFill>
                <a:latin typeface="Cambria" pitchFamily="34" charset="0"/>
                <a:ea typeface="Cambria" pitchFamily="34" charset="-122"/>
                <a:cs typeface="Cambria" pitchFamily="34" charset="-120"/>
              </a:rPr>
              <a:t>7</a:t>
            </a:r>
            <a:endParaRPr lang="en-US" sz="1250" dirty="0"/>
          </a:p>
        </p:txBody>
      </p:sp>
      <p:sp>
        <p:nvSpPr>
          <p:cNvPr id="25" name="Text 23"/>
          <p:cNvSpPr txBox="1"/>
          <p:nvPr/>
        </p:nvSpPr>
        <p:spPr>
          <a:xfrm>
            <a:off x="1005840" y="5404104"/>
            <a:ext cx="5029200" cy="27432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Hand off in a crisis</a:t>
            </a:r>
            <a:endParaRPr lang="en-US" sz="1350" dirty="0"/>
          </a:p>
        </p:txBody>
      </p:sp>
      <p:sp>
        <p:nvSpPr>
          <p:cNvPr id="26" name="Text 24"/>
          <p:cNvSpPr txBox="1"/>
          <p:nvPr/>
        </p:nvSpPr>
        <p:spPr>
          <a:xfrm>
            <a:off x="1005840" y="5696712"/>
            <a:ext cx="5029200" cy="457200"/>
          </a:xfrm>
          <a:prstGeom prst="rect">
            <a:avLst/>
          </a:prstGeom>
          <a:noFill/>
          <a:ln/>
        </p:spPr>
        <p:txBody>
          <a:bodyPr wrap="square" lIns="0" tIns="0" rIns="0" bIns="0" rtlCol="0" anchor="t"/>
          <a:lstStyle/>
          <a:p>
            <a:pPr indent="0" marL="0">
              <a:lnSpc>
                <a:spcPts val="1400"/>
              </a:lnSpc>
              <a:buNone/>
            </a:pPr>
            <a:r>
              <a:rPr lang="en-US" sz="1050" dirty="0">
                <a:solidFill>
                  <a:srgbClr val="918D9D"/>
                </a:solidFill>
                <a:latin typeface="Calibri" pitchFamily="34" charset="0"/>
                <a:ea typeface="Calibri" pitchFamily="34" charset="-122"/>
                <a:cs typeface="Calibri" pitchFamily="34" charset="-120"/>
              </a:rPr>
              <a:t>That needs a person, not a decision tree.</a:t>
            </a:r>
            <a:endParaRPr lang="en-US" sz="1050" dirty="0"/>
          </a:p>
        </p:txBody>
      </p:sp>
      <p:sp>
        <p:nvSpPr>
          <p:cNvPr id="27" name="Text 25"/>
          <p:cNvSpPr txBox="1"/>
          <p:nvPr/>
        </p:nvSpPr>
        <p:spPr>
          <a:xfrm>
            <a:off x="6327648" y="5404104"/>
            <a:ext cx="310896" cy="274320"/>
          </a:xfrm>
          <a:prstGeom prst="rect">
            <a:avLst/>
          </a:prstGeom>
          <a:noFill/>
          <a:ln/>
        </p:spPr>
        <p:txBody>
          <a:bodyPr wrap="square" lIns="0" tIns="0" rIns="0" bIns="0" rtlCol="0" anchor="ctr"/>
          <a:lstStyle/>
          <a:p>
            <a:pPr indent="0" marL="0">
              <a:buNone/>
            </a:pPr>
            <a:r>
              <a:rPr lang="en-US" sz="1250" b="1" dirty="0">
                <a:solidFill>
                  <a:srgbClr val="9E86E8"/>
                </a:solidFill>
                <a:latin typeface="Cambria" pitchFamily="34" charset="0"/>
                <a:ea typeface="Cambria" pitchFamily="34" charset="-122"/>
                <a:cs typeface="Cambria" pitchFamily="34" charset="-120"/>
              </a:rPr>
              <a:t>8</a:t>
            </a:r>
            <a:endParaRPr lang="en-US" sz="1250" dirty="0"/>
          </a:p>
        </p:txBody>
      </p:sp>
      <p:sp>
        <p:nvSpPr>
          <p:cNvPr id="28" name="Text 26"/>
          <p:cNvSpPr txBox="1"/>
          <p:nvPr/>
        </p:nvSpPr>
        <p:spPr>
          <a:xfrm>
            <a:off x="6675120" y="5404104"/>
            <a:ext cx="5029200" cy="27432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Not therapy, no expertise claimed</a:t>
            </a:r>
            <a:endParaRPr lang="en-US" sz="1350" dirty="0"/>
          </a:p>
        </p:txBody>
      </p:sp>
      <p:sp>
        <p:nvSpPr>
          <p:cNvPr id="29" name="Text 27"/>
          <p:cNvSpPr txBox="1"/>
          <p:nvPr/>
        </p:nvSpPr>
        <p:spPr>
          <a:xfrm>
            <a:off x="6675120" y="5696712"/>
            <a:ext cx="5029200" cy="457200"/>
          </a:xfrm>
          <a:prstGeom prst="rect">
            <a:avLst/>
          </a:prstGeom>
          <a:noFill/>
          <a:ln/>
        </p:spPr>
        <p:txBody>
          <a:bodyPr wrap="square" lIns="0" tIns="0" rIns="0" bIns="0" rtlCol="0" anchor="t"/>
          <a:lstStyle/>
          <a:p>
            <a:pPr indent="0" marL="0">
              <a:lnSpc>
                <a:spcPts val="1400"/>
              </a:lnSpc>
              <a:buNone/>
            </a:pPr>
            <a:r>
              <a:rPr lang="en-US" sz="1050" dirty="0">
                <a:solidFill>
                  <a:srgbClr val="918D9D"/>
                </a:solidFill>
                <a:latin typeface="Calibri" pitchFamily="34" charset="0"/>
                <a:ea typeface="Calibri" pitchFamily="34" charset="-122"/>
                <a:cs typeface="Calibri" pitchFamily="34" charset="-120"/>
              </a:rPr>
              <a:t>It inherits the ceiling of its source.</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076127" y="384048"/>
            <a:ext cx="457200" cy="237744"/>
          </a:xfrm>
          <a:prstGeom prst="rect">
            <a:avLst/>
          </a:prstGeom>
          <a:noFill/>
          <a:ln/>
        </p:spPr>
        <p:txBody>
          <a:bodyPr wrap="square" lIns="0" tIns="0" rIns="0" bIns="0" rtlCol="0" anchor="ctr"/>
          <a:lstStyle/>
          <a:p>
            <a:pPr algn="r" indent="0" marL="0">
              <a:buNone/>
            </a:pPr>
            <a:r>
              <a:rPr lang="en-US" sz="900" dirty="0">
                <a:solidFill>
                  <a:srgbClr val="807C8A"/>
                </a:solidFill>
                <a:latin typeface="Calibri" pitchFamily="34" charset="0"/>
                <a:ea typeface="Calibri" pitchFamily="34" charset="-122"/>
                <a:cs typeface="Calibri" pitchFamily="34" charset="-120"/>
              </a:rPr>
              <a:t>10</a:t>
            </a:r>
            <a:endParaRPr lang="en-US" sz="900" dirty="0"/>
          </a:p>
        </p:txBody>
      </p:sp>
      <p:sp>
        <p:nvSpPr>
          <p:cNvPr id="3" name="Text 1"/>
          <p:cNvSpPr txBox="1"/>
          <p:nvPr/>
        </p:nvSpPr>
        <p:spPr>
          <a:xfrm>
            <a:off x="658368" y="475488"/>
            <a:ext cx="10874959" cy="219456"/>
          </a:xfrm>
          <a:prstGeom prst="rect">
            <a:avLst/>
          </a:prstGeom>
          <a:noFill/>
          <a:ln/>
        </p:spPr>
        <p:txBody>
          <a:bodyPr wrap="square" lIns="0" tIns="0" rIns="0" bIns="0" rtlCol="0" anchor="ctr"/>
          <a:lstStyle/>
          <a:p>
            <a:pPr indent="0" marL="0">
              <a:buNone/>
            </a:pPr>
            <a:r>
              <a:rPr lang="en-US" sz="1050" b="1" spc="160" kern="0" dirty="0">
                <a:solidFill>
                  <a:srgbClr val="7B4BD8"/>
                </a:solidFill>
                <a:latin typeface="Calibri" pitchFamily="34" charset="0"/>
                <a:ea typeface="Calibri" pitchFamily="34" charset="-122"/>
                <a:cs typeface="Calibri" pitchFamily="34" charset="-120"/>
              </a:rPr>
              <a:t>HONESTY</a:t>
            </a:r>
            <a:endParaRPr lang="en-US" sz="1050" dirty="0"/>
          </a:p>
        </p:txBody>
      </p:sp>
      <p:sp>
        <p:nvSpPr>
          <p:cNvPr id="4" name="Text 2"/>
          <p:cNvSpPr txBox="1"/>
          <p:nvPr/>
        </p:nvSpPr>
        <p:spPr>
          <a:xfrm>
            <a:off x="658368" y="768096"/>
            <a:ext cx="10874959" cy="658368"/>
          </a:xfrm>
          <a:prstGeom prst="rect">
            <a:avLst/>
          </a:prstGeom>
          <a:noFill/>
          <a:ln/>
        </p:spPr>
        <p:txBody>
          <a:bodyPr wrap="square" lIns="0" tIns="0" rIns="0" bIns="0" rtlCol="0" anchor="ctr"/>
          <a:lstStyle/>
          <a:p>
            <a:pPr indent="0" marL="0">
              <a:buNone/>
            </a:pPr>
            <a:r>
              <a:rPr lang="en-US" sz="3200" b="1" dirty="0">
                <a:solidFill>
                  <a:srgbClr val="22222A"/>
                </a:solidFill>
                <a:latin typeface="Cambria" pitchFamily="34" charset="0"/>
                <a:ea typeface="Cambria" pitchFamily="34" charset="-122"/>
                <a:cs typeface="Cambria" pitchFamily="34" charset="-120"/>
              </a:rPr>
              <a:t>What this is not</a:t>
            </a:r>
            <a:endParaRPr lang="en-US" sz="3200" dirty="0"/>
          </a:p>
        </p:txBody>
      </p:sp>
      <p:sp>
        <p:nvSpPr>
          <p:cNvPr id="5" name="Text 3"/>
          <p:cNvSpPr txBox="1"/>
          <p:nvPr/>
        </p:nvSpPr>
        <p:spPr>
          <a:xfrm>
            <a:off x="658368" y="1828800"/>
            <a:ext cx="3657600" cy="548640"/>
          </a:xfrm>
          <a:prstGeom prst="rect">
            <a:avLst/>
          </a:prstGeom>
          <a:noFill/>
          <a:ln/>
        </p:spPr>
        <p:txBody>
          <a:bodyPr wrap="square" lIns="0" tIns="0" rIns="0" bIns="0" rtlCol="0" anchor="t"/>
          <a:lstStyle/>
          <a:p>
            <a:pPr indent="0" marL="0">
              <a:lnSpc>
                <a:spcPts val="1750"/>
              </a:lnSpc>
              <a:buNone/>
            </a:pPr>
            <a:r>
              <a:rPr lang="en-US" sz="1450" b="1" dirty="0">
                <a:solidFill>
                  <a:srgbClr val="22222A"/>
                </a:solidFill>
                <a:latin typeface="Calibri" pitchFamily="34" charset="0"/>
                <a:ea typeface="Calibri" pitchFamily="34" charset="-122"/>
                <a:cs typeface="Calibri" pitchFamily="34" charset="-120"/>
              </a:rPr>
              <a:t>One person’s corpus</a:t>
            </a:r>
            <a:endParaRPr lang="en-US" sz="1450" dirty="0"/>
          </a:p>
        </p:txBody>
      </p:sp>
      <p:sp>
        <p:nvSpPr>
          <p:cNvPr id="6" name="Text 4"/>
          <p:cNvSpPr txBox="1"/>
          <p:nvPr/>
        </p:nvSpPr>
        <p:spPr>
          <a:xfrm>
            <a:off x="4663440" y="1792224"/>
            <a:ext cx="6869887" cy="914400"/>
          </a:xfrm>
          <a:prstGeom prst="rect">
            <a:avLst/>
          </a:prstGeom>
          <a:noFill/>
          <a:ln/>
        </p:spPr>
        <p:txBody>
          <a:bodyPr wrap="square" lIns="0" tIns="0" rIns="0" bIns="0" rtlCol="0" anchor="t"/>
          <a:lstStyle/>
          <a:p>
            <a:pPr indent="0" marL="0">
              <a:lnSpc>
                <a:spcPts val="1750"/>
              </a:lnSpc>
              <a:buNone/>
            </a:pPr>
            <a:r>
              <a:rPr lang="en-US" sz="1250" dirty="0">
                <a:solidFill>
                  <a:srgbClr val="6A6875"/>
                </a:solidFill>
                <a:latin typeface="Calibri" pitchFamily="34" charset="0"/>
                <a:ea typeface="Calibri" pitchFamily="34" charset="-122"/>
                <a:cs typeface="Calibri" pitchFamily="34" charset="-120"/>
              </a:rPr>
              <a:t>Not a survey of attachment research. Where she diverges from the literature, the graph records her rather than adjudicating.</a:t>
            </a:r>
            <a:endParaRPr lang="en-US" sz="1250" dirty="0"/>
          </a:p>
        </p:txBody>
      </p:sp>
      <p:sp>
        <p:nvSpPr>
          <p:cNvPr id="7" name="Text 5"/>
          <p:cNvSpPr txBox="1"/>
          <p:nvPr/>
        </p:nvSpPr>
        <p:spPr>
          <a:xfrm>
            <a:off x="658368" y="2907792"/>
            <a:ext cx="3657600" cy="548640"/>
          </a:xfrm>
          <a:prstGeom prst="rect">
            <a:avLst/>
          </a:prstGeom>
          <a:noFill/>
          <a:ln/>
        </p:spPr>
        <p:txBody>
          <a:bodyPr wrap="square" lIns="0" tIns="0" rIns="0" bIns="0" rtlCol="0" anchor="t"/>
          <a:lstStyle/>
          <a:p>
            <a:pPr indent="0" marL="0">
              <a:lnSpc>
                <a:spcPts val="1750"/>
              </a:lnSpc>
              <a:buNone/>
            </a:pPr>
            <a:r>
              <a:rPr lang="en-US" sz="1450" b="1" dirty="0">
                <a:solidFill>
                  <a:srgbClr val="22222A"/>
                </a:solidFill>
                <a:latin typeface="Calibri" pitchFamily="34" charset="0"/>
                <a:ea typeface="Calibri" pitchFamily="34" charset="-122"/>
                <a:cs typeface="Calibri" pitchFamily="34" charset="-120"/>
              </a:rPr>
              <a:t>Not a diagnosis or a test</a:t>
            </a:r>
            <a:endParaRPr lang="en-US" sz="1450" dirty="0"/>
          </a:p>
        </p:txBody>
      </p:sp>
      <p:sp>
        <p:nvSpPr>
          <p:cNvPr id="8" name="Text 6"/>
          <p:cNvSpPr txBox="1"/>
          <p:nvPr/>
        </p:nvSpPr>
        <p:spPr>
          <a:xfrm>
            <a:off x="4663440" y="2871216"/>
            <a:ext cx="6869887" cy="914400"/>
          </a:xfrm>
          <a:prstGeom prst="rect">
            <a:avLst/>
          </a:prstGeom>
          <a:noFill/>
          <a:ln/>
        </p:spPr>
        <p:txBody>
          <a:bodyPr wrap="square" lIns="0" tIns="0" rIns="0" bIns="0" rtlCol="0" anchor="t"/>
          <a:lstStyle/>
          <a:p>
            <a:pPr indent="0" marL="0">
              <a:lnSpc>
                <a:spcPts val="1750"/>
              </a:lnSpc>
              <a:buNone/>
            </a:pPr>
            <a:r>
              <a:rPr lang="en-US" sz="1250" dirty="0">
                <a:solidFill>
                  <a:srgbClr val="6A6875"/>
                </a:solidFill>
                <a:latin typeface="Calibri" pitchFamily="34" charset="0"/>
                <a:ea typeface="Calibri" pitchFamily="34" charset="-122"/>
                <a:cs typeface="Calibri" pitchFamily="34" charset="-120"/>
              </a:rPr>
              <a:t>Nothing outputs a category. If something built on this ever scores you, that is a bug in it, not a feature of the graph.</a:t>
            </a:r>
            <a:endParaRPr lang="en-US" sz="1250" dirty="0"/>
          </a:p>
        </p:txBody>
      </p:sp>
      <p:sp>
        <p:nvSpPr>
          <p:cNvPr id="9" name="Text 7"/>
          <p:cNvSpPr txBox="1"/>
          <p:nvPr/>
        </p:nvSpPr>
        <p:spPr>
          <a:xfrm>
            <a:off x="658368" y="3986784"/>
            <a:ext cx="3657600" cy="548640"/>
          </a:xfrm>
          <a:prstGeom prst="rect">
            <a:avLst/>
          </a:prstGeom>
          <a:noFill/>
          <a:ln/>
        </p:spPr>
        <p:txBody>
          <a:bodyPr wrap="square" lIns="0" tIns="0" rIns="0" bIns="0" rtlCol="0" anchor="t"/>
          <a:lstStyle/>
          <a:p>
            <a:pPr indent="0" marL="0">
              <a:lnSpc>
                <a:spcPts val="1750"/>
              </a:lnSpc>
              <a:buNone/>
            </a:pPr>
            <a:r>
              <a:rPr lang="en-US" sz="1450" b="1" dirty="0">
                <a:solidFill>
                  <a:srgbClr val="22222A"/>
                </a:solidFill>
                <a:latin typeface="Calibri" pitchFamily="34" charset="0"/>
                <a:ea typeface="Calibri" pitchFamily="34" charset="-122"/>
                <a:cs typeface="Calibri" pitchFamily="34" charset="-120"/>
              </a:rPr>
              <a:t>Not therapy</a:t>
            </a:r>
            <a:endParaRPr lang="en-US" sz="1450" dirty="0"/>
          </a:p>
        </p:txBody>
      </p:sp>
      <p:sp>
        <p:nvSpPr>
          <p:cNvPr id="10" name="Text 8"/>
          <p:cNvSpPr txBox="1"/>
          <p:nvPr/>
        </p:nvSpPr>
        <p:spPr>
          <a:xfrm>
            <a:off x="4663440" y="3950208"/>
            <a:ext cx="6869887" cy="914400"/>
          </a:xfrm>
          <a:prstGeom prst="rect">
            <a:avLst/>
          </a:prstGeom>
          <a:noFill/>
          <a:ln/>
        </p:spPr>
        <p:txBody>
          <a:bodyPr wrap="square" lIns="0" tIns="0" rIns="0" bIns="0" rtlCol="0" anchor="t"/>
          <a:lstStyle/>
          <a:p>
            <a:pPr indent="0" marL="0">
              <a:lnSpc>
                <a:spcPts val="1750"/>
              </a:lnSpc>
              <a:buNone/>
            </a:pPr>
            <a:r>
              <a:rPr lang="en-US" sz="1250" dirty="0">
                <a:solidFill>
                  <a:srgbClr val="6A6875"/>
                </a:solidFill>
                <a:latin typeface="Calibri" pitchFamily="34" charset="0"/>
                <a:ea typeface="Calibri" pitchFamily="34" charset="-122"/>
                <a:cs typeface="Calibri" pitchFamily="34" charset="-120"/>
              </a:rPr>
              <a:t>She states her own position plainly — largely self-taught, not an expert. Anything built on the corpus inherits that ceiling.</a:t>
            </a:r>
            <a:endParaRPr lang="en-US" sz="1250" dirty="0"/>
          </a:p>
        </p:txBody>
      </p:sp>
      <p:sp>
        <p:nvSpPr>
          <p:cNvPr id="11" name="Text 9"/>
          <p:cNvSpPr txBox="1"/>
          <p:nvPr/>
        </p:nvSpPr>
        <p:spPr>
          <a:xfrm>
            <a:off x="658368" y="5065776"/>
            <a:ext cx="3657600" cy="548640"/>
          </a:xfrm>
          <a:prstGeom prst="rect">
            <a:avLst/>
          </a:prstGeom>
          <a:noFill/>
          <a:ln/>
        </p:spPr>
        <p:txBody>
          <a:bodyPr wrap="square" lIns="0" tIns="0" rIns="0" bIns="0" rtlCol="0" anchor="t"/>
          <a:lstStyle/>
          <a:p>
            <a:pPr indent="0" marL="0">
              <a:lnSpc>
                <a:spcPts val="1750"/>
              </a:lnSpc>
              <a:buNone/>
            </a:pPr>
            <a:r>
              <a:rPr lang="en-US" sz="1450" b="1" dirty="0">
                <a:solidFill>
                  <a:srgbClr val="22222A"/>
                </a:solidFill>
                <a:latin typeface="Calibri" pitchFamily="34" charset="0"/>
                <a:ea typeface="Calibri" pitchFamily="34" charset="-122"/>
                <a:cs typeface="Calibri" pitchFamily="34" charset="-120"/>
              </a:rPr>
              <a:t>103 nodes are unverified</a:t>
            </a:r>
            <a:endParaRPr lang="en-US" sz="1450" dirty="0"/>
          </a:p>
        </p:txBody>
      </p:sp>
      <p:sp>
        <p:nvSpPr>
          <p:cNvPr id="12" name="Text 10"/>
          <p:cNvSpPr txBox="1"/>
          <p:nvPr/>
        </p:nvSpPr>
        <p:spPr>
          <a:xfrm>
            <a:off x="4663440" y="5029200"/>
            <a:ext cx="6869887" cy="914400"/>
          </a:xfrm>
          <a:prstGeom prst="rect">
            <a:avLst/>
          </a:prstGeom>
          <a:noFill/>
          <a:ln/>
        </p:spPr>
        <p:txBody>
          <a:bodyPr wrap="square" lIns="0" tIns="0" rIns="0" bIns="0" rtlCol="0" anchor="t"/>
          <a:lstStyle/>
          <a:p>
            <a:pPr indent="0" marL="0">
              <a:lnSpc>
                <a:spcPts val="1750"/>
              </a:lnSpc>
              <a:buNone/>
            </a:pPr>
            <a:r>
              <a:rPr lang="en-US" sz="1250" dirty="0">
                <a:solidFill>
                  <a:srgbClr val="6A6875"/>
                </a:solidFill>
                <a:latin typeface="Calibri" pitchFamily="34" charset="0"/>
                <a:ea typeface="Calibri" pitchFamily="34" charset="-122"/>
                <a:cs typeface="Calibri" pitchFamily="34" charset="-120"/>
              </a:rPr>
              <a:t>Marked "literature" because she presents them as standard attachment theory. Checking them against the primary sources is parked, and labelled as such.</a:t>
            </a:r>
            <a:endParaRPr lang="en-US" sz="1250" dirty="0"/>
          </a:p>
        </p:txBody>
      </p:sp>
      <p:sp>
        <p:nvSpPr>
          <p:cNvPr id="13" name="Text 11"/>
          <p:cNvSpPr txBox="1"/>
          <p:nvPr/>
        </p:nvSpPr>
        <p:spPr>
          <a:xfrm>
            <a:off x="658368" y="5989320"/>
            <a:ext cx="10874959" cy="548640"/>
          </a:xfrm>
          <a:prstGeom prst="rect">
            <a:avLst/>
          </a:prstGeom>
          <a:noFill/>
          <a:ln/>
        </p:spPr>
        <p:txBody>
          <a:bodyPr wrap="square" lIns="0" tIns="0" rIns="0" bIns="0" rtlCol="0" anchor="ctr"/>
          <a:lstStyle/>
          <a:p>
            <a:pPr indent="0" marL="0">
              <a:lnSpc>
                <a:spcPts val="1700"/>
              </a:lnSpc>
              <a:buNone/>
            </a:pPr>
            <a:r>
              <a:rPr lang="en-US" sz="1200" i="1" dirty="0">
                <a:solidFill>
                  <a:srgbClr val="807C8A"/>
                </a:solidFill>
                <a:latin typeface="Calibri" pitchFamily="34" charset="0"/>
                <a:ea typeface="Calibri" pitchFamily="34" charset="-122"/>
                <a:cs typeface="Calibri" pitchFamily="34" charset="-120"/>
              </a:rPr>
              <a:t>Attachment styles are a framework for self-understanding, not a diagnosis, a personality type, or a fixed trait. Nothing here is therapy or a substitute for it. If you are working through something difficult, a qualified therapist is the right place for it.</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6161C"/>
        </a:solidFill>
      </p:bgPr>
    </p:bg>
    <p:spTree>
      <p:nvGrpSpPr>
        <p:cNvPr id="1" name=""/>
        <p:cNvGrpSpPr/>
        <p:nvPr/>
      </p:nvGrpSpPr>
      <p:grpSpPr>
        <a:xfrm>
          <a:off x="0" y="0"/>
          <a:ext cx="0" cy="0"/>
          <a:chOff x="0" y="0"/>
          <a:chExt cx="0" cy="0"/>
        </a:xfrm>
      </p:grpSpPr>
      <p:sp>
        <p:nvSpPr>
          <p:cNvPr id="2" name="Text 0"/>
          <p:cNvSpPr txBox="1"/>
          <p:nvPr/>
        </p:nvSpPr>
        <p:spPr>
          <a:xfrm>
            <a:off x="11076127" y="384048"/>
            <a:ext cx="457200" cy="237744"/>
          </a:xfrm>
          <a:prstGeom prst="rect">
            <a:avLst/>
          </a:prstGeom>
          <a:noFill/>
          <a:ln/>
        </p:spPr>
        <p:txBody>
          <a:bodyPr wrap="square" lIns="0" tIns="0" rIns="0" bIns="0" rtlCol="0" anchor="ctr"/>
          <a:lstStyle/>
          <a:p>
            <a:pPr algn="r" indent="0" marL="0">
              <a:buNone/>
            </a:pPr>
            <a:r>
              <a:rPr lang="en-US" sz="900" dirty="0">
                <a:solidFill>
                  <a:srgbClr val="52505C"/>
                </a:solidFill>
                <a:latin typeface="Calibri" pitchFamily="34" charset="0"/>
                <a:ea typeface="Calibri" pitchFamily="34" charset="-122"/>
                <a:cs typeface="Calibri" pitchFamily="34" charset="-120"/>
              </a:rPr>
              <a:t>11</a:t>
            </a:r>
            <a:endParaRPr lang="en-US" sz="900" dirty="0"/>
          </a:p>
        </p:txBody>
      </p:sp>
      <p:sp>
        <p:nvSpPr>
          <p:cNvPr id="3" name="Text 1"/>
          <p:cNvSpPr txBox="1"/>
          <p:nvPr/>
        </p:nvSpPr>
        <p:spPr>
          <a:xfrm>
            <a:off x="658368" y="475488"/>
            <a:ext cx="10874959" cy="219456"/>
          </a:xfrm>
          <a:prstGeom prst="rect">
            <a:avLst/>
          </a:prstGeom>
          <a:noFill/>
          <a:ln/>
        </p:spPr>
        <p:txBody>
          <a:bodyPr wrap="square" lIns="0" tIns="0" rIns="0" bIns="0" rtlCol="0" anchor="ctr"/>
          <a:lstStyle/>
          <a:p>
            <a:pPr indent="0" marL="0">
              <a:buNone/>
            </a:pPr>
            <a:r>
              <a:rPr lang="en-US" sz="1050" b="1" spc="160" kern="0" dirty="0">
                <a:solidFill>
                  <a:srgbClr val="9E86E8"/>
                </a:solidFill>
                <a:latin typeface="Calibri" pitchFamily="34" charset="0"/>
                <a:ea typeface="Calibri" pitchFamily="34" charset="-122"/>
                <a:cs typeface="Calibri" pitchFamily="34" charset="-120"/>
              </a:rPr>
              <a:t>START HERE</a:t>
            </a:r>
            <a:endParaRPr lang="en-US" sz="1050" dirty="0"/>
          </a:p>
        </p:txBody>
      </p:sp>
      <p:sp>
        <p:nvSpPr>
          <p:cNvPr id="4" name="Text 2"/>
          <p:cNvSpPr txBox="1"/>
          <p:nvPr/>
        </p:nvSpPr>
        <p:spPr>
          <a:xfrm>
            <a:off x="658368" y="768096"/>
            <a:ext cx="10874959" cy="658368"/>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Two links</a:t>
            </a:r>
            <a:endParaRPr lang="en-US" sz="3400" dirty="0"/>
          </a:p>
        </p:txBody>
      </p:sp>
      <p:sp>
        <p:nvSpPr>
          <p:cNvPr id="5" name="Shape 3"/>
          <p:cNvSpPr/>
          <p:nvPr/>
        </p:nvSpPr>
        <p:spPr>
          <a:xfrm>
            <a:off x="658368" y="1874520"/>
            <a:ext cx="219456" cy="219456"/>
          </a:xfrm>
          <a:prstGeom prst="ellipse">
            <a:avLst/>
          </a:prstGeom>
          <a:solidFill>
            <a:srgbClr val="2BB0A3"/>
          </a:solidFill>
          <a:ln w="12700">
            <a:solidFill>
              <a:srgbClr val="333333"/>
            </a:solidFill>
            <a:prstDash val="solid"/>
          </a:ln>
        </p:spPr>
      </p:sp>
      <p:sp>
        <p:nvSpPr>
          <p:cNvPr id="6" name="Text 4"/>
          <p:cNvSpPr txBox="1"/>
          <p:nvPr/>
        </p:nvSpPr>
        <p:spPr>
          <a:xfrm>
            <a:off x="1078992" y="1783080"/>
            <a:ext cx="3840480" cy="329184"/>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Browse the graph</a:t>
            </a:r>
            <a:endParaRPr lang="en-US" sz="1600" dirty="0"/>
          </a:p>
        </p:txBody>
      </p:sp>
      <p:sp>
        <p:nvSpPr>
          <p:cNvPr id="7" name="Text 5"/>
          <p:cNvSpPr txBox="1"/>
          <p:nvPr/>
        </p:nvSpPr>
        <p:spPr>
          <a:xfrm>
            <a:off x="1078992" y="2130552"/>
            <a:ext cx="5486400" cy="274320"/>
          </a:xfrm>
          <a:prstGeom prst="rect">
            <a:avLst/>
          </a:prstGeom>
          <a:noFill/>
          <a:ln/>
        </p:spPr>
        <p:txBody>
          <a:bodyPr wrap="square" lIns="0" tIns="0" rIns="0" bIns="0" rtlCol="0" anchor="ctr"/>
          <a:lstStyle/>
          <a:p>
            <a:pPr indent="0" marL="0">
              <a:buNone/>
            </a:pPr>
            <a:r>
              <a:rPr lang="en-US" sz="1150" dirty="0">
                <a:solidFill>
                  <a:srgbClr val="9E86E8"/>
                </a:solidFill>
                <a:latin typeface="Courier New" pitchFamily="34" charset="0"/>
                <a:ea typeface="Courier New" pitchFamily="34" charset="-122"/>
                <a:cs typeface="Courier New" pitchFamily="34" charset="-120"/>
              </a:rPr>
              <a:t>touyette.github.io/AS-KG/typed-graph/</a:t>
            </a:r>
            <a:endParaRPr lang="en-US" sz="1150" dirty="0"/>
          </a:p>
        </p:txBody>
      </p:sp>
      <p:sp>
        <p:nvSpPr>
          <p:cNvPr id="8" name="Text 6"/>
          <p:cNvSpPr txBox="1"/>
          <p:nvPr/>
        </p:nvSpPr>
        <p:spPr>
          <a:xfrm>
            <a:off x="6492240" y="1801368"/>
            <a:ext cx="5041087" cy="640080"/>
          </a:xfrm>
          <a:prstGeom prst="rect">
            <a:avLst/>
          </a:prstGeom>
          <a:noFill/>
          <a:ln/>
        </p:spPr>
        <p:txBody>
          <a:bodyPr wrap="square" lIns="0" tIns="0" rIns="0" bIns="0" rtlCol="0" anchor="t"/>
          <a:lstStyle/>
          <a:p>
            <a:pPr indent="0" marL="0">
              <a:lnSpc>
                <a:spcPts val="1650"/>
              </a:lnSpc>
              <a:buNone/>
            </a:pPr>
            <a:r>
              <a:rPr lang="en-US" sz="1200" dirty="0">
                <a:solidFill>
                  <a:srgbClr val="9C98A8"/>
                </a:solidFill>
                <a:latin typeface="Calibri" pitchFamily="34" charset="0"/>
                <a:ea typeface="Calibri" pitchFamily="34" charset="-122"/>
                <a:cs typeface="Calibri" pitchFamily="34" charset="-120"/>
              </a:rPr>
              <a:t>Search for something you recognise and follow it outward.</a:t>
            </a:r>
            <a:endParaRPr lang="en-US" sz="1200" dirty="0"/>
          </a:p>
        </p:txBody>
      </p:sp>
      <p:sp>
        <p:nvSpPr>
          <p:cNvPr id="9" name="Shape 7"/>
          <p:cNvSpPr/>
          <p:nvPr/>
        </p:nvSpPr>
        <p:spPr>
          <a:xfrm>
            <a:off x="658368" y="3044952"/>
            <a:ext cx="219456" cy="219456"/>
          </a:xfrm>
          <a:prstGeom prst="ellipse">
            <a:avLst/>
          </a:prstGeom>
          <a:solidFill>
            <a:srgbClr val="E04F86"/>
          </a:solidFill>
          <a:ln w="12700">
            <a:solidFill>
              <a:srgbClr val="333333"/>
            </a:solidFill>
            <a:prstDash val="solid"/>
          </a:ln>
        </p:spPr>
      </p:sp>
      <p:sp>
        <p:nvSpPr>
          <p:cNvPr id="10" name="Text 8"/>
          <p:cNvSpPr txBox="1"/>
          <p:nvPr/>
        </p:nvSpPr>
        <p:spPr>
          <a:xfrm>
            <a:off x="1078992" y="2953512"/>
            <a:ext cx="3840480" cy="329184"/>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Run it yourself</a:t>
            </a:r>
            <a:endParaRPr lang="en-US" sz="1600" dirty="0"/>
          </a:p>
        </p:txBody>
      </p:sp>
      <p:sp>
        <p:nvSpPr>
          <p:cNvPr id="11" name="Text 9"/>
          <p:cNvSpPr txBox="1"/>
          <p:nvPr/>
        </p:nvSpPr>
        <p:spPr>
          <a:xfrm>
            <a:off x="1078992" y="3300984"/>
            <a:ext cx="5486400" cy="274320"/>
          </a:xfrm>
          <a:prstGeom prst="rect">
            <a:avLst/>
          </a:prstGeom>
          <a:noFill/>
          <a:ln/>
        </p:spPr>
        <p:txBody>
          <a:bodyPr wrap="square" lIns="0" tIns="0" rIns="0" bIns="0" rtlCol="0" anchor="ctr"/>
          <a:lstStyle/>
          <a:p>
            <a:pPr indent="0" marL="0">
              <a:buNone/>
            </a:pPr>
            <a:r>
              <a:rPr lang="en-US" sz="1150" dirty="0">
                <a:solidFill>
                  <a:srgbClr val="9E86E8"/>
                </a:solidFill>
                <a:latin typeface="Courier New" pitchFamily="34" charset="0"/>
                <a:ea typeface="Courier New" pitchFamily="34" charset="-122"/>
                <a:cs typeface="Courier New" pitchFamily="34" charset="-120"/>
              </a:rPr>
              <a:t>github.com/touyette/AS-KG</a:t>
            </a:r>
            <a:endParaRPr lang="en-US" sz="1150" dirty="0"/>
          </a:p>
        </p:txBody>
      </p:sp>
      <p:sp>
        <p:nvSpPr>
          <p:cNvPr id="12" name="Text 10"/>
          <p:cNvSpPr txBox="1"/>
          <p:nvPr/>
        </p:nvSpPr>
        <p:spPr>
          <a:xfrm>
            <a:off x="6492240" y="2971800"/>
            <a:ext cx="5041087" cy="640080"/>
          </a:xfrm>
          <a:prstGeom prst="rect">
            <a:avLst/>
          </a:prstGeom>
          <a:noFill/>
          <a:ln/>
        </p:spPr>
        <p:txBody>
          <a:bodyPr wrap="square" lIns="0" tIns="0" rIns="0" bIns="0" rtlCol="0" anchor="t"/>
          <a:lstStyle/>
          <a:p>
            <a:pPr indent="0" marL="0">
              <a:lnSpc>
                <a:spcPts val="1650"/>
              </a:lnSpc>
              <a:buNone/>
            </a:pPr>
            <a:r>
              <a:rPr lang="en-US" sz="1200" dirty="0">
                <a:solidFill>
                  <a:srgbClr val="9C98A8"/>
                </a:solidFill>
                <a:latin typeface="Calibri" pitchFamily="34" charset="0"/>
                <a:ea typeface="Calibri" pitchFamily="34" charset="-122"/>
                <a:cs typeface="Calibri" pitchFamily="34" charset="-120"/>
              </a:rPr>
              <a:t>Clone it, open it with Claude Code or Codex, and say what is going on.</a:t>
            </a:r>
            <a:endParaRPr lang="en-US" sz="1200" dirty="0"/>
          </a:p>
        </p:txBody>
      </p:sp>
      <p:sp>
        <p:nvSpPr>
          <p:cNvPr id="13" name="Shape 11"/>
          <p:cNvSpPr/>
          <p:nvPr/>
        </p:nvSpPr>
        <p:spPr>
          <a:xfrm>
            <a:off x="658368" y="5349240"/>
            <a:ext cx="10874959" cy="0"/>
          </a:xfrm>
          <a:prstGeom prst="line">
            <a:avLst/>
          </a:prstGeom>
          <a:noFill/>
          <a:ln w="12700">
            <a:solidFill>
              <a:srgbClr val="2E2E38"/>
            </a:solidFill>
            <a:prstDash val="solid"/>
          </a:ln>
        </p:spPr>
      </p:sp>
      <p:sp>
        <p:nvSpPr>
          <p:cNvPr id="14" name="Text 12"/>
          <p:cNvSpPr txBox="1"/>
          <p:nvPr/>
        </p:nvSpPr>
        <p:spPr>
          <a:xfrm>
            <a:off x="658368" y="5532120"/>
            <a:ext cx="8686800" cy="29260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All credit for the ideas belongs to Heidi Priebe — youtube.com/@heidipriebe1</a:t>
            </a:r>
            <a:endParaRPr lang="en-US" sz="1300" dirty="0"/>
          </a:p>
        </p:txBody>
      </p:sp>
      <p:sp>
        <p:nvSpPr>
          <p:cNvPr id="15" name="Text 13"/>
          <p:cNvSpPr txBox="1"/>
          <p:nvPr/>
        </p:nvSpPr>
        <p:spPr>
          <a:xfrm>
            <a:off x="658368" y="5870448"/>
            <a:ext cx="10874959" cy="822960"/>
          </a:xfrm>
          <a:prstGeom prst="rect">
            <a:avLst/>
          </a:prstGeom>
          <a:noFill/>
          <a:ln/>
        </p:spPr>
        <p:txBody>
          <a:bodyPr wrap="square" lIns="0" tIns="0" rIns="0" bIns="0" rtlCol="0" anchor="ctr"/>
          <a:lstStyle/>
          <a:p>
            <a:pPr indent="0" marL="0">
              <a:lnSpc>
                <a:spcPts val="1550"/>
              </a:lnSpc>
              <a:buNone/>
            </a:pPr>
            <a:r>
              <a:rPr lang="en-US" sz="1100" dirty="0">
                <a:solidFill>
                  <a:srgbClr val="76727F"/>
                </a:solidFill>
                <a:latin typeface="Calibri" pitchFamily="34" charset="0"/>
                <a:ea typeface="Calibri" pitchFamily="34" charset="-122"/>
                <a:cs typeface="Calibri" pitchFamily="34" charset="-120"/>
              </a:rPr>
              <a:t>This is an index into her work, built to help someone re-find it rather than replace watching it. No note reproduces her words. The notes were written by hand from the transcripts; the graph, the site, this deck and the checks that keep them honest were built with Claude Code, and every count on these slides is read out of the graph at build time rather than typed in.</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2026-09-18T18:44:28Z</dcterms:created>
  <dcterms:modified xsi:type="dcterms:W3CDTF">2026-09-18T18:44:28Z</dcterms:modified>
</cp:coreProperties>
</file>