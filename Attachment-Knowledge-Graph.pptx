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2222A"/>
                </a:solidFill>
                <a:latin typeface="Arial"/>
              </a:defRPr>
            </a:pPr>
            <a:r>
              <a:rPr sz="1300" b="0" i="0" u="none" strike="noStrike">
                <a:solidFill>
                  <a:srgbClr val="22222A"/>
                </a:solidFill>
                <a:latin typeface="Arial"/>
              </a:rPr>
              <a:t>541 idea nodes by attribution</a:t>
            </a:r>
          </a:p>
        </c:rich>
      </c:tx>
      <c:layout/>
      <c:overlay val="0"/>
    </c:title>
    <c:autoTitleDeleted val="0"/>
    <c:plotArea>
      <c:layout/>
      <c:doughnutChart>
        <c:varyColors val="1"/>
        <c:ser>
          <c:idx val="0"/>
          <c:order val="0"/>
          <c:tx>
            <c:strRef>
              <c:f>Sheet1!$B$1</c:f>
              <c:strCache>
                <c:ptCount val="1"/>
                <c:pt idx="0">
                  <c:v>Attribution</c:v>
                </c:pt>
              </c:strCache>
            </c:strRef>
          </c:tx>
          <c:spPr>
            <a:solidFill>
              <a:schemeClr val="accent1"/>
            </a:solidFill>
            <a:ln w="9525" cap="flat">
              <a:solidFill>
                <a:srgbClr val="F9F9F9"/>
              </a:solidFill>
              <a:prstDash val="solid"/>
              <a:round/>
            </a:ln>
            <a:effectLst/>
          </c:spPr>
          <c:dPt>
            <c:idx val="0"/>
            <c:bubble3D val="0"/>
            <c:spPr>
              <a:solidFill>
                <a:srgbClr val="7B4BD8"/>
              </a:solidFill>
              <a:effectLst/>
            </c:spPr>
          </c:dPt>
          <c:dPt>
            <c:idx val="1"/>
            <c:bubble3D val="0"/>
            <c:spPr>
              <a:solidFill>
                <a:srgbClr val="5B83E8"/>
              </a:solidFill>
              <a:effectLst/>
            </c:spPr>
          </c:dPt>
          <c:dPt>
            <c:idx val="2"/>
            <c:bubble3D val="0"/>
            <c:spPr>
              <a:solidFill>
                <a:srgbClr val="2BB0A3"/>
              </a:solidFill>
              <a:effectLst/>
            </c:spPr>
          </c:dPt>
          <c:dLbls>
            <c:dLbl>
              <c:idx val="0"/>
              <c:numFmt formatCode="General" sourceLinked="0"/>
              <c:spPr/>
              <c:txPr>
                <a:bodyPr/>
                <a:lstStyle/>
                <a:p>
                  <a:pPr>
                    <a:defRPr sz="1200" b="1"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1200" b="1" i="0" u="none" strike="noStrike">
                      <a:solidFill>
                        <a:srgbClr val="FFFFFF"/>
                      </a:solidFill>
                      <a:latin typeface="Arial"/>
                    </a:defRPr>
                  </a:pPr>
                </a:p>
              </c:txPr>
              <c:showLegendKey val="0"/>
              <c:showVal val="1"/>
              <c:showCatName val="0"/>
              <c:showSerName val="0"/>
              <c:showPercent val="0"/>
              <c:showBubbleSize val="0"/>
            </c:dLbl>
            <c:dLbl>
              <c:idx val="2"/>
              <c:numFmt formatCode="General" sourceLinked="0"/>
              <c:spPr/>
              <c:txPr>
                <a:bodyPr/>
                <a:lstStyle/>
                <a:p>
                  <a:pPr>
                    <a:defRPr sz="1200" b="1"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Priebe’s own framing</c:v>
                </c:pt>
                <c:pt idx="1">
                  <c:v>Standard literature</c:v>
                </c:pt>
                <c:pt idx="2">
                  <c:v>Synthesis drawn here</c:v>
                </c:pt>
              </c:strCache>
            </c:strRef>
          </c:cat>
          <c:val>
            <c:numRef>
              <c:f>Sheet1!$B$2:$B$4</c:f>
              <c:numCache>
                <c:ptCount val="3"/>
                <c:pt idx="0">
                  <c:v>426</c:v>
                </c:pt>
                <c:pt idx="1">
                  <c:v>103</c:v>
                </c:pt>
                <c:pt idx="2">
                  <c:v>33</c:v>
                </c:pt>
              </c:numCache>
            </c:numRef>
          </c:val>
        </c:ser>
        <c:firstSliceAng val="0"/>
        <c:holeSize val="55"/>
      </c:doughnutChart>
      <c:spPr>
        <a:noFill/>
        <a:ln>
          <a:noFill/>
        </a:ln>
        <a:effectLst/>
      </c:spPr>
    </c:plotArea>
    <c:legend>
      <c:legendPos val="b"/>
      <c:overlay val="0"/>
      <c:txPr>
        <a:bodyPr/>
        <a:lstStyle/>
        <a:p>
          <a:pPr>
            <a:defRPr sz="1100">
              <a:solidFill>
                <a:srgbClr val="22222A"/>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this is a derivative index of Heidi Priebe’s work. All credit for the ideas is hers. Nothing here reproduces her transcripts.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framing to lead with: the site is a by-product. The deliverable is a cited, rule-bound corpus an assistant can work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 budget is the point of AGENTS.md: an earlier session read most of the corpus before saying a word. The file exists to stop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61C"/>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52505C"/>
                </a:solidFill>
                <a:latin typeface="Calibri" pitchFamily="34" charset="0"/>
                <a:ea typeface="Calibri" pitchFamily="34" charset="-122"/>
                <a:cs typeface="Calibri" pitchFamily="34" charset="-120"/>
              </a:rPr>
              <a:t>1</a:t>
            </a:r>
            <a:endParaRPr lang="en-US" sz="900" dirty="0"/>
          </a:p>
        </p:txBody>
      </p:sp>
      <p:sp>
        <p:nvSpPr>
          <p:cNvPr id="3" name="Text 1"/>
          <p:cNvSpPr txBox="1"/>
          <p:nvPr/>
        </p:nvSpPr>
        <p:spPr>
          <a:xfrm>
            <a:off x="658368" y="1417320"/>
            <a:ext cx="6766560" cy="2286000"/>
          </a:xfrm>
          <a:prstGeom prst="rect">
            <a:avLst/>
          </a:prstGeom>
          <a:noFill/>
          <a:ln/>
        </p:spPr>
        <p:txBody>
          <a:bodyPr wrap="square" lIns="0" tIns="0" rIns="0" bIns="0" rtlCol="0" anchor="ctr"/>
          <a:lstStyle/>
          <a:p>
            <a:pPr indent="0" marL="0">
              <a:lnSpc>
                <a:spcPts val="5800"/>
              </a:lnSpc>
              <a:buNone/>
            </a:pPr>
            <a:r>
              <a:rPr lang="en-US" sz="5400" b="1" dirty="0">
                <a:solidFill>
                  <a:srgbClr val="FFFFFF"/>
                </a:solidFill>
                <a:latin typeface="Cambria" pitchFamily="34" charset="0"/>
                <a:ea typeface="Cambria" pitchFamily="34" charset="-122"/>
                <a:cs typeface="Cambria" pitchFamily="34" charset="-120"/>
              </a:rPr>
              <a:t>Attachment,</a:t>
            </a:r>
            <a:endParaRPr lang="en-US" sz="5400" dirty="0"/>
          </a:p>
          <a:p>
            <a:pPr indent="0" marL="0">
              <a:lnSpc>
                <a:spcPts val="5800"/>
              </a:lnSpc>
              <a:buNone/>
            </a:pPr>
            <a:r>
              <a:rPr lang="en-US" sz="5400" b="1" dirty="0">
                <a:solidFill>
                  <a:srgbClr val="FFFFFF"/>
                </a:solidFill>
                <a:latin typeface="Cambria" pitchFamily="34" charset="0"/>
                <a:ea typeface="Cambria" pitchFamily="34" charset="-122"/>
                <a:cs typeface="Cambria" pitchFamily="34" charset="-120"/>
              </a:rPr>
              <a:t>as a graph</a:t>
            </a:r>
            <a:endParaRPr lang="en-US" sz="5400" dirty="0"/>
          </a:p>
        </p:txBody>
      </p:sp>
      <p:sp>
        <p:nvSpPr>
          <p:cNvPr id="4" name="Text 2"/>
          <p:cNvSpPr txBox="1"/>
          <p:nvPr/>
        </p:nvSpPr>
        <p:spPr>
          <a:xfrm>
            <a:off x="658368" y="3886200"/>
            <a:ext cx="6035040" cy="914400"/>
          </a:xfrm>
          <a:prstGeom prst="rect">
            <a:avLst/>
          </a:prstGeom>
          <a:noFill/>
          <a:ln/>
        </p:spPr>
        <p:txBody>
          <a:bodyPr wrap="square" lIns="0" tIns="0" rIns="0" bIns="0" rtlCol="0" anchor="ctr"/>
          <a:lstStyle/>
          <a:p>
            <a:pPr indent="0" marL="0">
              <a:lnSpc>
                <a:spcPts val="2300"/>
              </a:lnSpc>
              <a:buNone/>
            </a:pPr>
            <a:r>
              <a:rPr lang="en-US" sz="1500" dirty="0">
                <a:solidFill>
                  <a:srgbClr val="B9B5C4"/>
                </a:solidFill>
                <a:latin typeface="Calibri" pitchFamily="34" charset="0"/>
                <a:ea typeface="Calibri" pitchFamily="34" charset="-122"/>
                <a:cs typeface="Calibri" pitchFamily="34" charset="-120"/>
              </a:rPr>
              <a:t>A knowledge graph of Heidi Priebe’s work on attachment theory — and the tooling that lets an AI teach from it instead of from memory.</a:t>
            </a:r>
            <a:endParaRPr lang="en-US" sz="1500" dirty="0"/>
          </a:p>
        </p:txBody>
      </p:sp>
      <p:sp>
        <p:nvSpPr>
          <p:cNvPr id="5" name="Shape 3"/>
          <p:cNvSpPr/>
          <p:nvPr/>
        </p:nvSpPr>
        <p:spPr>
          <a:xfrm>
            <a:off x="658368" y="5074920"/>
            <a:ext cx="182880" cy="182880"/>
          </a:xfrm>
          <a:prstGeom prst="ellipse">
            <a:avLst/>
          </a:prstGeom>
          <a:solidFill>
            <a:srgbClr val="E04F86"/>
          </a:solidFill>
          <a:ln w="12700">
            <a:solidFill>
              <a:srgbClr val="333333"/>
            </a:solidFill>
            <a:prstDash val="solid"/>
          </a:ln>
        </p:spPr>
      </p:sp>
      <p:sp>
        <p:nvSpPr>
          <p:cNvPr id="6" name="Shape 4"/>
          <p:cNvSpPr/>
          <p:nvPr/>
        </p:nvSpPr>
        <p:spPr>
          <a:xfrm>
            <a:off x="969264" y="5074920"/>
            <a:ext cx="182880" cy="182880"/>
          </a:xfrm>
          <a:prstGeom prst="ellipse">
            <a:avLst/>
          </a:prstGeom>
          <a:solidFill>
            <a:srgbClr val="EDA72C"/>
          </a:solidFill>
          <a:ln w="12700">
            <a:solidFill>
              <a:srgbClr val="333333"/>
            </a:solidFill>
            <a:prstDash val="solid"/>
          </a:ln>
        </p:spPr>
      </p:sp>
      <p:sp>
        <p:nvSpPr>
          <p:cNvPr id="7" name="Shape 5"/>
          <p:cNvSpPr/>
          <p:nvPr/>
        </p:nvSpPr>
        <p:spPr>
          <a:xfrm>
            <a:off x="1280160" y="5074920"/>
            <a:ext cx="182880" cy="182880"/>
          </a:xfrm>
          <a:prstGeom prst="ellipse">
            <a:avLst/>
          </a:prstGeom>
          <a:solidFill>
            <a:srgbClr val="5B83E8"/>
          </a:solidFill>
          <a:ln w="12700">
            <a:solidFill>
              <a:srgbClr val="333333"/>
            </a:solidFill>
            <a:prstDash val="solid"/>
          </a:ln>
        </p:spPr>
      </p:sp>
      <p:sp>
        <p:nvSpPr>
          <p:cNvPr id="8" name="Shape 6"/>
          <p:cNvSpPr/>
          <p:nvPr/>
        </p:nvSpPr>
        <p:spPr>
          <a:xfrm>
            <a:off x="1591056" y="5074920"/>
            <a:ext cx="182880" cy="182880"/>
          </a:xfrm>
          <a:prstGeom prst="ellipse">
            <a:avLst/>
          </a:prstGeom>
          <a:solidFill>
            <a:srgbClr val="5BB84F"/>
          </a:solidFill>
          <a:ln w="12700">
            <a:solidFill>
              <a:srgbClr val="333333"/>
            </a:solidFill>
            <a:prstDash val="solid"/>
          </a:ln>
        </p:spPr>
      </p:sp>
      <p:sp>
        <p:nvSpPr>
          <p:cNvPr id="9" name="Shape 7"/>
          <p:cNvSpPr/>
          <p:nvPr/>
        </p:nvSpPr>
        <p:spPr>
          <a:xfrm>
            <a:off x="1901952" y="5074920"/>
            <a:ext cx="182880" cy="182880"/>
          </a:xfrm>
          <a:prstGeom prst="ellipse">
            <a:avLst/>
          </a:prstGeom>
          <a:solidFill>
            <a:srgbClr val="2BB0A3"/>
          </a:solidFill>
          <a:ln w="12700">
            <a:solidFill>
              <a:srgbClr val="333333"/>
            </a:solidFill>
            <a:prstDash val="solid"/>
          </a:ln>
        </p:spPr>
      </p:sp>
      <p:sp>
        <p:nvSpPr>
          <p:cNvPr id="10" name="Shape 8"/>
          <p:cNvSpPr/>
          <p:nvPr/>
        </p:nvSpPr>
        <p:spPr>
          <a:xfrm>
            <a:off x="2212848" y="5074920"/>
            <a:ext cx="182880" cy="182880"/>
          </a:xfrm>
          <a:prstGeom prst="ellipse">
            <a:avLst/>
          </a:prstGeom>
          <a:solidFill>
            <a:srgbClr val="3C5FA8"/>
          </a:solidFill>
          <a:ln w="12700">
            <a:solidFill>
              <a:srgbClr val="333333"/>
            </a:solidFill>
            <a:prstDash val="solid"/>
          </a:ln>
        </p:spPr>
      </p:sp>
      <p:sp>
        <p:nvSpPr>
          <p:cNvPr id="11" name="Shape 9"/>
          <p:cNvSpPr/>
          <p:nvPr/>
        </p:nvSpPr>
        <p:spPr>
          <a:xfrm>
            <a:off x="2523744" y="5074920"/>
            <a:ext cx="182880" cy="182880"/>
          </a:xfrm>
          <a:prstGeom prst="ellipse">
            <a:avLst/>
          </a:prstGeom>
          <a:solidFill>
            <a:srgbClr val="F2643E"/>
          </a:solidFill>
          <a:ln w="12700">
            <a:solidFill>
              <a:srgbClr val="333333"/>
            </a:solidFill>
            <a:prstDash val="solid"/>
          </a:ln>
        </p:spPr>
      </p:sp>
      <p:sp>
        <p:nvSpPr>
          <p:cNvPr id="12" name="Shape 10"/>
          <p:cNvSpPr/>
          <p:nvPr/>
        </p:nvSpPr>
        <p:spPr>
          <a:xfrm>
            <a:off x="2834640" y="5074920"/>
            <a:ext cx="182880" cy="182880"/>
          </a:xfrm>
          <a:prstGeom prst="ellipse">
            <a:avLst/>
          </a:prstGeom>
          <a:solidFill>
            <a:srgbClr val="C56AD9"/>
          </a:solidFill>
          <a:ln w="12700">
            <a:solidFill>
              <a:srgbClr val="333333"/>
            </a:solidFill>
            <a:prstDash val="solid"/>
          </a:ln>
        </p:spPr>
      </p:sp>
      <p:sp>
        <p:nvSpPr>
          <p:cNvPr id="13" name="Text 11"/>
          <p:cNvSpPr txBox="1"/>
          <p:nvPr/>
        </p:nvSpPr>
        <p:spPr>
          <a:xfrm>
            <a:off x="7818120" y="1600200"/>
            <a:ext cx="1371600" cy="502920"/>
          </a:xfrm>
          <a:prstGeom prst="rect">
            <a:avLst/>
          </a:prstGeom>
          <a:noFill/>
          <a:ln/>
        </p:spPr>
        <p:txBody>
          <a:bodyPr wrap="square" lIns="0" tIns="0" rIns="0" bIns="0" rtlCol="0" anchor="ctr"/>
          <a:lstStyle/>
          <a:p>
            <a:pPr algn="r" indent="0" marL="0">
              <a:buNone/>
            </a:pPr>
            <a:r>
              <a:rPr lang="en-US" sz="3400" b="1" dirty="0">
                <a:solidFill>
                  <a:srgbClr val="FFFFFF"/>
                </a:solidFill>
                <a:latin typeface="Cambria" pitchFamily="34" charset="0"/>
                <a:ea typeface="Cambria" pitchFamily="34" charset="-122"/>
                <a:cs typeface="Cambria" pitchFamily="34" charset="-120"/>
              </a:rPr>
              <a:t>54</a:t>
            </a:r>
            <a:endParaRPr lang="en-US" sz="3400" dirty="0"/>
          </a:p>
        </p:txBody>
      </p:sp>
      <p:sp>
        <p:nvSpPr>
          <p:cNvPr id="14" name="Text 12"/>
          <p:cNvSpPr txBox="1"/>
          <p:nvPr/>
        </p:nvSpPr>
        <p:spPr>
          <a:xfrm>
            <a:off x="9326880" y="1746504"/>
            <a:ext cx="2194560" cy="320040"/>
          </a:xfrm>
          <a:prstGeom prst="rect">
            <a:avLst/>
          </a:prstGeom>
          <a:noFill/>
          <a:ln/>
        </p:spPr>
        <p:txBody>
          <a:bodyPr wrap="square" lIns="0" tIns="0" rIns="0" bIns="0" rtlCol="0" anchor="ctr"/>
          <a:lstStyle/>
          <a:p>
            <a:pPr indent="0" marL="0">
              <a:buNone/>
            </a:pPr>
            <a:r>
              <a:rPr lang="en-US" sz="1250" dirty="0">
                <a:solidFill>
                  <a:srgbClr val="9B97A6"/>
                </a:solidFill>
                <a:latin typeface="Calibri" pitchFamily="34" charset="0"/>
                <a:ea typeface="Calibri" pitchFamily="34" charset="-122"/>
                <a:cs typeface="Calibri" pitchFamily="34" charset="-120"/>
              </a:rPr>
              <a:t>videos mined</a:t>
            </a:r>
            <a:endParaRPr lang="en-US" sz="1250" dirty="0"/>
          </a:p>
        </p:txBody>
      </p:sp>
      <p:sp>
        <p:nvSpPr>
          <p:cNvPr id="15" name="Text 13"/>
          <p:cNvSpPr txBox="1"/>
          <p:nvPr/>
        </p:nvSpPr>
        <p:spPr>
          <a:xfrm>
            <a:off x="7818120" y="2560320"/>
            <a:ext cx="1371600" cy="502920"/>
          </a:xfrm>
          <a:prstGeom prst="rect">
            <a:avLst/>
          </a:prstGeom>
          <a:noFill/>
          <a:ln/>
        </p:spPr>
        <p:txBody>
          <a:bodyPr wrap="square" lIns="0" tIns="0" rIns="0" bIns="0" rtlCol="0" anchor="ctr"/>
          <a:lstStyle/>
          <a:p>
            <a:pPr algn="r" indent="0" marL="0">
              <a:buNone/>
            </a:pPr>
            <a:r>
              <a:rPr lang="en-US" sz="3400" b="1" dirty="0">
                <a:solidFill>
                  <a:srgbClr val="FFFFFF"/>
                </a:solidFill>
                <a:latin typeface="Cambria" pitchFamily="34" charset="0"/>
                <a:ea typeface="Cambria" pitchFamily="34" charset="-122"/>
                <a:cs typeface="Cambria" pitchFamily="34" charset="-120"/>
              </a:rPr>
              <a:t>616</a:t>
            </a:r>
            <a:endParaRPr lang="en-US" sz="3400" dirty="0"/>
          </a:p>
        </p:txBody>
      </p:sp>
      <p:sp>
        <p:nvSpPr>
          <p:cNvPr id="16" name="Text 14"/>
          <p:cNvSpPr txBox="1"/>
          <p:nvPr/>
        </p:nvSpPr>
        <p:spPr>
          <a:xfrm>
            <a:off x="9326880" y="2706624"/>
            <a:ext cx="2194560" cy="320040"/>
          </a:xfrm>
          <a:prstGeom prst="rect">
            <a:avLst/>
          </a:prstGeom>
          <a:noFill/>
          <a:ln/>
        </p:spPr>
        <p:txBody>
          <a:bodyPr wrap="square" lIns="0" tIns="0" rIns="0" bIns="0" rtlCol="0" anchor="ctr"/>
          <a:lstStyle/>
          <a:p>
            <a:pPr indent="0" marL="0">
              <a:buNone/>
            </a:pPr>
            <a:r>
              <a:rPr lang="en-US" sz="1250" dirty="0">
                <a:solidFill>
                  <a:srgbClr val="9B97A6"/>
                </a:solidFill>
                <a:latin typeface="Calibri" pitchFamily="34" charset="0"/>
                <a:ea typeface="Calibri" pitchFamily="34" charset="-122"/>
                <a:cs typeface="Calibri" pitchFamily="34" charset="-120"/>
              </a:rPr>
              <a:t>nodes</a:t>
            </a:r>
            <a:endParaRPr lang="en-US" sz="1250" dirty="0"/>
          </a:p>
        </p:txBody>
      </p:sp>
      <p:sp>
        <p:nvSpPr>
          <p:cNvPr id="17" name="Text 15"/>
          <p:cNvSpPr txBox="1"/>
          <p:nvPr/>
        </p:nvSpPr>
        <p:spPr>
          <a:xfrm>
            <a:off x="7818120" y="3520440"/>
            <a:ext cx="1371600" cy="502920"/>
          </a:xfrm>
          <a:prstGeom prst="rect">
            <a:avLst/>
          </a:prstGeom>
          <a:noFill/>
          <a:ln/>
        </p:spPr>
        <p:txBody>
          <a:bodyPr wrap="square" lIns="0" tIns="0" rIns="0" bIns="0" rtlCol="0" anchor="ctr"/>
          <a:lstStyle/>
          <a:p>
            <a:pPr algn="r" indent="0" marL="0">
              <a:buNone/>
            </a:pPr>
            <a:r>
              <a:rPr lang="en-US" sz="3400" b="1" dirty="0">
                <a:solidFill>
                  <a:srgbClr val="FFFFFF"/>
                </a:solidFill>
                <a:latin typeface="Cambria" pitchFamily="34" charset="0"/>
                <a:ea typeface="Cambria" pitchFamily="34" charset="-122"/>
                <a:cs typeface="Cambria" pitchFamily="34" charset="-120"/>
              </a:rPr>
              <a:t>2411</a:t>
            </a:r>
            <a:endParaRPr lang="en-US" sz="3400" dirty="0"/>
          </a:p>
        </p:txBody>
      </p:sp>
      <p:sp>
        <p:nvSpPr>
          <p:cNvPr id="18" name="Text 16"/>
          <p:cNvSpPr txBox="1"/>
          <p:nvPr/>
        </p:nvSpPr>
        <p:spPr>
          <a:xfrm>
            <a:off x="9326880" y="3666744"/>
            <a:ext cx="2194560" cy="320040"/>
          </a:xfrm>
          <a:prstGeom prst="rect">
            <a:avLst/>
          </a:prstGeom>
          <a:noFill/>
          <a:ln/>
        </p:spPr>
        <p:txBody>
          <a:bodyPr wrap="square" lIns="0" tIns="0" rIns="0" bIns="0" rtlCol="0" anchor="ctr"/>
          <a:lstStyle/>
          <a:p>
            <a:pPr indent="0" marL="0">
              <a:buNone/>
            </a:pPr>
            <a:r>
              <a:rPr lang="en-US" sz="1250" dirty="0">
                <a:solidFill>
                  <a:srgbClr val="9B97A6"/>
                </a:solidFill>
                <a:latin typeface="Calibri" pitchFamily="34" charset="0"/>
                <a:ea typeface="Calibri" pitchFamily="34" charset="-122"/>
                <a:cs typeface="Calibri" pitchFamily="34" charset="-120"/>
              </a:rPr>
              <a:t>typed edges</a:t>
            </a:r>
            <a:endParaRPr lang="en-US" sz="1250" dirty="0"/>
          </a:p>
        </p:txBody>
      </p:sp>
      <p:sp>
        <p:nvSpPr>
          <p:cNvPr id="19" name="Text 17"/>
          <p:cNvSpPr txBox="1"/>
          <p:nvPr/>
        </p:nvSpPr>
        <p:spPr>
          <a:xfrm>
            <a:off x="7818120" y="4480560"/>
            <a:ext cx="1371600" cy="502920"/>
          </a:xfrm>
          <a:prstGeom prst="rect">
            <a:avLst/>
          </a:prstGeom>
          <a:noFill/>
          <a:ln/>
        </p:spPr>
        <p:txBody>
          <a:bodyPr wrap="square" lIns="0" tIns="0" rIns="0" bIns="0" rtlCol="0" anchor="ctr"/>
          <a:lstStyle/>
          <a:p>
            <a:pPr algn="r" indent="0" marL="0">
              <a:buNone/>
            </a:pPr>
            <a:r>
              <a:rPr lang="en-US" sz="3400" b="1" dirty="0">
                <a:solidFill>
                  <a:srgbClr val="FFFFFF"/>
                </a:solidFill>
                <a:latin typeface="Cambria" pitchFamily="34" charset="0"/>
                <a:ea typeface="Cambria" pitchFamily="34" charset="-122"/>
                <a:cs typeface="Cambria" pitchFamily="34" charset="-120"/>
              </a:rPr>
              <a:t>5</a:t>
            </a:r>
            <a:endParaRPr lang="en-US" sz="3400" dirty="0"/>
          </a:p>
        </p:txBody>
      </p:sp>
      <p:sp>
        <p:nvSpPr>
          <p:cNvPr id="20" name="Text 18"/>
          <p:cNvSpPr txBox="1"/>
          <p:nvPr/>
        </p:nvSpPr>
        <p:spPr>
          <a:xfrm>
            <a:off x="9326880" y="4626864"/>
            <a:ext cx="2194560" cy="320040"/>
          </a:xfrm>
          <a:prstGeom prst="rect">
            <a:avLst/>
          </a:prstGeom>
          <a:noFill/>
          <a:ln/>
        </p:spPr>
        <p:txBody>
          <a:bodyPr wrap="square" lIns="0" tIns="0" rIns="0" bIns="0" rtlCol="0" anchor="ctr"/>
          <a:lstStyle/>
          <a:p>
            <a:pPr indent="0" marL="0">
              <a:buNone/>
            </a:pPr>
            <a:r>
              <a:rPr lang="en-US" sz="1250" dirty="0">
                <a:solidFill>
                  <a:srgbClr val="9B97A6"/>
                </a:solidFill>
                <a:latin typeface="Calibri" pitchFamily="34" charset="0"/>
                <a:ea typeface="Calibri" pitchFamily="34" charset="-122"/>
                <a:cs typeface="Calibri" pitchFamily="34" charset="-120"/>
              </a:rPr>
              <a:t>loops found</a:t>
            </a:r>
            <a:endParaRPr lang="en-US" sz="1250" dirty="0"/>
          </a:p>
        </p:txBody>
      </p:sp>
      <p:sp>
        <p:nvSpPr>
          <p:cNvPr id="21" name="Text 19"/>
          <p:cNvSpPr txBox="1"/>
          <p:nvPr/>
        </p:nvSpPr>
        <p:spPr>
          <a:xfrm>
            <a:off x="658368" y="5943600"/>
            <a:ext cx="10874959" cy="274320"/>
          </a:xfrm>
          <a:prstGeom prst="rect">
            <a:avLst/>
          </a:prstGeom>
          <a:noFill/>
          <a:ln/>
        </p:spPr>
        <p:txBody>
          <a:bodyPr wrap="square" lIns="0" tIns="0" rIns="0" bIns="0" rtlCol="0" anchor="ctr"/>
          <a:lstStyle/>
          <a:p>
            <a:pPr indent="0" marL="0">
              <a:buNone/>
            </a:pPr>
            <a:r>
              <a:rPr lang="en-US" sz="1100" dirty="0">
                <a:solidFill>
                  <a:srgbClr val="76727F"/>
                </a:solidFill>
                <a:latin typeface="Calibri" pitchFamily="34" charset="0"/>
                <a:ea typeface="Calibri" pitchFamily="34" charset="-122"/>
                <a:cs typeface="Calibri" pitchFamily="34" charset="-120"/>
              </a:rPr>
              <a:t>An extended readme  ·  what it is, how it was built, and what it is for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61C"/>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52505C"/>
                </a:solidFill>
                <a:latin typeface="Calibri" pitchFamily="34" charset="0"/>
                <a:ea typeface="Calibri" pitchFamily="34" charset="-122"/>
                <a:cs typeface="Calibri" pitchFamily="34" charset="-120"/>
              </a:rPr>
              <a:t>2</a:t>
            </a:r>
            <a:endParaRPr lang="en-US" sz="900" dirty="0"/>
          </a:p>
        </p:txBody>
      </p:sp>
      <p:sp>
        <p:nvSpPr>
          <p:cNvPr id="3" name="Text 1"/>
          <p:cNvSpPr txBox="1"/>
          <p:nvPr/>
        </p:nvSpPr>
        <p:spPr>
          <a:xfrm>
            <a:off x="658368" y="2395728"/>
            <a:ext cx="7315200" cy="457200"/>
          </a:xfrm>
          <a:prstGeom prst="rect">
            <a:avLst/>
          </a:prstGeom>
          <a:noFill/>
          <a:ln/>
        </p:spPr>
        <p:txBody>
          <a:bodyPr wrap="square" lIns="0" tIns="0" rIns="0" bIns="0" rtlCol="0" anchor="ctr"/>
          <a:lstStyle/>
          <a:p>
            <a:pPr indent="0" marL="0">
              <a:buNone/>
            </a:pPr>
            <a:r>
              <a:rPr lang="en-US" sz="1700" b="1" spc="140" kern="0" dirty="0">
                <a:solidFill>
                  <a:srgbClr val="9E86E8"/>
                </a:solidFill>
                <a:latin typeface="Calibri" pitchFamily="34" charset="0"/>
                <a:ea typeface="Calibri" pitchFamily="34" charset="-122"/>
                <a:cs typeface="Calibri" pitchFamily="34" charset="-120"/>
              </a:rPr>
              <a:t>Part one</a:t>
            </a:r>
            <a:endParaRPr lang="en-US" sz="1700" dirty="0"/>
          </a:p>
        </p:txBody>
      </p:sp>
      <p:sp>
        <p:nvSpPr>
          <p:cNvPr id="4" name="Text 2"/>
          <p:cNvSpPr txBox="1"/>
          <p:nvPr/>
        </p:nvSpPr>
        <p:spPr>
          <a:xfrm>
            <a:off x="658368" y="2834640"/>
            <a:ext cx="8229600" cy="1554480"/>
          </a:xfrm>
          <a:prstGeom prst="rect">
            <a:avLst/>
          </a:prstGeom>
          <a:noFill/>
          <a:ln/>
        </p:spPr>
        <p:txBody>
          <a:bodyPr wrap="square" lIns="0" tIns="0" rIns="0" bIns="0" rtlCol="0" anchor="ctr"/>
          <a:lstStyle/>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The project,</a:t>
            </a:r>
            <a:endParaRPr lang="en-US" sz="4400" dirty="0"/>
          </a:p>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and how to use it</a:t>
            </a:r>
            <a:endParaRPr lang="en-US" sz="4400" dirty="0"/>
          </a:p>
        </p:txBody>
      </p:sp>
      <p:sp>
        <p:nvSpPr>
          <p:cNvPr id="5" name="Text 3"/>
          <p:cNvSpPr txBox="1"/>
          <p:nvPr/>
        </p:nvSpPr>
        <p:spPr>
          <a:xfrm>
            <a:off x="658368" y="4572000"/>
            <a:ext cx="6949440" cy="822960"/>
          </a:xfrm>
          <a:prstGeom prst="rect">
            <a:avLst/>
          </a:prstGeom>
          <a:noFill/>
          <a:ln/>
        </p:spPr>
        <p:txBody>
          <a:bodyPr wrap="square" lIns="0" tIns="0" rIns="0" bIns="0" rtlCol="0" anchor="ctr"/>
          <a:lstStyle/>
          <a:p>
            <a:pPr indent="0" marL="0">
              <a:lnSpc>
                <a:spcPts val="2100"/>
              </a:lnSpc>
              <a:buNone/>
            </a:pPr>
            <a:r>
              <a:rPr lang="en-US" sz="1400" dirty="0">
                <a:solidFill>
                  <a:srgbClr val="9C98A8"/>
                </a:solidFill>
                <a:latin typeface="Calibri" pitchFamily="34" charset="0"/>
                <a:ea typeface="Calibri" pitchFamily="34" charset="-122"/>
                <a:cs typeface="Calibri" pitchFamily="34" charset="-120"/>
              </a:rPr>
              <a:t>What it is, what is in it, how it was built — and the two ways in: the explorer, and an assistant you run on your own machine.</a:t>
            </a:r>
            <a:endParaRPr lang="en-US" sz="1400" dirty="0"/>
          </a:p>
        </p:txBody>
      </p:sp>
      <p:sp>
        <p:nvSpPr>
          <p:cNvPr id="6" name="Shape 4"/>
          <p:cNvSpPr/>
          <p:nvPr/>
        </p:nvSpPr>
        <p:spPr>
          <a:xfrm>
            <a:off x="658368" y="5669280"/>
            <a:ext cx="201168" cy="201168"/>
          </a:xfrm>
          <a:prstGeom prst="ellipse">
            <a:avLst/>
          </a:prstGeom>
          <a:solidFill>
            <a:srgbClr val="F2643E"/>
          </a:solidFill>
          <a:ln w="12700">
            <a:solidFill>
              <a:srgbClr val="333333"/>
            </a:solidFill>
            <a:prstDash val="solid"/>
          </a:ln>
        </p:spPr>
      </p:sp>
      <p:sp>
        <p:nvSpPr>
          <p:cNvPr id="7" name="Shape 5"/>
          <p:cNvSpPr/>
          <p:nvPr/>
        </p:nvSpPr>
        <p:spPr>
          <a:xfrm>
            <a:off x="987552" y="5669280"/>
            <a:ext cx="201168" cy="201168"/>
          </a:xfrm>
          <a:prstGeom prst="ellipse">
            <a:avLst/>
          </a:prstGeom>
          <a:solidFill>
            <a:srgbClr val="EDA72C"/>
          </a:solidFill>
          <a:ln w="12700">
            <a:solidFill>
              <a:srgbClr val="333333"/>
            </a:solidFill>
            <a:prstDash val="solid"/>
          </a:ln>
        </p:spPr>
      </p:sp>
      <p:sp>
        <p:nvSpPr>
          <p:cNvPr id="8" name="Shape 6"/>
          <p:cNvSpPr/>
          <p:nvPr/>
        </p:nvSpPr>
        <p:spPr>
          <a:xfrm>
            <a:off x="1316736" y="5669280"/>
            <a:ext cx="201168" cy="201168"/>
          </a:xfrm>
          <a:prstGeom prst="ellipse">
            <a:avLst/>
          </a:prstGeom>
          <a:solidFill>
            <a:srgbClr val="E04F86"/>
          </a:solidFill>
          <a:ln w="12700">
            <a:solidFill>
              <a:srgbClr val="333333"/>
            </a:solidFill>
            <a:prstDash val="solid"/>
          </a:ln>
        </p:spPr>
      </p:sp>
      <p:sp>
        <p:nvSpPr>
          <p:cNvPr id="9" name="Shape 7"/>
          <p:cNvSpPr/>
          <p:nvPr/>
        </p:nvSpPr>
        <p:spPr>
          <a:xfrm>
            <a:off x="1645920" y="5669280"/>
            <a:ext cx="201168" cy="201168"/>
          </a:xfrm>
          <a:prstGeom prst="ellipse">
            <a:avLst/>
          </a:prstGeom>
          <a:solidFill>
            <a:srgbClr val="C56AD9"/>
          </a:solidFill>
          <a:ln w="12700">
            <a:solidFill>
              <a:srgbClr val="333333"/>
            </a:solidFill>
            <a:prstDash val="solid"/>
          </a:ln>
        </p:spPr>
      </p:sp>
      <p:sp>
        <p:nvSpPr>
          <p:cNvPr id="10" name="Shape 8"/>
          <p:cNvSpPr/>
          <p:nvPr/>
        </p:nvSpPr>
        <p:spPr>
          <a:xfrm>
            <a:off x="1975104" y="5669280"/>
            <a:ext cx="201168" cy="201168"/>
          </a:xfrm>
          <a:prstGeom prst="ellipse">
            <a:avLst/>
          </a:prstGeom>
          <a:solidFill>
            <a:srgbClr val="5B83E8"/>
          </a:solidFill>
          <a:ln w="12700">
            <a:solidFill>
              <a:srgbClr val="333333"/>
            </a:solidFill>
            <a:prstDash val="solid"/>
          </a:ln>
        </p:spPr>
      </p:sp>
      <p:sp>
        <p:nvSpPr>
          <p:cNvPr id="11" name="Shape 9"/>
          <p:cNvSpPr/>
          <p:nvPr/>
        </p:nvSpPr>
        <p:spPr>
          <a:xfrm>
            <a:off x="2304288" y="5669280"/>
            <a:ext cx="201168" cy="201168"/>
          </a:xfrm>
          <a:prstGeom prst="ellipse">
            <a:avLst/>
          </a:prstGeom>
          <a:solidFill>
            <a:srgbClr val="3C5FA8"/>
          </a:solidFill>
          <a:ln w="12700">
            <a:solidFill>
              <a:srgbClr val="333333"/>
            </a:solidFill>
            <a:prstDash val="solid"/>
          </a:ln>
        </p:spPr>
      </p:sp>
      <p:sp>
        <p:nvSpPr>
          <p:cNvPr id="12" name="Shape 10"/>
          <p:cNvSpPr/>
          <p:nvPr/>
        </p:nvSpPr>
        <p:spPr>
          <a:xfrm>
            <a:off x="2633472" y="5669280"/>
            <a:ext cx="201168" cy="201168"/>
          </a:xfrm>
          <a:prstGeom prst="ellipse">
            <a:avLst/>
          </a:prstGeom>
          <a:solidFill>
            <a:srgbClr val="5BB84F"/>
          </a:solidFill>
          <a:ln w="12700">
            <a:solidFill>
              <a:srgbClr val="333333"/>
            </a:solidFill>
            <a:prstDash val="solid"/>
          </a:ln>
        </p:spPr>
      </p:sp>
      <p:sp>
        <p:nvSpPr>
          <p:cNvPr id="13" name="Shape 11"/>
          <p:cNvSpPr/>
          <p:nvPr/>
        </p:nvSpPr>
        <p:spPr>
          <a:xfrm>
            <a:off x="2962656" y="5669280"/>
            <a:ext cx="201168" cy="201168"/>
          </a:xfrm>
          <a:prstGeom prst="ellipse">
            <a:avLst/>
          </a:prstGeom>
          <a:solidFill>
            <a:srgbClr val="2BB0A3"/>
          </a:solidFill>
          <a:ln w="12700">
            <a:solidFill>
              <a:srgbClr val="333333"/>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807C8A"/>
                </a:solidFill>
                <a:latin typeface="Calibri" pitchFamily="34" charset="0"/>
                <a:ea typeface="Calibri" pitchFamily="34" charset="-122"/>
                <a:cs typeface="Calibri" pitchFamily="34" charset="-120"/>
              </a:rPr>
              <a:t>3</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7B4BD8"/>
                </a:solidFill>
                <a:latin typeface="Calibri" pitchFamily="34" charset="0"/>
                <a:ea typeface="Calibri" pitchFamily="34" charset="-122"/>
                <a:cs typeface="Calibri" pitchFamily="34" charset="-120"/>
              </a:rPr>
              <a:t>THE PROBLEM</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200" b="1" dirty="0">
                <a:solidFill>
                  <a:srgbClr val="22222A"/>
                </a:solidFill>
                <a:latin typeface="Cambria" pitchFamily="34" charset="0"/>
                <a:ea typeface="Cambria" pitchFamily="34" charset="-122"/>
                <a:cs typeface="Cambria" pitchFamily="34" charset="-120"/>
              </a:rPr>
              <a:t>Good material, wrong shape</a:t>
            </a:r>
            <a:endParaRPr lang="en-US" sz="3200" dirty="0"/>
          </a:p>
        </p:txBody>
      </p:sp>
      <p:sp>
        <p:nvSpPr>
          <p:cNvPr id="5" name="Text 3"/>
          <p:cNvSpPr txBox="1"/>
          <p:nvPr/>
        </p:nvSpPr>
        <p:spPr>
          <a:xfrm>
            <a:off x="658368" y="1609344"/>
            <a:ext cx="5943600" cy="1371600"/>
          </a:xfrm>
          <a:prstGeom prst="rect">
            <a:avLst/>
          </a:prstGeom>
          <a:noFill/>
          <a:ln/>
        </p:spPr>
        <p:txBody>
          <a:bodyPr wrap="square" lIns="0" tIns="0" rIns="0" bIns="0" rtlCol="0" anchor="ctr"/>
          <a:lstStyle/>
          <a:p>
            <a:pPr indent="0" marL="0">
              <a:lnSpc>
                <a:spcPts val="2100"/>
              </a:lnSpc>
              <a:buNone/>
            </a:pPr>
            <a:r>
              <a:rPr lang="en-US" sz="1450" dirty="0">
                <a:solidFill>
                  <a:srgbClr val="6A6875"/>
                </a:solidFill>
                <a:latin typeface="Calibri" pitchFamily="34" charset="0"/>
                <a:ea typeface="Calibri" pitchFamily="34" charset="-122"/>
                <a:cs typeface="Calibri" pitchFamily="34" charset="-120"/>
              </a:rPr>
              <a:t>Priebe’s attachment work is roughly forty hours of video across 54 uploads. The ideas are densely cross-referenced — a strategy in one video is the mirror of a strategy in another, and a practice in a third is the thing that unwinds both. But video is linear and unaddressable.</a:t>
            </a:r>
            <a:endParaRPr lang="en-US" sz="1450" dirty="0"/>
          </a:p>
        </p:txBody>
      </p:sp>
      <p:sp>
        <p:nvSpPr>
          <p:cNvPr id="6" name="Text 4"/>
          <p:cNvSpPr txBox="1"/>
          <p:nvPr/>
        </p:nvSpPr>
        <p:spPr>
          <a:xfrm>
            <a:off x="658368" y="3200400"/>
            <a:ext cx="5943600" cy="457200"/>
          </a:xfrm>
          <a:prstGeom prst="rect">
            <a:avLst/>
          </a:prstGeom>
          <a:noFill/>
          <a:ln/>
        </p:spPr>
        <p:txBody>
          <a:bodyPr wrap="square" lIns="0" tIns="0" rIns="0" bIns="0" rtlCol="0" anchor="ctr"/>
          <a:lstStyle/>
          <a:p>
            <a:pPr indent="0" marL="0">
              <a:buNone/>
            </a:pPr>
            <a:r>
              <a:rPr lang="en-US" sz="2000" b="1" dirty="0">
                <a:solidFill>
                  <a:srgbClr val="7B4BD8"/>
                </a:solidFill>
                <a:latin typeface="Cambria" pitchFamily="34" charset="0"/>
                <a:ea typeface="Cambria" pitchFamily="34" charset="-122"/>
                <a:cs typeface="Cambria" pitchFamily="34" charset="-120"/>
              </a:rPr>
              <a:t>You cannot ask a video what connects to what.</a:t>
            </a:r>
            <a:endParaRPr lang="en-US" sz="2000" dirty="0"/>
          </a:p>
        </p:txBody>
      </p:sp>
      <p:sp>
        <p:nvSpPr>
          <p:cNvPr id="7" name="Text 5"/>
          <p:cNvSpPr txBox="1"/>
          <p:nvPr/>
        </p:nvSpPr>
        <p:spPr>
          <a:xfrm>
            <a:off x="658368" y="3794760"/>
            <a:ext cx="5943600" cy="1554480"/>
          </a:xfrm>
          <a:prstGeom prst="rect">
            <a:avLst/>
          </a:prstGeom>
          <a:noFill/>
          <a:ln/>
        </p:spPr>
        <p:txBody>
          <a:bodyPr wrap="square" lIns="0" tIns="0" rIns="0" bIns="0" rtlCol="0" anchor="ctr"/>
          <a:lstStyle/>
          <a:p>
            <a:pPr indent="0" marL="0">
              <a:lnSpc>
                <a:spcPts val="2000"/>
              </a:lnSpc>
              <a:buNone/>
            </a:pPr>
            <a:r>
              <a:rPr lang="en-US" sz="1350" dirty="0">
                <a:solidFill>
                  <a:srgbClr val="6A6875"/>
                </a:solidFill>
                <a:latin typeface="Calibri" pitchFamily="34" charset="0"/>
                <a:ea typeface="Calibri" pitchFamily="34" charset="-122"/>
                <a:cs typeface="Calibri" pitchFamily="34" charset="-120"/>
              </a:rPr>
              <a:t>You cannot ask it which move in the avoidant pattern is the same move as one in the anxious pattern, or what she said heals a given belief, or where a claim came from. Recognising yourself in the material requires holding all of it in your head at once — which is exactly what someone in the middle of a difficult relationship cannot do.</a:t>
            </a:r>
            <a:endParaRPr lang="en-US" sz="1350" dirty="0"/>
          </a:p>
        </p:txBody>
      </p:sp>
      <p:sp>
        <p:nvSpPr>
          <p:cNvPr id="8" name="Shape 6"/>
          <p:cNvSpPr/>
          <p:nvPr/>
        </p:nvSpPr>
        <p:spPr>
          <a:xfrm>
            <a:off x="7040880" y="1371600"/>
            <a:ext cx="4480560" cy="4160520"/>
          </a:xfrm>
          <a:prstGeom prst="roundRect">
            <a:avLst>
              <a:gd name="adj" fmla="val 1758"/>
            </a:avLst>
          </a:prstGeom>
          <a:solidFill>
            <a:srgbClr val="F7F5FA"/>
          </a:solidFill>
          <a:ln w="9525">
            <a:solidFill>
              <a:srgbClr val="E5E2E8"/>
            </a:solidFill>
            <a:prstDash val="solid"/>
          </a:ln>
        </p:spPr>
      </p:sp>
      <p:sp>
        <p:nvSpPr>
          <p:cNvPr id="9" name="Text 7"/>
          <p:cNvSpPr txBox="1"/>
          <p:nvPr/>
        </p:nvSpPr>
        <p:spPr>
          <a:xfrm>
            <a:off x="7360920" y="1627632"/>
            <a:ext cx="3840480" cy="292608"/>
          </a:xfrm>
          <a:prstGeom prst="rect">
            <a:avLst/>
          </a:prstGeom>
          <a:noFill/>
          <a:ln/>
        </p:spPr>
        <p:txBody>
          <a:bodyPr wrap="square" lIns="0" tIns="0" rIns="0" bIns="0" rtlCol="0" anchor="ctr"/>
          <a:lstStyle/>
          <a:p>
            <a:pPr indent="0" marL="0">
              <a:buNone/>
            </a:pPr>
            <a:r>
              <a:rPr lang="en-US" sz="1500" b="1" dirty="0">
                <a:solidFill>
                  <a:srgbClr val="22222A"/>
                </a:solidFill>
                <a:latin typeface="Calibri" pitchFamily="34" charset="0"/>
                <a:ea typeface="Calibri" pitchFamily="34" charset="-122"/>
                <a:cs typeface="Calibri" pitchFamily="34" charset="-120"/>
              </a:rPr>
              <a:t>What the graph adds</a:t>
            </a:r>
            <a:endParaRPr lang="en-US" sz="1500" dirty="0"/>
          </a:p>
        </p:txBody>
      </p:sp>
      <p:sp>
        <p:nvSpPr>
          <p:cNvPr id="10" name="Shape 8"/>
          <p:cNvSpPr/>
          <p:nvPr/>
        </p:nvSpPr>
        <p:spPr>
          <a:xfrm>
            <a:off x="7360920" y="2148840"/>
            <a:ext cx="137160" cy="137160"/>
          </a:xfrm>
          <a:prstGeom prst="ellipse">
            <a:avLst/>
          </a:prstGeom>
          <a:solidFill>
            <a:srgbClr val="7B4BD8"/>
          </a:solidFill>
          <a:ln w="12700">
            <a:solidFill>
              <a:srgbClr val="333333"/>
            </a:solidFill>
            <a:prstDash val="solid"/>
          </a:ln>
        </p:spPr>
      </p:sp>
      <p:sp>
        <p:nvSpPr>
          <p:cNvPr id="11" name="Text 9"/>
          <p:cNvSpPr txBox="1"/>
          <p:nvPr/>
        </p:nvSpPr>
        <p:spPr>
          <a:xfrm>
            <a:off x="7626096" y="2103120"/>
            <a:ext cx="3657600" cy="237744"/>
          </a:xfrm>
          <a:prstGeom prst="rect">
            <a:avLst/>
          </a:prstGeom>
          <a:noFill/>
          <a:ln/>
        </p:spPr>
        <p:txBody>
          <a:bodyPr wrap="square" lIns="0" tIns="0" rIns="0" bIns="0" rtlCol="0" anchor="ctr"/>
          <a:lstStyle/>
          <a:p>
            <a:pPr indent="0" marL="0">
              <a:buNone/>
            </a:pPr>
            <a:r>
              <a:rPr lang="en-US" sz="1250" b="1" dirty="0">
                <a:solidFill>
                  <a:srgbClr val="22222A"/>
                </a:solidFill>
                <a:latin typeface="Calibri" pitchFamily="34" charset="0"/>
                <a:ea typeface="Calibri" pitchFamily="34" charset="-122"/>
                <a:cs typeface="Calibri" pitchFamily="34" charset="-120"/>
              </a:rPr>
              <a:t>An address for every idea</a:t>
            </a:r>
            <a:endParaRPr lang="en-US" sz="1250" dirty="0"/>
          </a:p>
        </p:txBody>
      </p:sp>
      <p:sp>
        <p:nvSpPr>
          <p:cNvPr id="12" name="Text 10"/>
          <p:cNvSpPr txBox="1"/>
          <p:nvPr/>
        </p:nvSpPr>
        <p:spPr>
          <a:xfrm>
            <a:off x="7626096" y="2350008"/>
            <a:ext cx="3657600" cy="548640"/>
          </a:xfrm>
          <a:prstGeom prst="rect">
            <a:avLst/>
          </a:prstGeom>
          <a:noFill/>
          <a:ln/>
        </p:spPr>
        <p:txBody>
          <a:bodyPr wrap="square" lIns="0" tIns="0" rIns="0" bIns="0" rtlCol="0" anchor="ctr"/>
          <a:lstStyle/>
          <a:p>
            <a:pPr indent="0" marL="0">
              <a:lnSpc>
                <a:spcPts val="1450"/>
              </a:lnSpc>
              <a:buNone/>
            </a:pPr>
            <a:r>
              <a:rPr lang="en-US" sz="1050" dirty="0">
                <a:solidFill>
                  <a:srgbClr val="6A6875"/>
                </a:solidFill>
                <a:latin typeface="Calibri" pitchFamily="34" charset="0"/>
                <a:ea typeface="Calibri" pitchFamily="34" charset="-122"/>
                <a:cs typeface="Calibri" pitchFamily="34" charset="-120"/>
              </a:rPr>
              <a:t>Each claim is a node with a stable id, a one-line gloss and a page.</a:t>
            </a:r>
            <a:endParaRPr lang="en-US" sz="1050" dirty="0"/>
          </a:p>
        </p:txBody>
      </p:sp>
      <p:sp>
        <p:nvSpPr>
          <p:cNvPr id="13" name="Shape 11"/>
          <p:cNvSpPr/>
          <p:nvPr/>
        </p:nvSpPr>
        <p:spPr>
          <a:xfrm>
            <a:off x="7360920" y="3008376"/>
            <a:ext cx="137160" cy="137160"/>
          </a:xfrm>
          <a:prstGeom prst="ellipse">
            <a:avLst/>
          </a:prstGeom>
          <a:solidFill>
            <a:srgbClr val="7B4BD8"/>
          </a:solidFill>
          <a:ln w="12700">
            <a:solidFill>
              <a:srgbClr val="333333"/>
            </a:solidFill>
            <a:prstDash val="solid"/>
          </a:ln>
        </p:spPr>
      </p:sp>
      <p:sp>
        <p:nvSpPr>
          <p:cNvPr id="14" name="Text 12"/>
          <p:cNvSpPr txBox="1"/>
          <p:nvPr/>
        </p:nvSpPr>
        <p:spPr>
          <a:xfrm>
            <a:off x="7626096" y="2962656"/>
            <a:ext cx="3657600" cy="237744"/>
          </a:xfrm>
          <a:prstGeom prst="rect">
            <a:avLst/>
          </a:prstGeom>
          <a:noFill/>
          <a:ln/>
        </p:spPr>
        <p:txBody>
          <a:bodyPr wrap="square" lIns="0" tIns="0" rIns="0" bIns="0" rtlCol="0" anchor="ctr"/>
          <a:lstStyle/>
          <a:p>
            <a:pPr indent="0" marL="0">
              <a:buNone/>
            </a:pPr>
            <a:r>
              <a:rPr lang="en-US" sz="1250" b="1" dirty="0">
                <a:solidFill>
                  <a:srgbClr val="22222A"/>
                </a:solidFill>
                <a:latin typeface="Calibri" pitchFamily="34" charset="0"/>
                <a:ea typeface="Calibri" pitchFamily="34" charset="-122"/>
                <a:cs typeface="Calibri" pitchFamily="34" charset="-120"/>
              </a:rPr>
              <a:t>A named relationship</a:t>
            </a:r>
            <a:endParaRPr lang="en-US" sz="1250" dirty="0"/>
          </a:p>
        </p:txBody>
      </p:sp>
      <p:sp>
        <p:nvSpPr>
          <p:cNvPr id="15" name="Text 13"/>
          <p:cNvSpPr txBox="1"/>
          <p:nvPr/>
        </p:nvSpPr>
        <p:spPr>
          <a:xfrm>
            <a:off x="7626096" y="3209544"/>
            <a:ext cx="3657600" cy="548640"/>
          </a:xfrm>
          <a:prstGeom prst="rect">
            <a:avLst/>
          </a:prstGeom>
          <a:noFill/>
          <a:ln/>
        </p:spPr>
        <p:txBody>
          <a:bodyPr wrap="square" lIns="0" tIns="0" rIns="0" bIns="0" rtlCol="0" anchor="ctr"/>
          <a:lstStyle/>
          <a:p>
            <a:pPr indent="0" marL="0">
              <a:lnSpc>
                <a:spcPts val="1450"/>
              </a:lnSpc>
              <a:buNone/>
            </a:pPr>
            <a:r>
              <a:rPr lang="en-US" sz="1050" dirty="0">
                <a:solidFill>
                  <a:srgbClr val="6A6875"/>
                </a:solidFill>
                <a:latin typeface="Calibri" pitchFamily="34" charset="0"/>
                <a:ea typeface="Calibri" pitchFamily="34" charset="-122"/>
                <a:cs typeface="Calibri" pitchFamily="34" charset="-120"/>
              </a:rPr>
              <a:t>Not "these are related" but triggers, defends_against, mirrors, healed_by.</a:t>
            </a:r>
            <a:endParaRPr lang="en-US" sz="1050" dirty="0"/>
          </a:p>
        </p:txBody>
      </p:sp>
      <p:sp>
        <p:nvSpPr>
          <p:cNvPr id="16" name="Shape 14"/>
          <p:cNvSpPr/>
          <p:nvPr/>
        </p:nvSpPr>
        <p:spPr>
          <a:xfrm>
            <a:off x="7360920" y="3867912"/>
            <a:ext cx="137160" cy="137160"/>
          </a:xfrm>
          <a:prstGeom prst="ellipse">
            <a:avLst/>
          </a:prstGeom>
          <a:solidFill>
            <a:srgbClr val="7B4BD8"/>
          </a:solidFill>
          <a:ln w="12700">
            <a:solidFill>
              <a:srgbClr val="333333"/>
            </a:solidFill>
            <a:prstDash val="solid"/>
          </a:ln>
        </p:spPr>
      </p:sp>
      <p:sp>
        <p:nvSpPr>
          <p:cNvPr id="17" name="Text 15"/>
          <p:cNvSpPr txBox="1"/>
          <p:nvPr/>
        </p:nvSpPr>
        <p:spPr>
          <a:xfrm>
            <a:off x="7626096" y="3822192"/>
            <a:ext cx="3657600" cy="237744"/>
          </a:xfrm>
          <a:prstGeom prst="rect">
            <a:avLst/>
          </a:prstGeom>
          <a:noFill/>
          <a:ln/>
        </p:spPr>
        <p:txBody>
          <a:bodyPr wrap="square" lIns="0" tIns="0" rIns="0" bIns="0" rtlCol="0" anchor="ctr"/>
          <a:lstStyle/>
          <a:p>
            <a:pPr indent="0" marL="0">
              <a:buNone/>
            </a:pPr>
            <a:r>
              <a:rPr lang="en-US" sz="1250" b="1" dirty="0">
                <a:solidFill>
                  <a:srgbClr val="22222A"/>
                </a:solidFill>
                <a:latin typeface="Calibri" pitchFamily="34" charset="0"/>
                <a:ea typeface="Calibri" pitchFamily="34" charset="-122"/>
                <a:cs typeface="Calibri" pitchFamily="34" charset="-120"/>
              </a:rPr>
              <a:t>A receipt on every edge</a:t>
            </a:r>
            <a:endParaRPr lang="en-US" sz="1250" dirty="0"/>
          </a:p>
        </p:txBody>
      </p:sp>
      <p:sp>
        <p:nvSpPr>
          <p:cNvPr id="18" name="Text 16"/>
          <p:cNvSpPr txBox="1"/>
          <p:nvPr/>
        </p:nvSpPr>
        <p:spPr>
          <a:xfrm>
            <a:off x="7626096" y="4069080"/>
            <a:ext cx="3657600" cy="548640"/>
          </a:xfrm>
          <a:prstGeom prst="rect">
            <a:avLst/>
          </a:prstGeom>
          <a:noFill/>
          <a:ln/>
        </p:spPr>
        <p:txBody>
          <a:bodyPr wrap="square" lIns="0" tIns="0" rIns="0" bIns="0" rtlCol="0" anchor="ctr"/>
          <a:lstStyle/>
          <a:p>
            <a:pPr indent="0" marL="0">
              <a:lnSpc>
                <a:spcPts val="1450"/>
              </a:lnSpc>
              <a:buNone/>
            </a:pPr>
            <a:r>
              <a:rPr lang="en-US" sz="1050" dirty="0">
                <a:solidFill>
                  <a:srgbClr val="6A6875"/>
                </a:solidFill>
                <a:latin typeface="Calibri" pitchFamily="34" charset="0"/>
                <a:ea typeface="Calibri" pitchFamily="34" charset="-122"/>
                <a:cs typeface="Calibri" pitchFamily="34" charset="-120"/>
              </a:rPr>
              <a:t>The video and the second where she says it. 2,290 of them.</a:t>
            </a:r>
            <a:endParaRPr lang="en-US" sz="1050" dirty="0"/>
          </a:p>
        </p:txBody>
      </p:sp>
      <p:sp>
        <p:nvSpPr>
          <p:cNvPr id="19" name="Shape 17"/>
          <p:cNvSpPr/>
          <p:nvPr/>
        </p:nvSpPr>
        <p:spPr>
          <a:xfrm>
            <a:off x="7360920" y="4727448"/>
            <a:ext cx="137160" cy="137160"/>
          </a:xfrm>
          <a:prstGeom prst="ellipse">
            <a:avLst/>
          </a:prstGeom>
          <a:solidFill>
            <a:srgbClr val="7B4BD8"/>
          </a:solidFill>
          <a:ln w="12700">
            <a:solidFill>
              <a:srgbClr val="333333"/>
            </a:solidFill>
            <a:prstDash val="solid"/>
          </a:ln>
        </p:spPr>
      </p:sp>
      <p:sp>
        <p:nvSpPr>
          <p:cNvPr id="20" name="Text 18"/>
          <p:cNvSpPr txBox="1"/>
          <p:nvPr/>
        </p:nvSpPr>
        <p:spPr>
          <a:xfrm>
            <a:off x="7626096" y="4681728"/>
            <a:ext cx="3657600" cy="237744"/>
          </a:xfrm>
          <a:prstGeom prst="rect">
            <a:avLst/>
          </a:prstGeom>
          <a:noFill/>
          <a:ln/>
        </p:spPr>
        <p:txBody>
          <a:bodyPr wrap="square" lIns="0" tIns="0" rIns="0" bIns="0" rtlCol="0" anchor="ctr"/>
          <a:lstStyle/>
          <a:p>
            <a:pPr indent="0" marL="0">
              <a:buNone/>
            </a:pPr>
            <a:r>
              <a:rPr lang="en-US" sz="1250" b="1" dirty="0">
                <a:solidFill>
                  <a:srgbClr val="22222A"/>
                </a:solidFill>
                <a:latin typeface="Calibri" pitchFamily="34" charset="0"/>
                <a:ea typeface="Calibri" pitchFamily="34" charset="-122"/>
                <a:cs typeface="Calibri" pitchFamily="34" charset="-120"/>
              </a:rPr>
              <a:t>A machine to read it</a:t>
            </a:r>
            <a:endParaRPr lang="en-US" sz="1250" dirty="0"/>
          </a:p>
        </p:txBody>
      </p:sp>
      <p:sp>
        <p:nvSpPr>
          <p:cNvPr id="21" name="Text 19"/>
          <p:cNvSpPr txBox="1"/>
          <p:nvPr/>
        </p:nvSpPr>
        <p:spPr>
          <a:xfrm>
            <a:off x="7626096" y="4928616"/>
            <a:ext cx="3657600" cy="548640"/>
          </a:xfrm>
          <a:prstGeom prst="rect">
            <a:avLst/>
          </a:prstGeom>
          <a:noFill/>
          <a:ln/>
        </p:spPr>
        <p:txBody>
          <a:bodyPr wrap="square" lIns="0" tIns="0" rIns="0" bIns="0" rtlCol="0" anchor="ctr"/>
          <a:lstStyle/>
          <a:p>
            <a:pPr indent="0" marL="0">
              <a:lnSpc>
                <a:spcPts val="1450"/>
              </a:lnSpc>
              <a:buNone/>
            </a:pPr>
            <a:r>
              <a:rPr lang="en-US" sz="1050" dirty="0">
                <a:solidFill>
                  <a:srgbClr val="6A6875"/>
                </a:solidFill>
                <a:latin typeface="Calibri" pitchFamily="34" charset="0"/>
                <a:ea typeface="Calibri" pitchFamily="34" charset="-122"/>
                <a:cs typeface="Calibri" pitchFamily="34" charset="-120"/>
              </a:rPr>
              <a:t>One JSON file an assistant can traverse, with rules it has to follow.</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61C"/>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52505C"/>
                </a:solidFill>
                <a:latin typeface="Calibri" pitchFamily="34" charset="0"/>
                <a:ea typeface="Calibri" pitchFamily="34" charset="-122"/>
                <a:cs typeface="Calibri" pitchFamily="34" charset="-120"/>
              </a:rPr>
              <a:t>4</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9E86E8"/>
                </a:solidFill>
                <a:latin typeface="Calibri" pitchFamily="34" charset="0"/>
                <a:ea typeface="Calibri" pitchFamily="34" charset="-122"/>
                <a:cs typeface="Calibri" pitchFamily="34" charset="-120"/>
              </a:rPr>
              <a:t>WHAT IT IS FOR</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The point is not the website</a:t>
            </a:r>
            <a:endParaRPr lang="en-US" sz="3600" dirty="0"/>
          </a:p>
        </p:txBody>
      </p:sp>
      <p:sp>
        <p:nvSpPr>
          <p:cNvPr id="5" name="Text 3"/>
          <p:cNvSpPr txBox="1"/>
          <p:nvPr/>
        </p:nvSpPr>
        <p:spPr>
          <a:xfrm>
            <a:off x="658368" y="1783080"/>
            <a:ext cx="7863840" cy="1005840"/>
          </a:xfrm>
          <a:prstGeom prst="rect">
            <a:avLst/>
          </a:prstGeom>
          <a:noFill/>
          <a:ln/>
        </p:spPr>
        <p:txBody>
          <a:bodyPr wrap="square" lIns="0" tIns="0" rIns="0" bIns="0" rtlCol="0" anchor="ctr"/>
          <a:lstStyle/>
          <a:p>
            <a:pPr indent="0" marL="0">
              <a:lnSpc>
                <a:spcPts val="2900"/>
              </a:lnSpc>
              <a:buNone/>
            </a:pPr>
            <a:r>
              <a:rPr lang="en-US" sz="1900" dirty="0">
                <a:solidFill>
                  <a:srgbClr val="D6D2DE"/>
                </a:solidFill>
                <a:latin typeface="Calibri" pitchFamily="34" charset="0"/>
                <a:ea typeface="Calibri" pitchFamily="34" charset="-122"/>
                <a:cs typeface="Calibri" pitchFamily="34" charset="-120"/>
              </a:rPr>
              <a:t>The graph exists so that an assistant can teach the pattern — accurately, with receipts, and inside constraints it cannot talk its way out of.</a:t>
            </a:r>
            <a:endParaRPr lang="en-US" sz="1900" dirty="0"/>
          </a:p>
        </p:txBody>
      </p:sp>
      <p:sp>
        <p:nvSpPr>
          <p:cNvPr id="6" name="Shape 4"/>
          <p:cNvSpPr/>
          <p:nvPr/>
        </p:nvSpPr>
        <p:spPr>
          <a:xfrm>
            <a:off x="658368" y="3063240"/>
            <a:ext cx="5303520" cy="1463040"/>
          </a:xfrm>
          <a:prstGeom prst="roundRect">
            <a:avLst>
              <a:gd name="adj" fmla="val 5000"/>
            </a:avLst>
          </a:prstGeom>
          <a:solidFill>
            <a:srgbClr val="20202A"/>
          </a:solidFill>
          <a:ln w="9525">
            <a:solidFill>
              <a:srgbClr val="30303C"/>
            </a:solidFill>
            <a:prstDash val="solid"/>
          </a:ln>
        </p:spPr>
      </p:sp>
      <p:sp>
        <p:nvSpPr>
          <p:cNvPr id="7" name="Text 5"/>
          <p:cNvSpPr txBox="1"/>
          <p:nvPr/>
        </p:nvSpPr>
        <p:spPr>
          <a:xfrm>
            <a:off x="932688" y="3246120"/>
            <a:ext cx="475488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Works from the corpus, not from memory</a:t>
            </a:r>
            <a:endParaRPr lang="en-US" sz="1350" dirty="0"/>
          </a:p>
        </p:txBody>
      </p:sp>
      <p:sp>
        <p:nvSpPr>
          <p:cNvPr id="8" name="Text 6"/>
          <p:cNvSpPr txBox="1"/>
          <p:nvPr/>
        </p:nvSpPr>
        <p:spPr>
          <a:xfrm>
            <a:off x="932688" y="3557016"/>
            <a:ext cx="4754880" cy="841248"/>
          </a:xfrm>
          <a:prstGeom prst="rect">
            <a:avLst/>
          </a:prstGeom>
          <a:noFill/>
          <a:ln/>
        </p:spPr>
        <p:txBody>
          <a:bodyPr wrap="square" lIns="0" tIns="0" rIns="0" bIns="0" rtlCol="0" anchor="ctr"/>
          <a:lstStyle/>
          <a:p>
            <a:pPr indent="0" marL="0">
              <a:lnSpc>
                <a:spcPts val="1450"/>
              </a:lnSpc>
              <a:buNone/>
            </a:pPr>
            <a:r>
              <a:rPr lang="en-US" sz="1050" dirty="0">
                <a:solidFill>
                  <a:srgbClr val="9C98A8"/>
                </a:solidFill>
                <a:latin typeface="Calibri" pitchFamily="34" charset="0"/>
                <a:ea typeface="Calibri" pitchFamily="34" charset="-122"/>
                <a:cs typeface="Calibri" pitchFamily="34" charset="-120"/>
              </a:rPr>
              <a:t>Every claim traces to a video and a timestamp, so the answer is hers and checkable — not a plausible average of everything a model has read about attachment.</a:t>
            </a:r>
            <a:endParaRPr lang="en-US" sz="1050" dirty="0"/>
          </a:p>
        </p:txBody>
      </p:sp>
      <p:sp>
        <p:nvSpPr>
          <p:cNvPr id="9" name="Shape 7"/>
          <p:cNvSpPr/>
          <p:nvPr/>
        </p:nvSpPr>
        <p:spPr>
          <a:xfrm>
            <a:off x="6281928" y="3063240"/>
            <a:ext cx="5303520" cy="1463040"/>
          </a:xfrm>
          <a:prstGeom prst="roundRect">
            <a:avLst>
              <a:gd name="adj" fmla="val 5000"/>
            </a:avLst>
          </a:prstGeom>
          <a:solidFill>
            <a:srgbClr val="20202A"/>
          </a:solidFill>
          <a:ln w="9525">
            <a:solidFill>
              <a:srgbClr val="30303C"/>
            </a:solidFill>
            <a:prstDash val="solid"/>
          </a:ln>
        </p:spPr>
      </p:sp>
      <p:sp>
        <p:nvSpPr>
          <p:cNvPr id="10" name="Text 8"/>
          <p:cNvSpPr txBox="1"/>
          <p:nvPr/>
        </p:nvSpPr>
        <p:spPr>
          <a:xfrm>
            <a:off x="6556248" y="3246120"/>
            <a:ext cx="475488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Refuses what it cannot trace</a:t>
            </a:r>
            <a:endParaRPr lang="en-US" sz="1350" dirty="0"/>
          </a:p>
        </p:txBody>
      </p:sp>
      <p:sp>
        <p:nvSpPr>
          <p:cNvPr id="11" name="Text 9"/>
          <p:cNvSpPr txBox="1"/>
          <p:nvPr/>
        </p:nvSpPr>
        <p:spPr>
          <a:xfrm>
            <a:off x="6556248" y="3557016"/>
            <a:ext cx="4754880" cy="841248"/>
          </a:xfrm>
          <a:prstGeom prst="rect">
            <a:avLst/>
          </a:prstGeom>
          <a:noFill/>
          <a:ln/>
        </p:spPr>
        <p:txBody>
          <a:bodyPr wrap="square" lIns="0" tIns="0" rIns="0" bIns="0" rtlCol="0" anchor="ctr"/>
          <a:lstStyle/>
          <a:p>
            <a:pPr indent="0" marL="0">
              <a:lnSpc>
                <a:spcPts val="1450"/>
              </a:lnSpc>
              <a:buNone/>
            </a:pPr>
            <a:r>
              <a:rPr lang="en-US" sz="1050" dirty="0">
                <a:solidFill>
                  <a:srgbClr val="9C98A8"/>
                </a:solidFill>
                <a:latin typeface="Calibri" pitchFamily="34" charset="0"/>
                <a:ea typeface="Calibri" pitchFamily="34" charset="-122"/>
                <a:cs typeface="Calibri" pitchFamily="34" charset="-120"/>
              </a:rPr>
              <a:t>Cite it or do not say it. Anything untraceable is flagged as inference or left out.</a:t>
            </a:r>
            <a:endParaRPr lang="en-US" sz="1050" dirty="0"/>
          </a:p>
        </p:txBody>
      </p:sp>
      <p:sp>
        <p:nvSpPr>
          <p:cNvPr id="12" name="Shape 10"/>
          <p:cNvSpPr/>
          <p:nvPr/>
        </p:nvSpPr>
        <p:spPr>
          <a:xfrm>
            <a:off x="658368" y="4754880"/>
            <a:ext cx="5303520" cy="1463040"/>
          </a:xfrm>
          <a:prstGeom prst="roundRect">
            <a:avLst>
              <a:gd name="adj" fmla="val 5000"/>
            </a:avLst>
          </a:prstGeom>
          <a:solidFill>
            <a:srgbClr val="20202A"/>
          </a:solidFill>
          <a:ln w="9525">
            <a:solidFill>
              <a:srgbClr val="30303C"/>
            </a:solidFill>
            <a:prstDash val="solid"/>
          </a:ln>
        </p:spPr>
      </p:sp>
      <p:sp>
        <p:nvSpPr>
          <p:cNvPr id="13" name="Text 11"/>
          <p:cNvSpPr txBox="1"/>
          <p:nvPr/>
        </p:nvSpPr>
        <p:spPr>
          <a:xfrm>
            <a:off x="932688" y="4937760"/>
            <a:ext cx="475488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Screens before it reframes</a:t>
            </a:r>
            <a:endParaRPr lang="en-US" sz="1350" dirty="0"/>
          </a:p>
        </p:txBody>
      </p:sp>
      <p:sp>
        <p:nvSpPr>
          <p:cNvPr id="14" name="Text 12"/>
          <p:cNvSpPr txBox="1"/>
          <p:nvPr/>
        </p:nvSpPr>
        <p:spPr>
          <a:xfrm>
            <a:off x="932688" y="5248656"/>
            <a:ext cx="4754880" cy="841248"/>
          </a:xfrm>
          <a:prstGeom prst="rect">
            <a:avLst/>
          </a:prstGeom>
          <a:noFill/>
          <a:ln/>
        </p:spPr>
        <p:txBody>
          <a:bodyPr wrap="square" lIns="0" tIns="0" rIns="0" bIns="0" rtlCol="0" anchor="ctr"/>
          <a:lstStyle/>
          <a:p>
            <a:pPr indent="0" marL="0">
              <a:lnSpc>
                <a:spcPts val="1450"/>
              </a:lnSpc>
              <a:buNone/>
            </a:pPr>
            <a:r>
              <a:rPr lang="en-US" sz="1050" dirty="0">
                <a:solidFill>
                  <a:srgbClr val="9C98A8"/>
                </a:solidFill>
                <a:latin typeface="Calibri" pitchFamily="34" charset="0"/>
                <a:ea typeface="Calibri" pitchFamily="34" charset="-122"/>
                <a:cs typeface="Calibri" pitchFamily="34" charset="-120"/>
              </a:rPr>
              <a:t>Attachment patterns amplify real signals; they do not manufacture them. The safety gate comes first, and it is enforced in code rather than trusted to good intentions.</a:t>
            </a:r>
            <a:endParaRPr lang="en-US" sz="1050" dirty="0"/>
          </a:p>
        </p:txBody>
      </p:sp>
      <p:sp>
        <p:nvSpPr>
          <p:cNvPr id="15" name="Shape 13"/>
          <p:cNvSpPr/>
          <p:nvPr/>
        </p:nvSpPr>
        <p:spPr>
          <a:xfrm>
            <a:off x="6281928" y="4754880"/>
            <a:ext cx="5303520" cy="1463040"/>
          </a:xfrm>
          <a:prstGeom prst="roundRect">
            <a:avLst>
              <a:gd name="adj" fmla="val 5000"/>
            </a:avLst>
          </a:prstGeom>
          <a:solidFill>
            <a:srgbClr val="20202A"/>
          </a:solidFill>
          <a:ln w="9525">
            <a:solidFill>
              <a:srgbClr val="30303C"/>
            </a:solidFill>
            <a:prstDash val="solid"/>
          </a:ln>
        </p:spPr>
      </p:sp>
      <p:sp>
        <p:nvSpPr>
          <p:cNvPr id="16" name="Text 14"/>
          <p:cNvSpPr txBox="1"/>
          <p:nvPr/>
        </p:nvSpPr>
        <p:spPr>
          <a:xfrm>
            <a:off x="6556248" y="4937760"/>
            <a:ext cx="475488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Never hands anyone a label</a:t>
            </a:r>
            <a:endParaRPr lang="en-US" sz="1350" dirty="0"/>
          </a:p>
        </p:txBody>
      </p:sp>
      <p:sp>
        <p:nvSpPr>
          <p:cNvPr id="17" name="Text 15"/>
          <p:cNvSpPr txBox="1"/>
          <p:nvPr/>
        </p:nvSpPr>
        <p:spPr>
          <a:xfrm>
            <a:off x="6556248" y="5248656"/>
            <a:ext cx="4754880" cy="841248"/>
          </a:xfrm>
          <a:prstGeom prst="rect">
            <a:avLst/>
          </a:prstGeom>
          <a:noFill/>
          <a:ln/>
        </p:spPr>
        <p:txBody>
          <a:bodyPr wrap="square" lIns="0" tIns="0" rIns="0" bIns="0" rtlCol="0" anchor="ctr"/>
          <a:lstStyle/>
          <a:p>
            <a:pPr indent="0" marL="0">
              <a:lnSpc>
                <a:spcPts val="1450"/>
              </a:lnSpc>
              <a:buNone/>
            </a:pPr>
            <a:r>
              <a:rPr lang="en-US" sz="1050" dirty="0">
                <a:solidFill>
                  <a:srgbClr val="9C98A8"/>
                </a:solidFill>
                <a:latin typeface="Calibri" pitchFamily="34" charset="0"/>
                <a:ea typeface="Calibri" pitchFamily="34" charset="-122"/>
                <a:cs typeface="Calibri" pitchFamily="34" charset="-120"/>
              </a:rPr>
              <a:t>No style is assigned, no partner is diagnosed, nothing is scored. Recognition, not classification.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807C8A"/>
                </a:solidFill>
                <a:latin typeface="Calibri" pitchFamily="34" charset="0"/>
                <a:ea typeface="Calibri" pitchFamily="34" charset="-122"/>
                <a:cs typeface="Calibri" pitchFamily="34" charset="-120"/>
              </a:rPr>
              <a:t>5</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7B4BD8"/>
                </a:solidFill>
                <a:latin typeface="Calibri" pitchFamily="34" charset="0"/>
                <a:ea typeface="Calibri" pitchFamily="34" charset="-122"/>
                <a:cs typeface="Calibri" pitchFamily="34" charset="-120"/>
              </a:rPr>
              <a:t>THE SIZE OF IT</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200" b="1" dirty="0">
                <a:solidFill>
                  <a:srgbClr val="22222A"/>
                </a:solidFill>
                <a:latin typeface="Cambria" pitchFamily="34" charset="0"/>
                <a:ea typeface="Cambria" pitchFamily="34" charset="-122"/>
                <a:cs typeface="Cambria" pitchFamily="34" charset="-120"/>
              </a:rPr>
              <a:t>What is in the graph</a:t>
            </a:r>
            <a:endParaRPr lang="en-US" sz="3200" dirty="0"/>
          </a:p>
        </p:txBody>
      </p:sp>
      <p:sp>
        <p:nvSpPr>
          <p:cNvPr id="5" name="Text 3"/>
          <p:cNvSpPr txBox="1"/>
          <p:nvPr/>
        </p:nvSpPr>
        <p:spPr>
          <a:xfrm>
            <a:off x="658368" y="1609344"/>
            <a:ext cx="9134966" cy="566928"/>
          </a:xfrm>
          <a:prstGeom prst="rect">
            <a:avLst/>
          </a:prstGeom>
          <a:noFill/>
          <a:ln/>
        </p:spPr>
        <p:txBody>
          <a:bodyPr wrap="square" lIns="0" tIns="0" rIns="0" bIns="0" rtlCol="0" anchor="ctr"/>
          <a:lstStyle/>
          <a:p>
            <a:pPr indent="0" marL="0">
              <a:lnSpc>
                <a:spcPts val="2100"/>
              </a:lnSpc>
              <a:buNone/>
            </a:pPr>
            <a:r>
              <a:rPr lang="en-US" sz="1450" dirty="0">
                <a:solidFill>
                  <a:srgbClr val="6A6875"/>
                </a:solidFill>
                <a:latin typeface="Calibri" pitchFamily="34" charset="0"/>
                <a:ea typeface="Calibri" pitchFamily="34" charset="-122"/>
                <a:cs typeface="Calibri" pitchFamily="34" charset="-120"/>
              </a:rPr>
              <a:t>Fifty-four videos, read once and taken apart into nodes that can be linked. Every number on this slide is read out of the graph when the deck is built, so none of it can quietly go stale.</a:t>
            </a:r>
            <a:endParaRPr lang="en-US" sz="1450" dirty="0"/>
          </a:p>
        </p:txBody>
      </p:sp>
      <p:sp>
        <p:nvSpPr>
          <p:cNvPr id="6" name="Text 4"/>
          <p:cNvSpPr txBox="1"/>
          <p:nvPr/>
        </p:nvSpPr>
        <p:spPr>
          <a:xfrm>
            <a:off x="658368" y="2286000"/>
            <a:ext cx="2103120" cy="566928"/>
          </a:xfrm>
          <a:prstGeom prst="rect">
            <a:avLst/>
          </a:prstGeom>
          <a:noFill/>
          <a:ln/>
        </p:spPr>
        <p:txBody>
          <a:bodyPr wrap="square" lIns="0" tIns="0" rIns="0" bIns="0" rtlCol="0" anchor="ctr"/>
          <a:lstStyle/>
          <a:p>
            <a:pPr indent="0" marL="0">
              <a:buNone/>
            </a:pPr>
            <a:r>
              <a:rPr lang="en-US" sz="3800" b="1" dirty="0">
                <a:solidFill>
                  <a:srgbClr val="7B4BD8"/>
                </a:solidFill>
                <a:latin typeface="Cambria" pitchFamily="34" charset="0"/>
                <a:ea typeface="Cambria" pitchFamily="34" charset="-122"/>
                <a:cs typeface="Cambria" pitchFamily="34" charset="-120"/>
              </a:rPr>
              <a:t>616</a:t>
            </a:r>
            <a:endParaRPr lang="en-US" sz="3800" dirty="0"/>
          </a:p>
        </p:txBody>
      </p:sp>
      <p:sp>
        <p:nvSpPr>
          <p:cNvPr id="7" name="Text 5"/>
          <p:cNvSpPr txBox="1"/>
          <p:nvPr/>
        </p:nvSpPr>
        <p:spPr>
          <a:xfrm>
            <a:off x="658368" y="2852928"/>
            <a:ext cx="2103120" cy="402336"/>
          </a:xfrm>
          <a:prstGeom prst="rect">
            <a:avLst/>
          </a:prstGeom>
          <a:noFill/>
          <a:ln/>
        </p:spPr>
        <p:txBody>
          <a:bodyPr wrap="square" lIns="0" tIns="0" rIns="0" bIns="0" rtlCol="0" anchor="ctr"/>
          <a:lstStyle/>
          <a:p>
            <a:pPr indent="0" marL="0">
              <a:lnSpc>
                <a:spcPts val="1300"/>
              </a:lnSpc>
              <a:buNone/>
            </a:pPr>
            <a:r>
              <a:rPr lang="en-US" sz="1050" dirty="0">
                <a:solidFill>
                  <a:srgbClr val="6A6875"/>
                </a:solidFill>
                <a:latin typeface="Calibri" pitchFamily="34" charset="0"/>
                <a:ea typeface="Calibri" pitchFamily="34" charset="-122"/>
                <a:cs typeface="Calibri" pitchFamily="34" charset="-120"/>
              </a:rPr>
              <a:t>nodes</a:t>
            </a:r>
            <a:endParaRPr lang="en-US" sz="1050" dirty="0"/>
          </a:p>
        </p:txBody>
      </p:sp>
      <p:sp>
        <p:nvSpPr>
          <p:cNvPr id="8" name="Text 6"/>
          <p:cNvSpPr txBox="1"/>
          <p:nvPr/>
        </p:nvSpPr>
        <p:spPr>
          <a:xfrm>
            <a:off x="2944368" y="2286000"/>
            <a:ext cx="2103120" cy="566928"/>
          </a:xfrm>
          <a:prstGeom prst="rect">
            <a:avLst/>
          </a:prstGeom>
          <a:noFill/>
          <a:ln/>
        </p:spPr>
        <p:txBody>
          <a:bodyPr wrap="square" lIns="0" tIns="0" rIns="0" bIns="0" rtlCol="0" anchor="ctr"/>
          <a:lstStyle/>
          <a:p>
            <a:pPr indent="0" marL="0">
              <a:buNone/>
            </a:pPr>
            <a:r>
              <a:rPr lang="en-US" sz="3800" b="1" dirty="0">
                <a:solidFill>
                  <a:srgbClr val="7B4BD8"/>
                </a:solidFill>
                <a:latin typeface="Cambria" pitchFamily="34" charset="0"/>
                <a:ea typeface="Cambria" pitchFamily="34" charset="-122"/>
                <a:cs typeface="Cambria" pitchFamily="34" charset="-120"/>
              </a:rPr>
              <a:t>2411</a:t>
            </a:r>
            <a:endParaRPr lang="en-US" sz="3800" dirty="0"/>
          </a:p>
        </p:txBody>
      </p:sp>
      <p:sp>
        <p:nvSpPr>
          <p:cNvPr id="9" name="Text 7"/>
          <p:cNvSpPr txBox="1"/>
          <p:nvPr/>
        </p:nvSpPr>
        <p:spPr>
          <a:xfrm>
            <a:off x="2944368" y="2852928"/>
            <a:ext cx="2103120" cy="402336"/>
          </a:xfrm>
          <a:prstGeom prst="rect">
            <a:avLst/>
          </a:prstGeom>
          <a:noFill/>
          <a:ln/>
        </p:spPr>
        <p:txBody>
          <a:bodyPr wrap="square" lIns="0" tIns="0" rIns="0" bIns="0" rtlCol="0" anchor="ctr"/>
          <a:lstStyle/>
          <a:p>
            <a:pPr indent="0" marL="0">
              <a:lnSpc>
                <a:spcPts val="1300"/>
              </a:lnSpc>
              <a:buNone/>
            </a:pPr>
            <a:r>
              <a:rPr lang="en-US" sz="1050" dirty="0">
                <a:solidFill>
                  <a:srgbClr val="6A6875"/>
                </a:solidFill>
                <a:latin typeface="Calibri" pitchFamily="34" charset="0"/>
                <a:ea typeface="Calibri" pitchFamily="34" charset="-122"/>
                <a:cs typeface="Calibri" pitchFamily="34" charset="-120"/>
              </a:rPr>
              <a:t>typed links</a:t>
            </a:r>
            <a:endParaRPr lang="en-US" sz="1050" dirty="0"/>
          </a:p>
        </p:txBody>
      </p:sp>
      <p:sp>
        <p:nvSpPr>
          <p:cNvPr id="10" name="Text 8"/>
          <p:cNvSpPr txBox="1"/>
          <p:nvPr/>
        </p:nvSpPr>
        <p:spPr>
          <a:xfrm>
            <a:off x="5230368" y="2286000"/>
            <a:ext cx="2103120" cy="566928"/>
          </a:xfrm>
          <a:prstGeom prst="rect">
            <a:avLst/>
          </a:prstGeom>
          <a:noFill/>
          <a:ln/>
        </p:spPr>
        <p:txBody>
          <a:bodyPr wrap="square" lIns="0" tIns="0" rIns="0" bIns="0" rtlCol="0" anchor="ctr"/>
          <a:lstStyle/>
          <a:p>
            <a:pPr indent="0" marL="0">
              <a:buNone/>
            </a:pPr>
            <a:r>
              <a:rPr lang="en-US" sz="3800" b="1" dirty="0">
                <a:solidFill>
                  <a:srgbClr val="7B4BD8"/>
                </a:solidFill>
                <a:latin typeface="Cambria" pitchFamily="34" charset="0"/>
                <a:ea typeface="Cambria" pitchFamily="34" charset="-122"/>
                <a:cs typeface="Cambria" pitchFamily="34" charset="-120"/>
              </a:rPr>
              <a:t>54</a:t>
            </a:r>
            <a:endParaRPr lang="en-US" sz="3800" dirty="0"/>
          </a:p>
        </p:txBody>
      </p:sp>
      <p:sp>
        <p:nvSpPr>
          <p:cNvPr id="11" name="Text 9"/>
          <p:cNvSpPr txBox="1"/>
          <p:nvPr/>
        </p:nvSpPr>
        <p:spPr>
          <a:xfrm>
            <a:off x="5230368" y="2852928"/>
            <a:ext cx="2103120" cy="402336"/>
          </a:xfrm>
          <a:prstGeom prst="rect">
            <a:avLst/>
          </a:prstGeom>
          <a:noFill/>
          <a:ln/>
        </p:spPr>
        <p:txBody>
          <a:bodyPr wrap="square" lIns="0" tIns="0" rIns="0" bIns="0" rtlCol="0" anchor="ctr"/>
          <a:lstStyle/>
          <a:p>
            <a:pPr indent="0" marL="0">
              <a:lnSpc>
                <a:spcPts val="1300"/>
              </a:lnSpc>
              <a:buNone/>
            </a:pPr>
            <a:r>
              <a:rPr lang="en-US" sz="1050" dirty="0">
                <a:solidFill>
                  <a:srgbClr val="6A6875"/>
                </a:solidFill>
                <a:latin typeface="Calibri" pitchFamily="34" charset="0"/>
                <a:ea typeface="Calibri" pitchFamily="34" charset="-122"/>
                <a:cs typeface="Calibri" pitchFamily="34" charset="-120"/>
              </a:rPr>
              <a:t>videos read</a:t>
            </a:r>
            <a:endParaRPr lang="en-US" sz="1050" dirty="0"/>
          </a:p>
        </p:txBody>
      </p:sp>
      <p:sp>
        <p:nvSpPr>
          <p:cNvPr id="12" name="Text 10"/>
          <p:cNvSpPr txBox="1"/>
          <p:nvPr/>
        </p:nvSpPr>
        <p:spPr>
          <a:xfrm>
            <a:off x="7516368" y="2286000"/>
            <a:ext cx="2103120" cy="566928"/>
          </a:xfrm>
          <a:prstGeom prst="rect">
            <a:avLst/>
          </a:prstGeom>
          <a:noFill/>
          <a:ln/>
        </p:spPr>
        <p:txBody>
          <a:bodyPr wrap="square" lIns="0" tIns="0" rIns="0" bIns="0" rtlCol="0" anchor="ctr"/>
          <a:lstStyle/>
          <a:p>
            <a:pPr indent="0" marL="0">
              <a:buNone/>
            </a:pPr>
            <a:r>
              <a:rPr lang="en-US" sz="3800" b="1" dirty="0">
                <a:solidFill>
                  <a:srgbClr val="7B4BD8"/>
                </a:solidFill>
                <a:latin typeface="Cambria" pitchFamily="34" charset="0"/>
                <a:ea typeface="Cambria" pitchFamily="34" charset="-122"/>
                <a:cs typeface="Cambria" pitchFamily="34" charset="-120"/>
              </a:rPr>
              <a:t>16</a:t>
            </a:r>
            <a:endParaRPr lang="en-US" sz="3800" dirty="0"/>
          </a:p>
        </p:txBody>
      </p:sp>
      <p:sp>
        <p:nvSpPr>
          <p:cNvPr id="13" name="Text 11"/>
          <p:cNvSpPr txBox="1"/>
          <p:nvPr/>
        </p:nvSpPr>
        <p:spPr>
          <a:xfrm>
            <a:off x="7516368" y="2852928"/>
            <a:ext cx="2103120" cy="402336"/>
          </a:xfrm>
          <a:prstGeom prst="rect">
            <a:avLst/>
          </a:prstGeom>
          <a:noFill/>
          <a:ln/>
        </p:spPr>
        <p:txBody>
          <a:bodyPr wrap="square" lIns="0" tIns="0" rIns="0" bIns="0" rtlCol="0" anchor="ctr"/>
          <a:lstStyle/>
          <a:p>
            <a:pPr indent="0" marL="0">
              <a:lnSpc>
                <a:spcPts val="1300"/>
              </a:lnSpc>
              <a:buNone/>
            </a:pPr>
            <a:r>
              <a:rPr lang="en-US" sz="1050" dirty="0">
                <a:solidFill>
                  <a:srgbClr val="6A6875"/>
                </a:solidFill>
                <a:latin typeface="Calibri" pitchFamily="34" charset="0"/>
                <a:ea typeface="Calibri" pitchFamily="34" charset="-122"/>
                <a:cs typeface="Calibri" pitchFamily="34" charset="-120"/>
              </a:rPr>
              <a:t>predicates</a:t>
            </a:r>
            <a:endParaRPr lang="en-US" sz="1050" dirty="0"/>
          </a:p>
        </p:txBody>
      </p:sp>
      <p:sp>
        <p:nvSpPr>
          <p:cNvPr id="14" name="Text 12"/>
          <p:cNvSpPr txBox="1"/>
          <p:nvPr/>
        </p:nvSpPr>
        <p:spPr>
          <a:xfrm>
            <a:off x="9802368" y="2286000"/>
            <a:ext cx="2103120" cy="566928"/>
          </a:xfrm>
          <a:prstGeom prst="rect">
            <a:avLst/>
          </a:prstGeom>
          <a:noFill/>
          <a:ln/>
        </p:spPr>
        <p:txBody>
          <a:bodyPr wrap="square" lIns="0" tIns="0" rIns="0" bIns="0" rtlCol="0" anchor="ctr"/>
          <a:lstStyle/>
          <a:p>
            <a:pPr indent="0" marL="0">
              <a:buNone/>
            </a:pPr>
            <a:r>
              <a:rPr lang="en-US" sz="3800" b="1" dirty="0">
                <a:solidFill>
                  <a:srgbClr val="7B4BD8"/>
                </a:solidFill>
                <a:latin typeface="Cambria" pitchFamily="34" charset="0"/>
                <a:ea typeface="Cambria" pitchFamily="34" charset="-122"/>
                <a:cs typeface="Cambria" pitchFamily="34" charset="-120"/>
              </a:rPr>
              <a:t>5</a:t>
            </a:r>
            <a:endParaRPr lang="en-US" sz="3800" dirty="0"/>
          </a:p>
        </p:txBody>
      </p:sp>
      <p:sp>
        <p:nvSpPr>
          <p:cNvPr id="15" name="Text 13"/>
          <p:cNvSpPr txBox="1"/>
          <p:nvPr/>
        </p:nvSpPr>
        <p:spPr>
          <a:xfrm>
            <a:off x="9802368" y="2852928"/>
            <a:ext cx="2103120" cy="402336"/>
          </a:xfrm>
          <a:prstGeom prst="rect">
            <a:avLst/>
          </a:prstGeom>
          <a:noFill/>
          <a:ln/>
        </p:spPr>
        <p:txBody>
          <a:bodyPr wrap="square" lIns="0" tIns="0" rIns="0" bIns="0" rtlCol="0" anchor="ctr"/>
          <a:lstStyle/>
          <a:p>
            <a:pPr indent="0" marL="0">
              <a:lnSpc>
                <a:spcPts val="1300"/>
              </a:lnSpc>
              <a:buNone/>
            </a:pPr>
            <a:r>
              <a:rPr lang="en-US" sz="1050" dirty="0">
                <a:solidFill>
                  <a:srgbClr val="6A6875"/>
                </a:solidFill>
                <a:latin typeface="Calibri" pitchFamily="34" charset="0"/>
                <a:ea typeface="Calibri" pitchFamily="34" charset="-122"/>
                <a:cs typeface="Calibri" pitchFamily="34" charset="-120"/>
              </a:rPr>
              <a:t>loops found</a:t>
            </a:r>
            <a:endParaRPr lang="en-US" sz="1050" dirty="0"/>
          </a:p>
        </p:txBody>
      </p:sp>
      <p:sp>
        <p:nvSpPr>
          <p:cNvPr id="16" name="Text 14"/>
          <p:cNvSpPr txBox="1"/>
          <p:nvPr/>
        </p:nvSpPr>
        <p:spPr>
          <a:xfrm>
            <a:off x="658368" y="3703320"/>
            <a:ext cx="10874959" cy="274320"/>
          </a:xfrm>
          <a:prstGeom prst="rect">
            <a:avLst/>
          </a:prstGeom>
          <a:noFill/>
          <a:ln/>
        </p:spPr>
        <p:txBody>
          <a:bodyPr wrap="square" lIns="0" tIns="0" rIns="0" bIns="0" rtlCol="0" anchor="ctr"/>
          <a:lstStyle/>
          <a:p>
            <a:pPr indent="0" marL="0">
              <a:buNone/>
            </a:pPr>
            <a:r>
              <a:rPr lang="en-US" sz="1250" b="1" dirty="0">
                <a:solidFill>
                  <a:srgbClr val="22222A"/>
                </a:solidFill>
                <a:latin typeface="Calibri" pitchFamily="34" charset="0"/>
                <a:ea typeface="Calibri" pitchFamily="34" charset="-122"/>
                <a:cs typeface="Calibri" pitchFamily="34" charset="-120"/>
              </a:rPr>
              <a:t>By kind</a:t>
            </a:r>
            <a:endParaRPr lang="en-US" sz="1250" dirty="0"/>
          </a:p>
        </p:txBody>
      </p:sp>
      <p:sp>
        <p:nvSpPr>
          <p:cNvPr id="17" name="Shape 15"/>
          <p:cNvSpPr/>
          <p:nvPr/>
        </p:nvSpPr>
        <p:spPr>
          <a:xfrm>
            <a:off x="658368" y="4142232"/>
            <a:ext cx="182880" cy="182880"/>
          </a:xfrm>
          <a:prstGeom prst="ellipse">
            <a:avLst/>
          </a:prstGeom>
          <a:solidFill>
            <a:srgbClr val="F2643E"/>
          </a:solidFill>
          <a:ln w="12700">
            <a:solidFill>
              <a:srgbClr val="333333"/>
            </a:solidFill>
            <a:prstDash val="solid"/>
          </a:ln>
        </p:spPr>
      </p:sp>
      <p:sp>
        <p:nvSpPr>
          <p:cNvPr id="18" name="Text 16"/>
          <p:cNvSpPr txBox="1"/>
          <p:nvPr/>
        </p:nvSpPr>
        <p:spPr>
          <a:xfrm>
            <a:off x="932688" y="4069080"/>
            <a:ext cx="731520" cy="310896"/>
          </a:xfrm>
          <a:prstGeom prst="rect">
            <a:avLst/>
          </a:prstGeom>
          <a:noFill/>
          <a:ln/>
        </p:spPr>
        <p:txBody>
          <a:bodyPr wrap="square" lIns="0" tIns="0" rIns="0" bIns="0" rtlCol="0" anchor="ctr"/>
          <a:lstStyle/>
          <a:p>
            <a:pPr indent="0" marL="0">
              <a:buNone/>
            </a:pPr>
            <a:r>
              <a:rPr lang="en-US" sz="1600" b="1" dirty="0">
                <a:solidFill>
                  <a:srgbClr val="22222A"/>
                </a:solidFill>
                <a:latin typeface="Cambria" pitchFamily="34" charset="0"/>
                <a:ea typeface="Cambria" pitchFamily="34" charset="-122"/>
                <a:cs typeface="Cambria" pitchFamily="34" charset="-120"/>
              </a:rPr>
              <a:t>4</a:t>
            </a:r>
            <a:endParaRPr lang="en-US" sz="1600" dirty="0"/>
          </a:p>
        </p:txBody>
      </p:sp>
      <p:sp>
        <p:nvSpPr>
          <p:cNvPr id="19" name="Text 17"/>
          <p:cNvSpPr txBox="1"/>
          <p:nvPr/>
        </p:nvSpPr>
        <p:spPr>
          <a:xfrm>
            <a:off x="1664208" y="4114800"/>
            <a:ext cx="1645920" cy="274320"/>
          </a:xfrm>
          <a:prstGeom prst="rect">
            <a:avLst/>
          </a:prstGeom>
          <a:noFill/>
          <a:ln/>
        </p:spPr>
        <p:txBody>
          <a:bodyPr wrap="square" lIns="0" tIns="0" rIns="0" bIns="0" rtlCol="0" anchor="ctr"/>
          <a:lstStyle/>
          <a:p>
            <a:pPr indent="0" marL="0">
              <a:buNone/>
            </a:pPr>
            <a:r>
              <a:rPr lang="en-US" sz="1150" dirty="0">
                <a:solidFill>
                  <a:srgbClr val="6A6875"/>
                </a:solidFill>
                <a:latin typeface="Calibri" pitchFamily="34" charset="0"/>
                <a:ea typeface="Calibri" pitchFamily="34" charset="-122"/>
                <a:cs typeface="Calibri" pitchFamily="34" charset="-120"/>
              </a:rPr>
              <a:t>triggers</a:t>
            </a:r>
            <a:endParaRPr lang="en-US" sz="1150" dirty="0"/>
          </a:p>
        </p:txBody>
      </p:sp>
      <p:sp>
        <p:nvSpPr>
          <p:cNvPr id="20" name="Shape 18"/>
          <p:cNvSpPr/>
          <p:nvPr/>
        </p:nvSpPr>
        <p:spPr>
          <a:xfrm>
            <a:off x="3447288" y="4142232"/>
            <a:ext cx="182880" cy="182880"/>
          </a:xfrm>
          <a:prstGeom prst="ellipse">
            <a:avLst/>
          </a:prstGeom>
          <a:solidFill>
            <a:srgbClr val="EDA72C"/>
          </a:solidFill>
          <a:ln w="12700">
            <a:solidFill>
              <a:srgbClr val="333333"/>
            </a:solidFill>
            <a:prstDash val="solid"/>
          </a:ln>
        </p:spPr>
      </p:sp>
      <p:sp>
        <p:nvSpPr>
          <p:cNvPr id="21" name="Text 19"/>
          <p:cNvSpPr txBox="1"/>
          <p:nvPr/>
        </p:nvSpPr>
        <p:spPr>
          <a:xfrm>
            <a:off x="3721608" y="4069080"/>
            <a:ext cx="731520" cy="310896"/>
          </a:xfrm>
          <a:prstGeom prst="rect">
            <a:avLst/>
          </a:prstGeom>
          <a:noFill/>
          <a:ln/>
        </p:spPr>
        <p:txBody>
          <a:bodyPr wrap="square" lIns="0" tIns="0" rIns="0" bIns="0" rtlCol="0" anchor="ctr"/>
          <a:lstStyle/>
          <a:p>
            <a:pPr indent="0" marL="0">
              <a:buNone/>
            </a:pPr>
            <a:r>
              <a:rPr lang="en-US" sz="1600" b="1" dirty="0">
                <a:solidFill>
                  <a:srgbClr val="22222A"/>
                </a:solidFill>
                <a:latin typeface="Cambria" pitchFamily="34" charset="0"/>
                <a:ea typeface="Cambria" pitchFamily="34" charset="-122"/>
                <a:cs typeface="Cambria" pitchFamily="34" charset="-120"/>
              </a:rPr>
              <a:t>29</a:t>
            </a:r>
            <a:endParaRPr lang="en-US" sz="1600" dirty="0"/>
          </a:p>
        </p:txBody>
      </p:sp>
      <p:sp>
        <p:nvSpPr>
          <p:cNvPr id="22" name="Text 20"/>
          <p:cNvSpPr txBox="1"/>
          <p:nvPr/>
        </p:nvSpPr>
        <p:spPr>
          <a:xfrm>
            <a:off x="4453128" y="4114800"/>
            <a:ext cx="1645920" cy="274320"/>
          </a:xfrm>
          <a:prstGeom prst="rect">
            <a:avLst/>
          </a:prstGeom>
          <a:noFill/>
          <a:ln/>
        </p:spPr>
        <p:txBody>
          <a:bodyPr wrap="square" lIns="0" tIns="0" rIns="0" bIns="0" rtlCol="0" anchor="ctr"/>
          <a:lstStyle/>
          <a:p>
            <a:pPr indent="0" marL="0">
              <a:buNone/>
            </a:pPr>
            <a:r>
              <a:rPr lang="en-US" sz="1150" dirty="0">
                <a:solidFill>
                  <a:srgbClr val="6A6875"/>
                </a:solidFill>
                <a:latin typeface="Calibri" pitchFamily="34" charset="0"/>
                <a:ea typeface="Calibri" pitchFamily="34" charset="-122"/>
                <a:cs typeface="Calibri" pitchFamily="34" charset="-120"/>
              </a:rPr>
              <a:t>states</a:t>
            </a:r>
            <a:endParaRPr lang="en-US" sz="1150" dirty="0"/>
          </a:p>
        </p:txBody>
      </p:sp>
      <p:sp>
        <p:nvSpPr>
          <p:cNvPr id="23" name="Shape 21"/>
          <p:cNvSpPr/>
          <p:nvPr/>
        </p:nvSpPr>
        <p:spPr>
          <a:xfrm>
            <a:off x="6236208" y="4142232"/>
            <a:ext cx="182880" cy="182880"/>
          </a:xfrm>
          <a:prstGeom prst="ellipse">
            <a:avLst/>
          </a:prstGeom>
          <a:solidFill>
            <a:srgbClr val="E04F86"/>
          </a:solidFill>
          <a:ln w="12700">
            <a:solidFill>
              <a:srgbClr val="333333"/>
            </a:solidFill>
            <a:prstDash val="solid"/>
          </a:ln>
        </p:spPr>
      </p:sp>
      <p:sp>
        <p:nvSpPr>
          <p:cNvPr id="24" name="Text 22"/>
          <p:cNvSpPr txBox="1"/>
          <p:nvPr/>
        </p:nvSpPr>
        <p:spPr>
          <a:xfrm>
            <a:off x="6510528" y="4069080"/>
            <a:ext cx="731520" cy="310896"/>
          </a:xfrm>
          <a:prstGeom prst="rect">
            <a:avLst/>
          </a:prstGeom>
          <a:noFill/>
          <a:ln/>
        </p:spPr>
        <p:txBody>
          <a:bodyPr wrap="square" lIns="0" tIns="0" rIns="0" bIns="0" rtlCol="0" anchor="ctr"/>
          <a:lstStyle/>
          <a:p>
            <a:pPr indent="0" marL="0">
              <a:buNone/>
            </a:pPr>
            <a:r>
              <a:rPr lang="en-US" sz="1600" b="1" dirty="0">
                <a:solidFill>
                  <a:srgbClr val="22222A"/>
                </a:solidFill>
                <a:latin typeface="Cambria" pitchFamily="34" charset="0"/>
                <a:ea typeface="Cambria" pitchFamily="34" charset="-122"/>
                <a:cs typeface="Cambria" pitchFamily="34" charset="-120"/>
              </a:rPr>
              <a:t>23</a:t>
            </a:r>
            <a:endParaRPr lang="en-US" sz="1600" dirty="0"/>
          </a:p>
        </p:txBody>
      </p:sp>
      <p:sp>
        <p:nvSpPr>
          <p:cNvPr id="25" name="Text 23"/>
          <p:cNvSpPr txBox="1"/>
          <p:nvPr/>
        </p:nvSpPr>
        <p:spPr>
          <a:xfrm>
            <a:off x="7242048" y="4114800"/>
            <a:ext cx="1645920" cy="274320"/>
          </a:xfrm>
          <a:prstGeom prst="rect">
            <a:avLst/>
          </a:prstGeom>
          <a:noFill/>
          <a:ln/>
        </p:spPr>
        <p:txBody>
          <a:bodyPr wrap="square" lIns="0" tIns="0" rIns="0" bIns="0" rtlCol="0" anchor="ctr"/>
          <a:lstStyle/>
          <a:p>
            <a:pPr indent="0" marL="0">
              <a:buNone/>
            </a:pPr>
            <a:r>
              <a:rPr lang="en-US" sz="1150" dirty="0">
                <a:solidFill>
                  <a:srgbClr val="6A6875"/>
                </a:solidFill>
                <a:latin typeface="Calibri" pitchFamily="34" charset="0"/>
                <a:ea typeface="Calibri" pitchFamily="34" charset="-122"/>
                <a:cs typeface="Calibri" pitchFamily="34" charset="-120"/>
              </a:rPr>
              <a:t>strategies</a:t>
            </a:r>
            <a:endParaRPr lang="en-US" sz="1150" dirty="0"/>
          </a:p>
        </p:txBody>
      </p:sp>
      <p:sp>
        <p:nvSpPr>
          <p:cNvPr id="26" name="Shape 24"/>
          <p:cNvSpPr/>
          <p:nvPr/>
        </p:nvSpPr>
        <p:spPr>
          <a:xfrm>
            <a:off x="9025128" y="4142232"/>
            <a:ext cx="182880" cy="182880"/>
          </a:xfrm>
          <a:prstGeom prst="ellipse">
            <a:avLst/>
          </a:prstGeom>
          <a:solidFill>
            <a:srgbClr val="C56AD9"/>
          </a:solidFill>
          <a:ln w="12700">
            <a:solidFill>
              <a:srgbClr val="333333"/>
            </a:solidFill>
            <a:prstDash val="solid"/>
          </a:ln>
        </p:spPr>
      </p:sp>
      <p:sp>
        <p:nvSpPr>
          <p:cNvPr id="27" name="Text 25"/>
          <p:cNvSpPr txBox="1"/>
          <p:nvPr/>
        </p:nvSpPr>
        <p:spPr>
          <a:xfrm>
            <a:off x="9299448" y="4069080"/>
            <a:ext cx="731520" cy="310896"/>
          </a:xfrm>
          <a:prstGeom prst="rect">
            <a:avLst/>
          </a:prstGeom>
          <a:noFill/>
          <a:ln/>
        </p:spPr>
        <p:txBody>
          <a:bodyPr wrap="square" lIns="0" tIns="0" rIns="0" bIns="0" rtlCol="0" anchor="ctr"/>
          <a:lstStyle/>
          <a:p>
            <a:pPr indent="0" marL="0">
              <a:buNone/>
            </a:pPr>
            <a:r>
              <a:rPr lang="en-US" sz="1600" b="1" dirty="0">
                <a:solidFill>
                  <a:srgbClr val="22222A"/>
                </a:solidFill>
                <a:latin typeface="Cambria" pitchFamily="34" charset="0"/>
                <a:ea typeface="Cambria" pitchFamily="34" charset="-122"/>
                <a:cs typeface="Cambria" pitchFamily="34" charset="-120"/>
              </a:rPr>
              <a:t>54</a:t>
            </a:r>
            <a:endParaRPr lang="en-US" sz="1600" dirty="0"/>
          </a:p>
        </p:txBody>
      </p:sp>
      <p:sp>
        <p:nvSpPr>
          <p:cNvPr id="28" name="Text 26"/>
          <p:cNvSpPr txBox="1"/>
          <p:nvPr/>
        </p:nvSpPr>
        <p:spPr>
          <a:xfrm>
            <a:off x="10030968" y="4114800"/>
            <a:ext cx="1645920" cy="274320"/>
          </a:xfrm>
          <a:prstGeom prst="rect">
            <a:avLst/>
          </a:prstGeom>
          <a:noFill/>
          <a:ln/>
        </p:spPr>
        <p:txBody>
          <a:bodyPr wrap="square" lIns="0" tIns="0" rIns="0" bIns="0" rtlCol="0" anchor="ctr"/>
          <a:lstStyle/>
          <a:p>
            <a:pPr indent="0" marL="0">
              <a:buNone/>
            </a:pPr>
            <a:r>
              <a:rPr lang="en-US" sz="1150" dirty="0">
                <a:solidFill>
                  <a:srgbClr val="6A6875"/>
                </a:solidFill>
                <a:latin typeface="Calibri" pitchFamily="34" charset="0"/>
                <a:ea typeface="Calibri" pitchFamily="34" charset="-122"/>
                <a:cs typeface="Calibri" pitchFamily="34" charset="-120"/>
              </a:rPr>
              <a:t>behaviours</a:t>
            </a:r>
            <a:endParaRPr lang="en-US" sz="1150" dirty="0"/>
          </a:p>
        </p:txBody>
      </p:sp>
      <p:sp>
        <p:nvSpPr>
          <p:cNvPr id="29" name="Shape 27"/>
          <p:cNvSpPr/>
          <p:nvPr/>
        </p:nvSpPr>
        <p:spPr>
          <a:xfrm>
            <a:off x="658368" y="4709160"/>
            <a:ext cx="182880" cy="182880"/>
          </a:xfrm>
          <a:prstGeom prst="ellipse">
            <a:avLst/>
          </a:prstGeom>
          <a:solidFill>
            <a:srgbClr val="5B83E8"/>
          </a:solidFill>
          <a:ln w="12700">
            <a:solidFill>
              <a:srgbClr val="333333"/>
            </a:solidFill>
            <a:prstDash val="solid"/>
          </a:ln>
        </p:spPr>
      </p:sp>
      <p:sp>
        <p:nvSpPr>
          <p:cNvPr id="30" name="Text 28"/>
          <p:cNvSpPr txBox="1"/>
          <p:nvPr/>
        </p:nvSpPr>
        <p:spPr>
          <a:xfrm>
            <a:off x="932688" y="4636008"/>
            <a:ext cx="731520" cy="310896"/>
          </a:xfrm>
          <a:prstGeom prst="rect">
            <a:avLst/>
          </a:prstGeom>
          <a:noFill/>
          <a:ln/>
        </p:spPr>
        <p:txBody>
          <a:bodyPr wrap="square" lIns="0" tIns="0" rIns="0" bIns="0" rtlCol="0" anchor="ctr"/>
          <a:lstStyle/>
          <a:p>
            <a:pPr indent="0" marL="0">
              <a:buNone/>
            </a:pPr>
            <a:r>
              <a:rPr lang="en-US" sz="1600" b="1" dirty="0">
                <a:solidFill>
                  <a:srgbClr val="22222A"/>
                </a:solidFill>
                <a:latin typeface="Cambria" pitchFamily="34" charset="0"/>
                <a:ea typeface="Cambria" pitchFamily="34" charset="-122"/>
                <a:cs typeface="Cambria" pitchFamily="34" charset="-120"/>
              </a:rPr>
              <a:t>61</a:t>
            </a:r>
            <a:endParaRPr lang="en-US" sz="1600" dirty="0"/>
          </a:p>
        </p:txBody>
      </p:sp>
      <p:sp>
        <p:nvSpPr>
          <p:cNvPr id="31" name="Text 29"/>
          <p:cNvSpPr txBox="1"/>
          <p:nvPr/>
        </p:nvSpPr>
        <p:spPr>
          <a:xfrm>
            <a:off x="1664208" y="4681728"/>
            <a:ext cx="1645920" cy="274320"/>
          </a:xfrm>
          <a:prstGeom prst="rect">
            <a:avLst/>
          </a:prstGeom>
          <a:noFill/>
          <a:ln/>
        </p:spPr>
        <p:txBody>
          <a:bodyPr wrap="square" lIns="0" tIns="0" rIns="0" bIns="0" rtlCol="0" anchor="ctr"/>
          <a:lstStyle/>
          <a:p>
            <a:pPr indent="0" marL="0">
              <a:buNone/>
            </a:pPr>
            <a:r>
              <a:rPr lang="en-US" sz="1150" dirty="0">
                <a:solidFill>
                  <a:srgbClr val="6A6875"/>
                </a:solidFill>
                <a:latin typeface="Calibri" pitchFamily="34" charset="0"/>
                <a:ea typeface="Calibri" pitchFamily="34" charset="-122"/>
                <a:cs typeface="Calibri" pitchFamily="34" charset="-120"/>
              </a:rPr>
              <a:t>beliefs</a:t>
            </a:r>
            <a:endParaRPr lang="en-US" sz="1150" dirty="0"/>
          </a:p>
        </p:txBody>
      </p:sp>
      <p:sp>
        <p:nvSpPr>
          <p:cNvPr id="32" name="Shape 30"/>
          <p:cNvSpPr/>
          <p:nvPr/>
        </p:nvSpPr>
        <p:spPr>
          <a:xfrm>
            <a:off x="3447288" y="4709160"/>
            <a:ext cx="182880" cy="182880"/>
          </a:xfrm>
          <a:prstGeom prst="ellipse">
            <a:avLst/>
          </a:prstGeom>
          <a:solidFill>
            <a:srgbClr val="3C5FA8"/>
          </a:solidFill>
          <a:ln w="12700">
            <a:solidFill>
              <a:srgbClr val="333333"/>
            </a:solidFill>
            <a:prstDash val="solid"/>
          </a:ln>
        </p:spPr>
      </p:sp>
      <p:sp>
        <p:nvSpPr>
          <p:cNvPr id="33" name="Text 31"/>
          <p:cNvSpPr txBox="1"/>
          <p:nvPr/>
        </p:nvSpPr>
        <p:spPr>
          <a:xfrm>
            <a:off x="3721608" y="4636008"/>
            <a:ext cx="731520" cy="310896"/>
          </a:xfrm>
          <a:prstGeom prst="rect">
            <a:avLst/>
          </a:prstGeom>
          <a:noFill/>
          <a:ln/>
        </p:spPr>
        <p:txBody>
          <a:bodyPr wrap="square" lIns="0" tIns="0" rIns="0" bIns="0" rtlCol="0" anchor="ctr"/>
          <a:lstStyle/>
          <a:p>
            <a:pPr indent="0" marL="0">
              <a:buNone/>
            </a:pPr>
            <a:r>
              <a:rPr lang="en-US" sz="1600" b="1" dirty="0">
                <a:solidFill>
                  <a:srgbClr val="22222A"/>
                </a:solidFill>
                <a:latin typeface="Cambria" pitchFamily="34" charset="0"/>
                <a:ea typeface="Cambria" pitchFamily="34" charset="-122"/>
                <a:cs typeface="Cambria" pitchFamily="34" charset="-120"/>
              </a:rPr>
              <a:t>13</a:t>
            </a:r>
            <a:endParaRPr lang="en-US" sz="1600" dirty="0"/>
          </a:p>
        </p:txBody>
      </p:sp>
      <p:sp>
        <p:nvSpPr>
          <p:cNvPr id="34" name="Text 32"/>
          <p:cNvSpPr txBox="1"/>
          <p:nvPr/>
        </p:nvSpPr>
        <p:spPr>
          <a:xfrm>
            <a:off x="4453128" y="4681728"/>
            <a:ext cx="1645920" cy="274320"/>
          </a:xfrm>
          <a:prstGeom prst="rect">
            <a:avLst/>
          </a:prstGeom>
          <a:noFill/>
          <a:ln/>
        </p:spPr>
        <p:txBody>
          <a:bodyPr wrap="square" lIns="0" tIns="0" rIns="0" bIns="0" rtlCol="0" anchor="ctr"/>
          <a:lstStyle/>
          <a:p>
            <a:pPr indent="0" marL="0">
              <a:buNone/>
            </a:pPr>
            <a:r>
              <a:rPr lang="en-US" sz="1150" dirty="0">
                <a:solidFill>
                  <a:srgbClr val="6A6875"/>
                </a:solidFill>
                <a:latin typeface="Calibri" pitchFamily="34" charset="0"/>
                <a:ea typeface="Calibri" pitchFamily="34" charset="-122"/>
                <a:cs typeface="Calibri" pitchFamily="34" charset="-120"/>
              </a:rPr>
              <a:t>origins</a:t>
            </a:r>
            <a:endParaRPr lang="en-US" sz="1150" dirty="0"/>
          </a:p>
        </p:txBody>
      </p:sp>
      <p:sp>
        <p:nvSpPr>
          <p:cNvPr id="35" name="Shape 33"/>
          <p:cNvSpPr/>
          <p:nvPr/>
        </p:nvSpPr>
        <p:spPr>
          <a:xfrm>
            <a:off x="6236208" y="4709160"/>
            <a:ext cx="182880" cy="182880"/>
          </a:xfrm>
          <a:prstGeom prst="ellipse">
            <a:avLst/>
          </a:prstGeom>
          <a:solidFill>
            <a:srgbClr val="5BB84F"/>
          </a:solidFill>
          <a:ln w="12700">
            <a:solidFill>
              <a:srgbClr val="333333"/>
            </a:solidFill>
            <a:prstDash val="solid"/>
          </a:ln>
        </p:spPr>
      </p:sp>
      <p:sp>
        <p:nvSpPr>
          <p:cNvPr id="36" name="Text 34"/>
          <p:cNvSpPr txBox="1"/>
          <p:nvPr/>
        </p:nvSpPr>
        <p:spPr>
          <a:xfrm>
            <a:off x="6510528" y="4636008"/>
            <a:ext cx="731520" cy="310896"/>
          </a:xfrm>
          <a:prstGeom prst="rect">
            <a:avLst/>
          </a:prstGeom>
          <a:noFill/>
          <a:ln/>
        </p:spPr>
        <p:txBody>
          <a:bodyPr wrap="square" lIns="0" tIns="0" rIns="0" bIns="0" rtlCol="0" anchor="ctr"/>
          <a:lstStyle/>
          <a:p>
            <a:pPr indent="0" marL="0">
              <a:buNone/>
            </a:pPr>
            <a:r>
              <a:rPr lang="en-US" sz="1600" b="1" dirty="0">
                <a:solidFill>
                  <a:srgbClr val="22222A"/>
                </a:solidFill>
                <a:latin typeface="Cambria" pitchFamily="34" charset="0"/>
                <a:ea typeface="Cambria" pitchFamily="34" charset="-122"/>
                <a:cs typeface="Cambria" pitchFamily="34" charset="-120"/>
              </a:rPr>
              <a:t>94</a:t>
            </a:r>
            <a:endParaRPr lang="en-US" sz="1600" dirty="0"/>
          </a:p>
        </p:txBody>
      </p:sp>
      <p:sp>
        <p:nvSpPr>
          <p:cNvPr id="37" name="Text 35"/>
          <p:cNvSpPr txBox="1"/>
          <p:nvPr/>
        </p:nvSpPr>
        <p:spPr>
          <a:xfrm>
            <a:off x="7242048" y="4681728"/>
            <a:ext cx="1645920" cy="274320"/>
          </a:xfrm>
          <a:prstGeom prst="rect">
            <a:avLst/>
          </a:prstGeom>
          <a:noFill/>
          <a:ln/>
        </p:spPr>
        <p:txBody>
          <a:bodyPr wrap="square" lIns="0" tIns="0" rIns="0" bIns="0" rtlCol="0" anchor="ctr"/>
          <a:lstStyle/>
          <a:p>
            <a:pPr indent="0" marL="0">
              <a:buNone/>
            </a:pPr>
            <a:r>
              <a:rPr lang="en-US" sz="1150" dirty="0">
                <a:solidFill>
                  <a:srgbClr val="6A6875"/>
                </a:solidFill>
                <a:latin typeface="Calibri" pitchFamily="34" charset="0"/>
                <a:ea typeface="Calibri" pitchFamily="34" charset="-122"/>
                <a:cs typeface="Calibri" pitchFamily="34" charset="-120"/>
              </a:rPr>
              <a:t>practices</a:t>
            </a:r>
            <a:endParaRPr lang="en-US" sz="1150" dirty="0"/>
          </a:p>
        </p:txBody>
      </p:sp>
      <p:sp>
        <p:nvSpPr>
          <p:cNvPr id="38" name="Shape 36"/>
          <p:cNvSpPr/>
          <p:nvPr/>
        </p:nvSpPr>
        <p:spPr>
          <a:xfrm>
            <a:off x="9025128" y="4709160"/>
            <a:ext cx="182880" cy="182880"/>
          </a:xfrm>
          <a:prstGeom prst="ellipse">
            <a:avLst/>
          </a:prstGeom>
          <a:solidFill>
            <a:srgbClr val="2BB0A3"/>
          </a:solidFill>
          <a:ln w="12700">
            <a:solidFill>
              <a:srgbClr val="333333"/>
            </a:solidFill>
            <a:prstDash val="solid"/>
          </a:ln>
        </p:spPr>
      </p:sp>
      <p:sp>
        <p:nvSpPr>
          <p:cNvPr id="39" name="Text 37"/>
          <p:cNvSpPr txBox="1"/>
          <p:nvPr/>
        </p:nvSpPr>
        <p:spPr>
          <a:xfrm>
            <a:off x="9299448" y="4636008"/>
            <a:ext cx="731520" cy="310896"/>
          </a:xfrm>
          <a:prstGeom prst="rect">
            <a:avLst/>
          </a:prstGeom>
          <a:noFill/>
          <a:ln/>
        </p:spPr>
        <p:txBody>
          <a:bodyPr wrap="square" lIns="0" tIns="0" rIns="0" bIns="0" rtlCol="0" anchor="ctr"/>
          <a:lstStyle/>
          <a:p>
            <a:pPr indent="0" marL="0">
              <a:buNone/>
            </a:pPr>
            <a:r>
              <a:rPr lang="en-US" sz="1600" b="1" dirty="0">
                <a:solidFill>
                  <a:srgbClr val="22222A"/>
                </a:solidFill>
                <a:latin typeface="Cambria" pitchFamily="34" charset="0"/>
                <a:ea typeface="Cambria" pitchFamily="34" charset="-122"/>
                <a:cs typeface="Cambria" pitchFamily="34" charset="-120"/>
              </a:rPr>
              <a:t>259</a:t>
            </a:r>
            <a:endParaRPr lang="en-US" sz="1600" dirty="0"/>
          </a:p>
        </p:txBody>
      </p:sp>
      <p:sp>
        <p:nvSpPr>
          <p:cNvPr id="40" name="Text 38"/>
          <p:cNvSpPr txBox="1"/>
          <p:nvPr/>
        </p:nvSpPr>
        <p:spPr>
          <a:xfrm>
            <a:off x="10030968" y="4681728"/>
            <a:ext cx="1645920" cy="274320"/>
          </a:xfrm>
          <a:prstGeom prst="rect">
            <a:avLst/>
          </a:prstGeom>
          <a:noFill/>
          <a:ln/>
        </p:spPr>
        <p:txBody>
          <a:bodyPr wrap="square" lIns="0" tIns="0" rIns="0" bIns="0" rtlCol="0" anchor="ctr"/>
          <a:lstStyle/>
          <a:p>
            <a:pPr indent="0" marL="0">
              <a:buNone/>
            </a:pPr>
            <a:r>
              <a:rPr lang="en-US" sz="1150" dirty="0">
                <a:solidFill>
                  <a:srgbClr val="6A6875"/>
                </a:solidFill>
                <a:latin typeface="Calibri" pitchFamily="34" charset="0"/>
                <a:ea typeface="Calibri" pitchFamily="34" charset="-122"/>
                <a:cs typeface="Calibri" pitchFamily="34" charset="-120"/>
              </a:rPr>
              <a:t>concepts</a:t>
            </a:r>
            <a:endParaRPr lang="en-US" sz="1150" dirty="0"/>
          </a:p>
        </p:txBody>
      </p:sp>
      <p:sp>
        <p:nvSpPr>
          <p:cNvPr id="41" name="Shape 39"/>
          <p:cNvSpPr/>
          <p:nvPr/>
        </p:nvSpPr>
        <p:spPr>
          <a:xfrm>
            <a:off x="658368" y="5413248"/>
            <a:ext cx="10874959" cy="960120"/>
          </a:xfrm>
          <a:prstGeom prst="roundRect">
            <a:avLst>
              <a:gd name="adj" fmla="val 7619"/>
            </a:avLst>
          </a:prstGeom>
          <a:solidFill>
            <a:srgbClr val="F7F5FA"/>
          </a:solidFill>
          <a:ln w="9525">
            <a:solidFill>
              <a:srgbClr val="E5E2E8"/>
            </a:solidFill>
            <a:prstDash val="solid"/>
          </a:ln>
        </p:spPr>
      </p:sp>
      <p:sp>
        <p:nvSpPr>
          <p:cNvPr id="42" name="Text 40"/>
          <p:cNvSpPr txBox="1"/>
          <p:nvPr/>
        </p:nvSpPr>
        <p:spPr>
          <a:xfrm>
            <a:off x="950976" y="5413248"/>
            <a:ext cx="10289743" cy="960120"/>
          </a:xfrm>
          <a:prstGeom prst="rect">
            <a:avLst/>
          </a:prstGeom>
          <a:noFill/>
          <a:ln/>
        </p:spPr>
        <p:txBody>
          <a:bodyPr wrap="square" lIns="0" tIns="0" rIns="0" bIns="0" rtlCol="0" anchor="ctr"/>
          <a:lstStyle/>
          <a:p>
            <a:pPr indent="0" marL="0">
              <a:lnSpc>
                <a:spcPts val="1700"/>
              </a:lnSpc>
              <a:buNone/>
            </a:pPr>
            <a:r>
              <a:rPr lang="en-US" sz="1200" dirty="0">
                <a:solidFill>
                  <a:srgbClr val="6A6875"/>
                </a:solidFill>
                <a:latin typeface="Calibri" pitchFamily="34" charset="0"/>
                <a:ea typeface="Calibri" pitchFamily="34" charset="-122"/>
                <a:cs typeface="Calibri" pitchFamily="34" charset="-120"/>
              </a:rPr>
              <a:t>The causal core is small. Four triggers, 29 states, 23 strategies and 54 behaviours carry the mechanism; the other 353 nodes are the vocabulary and the ways out. That shape is why the material can be reasoned about at all rather than only looked up.</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807C8A"/>
                </a:solidFill>
                <a:latin typeface="Calibri" pitchFamily="34" charset="0"/>
                <a:ea typeface="Calibri" pitchFamily="34" charset="-122"/>
                <a:cs typeface="Calibri" pitchFamily="34" charset="-120"/>
              </a:rPr>
              <a:t>6</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7B4BD8"/>
                </a:solidFill>
                <a:latin typeface="Calibri" pitchFamily="34" charset="0"/>
                <a:ea typeface="Calibri" pitchFamily="34" charset="-122"/>
                <a:cs typeface="Calibri" pitchFamily="34" charset="-120"/>
              </a:rPr>
              <a:t>THE MATERIAL</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200" b="1" dirty="0">
                <a:solidFill>
                  <a:srgbClr val="22222A"/>
                </a:solidFill>
                <a:latin typeface="Cambria" pitchFamily="34" charset="0"/>
                <a:ea typeface="Cambria" pitchFamily="34" charset="-122"/>
                <a:cs typeface="Cambria" pitchFamily="34" charset="-120"/>
              </a:rPr>
              <a:t>Fifty-four videos, and a receipt on every claim</a:t>
            </a:r>
            <a:endParaRPr lang="en-US" sz="3200" dirty="0"/>
          </a:p>
        </p:txBody>
      </p:sp>
      <p:sp>
        <p:nvSpPr>
          <p:cNvPr id="5" name="Text 3"/>
          <p:cNvSpPr txBox="1"/>
          <p:nvPr/>
        </p:nvSpPr>
        <p:spPr>
          <a:xfrm>
            <a:off x="658368" y="1572768"/>
            <a:ext cx="1965960" cy="566928"/>
          </a:xfrm>
          <a:prstGeom prst="rect">
            <a:avLst/>
          </a:prstGeom>
          <a:noFill/>
          <a:ln/>
        </p:spPr>
        <p:txBody>
          <a:bodyPr wrap="square" lIns="0" tIns="0" rIns="0" bIns="0" rtlCol="0" anchor="ctr"/>
          <a:lstStyle/>
          <a:p>
            <a:pPr indent="0" marL="0">
              <a:buNone/>
            </a:pPr>
            <a:r>
              <a:rPr lang="en-US" sz="3600" b="1" dirty="0">
                <a:solidFill>
                  <a:srgbClr val="22222A"/>
                </a:solidFill>
                <a:latin typeface="Cambria" pitchFamily="34" charset="0"/>
                <a:ea typeface="Cambria" pitchFamily="34" charset="-122"/>
                <a:cs typeface="Cambria" pitchFamily="34" charset="-120"/>
              </a:rPr>
              <a:t>54</a:t>
            </a:r>
            <a:endParaRPr lang="en-US" sz="3600" dirty="0"/>
          </a:p>
        </p:txBody>
      </p:sp>
      <p:sp>
        <p:nvSpPr>
          <p:cNvPr id="6" name="Text 4"/>
          <p:cNvSpPr txBox="1"/>
          <p:nvPr/>
        </p:nvSpPr>
        <p:spPr>
          <a:xfrm>
            <a:off x="658368" y="2139696"/>
            <a:ext cx="1965960" cy="402336"/>
          </a:xfrm>
          <a:prstGeom prst="rect">
            <a:avLst/>
          </a:prstGeom>
          <a:noFill/>
          <a:ln/>
        </p:spPr>
        <p:txBody>
          <a:bodyPr wrap="square" lIns="0" tIns="0" rIns="0" bIns="0" rtlCol="0" anchor="ctr"/>
          <a:lstStyle/>
          <a:p>
            <a:pPr indent="0" marL="0">
              <a:lnSpc>
                <a:spcPts val="1300"/>
              </a:lnSpc>
              <a:buNone/>
            </a:pPr>
            <a:r>
              <a:rPr lang="en-US" sz="1050" dirty="0">
                <a:solidFill>
                  <a:srgbClr val="6A6875"/>
                </a:solidFill>
                <a:latin typeface="Calibri" pitchFamily="34" charset="0"/>
                <a:ea typeface="Calibri" pitchFamily="34" charset="-122"/>
                <a:cs typeface="Calibri" pitchFamily="34" charset="-120"/>
              </a:rPr>
              <a:t>videos mined,</a:t>
            </a:r>
            <a:endParaRPr lang="en-US" sz="1050" dirty="0"/>
          </a:p>
          <a:p>
            <a:pPr indent="0" marL="0">
              <a:lnSpc>
                <a:spcPts val="1300"/>
              </a:lnSpc>
              <a:buNone/>
            </a:pPr>
            <a:r>
              <a:rPr lang="en-US" sz="1050" dirty="0">
                <a:solidFill>
                  <a:srgbClr val="6A6875"/>
                </a:solidFill>
                <a:latin typeface="Calibri" pitchFamily="34" charset="0"/>
                <a:ea typeface="Calibri" pitchFamily="34" charset="-122"/>
                <a:cs typeface="Calibri" pitchFamily="34" charset="-120"/>
              </a:rPr>
              <a:t>none reproduced</a:t>
            </a:r>
            <a:endParaRPr lang="en-US" sz="1050" dirty="0"/>
          </a:p>
        </p:txBody>
      </p:sp>
      <p:sp>
        <p:nvSpPr>
          <p:cNvPr id="7" name="Text 5"/>
          <p:cNvSpPr txBox="1"/>
          <p:nvPr/>
        </p:nvSpPr>
        <p:spPr>
          <a:xfrm>
            <a:off x="2761488" y="1572768"/>
            <a:ext cx="1965960" cy="566928"/>
          </a:xfrm>
          <a:prstGeom prst="rect">
            <a:avLst/>
          </a:prstGeom>
          <a:noFill/>
          <a:ln/>
        </p:spPr>
        <p:txBody>
          <a:bodyPr wrap="square" lIns="0" tIns="0" rIns="0" bIns="0" rtlCol="0" anchor="ctr"/>
          <a:lstStyle/>
          <a:p>
            <a:pPr indent="0" marL="0">
              <a:buNone/>
            </a:pPr>
            <a:r>
              <a:rPr lang="en-US" sz="3600" b="1" dirty="0">
                <a:solidFill>
                  <a:srgbClr val="22222A"/>
                </a:solidFill>
                <a:latin typeface="Cambria" pitchFamily="34" charset="0"/>
                <a:ea typeface="Cambria" pitchFamily="34" charset="-122"/>
                <a:cs typeface="Cambria" pitchFamily="34" charset="-120"/>
              </a:rPr>
              <a:t>616</a:t>
            </a:r>
            <a:endParaRPr lang="en-US" sz="3600" dirty="0"/>
          </a:p>
        </p:txBody>
      </p:sp>
      <p:sp>
        <p:nvSpPr>
          <p:cNvPr id="8" name="Text 6"/>
          <p:cNvSpPr txBox="1"/>
          <p:nvPr/>
        </p:nvSpPr>
        <p:spPr>
          <a:xfrm>
            <a:off x="2761488" y="2139696"/>
            <a:ext cx="1965960" cy="402336"/>
          </a:xfrm>
          <a:prstGeom prst="rect">
            <a:avLst/>
          </a:prstGeom>
          <a:noFill/>
          <a:ln/>
        </p:spPr>
        <p:txBody>
          <a:bodyPr wrap="square" lIns="0" tIns="0" rIns="0" bIns="0" rtlCol="0" anchor="ctr"/>
          <a:lstStyle/>
          <a:p>
            <a:pPr indent="0" marL="0">
              <a:lnSpc>
                <a:spcPts val="1300"/>
              </a:lnSpc>
              <a:buNone/>
            </a:pPr>
            <a:r>
              <a:rPr lang="en-US" sz="1050" dirty="0">
                <a:solidFill>
                  <a:srgbClr val="6A6875"/>
                </a:solidFill>
                <a:latin typeface="Calibri" pitchFamily="34" charset="0"/>
                <a:ea typeface="Calibri" pitchFamily="34" charset="-122"/>
                <a:cs typeface="Calibri" pitchFamily="34" charset="-120"/>
              </a:rPr>
              <a:t>nodes, each with</a:t>
            </a:r>
            <a:endParaRPr lang="en-US" sz="1050" dirty="0"/>
          </a:p>
          <a:p>
            <a:pPr indent="0" marL="0">
              <a:lnSpc>
                <a:spcPts val="1300"/>
              </a:lnSpc>
              <a:buNone/>
            </a:pPr>
            <a:r>
              <a:rPr lang="en-US" sz="1050" dirty="0">
                <a:solidFill>
                  <a:srgbClr val="6A6875"/>
                </a:solidFill>
                <a:latin typeface="Calibri" pitchFamily="34" charset="0"/>
                <a:ea typeface="Calibri" pitchFamily="34" charset="-122"/>
                <a:cs typeface="Calibri" pitchFamily="34" charset="-120"/>
              </a:rPr>
              <a:t>a page and an id</a:t>
            </a:r>
            <a:endParaRPr lang="en-US" sz="1050" dirty="0"/>
          </a:p>
        </p:txBody>
      </p:sp>
      <p:sp>
        <p:nvSpPr>
          <p:cNvPr id="9" name="Text 7"/>
          <p:cNvSpPr txBox="1"/>
          <p:nvPr/>
        </p:nvSpPr>
        <p:spPr>
          <a:xfrm>
            <a:off x="4864608" y="1572768"/>
            <a:ext cx="1965960" cy="566928"/>
          </a:xfrm>
          <a:prstGeom prst="rect">
            <a:avLst/>
          </a:prstGeom>
          <a:noFill/>
          <a:ln/>
        </p:spPr>
        <p:txBody>
          <a:bodyPr wrap="square" lIns="0" tIns="0" rIns="0" bIns="0" rtlCol="0" anchor="ctr"/>
          <a:lstStyle/>
          <a:p>
            <a:pPr indent="0" marL="0">
              <a:buNone/>
            </a:pPr>
            <a:r>
              <a:rPr lang="en-US" sz="3600" b="1" dirty="0">
                <a:solidFill>
                  <a:srgbClr val="22222A"/>
                </a:solidFill>
                <a:latin typeface="Cambria" pitchFamily="34" charset="0"/>
                <a:ea typeface="Cambria" pitchFamily="34" charset="-122"/>
                <a:cs typeface="Cambria" pitchFamily="34" charset="-120"/>
              </a:rPr>
              <a:t>2411</a:t>
            </a:r>
            <a:endParaRPr lang="en-US" sz="3600" dirty="0"/>
          </a:p>
        </p:txBody>
      </p:sp>
      <p:sp>
        <p:nvSpPr>
          <p:cNvPr id="10" name="Text 8"/>
          <p:cNvSpPr txBox="1"/>
          <p:nvPr/>
        </p:nvSpPr>
        <p:spPr>
          <a:xfrm>
            <a:off x="4864608" y="2139696"/>
            <a:ext cx="1965960" cy="402336"/>
          </a:xfrm>
          <a:prstGeom prst="rect">
            <a:avLst/>
          </a:prstGeom>
          <a:noFill/>
          <a:ln/>
        </p:spPr>
        <p:txBody>
          <a:bodyPr wrap="square" lIns="0" tIns="0" rIns="0" bIns="0" rtlCol="0" anchor="ctr"/>
          <a:lstStyle/>
          <a:p>
            <a:pPr indent="0" marL="0">
              <a:lnSpc>
                <a:spcPts val="1300"/>
              </a:lnSpc>
              <a:buNone/>
            </a:pPr>
            <a:r>
              <a:rPr lang="en-US" sz="1050" dirty="0">
                <a:solidFill>
                  <a:srgbClr val="6A6875"/>
                </a:solidFill>
                <a:latin typeface="Calibri" pitchFamily="34" charset="0"/>
                <a:ea typeface="Calibri" pitchFamily="34" charset="-122"/>
                <a:cs typeface="Calibri" pitchFamily="34" charset="-120"/>
              </a:rPr>
              <a:t>typed edges between</a:t>
            </a:r>
            <a:endParaRPr lang="en-US" sz="1050" dirty="0"/>
          </a:p>
          <a:p>
            <a:pPr indent="0" marL="0">
              <a:lnSpc>
                <a:spcPts val="1300"/>
              </a:lnSpc>
              <a:buNone/>
            </a:pPr>
            <a:r>
              <a:rPr lang="en-US" sz="1050" dirty="0">
                <a:solidFill>
                  <a:srgbClr val="6A6875"/>
                </a:solidFill>
                <a:latin typeface="Calibri" pitchFamily="34" charset="0"/>
                <a:ea typeface="Calibri" pitchFamily="34" charset="-122"/>
                <a:cs typeface="Calibri" pitchFamily="34" charset="-120"/>
              </a:rPr>
              <a:t>them</a:t>
            </a:r>
            <a:endParaRPr lang="en-US" sz="1050" dirty="0"/>
          </a:p>
        </p:txBody>
      </p:sp>
      <p:sp>
        <p:nvSpPr>
          <p:cNvPr id="11" name="Text 9"/>
          <p:cNvSpPr txBox="1"/>
          <p:nvPr/>
        </p:nvSpPr>
        <p:spPr>
          <a:xfrm>
            <a:off x="6967728" y="1572768"/>
            <a:ext cx="1965960" cy="566928"/>
          </a:xfrm>
          <a:prstGeom prst="rect">
            <a:avLst/>
          </a:prstGeom>
          <a:noFill/>
          <a:ln/>
        </p:spPr>
        <p:txBody>
          <a:bodyPr wrap="square" lIns="0" tIns="0" rIns="0" bIns="0" rtlCol="0" anchor="ctr"/>
          <a:lstStyle/>
          <a:p>
            <a:pPr indent="0" marL="0">
              <a:buNone/>
            </a:pPr>
            <a:r>
              <a:rPr lang="en-US" sz="3600" b="1" dirty="0">
                <a:solidFill>
                  <a:srgbClr val="22222A"/>
                </a:solidFill>
                <a:latin typeface="Cambria" pitchFamily="34" charset="0"/>
                <a:ea typeface="Cambria" pitchFamily="34" charset="-122"/>
                <a:cs typeface="Cambria" pitchFamily="34" charset="-120"/>
              </a:rPr>
              <a:t>542</a:t>
            </a:r>
            <a:endParaRPr lang="en-US" sz="3600" dirty="0"/>
          </a:p>
        </p:txBody>
      </p:sp>
      <p:sp>
        <p:nvSpPr>
          <p:cNvPr id="12" name="Text 10"/>
          <p:cNvSpPr txBox="1"/>
          <p:nvPr/>
        </p:nvSpPr>
        <p:spPr>
          <a:xfrm>
            <a:off x="6967728" y="2139696"/>
            <a:ext cx="1965960" cy="402336"/>
          </a:xfrm>
          <a:prstGeom prst="rect">
            <a:avLst/>
          </a:prstGeom>
          <a:noFill/>
          <a:ln/>
        </p:spPr>
        <p:txBody>
          <a:bodyPr wrap="square" lIns="0" tIns="0" rIns="0" bIns="0" rtlCol="0" anchor="ctr"/>
          <a:lstStyle/>
          <a:p>
            <a:pPr indent="0" marL="0">
              <a:lnSpc>
                <a:spcPts val="1300"/>
              </a:lnSpc>
              <a:buNone/>
            </a:pPr>
            <a:r>
              <a:rPr lang="en-US" sz="1050" dirty="0">
                <a:solidFill>
                  <a:srgbClr val="6A6875"/>
                </a:solidFill>
                <a:latin typeface="Calibri" pitchFamily="34" charset="0"/>
                <a:ea typeface="Calibri" pitchFamily="34" charset="-122"/>
                <a:cs typeface="Calibri" pitchFamily="34" charset="-120"/>
              </a:rPr>
              <a:t>edges carrying a video</a:t>
            </a:r>
            <a:endParaRPr lang="en-US" sz="1050" dirty="0"/>
          </a:p>
          <a:p>
            <a:pPr indent="0" marL="0">
              <a:lnSpc>
                <a:spcPts val="1300"/>
              </a:lnSpc>
              <a:buNone/>
            </a:pPr>
            <a:r>
              <a:rPr lang="en-US" sz="1050" dirty="0">
                <a:solidFill>
                  <a:srgbClr val="6A6875"/>
                </a:solidFill>
                <a:latin typeface="Calibri" pitchFamily="34" charset="0"/>
                <a:ea typeface="Calibri" pitchFamily="34" charset="-122"/>
                <a:cs typeface="Calibri" pitchFamily="34" charset="-120"/>
              </a:rPr>
              <a:t>and a second</a:t>
            </a:r>
            <a:endParaRPr lang="en-US" sz="1050" dirty="0"/>
          </a:p>
        </p:txBody>
      </p:sp>
      <p:sp>
        <p:nvSpPr>
          <p:cNvPr id="13" name="Text 11"/>
          <p:cNvSpPr txBox="1"/>
          <p:nvPr/>
        </p:nvSpPr>
        <p:spPr>
          <a:xfrm>
            <a:off x="658368" y="3200400"/>
            <a:ext cx="5120640" cy="292608"/>
          </a:xfrm>
          <a:prstGeom prst="rect">
            <a:avLst/>
          </a:prstGeom>
          <a:noFill/>
          <a:ln/>
        </p:spPr>
        <p:txBody>
          <a:bodyPr wrap="square" lIns="0" tIns="0" rIns="0" bIns="0" rtlCol="0" anchor="ctr"/>
          <a:lstStyle/>
          <a:p>
            <a:pPr indent="0" marL="0">
              <a:buNone/>
            </a:pPr>
            <a:r>
              <a:rPr lang="en-US" sz="1500" b="1" dirty="0">
                <a:solidFill>
                  <a:srgbClr val="22222A"/>
                </a:solidFill>
                <a:latin typeface="Calibri" pitchFamily="34" charset="0"/>
                <a:ea typeface="Calibri" pitchFamily="34" charset="-122"/>
                <a:cs typeface="Calibri" pitchFamily="34" charset="-120"/>
              </a:rPr>
              <a:t>Where each idea comes from</a:t>
            </a:r>
            <a:endParaRPr lang="en-US" sz="1500" dirty="0"/>
          </a:p>
        </p:txBody>
      </p:sp>
      <p:sp>
        <p:nvSpPr>
          <p:cNvPr id="14" name="Text 12"/>
          <p:cNvSpPr txBox="1"/>
          <p:nvPr/>
        </p:nvSpPr>
        <p:spPr>
          <a:xfrm>
            <a:off x="658368" y="3566160"/>
            <a:ext cx="5120640" cy="1280160"/>
          </a:xfrm>
          <a:prstGeom prst="rect">
            <a:avLst/>
          </a:prstGeom>
          <a:noFill/>
          <a:ln/>
        </p:spPr>
        <p:txBody>
          <a:bodyPr wrap="square" lIns="0" tIns="0" rIns="0" bIns="0" rtlCol="0" anchor="ctr"/>
          <a:lstStyle/>
          <a:p>
            <a:pPr indent="0" marL="0">
              <a:lnSpc>
                <a:spcPts val="1850"/>
              </a:lnSpc>
              <a:buNone/>
            </a:pPr>
            <a:r>
              <a:rPr lang="en-US" sz="1250" dirty="0">
                <a:solidFill>
                  <a:srgbClr val="6A6875"/>
                </a:solidFill>
                <a:latin typeface="Calibri" pitchFamily="34" charset="0"/>
                <a:ea typeface="Calibri" pitchFamily="34" charset="-122"/>
                <a:cs typeface="Calibri" pitchFamily="34" charset="-120"/>
              </a:rPr>
              <a:t>Every node records whether the idea is standard attachment literature, Priebe’s own framing, or a connection drawn here. It is a provenance label, not a confidence score — a Priebe-only graph faithfully recording her claim is doing its job.</a:t>
            </a:r>
            <a:endParaRPr lang="en-US" sz="1250" dirty="0"/>
          </a:p>
        </p:txBody>
      </p:sp>
      <p:sp>
        <p:nvSpPr>
          <p:cNvPr id="15" name="Text 13"/>
          <p:cNvSpPr txBox="1"/>
          <p:nvPr/>
        </p:nvSpPr>
        <p:spPr>
          <a:xfrm>
            <a:off x="658368" y="4983480"/>
            <a:ext cx="5120640" cy="1097280"/>
          </a:xfrm>
          <a:prstGeom prst="rect">
            <a:avLst/>
          </a:prstGeom>
          <a:noFill/>
          <a:ln/>
        </p:spPr>
        <p:txBody>
          <a:bodyPr wrap="square" lIns="0" tIns="0" rIns="0" bIns="0" rtlCol="0" anchor="ctr"/>
          <a:lstStyle/>
          <a:p>
            <a:pPr indent="0" marL="0">
              <a:lnSpc>
                <a:spcPts val="1850"/>
              </a:lnSpc>
              <a:buNone/>
            </a:pPr>
            <a:r>
              <a:rPr lang="en-US" sz="1250" dirty="0">
                <a:solidFill>
                  <a:srgbClr val="6A6875"/>
                </a:solidFill>
                <a:latin typeface="Calibri" pitchFamily="34" charset="0"/>
                <a:ea typeface="Calibri" pitchFamily="34" charset="-122"/>
                <a:cs typeface="Calibri" pitchFamily="34" charset="-120"/>
              </a:rPr>
              <a:t>The transcripts themselves are working input only. They are gitignored, never committed and never published, and no note reproduces her words — every note paraphrases and links back to the moment.</a:t>
            </a:r>
            <a:endParaRPr lang="en-US" sz="1250" dirty="0"/>
          </a:p>
        </p:txBody>
      </p:sp>
      <p:graphicFrame>
        <p:nvGraphicFramePr>
          <p:cNvPr id="16" name="Chart 0" descr=""/>
          <p:cNvGraphicFramePr/>
          <p:nvPr/>
        </p:nvGraphicFramePr>
        <p:xfrm>
          <a:off x="6309360" y="2651760"/>
          <a:ext cx="5394960" cy="356616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807C8A"/>
                </a:solidFill>
                <a:latin typeface="Calibri" pitchFamily="34" charset="0"/>
                <a:ea typeface="Calibri" pitchFamily="34" charset="-122"/>
                <a:cs typeface="Calibri" pitchFamily="34" charset="-120"/>
              </a:rPr>
              <a:t>7</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7B4BD8"/>
                </a:solidFill>
                <a:latin typeface="Calibri" pitchFamily="34" charset="0"/>
                <a:ea typeface="Calibri" pitchFamily="34" charset="-122"/>
                <a:cs typeface="Calibri" pitchFamily="34" charset="-120"/>
              </a:rPr>
              <a:t>ANATOMY</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200" b="1" dirty="0">
                <a:solidFill>
                  <a:srgbClr val="22222A"/>
                </a:solidFill>
                <a:latin typeface="Cambria" pitchFamily="34" charset="0"/>
                <a:ea typeface="Cambria" pitchFamily="34" charset="-122"/>
                <a:cs typeface="Cambria" pitchFamily="34" charset="-120"/>
              </a:rPr>
              <a:t>What one node holds</a:t>
            </a:r>
            <a:endParaRPr lang="en-US" sz="3200" dirty="0"/>
          </a:p>
        </p:txBody>
      </p:sp>
      <p:sp>
        <p:nvSpPr>
          <p:cNvPr id="5" name="Shape 3"/>
          <p:cNvSpPr/>
          <p:nvPr/>
        </p:nvSpPr>
        <p:spPr>
          <a:xfrm>
            <a:off x="658368" y="1417320"/>
            <a:ext cx="5577840" cy="4480560"/>
          </a:xfrm>
          <a:prstGeom prst="roundRect">
            <a:avLst>
              <a:gd name="adj" fmla="val 1633"/>
            </a:avLst>
          </a:prstGeom>
          <a:solidFill>
            <a:srgbClr val="FFFFFF"/>
          </a:solidFill>
          <a:ln w="9525">
            <a:solidFill>
              <a:srgbClr val="E5E2E8"/>
            </a:solidFill>
            <a:prstDash val="solid"/>
          </a:ln>
        </p:spPr>
      </p:sp>
      <p:sp>
        <p:nvSpPr>
          <p:cNvPr id="6" name="Shape 4"/>
          <p:cNvSpPr/>
          <p:nvPr/>
        </p:nvSpPr>
        <p:spPr>
          <a:xfrm>
            <a:off x="978408" y="1737360"/>
            <a:ext cx="219456" cy="219456"/>
          </a:xfrm>
          <a:prstGeom prst="ellipse">
            <a:avLst/>
          </a:prstGeom>
          <a:solidFill>
            <a:srgbClr val="E04F86"/>
          </a:solidFill>
          <a:ln w="12700">
            <a:solidFill>
              <a:srgbClr val="333333"/>
            </a:solidFill>
            <a:prstDash val="solid"/>
          </a:ln>
        </p:spPr>
      </p:sp>
      <p:sp>
        <p:nvSpPr>
          <p:cNvPr id="7" name="Text 5"/>
          <p:cNvSpPr txBox="1"/>
          <p:nvPr/>
        </p:nvSpPr>
        <p:spPr>
          <a:xfrm>
            <a:off x="1316736" y="1682496"/>
            <a:ext cx="4663440" cy="329184"/>
          </a:xfrm>
          <a:prstGeom prst="rect">
            <a:avLst/>
          </a:prstGeom>
          <a:noFill/>
          <a:ln/>
        </p:spPr>
        <p:txBody>
          <a:bodyPr wrap="square" lIns="0" tIns="0" rIns="0" bIns="0" rtlCol="0" anchor="ctr"/>
          <a:lstStyle/>
          <a:p>
            <a:pPr indent="0" marL="0">
              <a:buNone/>
            </a:pPr>
            <a:r>
              <a:rPr lang="en-US" sz="1900" b="1" dirty="0">
                <a:solidFill>
                  <a:srgbClr val="22222A"/>
                </a:solidFill>
                <a:latin typeface="Cambria" pitchFamily="34" charset="0"/>
                <a:ea typeface="Cambria" pitchFamily="34" charset="-122"/>
                <a:cs typeface="Cambria" pitchFamily="34" charset="-120"/>
              </a:rPr>
              <a:t>Hyperactivating Strategies</a:t>
            </a:r>
            <a:endParaRPr lang="en-US" sz="1900" dirty="0"/>
          </a:p>
        </p:txBody>
      </p:sp>
      <p:sp>
        <p:nvSpPr>
          <p:cNvPr id="8" name="Text 6"/>
          <p:cNvSpPr txBox="1"/>
          <p:nvPr/>
        </p:nvSpPr>
        <p:spPr>
          <a:xfrm>
            <a:off x="978408" y="2103120"/>
            <a:ext cx="4937760" cy="237744"/>
          </a:xfrm>
          <a:prstGeom prst="rect">
            <a:avLst/>
          </a:prstGeom>
          <a:noFill/>
          <a:ln/>
        </p:spPr>
        <p:txBody>
          <a:bodyPr wrap="square" lIns="0" tIns="0" rIns="0" bIns="0" rtlCol="0" anchor="ctr"/>
          <a:lstStyle/>
          <a:p>
            <a:pPr indent="0" marL="0">
              <a:buNone/>
            </a:pPr>
            <a:r>
              <a:rPr lang="en-US" sz="1050" dirty="0">
                <a:solidFill>
                  <a:srgbClr val="807C8A"/>
                </a:solidFill>
                <a:latin typeface="Calibri" pitchFamily="34" charset="0"/>
                <a:ea typeface="Calibri" pitchFamily="34" charset="-122"/>
                <a:cs typeface="Calibri" pitchFamily="34" charset="-120"/>
              </a:rPr>
              <a:t>strategy   ·   literature   ·   6 videos   ·   10 neighbours</a:t>
            </a:r>
            <a:endParaRPr lang="en-US" sz="1050" dirty="0"/>
          </a:p>
        </p:txBody>
      </p:sp>
      <p:sp>
        <p:nvSpPr>
          <p:cNvPr id="9" name="Text 7"/>
          <p:cNvSpPr txBox="1"/>
          <p:nvPr/>
        </p:nvSpPr>
        <p:spPr>
          <a:xfrm>
            <a:off x="978408" y="2432304"/>
            <a:ext cx="4937760" cy="1005840"/>
          </a:xfrm>
          <a:prstGeom prst="rect">
            <a:avLst/>
          </a:prstGeom>
          <a:noFill/>
          <a:ln/>
        </p:spPr>
        <p:txBody>
          <a:bodyPr wrap="square" lIns="0" tIns="0" rIns="0" bIns="0" rtlCol="0" anchor="ctr"/>
          <a:lstStyle/>
          <a:p>
            <a:pPr indent="0" marL="0">
              <a:lnSpc>
                <a:spcPts val="1700"/>
              </a:lnSpc>
              <a:buNone/>
            </a:pPr>
            <a:r>
              <a:rPr lang="en-US" sz="1200" dirty="0">
                <a:solidFill>
                  <a:srgbClr val="6A6875"/>
                </a:solidFill>
                <a:latin typeface="Calibri" pitchFamily="34" charset="0"/>
                <a:ea typeface="Calibri" pitchFamily="34" charset="-122"/>
                <a:cs typeface="Calibri" pitchFamily="34" charset="-120"/>
              </a:rPr>
              <a:t>The anxious counterpart. The same growing dependency that sends the avoidant system scanning for cost sends this one scanning for signs the bond is at risk, because what it cannot afford to lose is the…</a:t>
            </a:r>
            <a:endParaRPr lang="en-US" sz="1200" dirty="0"/>
          </a:p>
        </p:txBody>
      </p:sp>
      <p:sp>
        <p:nvSpPr>
          <p:cNvPr id="10" name="Text 8"/>
          <p:cNvSpPr txBox="1"/>
          <p:nvPr/>
        </p:nvSpPr>
        <p:spPr>
          <a:xfrm>
            <a:off x="978408" y="3520440"/>
            <a:ext cx="4937760" cy="201168"/>
          </a:xfrm>
          <a:prstGeom prst="rect">
            <a:avLst/>
          </a:prstGeom>
          <a:noFill/>
          <a:ln/>
        </p:spPr>
        <p:txBody>
          <a:bodyPr wrap="square" lIns="0" tIns="0" rIns="0" bIns="0" rtlCol="0" anchor="ctr"/>
          <a:lstStyle/>
          <a:p>
            <a:pPr indent="0" marL="0">
              <a:buNone/>
            </a:pPr>
            <a:r>
              <a:rPr lang="en-US" sz="900" b="1" spc="120" kern="0" dirty="0">
                <a:solidFill>
                  <a:srgbClr val="807C8A"/>
                </a:solidFill>
                <a:latin typeface="Calibri" pitchFamily="34" charset="0"/>
                <a:ea typeface="Calibri" pitchFamily="34" charset="-122"/>
                <a:cs typeface="Calibri" pitchFamily="34" charset="-120"/>
              </a:rPr>
              <a:t>ALSO KNOWN AS</a:t>
            </a:r>
            <a:endParaRPr lang="en-US" sz="900" dirty="0"/>
          </a:p>
        </p:txBody>
      </p:sp>
      <p:sp>
        <p:nvSpPr>
          <p:cNvPr id="11" name="Text 9"/>
          <p:cNvSpPr txBox="1"/>
          <p:nvPr/>
        </p:nvSpPr>
        <p:spPr>
          <a:xfrm>
            <a:off x="978408" y="3739896"/>
            <a:ext cx="4937760" cy="274320"/>
          </a:xfrm>
          <a:prstGeom prst="rect">
            <a:avLst/>
          </a:prstGeom>
          <a:noFill/>
          <a:ln/>
        </p:spPr>
        <p:txBody>
          <a:bodyPr wrap="square" lIns="0" tIns="0" rIns="0" bIns="0" rtlCol="0" anchor="ctr"/>
          <a:lstStyle/>
          <a:p>
            <a:pPr indent="0" marL="0">
              <a:buNone/>
            </a:pPr>
            <a:r>
              <a:rPr lang="en-US" sz="1100" dirty="0">
                <a:solidFill>
                  <a:srgbClr val="22222A"/>
                </a:solidFill>
                <a:latin typeface="Calibri" pitchFamily="34" charset="0"/>
                <a:ea typeface="Calibri" pitchFamily="34" charset="-122"/>
                <a:cs typeface="Calibri" pitchFamily="34" charset="-120"/>
              </a:rPr>
              <a:t>hyperactivation  ·  protest behaviour  ·  protest behavior  ·  escalating</a:t>
            </a:r>
            <a:endParaRPr lang="en-US" sz="1100" dirty="0"/>
          </a:p>
        </p:txBody>
      </p:sp>
      <p:sp>
        <p:nvSpPr>
          <p:cNvPr id="12" name="Text 10"/>
          <p:cNvSpPr txBox="1"/>
          <p:nvPr/>
        </p:nvSpPr>
        <p:spPr>
          <a:xfrm>
            <a:off x="978408" y="4169664"/>
            <a:ext cx="4937760" cy="201168"/>
          </a:xfrm>
          <a:prstGeom prst="rect">
            <a:avLst/>
          </a:prstGeom>
          <a:noFill/>
          <a:ln/>
        </p:spPr>
        <p:txBody>
          <a:bodyPr wrap="square" lIns="0" tIns="0" rIns="0" bIns="0" rtlCol="0" anchor="ctr"/>
          <a:lstStyle/>
          <a:p>
            <a:pPr indent="0" marL="0">
              <a:buNone/>
            </a:pPr>
            <a:r>
              <a:rPr lang="en-US" sz="900" b="1" spc="120" kern="0" dirty="0">
                <a:solidFill>
                  <a:srgbClr val="807C8A"/>
                </a:solidFill>
                <a:latin typeface="Calibri" pitchFamily="34" charset="0"/>
                <a:ea typeface="Calibri" pitchFamily="34" charset="-122"/>
                <a:cs typeface="Calibri" pitchFamily="34" charset="-120"/>
              </a:rPr>
              <a:t>RELATIONSHIPS</a:t>
            </a:r>
            <a:endParaRPr lang="en-US" sz="900" dirty="0"/>
          </a:p>
        </p:txBody>
      </p:sp>
      <p:sp>
        <p:nvSpPr>
          <p:cNvPr id="13" name="Text 11"/>
          <p:cNvSpPr txBox="1"/>
          <p:nvPr/>
        </p:nvSpPr>
        <p:spPr>
          <a:xfrm>
            <a:off x="978408" y="4407408"/>
            <a:ext cx="4937760" cy="256032"/>
          </a:xfrm>
          <a:prstGeom prst="rect">
            <a:avLst/>
          </a:prstGeom>
          <a:noFill/>
          <a:ln/>
        </p:spPr>
        <p:txBody>
          <a:bodyPr wrap="square" lIns="0" tIns="0" rIns="0" bIns="0" rtlCol="0" anchor="ctr"/>
          <a:lstStyle/>
          <a:p>
            <a:pPr indent="0" marL="0">
              <a:buNone/>
            </a:pPr>
            <a:r>
              <a:rPr lang="en-US" sz="1000" b="1" dirty="0">
                <a:solidFill>
                  <a:srgbClr val="5B83E8"/>
                </a:solidFill>
                <a:latin typeface="Courier New" pitchFamily="34" charset="0"/>
                <a:ea typeface="Courier New" pitchFamily="34" charset="-122"/>
                <a:cs typeface="Courier New" pitchFamily="34" charset="-120"/>
              </a:rPr>
              <a:t>characterizes</a:t>
            </a:r>
            <a:pPr indent="0" marL="0">
              <a:buNone/>
            </a:pPr>
            <a:r>
              <a:rPr lang="en-US" sz="1100" dirty="0">
                <a:solidFill>
                  <a:srgbClr val="22222A"/>
                </a:solidFill>
                <a:latin typeface="Calibri" pitchFamily="34" charset="0"/>
                <a:ea typeface="Calibri" pitchFamily="34" charset="-122"/>
                <a:cs typeface="Calibri" pitchFamily="34" charset="-120"/>
              </a:rPr>
              <a:t>  Anxious-Preoccupied @365s</a:t>
            </a:r>
            <a:endParaRPr lang="en-US" sz="1000" dirty="0"/>
          </a:p>
        </p:txBody>
      </p:sp>
      <p:sp>
        <p:nvSpPr>
          <p:cNvPr id="14" name="Text 12"/>
          <p:cNvSpPr txBox="1"/>
          <p:nvPr/>
        </p:nvSpPr>
        <p:spPr>
          <a:xfrm>
            <a:off x="978408" y="4690872"/>
            <a:ext cx="4937760" cy="256032"/>
          </a:xfrm>
          <a:prstGeom prst="rect">
            <a:avLst/>
          </a:prstGeom>
          <a:noFill/>
          <a:ln/>
        </p:spPr>
        <p:txBody>
          <a:bodyPr wrap="square" lIns="0" tIns="0" rIns="0" bIns="0" rtlCol="0" anchor="ctr"/>
          <a:lstStyle/>
          <a:p>
            <a:pPr indent="0" marL="0">
              <a:buNone/>
            </a:pPr>
            <a:r>
              <a:rPr lang="en-US" sz="1000" b="1" dirty="0">
                <a:solidFill>
                  <a:srgbClr val="5B83E8"/>
                </a:solidFill>
                <a:latin typeface="Courier New" pitchFamily="34" charset="0"/>
                <a:ea typeface="Courier New" pitchFamily="34" charset="-122"/>
                <a:cs typeface="Courier New" pitchFamily="34" charset="-120"/>
              </a:rPr>
              <a:t>mirrors</a:t>
            </a:r>
            <a:pPr indent="0" marL="0">
              <a:buNone/>
            </a:pPr>
            <a:r>
              <a:rPr lang="en-US" sz="1100" dirty="0">
                <a:solidFill>
                  <a:srgbClr val="22222A"/>
                </a:solidFill>
                <a:latin typeface="Calibri" pitchFamily="34" charset="0"/>
                <a:ea typeface="Calibri" pitchFamily="34" charset="-122"/>
                <a:cs typeface="Calibri" pitchFamily="34" charset="-120"/>
              </a:rPr>
              <a:t>  Deactivating Strategies @365s</a:t>
            </a:r>
            <a:endParaRPr lang="en-US" sz="1000" dirty="0"/>
          </a:p>
        </p:txBody>
      </p:sp>
      <p:sp>
        <p:nvSpPr>
          <p:cNvPr id="15" name="Text 13"/>
          <p:cNvSpPr txBox="1"/>
          <p:nvPr/>
        </p:nvSpPr>
        <p:spPr>
          <a:xfrm>
            <a:off x="978408" y="4974336"/>
            <a:ext cx="4937760" cy="256032"/>
          </a:xfrm>
          <a:prstGeom prst="rect">
            <a:avLst/>
          </a:prstGeom>
          <a:noFill/>
          <a:ln/>
        </p:spPr>
        <p:txBody>
          <a:bodyPr wrap="square" lIns="0" tIns="0" rIns="0" bIns="0" rtlCol="0" anchor="ctr"/>
          <a:lstStyle/>
          <a:p>
            <a:pPr indent="0" marL="0">
              <a:buNone/>
            </a:pPr>
            <a:r>
              <a:rPr lang="en-US" sz="1000" b="1" dirty="0">
                <a:solidFill>
                  <a:srgbClr val="EDA72C"/>
                </a:solidFill>
                <a:latin typeface="Courier New" pitchFamily="34" charset="0"/>
                <a:ea typeface="Courier New" pitchFamily="34" charset="-122"/>
                <a:cs typeface="Courier New" pitchFamily="34" charset="-120"/>
              </a:rPr>
              <a:t>originates_in</a:t>
            </a:r>
            <a:pPr indent="0" marL="0">
              <a:buNone/>
            </a:pPr>
            <a:r>
              <a:rPr lang="en-US" sz="1100" dirty="0">
                <a:solidFill>
                  <a:srgbClr val="22222A"/>
                </a:solidFill>
                <a:latin typeface="Calibri" pitchFamily="34" charset="0"/>
                <a:ea typeface="Calibri" pitchFamily="34" charset="-122"/>
                <a:cs typeface="Calibri" pitchFamily="34" charset="-120"/>
              </a:rPr>
              <a:t>  Inconsistent Responsiveness @67s</a:t>
            </a:r>
            <a:endParaRPr lang="en-US" sz="1000" dirty="0"/>
          </a:p>
        </p:txBody>
      </p:sp>
      <p:sp>
        <p:nvSpPr>
          <p:cNvPr id="16" name="Text 14"/>
          <p:cNvSpPr txBox="1"/>
          <p:nvPr/>
        </p:nvSpPr>
        <p:spPr>
          <a:xfrm>
            <a:off x="978408" y="5257800"/>
            <a:ext cx="4937760" cy="256032"/>
          </a:xfrm>
          <a:prstGeom prst="rect">
            <a:avLst/>
          </a:prstGeom>
          <a:noFill/>
          <a:ln/>
        </p:spPr>
        <p:txBody>
          <a:bodyPr wrap="square" lIns="0" tIns="0" rIns="0" bIns="0" rtlCol="0" anchor="ctr"/>
          <a:lstStyle/>
          <a:p>
            <a:pPr indent="0" marL="0">
              <a:buNone/>
            </a:pPr>
            <a:r>
              <a:rPr lang="en-US" sz="1000" b="1" dirty="0">
                <a:solidFill>
                  <a:srgbClr val="EDA72C"/>
                </a:solidFill>
                <a:latin typeface="Courier New" pitchFamily="34" charset="0"/>
                <a:ea typeface="Courier New" pitchFamily="34" charset="-122"/>
                <a:cs typeface="Courier New" pitchFamily="34" charset="-120"/>
              </a:rPr>
              <a:t>manifests_as</a:t>
            </a:r>
            <a:pPr indent="0" marL="0">
              <a:buNone/>
            </a:pPr>
            <a:r>
              <a:rPr lang="en-US" sz="1100" dirty="0">
                <a:solidFill>
                  <a:srgbClr val="22222A"/>
                </a:solidFill>
                <a:latin typeface="Calibri" pitchFamily="34" charset="0"/>
                <a:ea typeface="Calibri" pitchFamily="34" charset="-122"/>
                <a:cs typeface="Calibri" pitchFamily="34" charset="-120"/>
              </a:rPr>
              <a:t>  Escalating Anger @430s</a:t>
            </a:r>
            <a:endParaRPr lang="en-US" sz="1000" dirty="0"/>
          </a:p>
        </p:txBody>
      </p:sp>
      <p:sp>
        <p:nvSpPr>
          <p:cNvPr id="17" name="Text 15"/>
          <p:cNvSpPr txBox="1"/>
          <p:nvPr/>
        </p:nvSpPr>
        <p:spPr>
          <a:xfrm>
            <a:off x="978408" y="5541264"/>
            <a:ext cx="4937760" cy="256032"/>
          </a:xfrm>
          <a:prstGeom prst="rect">
            <a:avLst/>
          </a:prstGeom>
          <a:noFill/>
          <a:ln/>
        </p:spPr>
        <p:txBody>
          <a:bodyPr wrap="square" lIns="0" tIns="0" rIns="0" bIns="0" rtlCol="0" anchor="ctr"/>
          <a:lstStyle/>
          <a:p>
            <a:pPr indent="0" marL="0">
              <a:buNone/>
            </a:pPr>
            <a:r>
              <a:rPr lang="en-US" sz="1000" b="1" dirty="0">
                <a:solidFill>
                  <a:srgbClr val="EDA72C"/>
                </a:solidFill>
                <a:latin typeface="Courier New" pitchFamily="34" charset="0"/>
                <a:ea typeface="Courier New" pitchFamily="34" charset="-122"/>
                <a:cs typeface="Courier New" pitchFamily="34" charset="-120"/>
              </a:rPr>
              <a:t>manifests_as</a:t>
            </a:r>
            <a:pPr indent="0" marL="0">
              <a:buNone/>
            </a:pPr>
            <a:r>
              <a:rPr lang="en-US" sz="1100" dirty="0">
                <a:solidFill>
                  <a:srgbClr val="22222A"/>
                </a:solidFill>
                <a:latin typeface="Calibri" pitchFamily="34" charset="0"/>
                <a:ea typeface="Calibri" pitchFamily="34" charset="-122"/>
                <a:cs typeface="Calibri" pitchFamily="34" charset="-120"/>
              </a:rPr>
              <a:t>  Returning To The Relationship @502s</a:t>
            </a:r>
            <a:endParaRPr lang="en-US" sz="1000" dirty="0"/>
          </a:p>
        </p:txBody>
      </p:sp>
      <p:sp>
        <p:nvSpPr>
          <p:cNvPr id="18" name="Text 16"/>
          <p:cNvSpPr txBox="1"/>
          <p:nvPr/>
        </p:nvSpPr>
        <p:spPr>
          <a:xfrm>
            <a:off x="6583680" y="1572768"/>
            <a:ext cx="4937760" cy="256032"/>
          </a:xfrm>
          <a:prstGeom prst="rect">
            <a:avLst/>
          </a:prstGeom>
          <a:noFill/>
          <a:ln/>
        </p:spPr>
        <p:txBody>
          <a:bodyPr wrap="square" lIns="0" tIns="0" rIns="0" bIns="0" rtlCol="0" anchor="ctr"/>
          <a:lstStyle/>
          <a:p>
            <a:pPr indent="0" marL="0">
              <a:buNone/>
            </a:pPr>
            <a:r>
              <a:rPr lang="en-US" sz="1350" b="1" dirty="0">
                <a:solidFill>
                  <a:srgbClr val="7B4BD8"/>
                </a:solidFill>
                <a:latin typeface="Calibri" pitchFamily="34" charset="0"/>
                <a:ea typeface="Calibri" pitchFamily="34" charset="-122"/>
                <a:cs typeface="Calibri" pitchFamily="34" charset="-120"/>
              </a:rPr>
              <a:t>A stable id</a:t>
            </a:r>
            <a:endParaRPr lang="en-US" sz="1350" dirty="0"/>
          </a:p>
        </p:txBody>
      </p:sp>
      <p:sp>
        <p:nvSpPr>
          <p:cNvPr id="19" name="Text 17"/>
          <p:cNvSpPr txBox="1"/>
          <p:nvPr/>
        </p:nvSpPr>
        <p:spPr>
          <a:xfrm>
            <a:off x="6583680" y="1847088"/>
            <a:ext cx="4937760" cy="777240"/>
          </a:xfrm>
          <a:prstGeom prst="rect">
            <a:avLst/>
          </a:prstGeom>
          <a:noFill/>
          <a:ln/>
        </p:spPr>
        <p:txBody>
          <a:bodyPr wrap="square" lIns="0" tIns="0" rIns="0" bIns="0" rtlCol="0" anchor="ctr"/>
          <a:lstStyle/>
          <a:p>
            <a:pPr indent="0" marL="0">
              <a:lnSpc>
                <a:spcPts val="1650"/>
              </a:lnSpc>
              <a:buNone/>
            </a:pPr>
            <a:r>
              <a:rPr lang="en-US" sz="1150" dirty="0">
                <a:solidFill>
                  <a:srgbClr val="6A6875"/>
                </a:solidFill>
                <a:latin typeface="Calibri" pitchFamily="34" charset="0"/>
                <a:ea typeface="Calibri" pitchFamily="34" charset="-122"/>
                <a:cs typeface="Calibri" pitchFamily="34" charset="-120"/>
              </a:rPr>
              <a:t>strategies/hyperactivating-strategies — the same string names it in the JSON, in a URL and on the site.</a:t>
            </a:r>
            <a:endParaRPr lang="en-US" sz="1150" dirty="0"/>
          </a:p>
        </p:txBody>
      </p:sp>
      <p:sp>
        <p:nvSpPr>
          <p:cNvPr id="20" name="Text 18"/>
          <p:cNvSpPr txBox="1"/>
          <p:nvPr/>
        </p:nvSpPr>
        <p:spPr>
          <a:xfrm>
            <a:off x="6583680" y="2706624"/>
            <a:ext cx="4937760" cy="256032"/>
          </a:xfrm>
          <a:prstGeom prst="rect">
            <a:avLst/>
          </a:prstGeom>
          <a:noFill/>
          <a:ln/>
        </p:spPr>
        <p:txBody>
          <a:bodyPr wrap="square" lIns="0" tIns="0" rIns="0" bIns="0" rtlCol="0" anchor="ctr"/>
          <a:lstStyle/>
          <a:p>
            <a:pPr indent="0" marL="0">
              <a:buNone/>
            </a:pPr>
            <a:r>
              <a:rPr lang="en-US" sz="1350" b="1" dirty="0">
                <a:solidFill>
                  <a:srgbClr val="7B4BD8"/>
                </a:solidFill>
                <a:latin typeface="Calibri" pitchFamily="34" charset="0"/>
                <a:ea typeface="Calibri" pitchFamily="34" charset="-122"/>
                <a:cs typeface="Calibri" pitchFamily="34" charset="-120"/>
              </a:rPr>
              <a:t>Aliases</a:t>
            </a:r>
            <a:endParaRPr lang="en-US" sz="1350" dirty="0"/>
          </a:p>
        </p:txBody>
      </p:sp>
      <p:sp>
        <p:nvSpPr>
          <p:cNvPr id="21" name="Text 19"/>
          <p:cNvSpPr txBox="1"/>
          <p:nvPr/>
        </p:nvSpPr>
        <p:spPr>
          <a:xfrm>
            <a:off x="6583680" y="2980944"/>
            <a:ext cx="4937760" cy="777240"/>
          </a:xfrm>
          <a:prstGeom prst="rect">
            <a:avLst/>
          </a:prstGeom>
          <a:noFill/>
          <a:ln/>
        </p:spPr>
        <p:txBody>
          <a:bodyPr wrap="square" lIns="0" tIns="0" rIns="0" bIns="0" rtlCol="0" anchor="ctr"/>
          <a:lstStyle/>
          <a:p>
            <a:pPr indent="0" marL="0">
              <a:lnSpc>
                <a:spcPts val="1650"/>
              </a:lnSpc>
              <a:buNone/>
            </a:pPr>
            <a:r>
              <a:rPr lang="en-US" sz="1150" dirty="0">
                <a:solidFill>
                  <a:srgbClr val="6A6875"/>
                </a:solidFill>
                <a:latin typeface="Calibri" pitchFamily="34" charset="0"/>
                <a:ea typeface="Calibri" pitchFamily="34" charset="-122"/>
                <a:cs typeface="Calibri" pitchFamily="34" charset="-120"/>
              </a:rPr>
              <a:t>So a search for "protest behaviour" or "chasing connection" lands on it, and so an assistant can resolve a name it was given loosely.</a:t>
            </a:r>
            <a:endParaRPr lang="en-US" sz="1150" dirty="0"/>
          </a:p>
        </p:txBody>
      </p:sp>
      <p:sp>
        <p:nvSpPr>
          <p:cNvPr id="22" name="Text 20"/>
          <p:cNvSpPr txBox="1"/>
          <p:nvPr/>
        </p:nvSpPr>
        <p:spPr>
          <a:xfrm>
            <a:off x="6583680" y="3840480"/>
            <a:ext cx="4937760" cy="256032"/>
          </a:xfrm>
          <a:prstGeom prst="rect">
            <a:avLst/>
          </a:prstGeom>
          <a:noFill/>
          <a:ln/>
        </p:spPr>
        <p:txBody>
          <a:bodyPr wrap="square" lIns="0" tIns="0" rIns="0" bIns="0" rtlCol="0" anchor="ctr"/>
          <a:lstStyle/>
          <a:p>
            <a:pPr indent="0" marL="0">
              <a:buNone/>
            </a:pPr>
            <a:r>
              <a:rPr lang="en-US" sz="1350" b="1" dirty="0">
                <a:solidFill>
                  <a:srgbClr val="7B4BD8"/>
                </a:solidFill>
                <a:latin typeface="Calibri" pitchFamily="34" charset="0"/>
                <a:ea typeface="Calibri" pitchFamily="34" charset="-122"/>
                <a:cs typeface="Calibri" pitchFamily="34" charset="-120"/>
              </a:rPr>
              <a:t>A lens per style</a:t>
            </a:r>
            <a:endParaRPr lang="en-US" sz="1350" dirty="0"/>
          </a:p>
        </p:txBody>
      </p:sp>
      <p:sp>
        <p:nvSpPr>
          <p:cNvPr id="23" name="Text 21"/>
          <p:cNvSpPr txBox="1"/>
          <p:nvPr/>
        </p:nvSpPr>
        <p:spPr>
          <a:xfrm>
            <a:off x="6583680" y="4114800"/>
            <a:ext cx="4937760" cy="777240"/>
          </a:xfrm>
          <a:prstGeom prst="rect">
            <a:avLst/>
          </a:prstGeom>
          <a:noFill/>
          <a:ln/>
        </p:spPr>
        <p:txBody>
          <a:bodyPr wrap="square" lIns="0" tIns="0" rIns="0" bIns="0" rtlCol="0" anchor="ctr"/>
          <a:lstStyle/>
          <a:p>
            <a:pPr indent="0" marL="0">
              <a:lnSpc>
                <a:spcPts val="1650"/>
              </a:lnSpc>
              <a:buNone/>
            </a:pPr>
            <a:r>
              <a:rPr lang="en-US" sz="1150" dirty="0">
                <a:solidFill>
                  <a:srgbClr val="6A6875"/>
                </a:solidFill>
                <a:latin typeface="Calibri" pitchFamily="34" charset="0"/>
                <a:ea typeface="Calibri" pitchFamily="34" charset="-122"/>
                <a:cs typeface="Calibri" pitchFamily="34" charset="-120"/>
              </a:rPr>
              <a:t>core for anxious-preoccupied, alternating for fearful-avoidant, absent for the other two. The same topology reads differently through each.</a:t>
            </a:r>
            <a:endParaRPr lang="en-US" sz="1150" dirty="0"/>
          </a:p>
        </p:txBody>
      </p:sp>
      <p:sp>
        <p:nvSpPr>
          <p:cNvPr id="24" name="Text 22"/>
          <p:cNvSpPr txBox="1"/>
          <p:nvPr/>
        </p:nvSpPr>
        <p:spPr>
          <a:xfrm>
            <a:off x="6583680" y="4974336"/>
            <a:ext cx="4937760" cy="256032"/>
          </a:xfrm>
          <a:prstGeom prst="rect">
            <a:avLst/>
          </a:prstGeom>
          <a:noFill/>
          <a:ln/>
        </p:spPr>
        <p:txBody>
          <a:bodyPr wrap="square" lIns="0" tIns="0" rIns="0" bIns="0" rtlCol="0" anchor="ctr"/>
          <a:lstStyle/>
          <a:p>
            <a:pPr indent="0" marL="0">
              <a:buNone/>
            </a:pPr>
            <a:r>
              <a:rPr lang="en-US" sz="1350" b="1" dirty="0">
                <a:solidFill>
                  <a:srgbClr val="7B4BD8"/>
                </a:solidFill>
                <a:latin typeface="Calibri" pitchFamily="34" charset="0"/>
                <a:ea typeface="Calibri" pitchFamily="34" charset="-122"/>
                <a:cs typeface="Calibri" pitchFamily="34" charset="-120"/>
              </a:rPr>
              <a:t>Typed, cited edges</a:t>
            </a:r>
            <a:endParaRPr lang="en-US" sz="1350" dirty="0"/>
          </a:p>
        </p:txBody>
      </p:sp>
      <p:sp>
        <p:nvSpPr>
          <p:cNvPr id="25" name="Text 23"/>
          <p:cNvSpPr txBox="1"/>
          <p:nvPr/>
        </p:nvSpPr>
        <p:spPr>
          <a:xfrm>
            <a:off x="6583680" y="5248656"/>
            <a:ext cx="4937760" cy="777240"/>
          </a:xfrm>
          <a:prstGeom prst="rect">
            <a:avLst/>
          </a:prstGeom>
          <a:noFill/>
          <a:ln/>
        </p:spPr>
        <p:txBody>
          <a:bodyPr wrap="square" lIns="0" tIns="0" rIns="0" bIns="0" rtlCol="0" anchor="ctr"/>
          <a:lstStyle/>
          <a:p>
            <a:pPr indent="0" marL="0">
              <a:lnSpc>
                <a:spcPts val="1650"/>
              </a:lnSpc>
              <a:buNone/>
            </a:pPr>
            <a:r>
              <a:rPr lang="en-US" sz="1150" dirty="0">
                <a:solidFill>
                  <a:srgbClr val="6A6875"/>
                </a:solidFill>
                <a:latin typeface="Calibri" pitchFamily="34" charset="0"/>
                <a:ea typeface="Calibri" pitchFamily="34" charset="-122"/>
                <a:cs typeface="Calibri" pitchFamily="34" charset="-120"/>
              </a:rPr>
              <a:t>Not "see also". mirrors → Deactivating Strategies, at 6:05 of a named video.</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807C8A"/>
                </a:solidFill>
                <a:latin typeface="Calibri" pitchFamily="34" charset="0"/>
                <a:ea typeface="Calibri" pitchFamily="34" charset="-122"/>
                <a:cs typeface="Calibri" pitchFamily="34" charset="-120"/>
              </a:rPr>
              <a:t>8</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7B4BD8"/>
                </a:solidFill>
                <a:latin typeface="Calibri" pitchFamily="34" charset="0"/>
                <a:ea typeface="Calibri" pitchFamily="34" charset="-122"/>
                <a:cs typeface="Calibri" pitchFamily="34" charset="-120"/>
              </a:rPr>
              <a:t>THE GRAMMAR</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200" b="1" dirty="0">
                <a:solidFill>
                  <a:srgbClr val="22222A"/>
                </a:solidFill>
                <a:latin typeface="Cambria" pitchFamily="34" charset="0"/>
                <a:ea typeface="Cambria" pitchFamily="34" charset="-122"/>
                <a:cs typeface="Cambria" pitchFamily="34" charset="-120"/>
              </a:rPr>
              <a:t>Sixteen relationships, in five families</a:t>
            </a:r>
            <a:endParaRPr lang="en-US" sz="3200" dirty="0"/>
          </a:p>
        </p:txBody>
      </p:sp>
      <p:sp>
        <p:nvSpPr>
          <p:cNvPr id="5" name="Text 3"/>
          <p:cNvSpPr txBox="1"/>
          <p:nvPr/>
        </p:nvSpPr>
        <p:spPr>
          <a:xfrm>
            <a:off x="658368" y="1609344"/>
            <a:ext cx="8482468" cy="365760"/>
          </a:xfrm>
          <a:prstGeom prst="rect">
            <a:avLst/>
          </a:prstGeom>
          <a:noFill/>
          <a:ln/>
        </p:spPr>
        <p:txBody>
          <a:bodyPr wrap="square" lIns="0" tIns="0" rIns="0" bIns="0" rtlCol="0" anchor="ctr"/>
          <a:lstStyle/>
          <a:p>
            <a:pPr indent="0" marL="0">
              <a:lnSpc>
                <a:spcPts val="2100"/>
              </a:lnSpc>
              <a:buNone/>
            </a:pPr>
            <a:r>
              <a:rPr lang="en-US" sz="1450" dirty="0">
                <a:solidFill>
                  <a:srgbClr val="6A6875"/>
                </a:solidFill>
                <a:latin typeface="Calibri" pitchFamily="34" charset="0"/>
                <a:ea typeface="Calibri" pitchFamily="34" charset="-122"/>
                <a:cs typeface="Calibri" pitchFamily="34" charset="-120"/>
              </a:rPr>
              <a:t>Direction is enforced at authoring time, so it can be relied on downstream: A triggers B means A fires B, never the reverse.</a:t>
            </a:r>
            <a:endParaRPr lang="en-US" sz="1450" dirty="0"/>
          </a:p>
        </p:txBody>
      </p:sp>
      <p:sp>
        <p:nvSpPr>
          <p:cNvPr id="6" name="Shape 4"/>
          <p:cNvSpPr/>
          <p:nvPr/>
        </p:nvSpPr>
        <p:spPr>
          <a:xfrm>
            <a:off x="658368" y="2432304"/>
            <a:ext cx="164592" cy="164592"/>
          </a:xfrm>
          <a:prstGeom prst="ellipse">
            <a:avLst/>
          </a:prstGeom>
          <a:solidFill>
            <a:srgbClr val="EDA72C"/>
          </a:solidFill>
          <a:ln w="12700">
            <a:solidFill>
              <a:srgbClr val="333333"/>
            </a:solidFill>
            <a:prstDash val="solid"/>
          </a:ln>
        </p:spPr>
      </p:sp>
      <p:sp>
        <p:nvSpPr>
          <p:cNvPr id="7" name="Text 5"/>
          <p:cNvSpPr txBox="1"/>
          <p:nvPr/>
        </p:nvSpPr>
        <p:spPr>
          <a:xfrm>
            <a:off x="932688" y="2359152"/>
            <a:ext cx="3291840" cy="274320"/>
          </a:xfrm>
          <a:prstGeom prst="rect">
            <a:avLst/>
          </a:prstGeom>
          <a:noFill/>
          <a:ln/>
        </p:spPr>
        <p:txBody>
          <a:bodyPr wrap="square" lIns="0" tIns="0" rIns="0" bIns="0" rtlCol="0" anchor="ctr"/>
          <a:lstStyle/>
          <a:p>
            <a:pPr indent="0" marL="0">
              <a:buNone/>
            </a:pPr>
            <a:r>
              <a:rPr lang="en-US" sz="1350" b="1" dirty="0">
                <a:solidFill>
                  <a:srgbClr val="22222A"/>
                </a:solidFill>
                <a:latin typeface="Calibri" pitchFamily="34" charset="0"/>
                <a:ea typeface="Calibri" pitchFamily="34" charset="-122"/>
                <a:cs typeface="Calibri" pitchFamily="34" charset="-120"/>
              </a:rPr>
              <a:t>activation</a:t>
            </a:r>
            <a:pPr indent="0" marL="0">
              <a:buNone/>
            </a:pPr>
            <a:r>
              <a:rPr lang="en-US" sz="1150" dirty="0">
                <a:solidFill>
                  <a:srgbClr val="807C8A"/>
                </a:solidFill>
                <a:latin typeface="Calibri" pitchFamily="34" charset="0"/>
                <a:ea typeface="Calibri" pitchFamily="34" charset="-122"/>
                <a:cs typeface="Calibri" pitchFamily="34" charset="-120"/>
              </a:rPr>
              <a:t>   what fires what</a:t>
            </a:r>
            <a:endParaRPr lang="en-US" sz="1350" dirty="0"/>
          </a:p>
        </p:txBody>
      </p:sp>
      <p:sp>
        <p:nvSpPr>
          <p:cNvPr id="8" name="Shape 6"/>
          <p:cNvSpPr/>
          <p:nvPr/>
        </p:nvSpPr>
        <p:spPr>
          <a:xfrm>
            <a:off x="3950208" y="2340864"/>
            <a:ext cx="1426464" cy="329184"/>
          </a:xfrm>
          <a:prstGeom prst="roundRect">
            <a:avLst>
              <a:gd name="adj" fmla="val 16667"/>
            </a:avLst>
          </a:prstGeom>
          <a:solidFill>
            <a:srgbClr val="F7F5FA"/>
          </a:solidFill>
          <a:ln w="9525">
            <a:solidFill>
              <a:srgbClr val="E5E2E8"/>
            </a:solidFill>
            <a:prstDash val="solid"/>
          </a:ln>
        </p:spPr>
      </p:sp>
      <p:sp>
        <p:nvSpPr>
          <p:cNvPr id="9" name="Text 7"/>
          <p:cNvSpPr txBox="1"/>
          <p:nvPr/>
        </p:nvSpPr>
        <p:spPr>
          <a:xfrm>
            <a:off x="3950208" y="2340864"/>
            <a:ext cx="1426464" cy="329184"/>
          </a:xfrm>
          <a:prstGeom prst="rect">
            <a:avLst/>
          </a:prstGeom>
          <a:noFill/>
          <a:ln/>
        </p:spPr>
        <p:txBody>
          <a:bodyPr wrap="square" lIns="0" tIns="0" rIns="0" bIns="0" rtlCol="0" anchor="ctr"/>
          <a:lstStyle/>
          <a:p>
            <a:pPr algn="ctr" indent="0" marL="0">
              <a:buNone/>
            </a:pPr>
            <a:r>
              <a:rPr lang="en-US" sz="950" b="1" dirty="0">
                <a:solidFill>
                  <a:srgbClr val="EDA72C"/>
                </a:solidFill>
                <a:latin typeface="Courier New" pitchFamily="34" charset="0"/>
                <a:ea typeface="Courier New" pitchFamily="34" charset="-122"/>
                <a:cs typeface="Courier New" pitchFamily="34" charset="-120"/>
              </a:rPr>
              <a:t>triggers</a:t>
            </a:r>
            <a:endParaRPr lang="en-US" sz="950" dirty="0"/>
          </a:p>
        </p:txBody>
      </p:sp>
      <p:sp>
        <p:nvSpPr>
          <p:cNvPr id="10" name="Text 8"/>
          <p:cNvSpPr txBox="1"/>
          <p:nvPr/>
        </p:nvSpPr>
        <p:spPr>
          <a:xfrm>
            <a:off x="3950208" y="2688336"/>
            <a:ext cx="1426464" cy="201168"/>
          </a:xfrm>
          <a:prstGeom prst="rect">
            <a:avLst/>
          </a:prstGeom>
          <a:noFill/>
          <a:ln/>
        </p:spPr>
        <p:txBody>
          <a:bodyPr wrap="square" lIns="0" tIns="0" rIns="0" bIns="0" rtlCol="0" anchor="ctr"/>
          <a:lstStyle/>
          <a:p>
            <a:pPr algn="ctr" indent="0" marL="0">
              <a:buNone/>
            </a:pPr>
            <a:r>
              <a:rPr lang="en-US" sz="900" dirty="0">
                <a:solidFill>
                  <a:srgbClr val="6A6875"/>
                </a:solidFill>
                <a:latin typeface="Calibri" pitchFamily="34" charset="0"/>
                <a:ea typeface="Calibri" pitchFamily="34" charset="-122"/>
                <a:cs typeface="Calibri" pitchFamily="34" charset="-120"/>
              </a:rPr>
              <a:t>36</a:t>
            </a:r>
            <a:endParaRPr lang="en-US" sz="900" dirty="0"/>
          </a:p>
        </p:txBody>
      </p:sp>
      <p:sp>
        <p:nvSpPr>
          <p:cNvPr id="11" name="Shape 9"/>
          <p:cNvSpPr/>
          <p:nvPr/>
        </p:nvSpPr>
        <p:spPr>
          <a:xfrm>
            <a:off x="5486400" y="2340864"/>
            <a:ext cx="1426464" cy="329184"/>
          </a:xfrm>
          <a:prstGeom prst="roundRect">
            <a:avLst>
              <a:gd name="adj" fmla="val 16667"/>
            </a:avLst>
          </a:prstGeom>
          <a:solidFill>
            <a:srgbClr val="F7F5FA"/>
          </a:solidFill>
          <a:ln w="9525">
            <a:solidFill>
              <a:srgbClr val="E5E2E8"/>
            </a:solidFill>
            <a:prstDash val="solid"/>
          </a:ln>
        </p:spPr>
      </p:sp>
      <p:sp>
        <p:nvSpPr>
          <p:cNvPr id="12" name="Text 10"/>
          <p:cNvSpPr txBox="1"/>
          <p:nvPr/>
        </p:nvSpPr>
        <p:spPr>
          <a:xfrm>
            <a:off x="5486400" y="2340864"/>
            <a:ext cx="1426464" cy="329184"/>
          </a:xfrm>
          <a:prstGeom prst="rect">
            <a:avLst/>
          </a:prstGeom>
          <a:noFill/>
          <a:ln/>
        </p:spPr>
        <p:txBody>
          <a:bodyPr wrap="square" lIns="0" tIns="0" rIns="0" bIns="0" rtlCol="0" anchor="ctr"/>
          <a:lstStyle/>
          <a:p>
            <a:pPr algn="ctr" indent="0" marL="0">
              <a:buNone/>
            </a:pPr>
            <a:r>
              <a:rPr lang="en-US" sz="950" b="1" dirty="0">
                <a:solidFill>
                  <a:srgbClr val="EDA72C"/>
                </a:solidFill>
                <a:latin typeface="Courier New" pitchFamily="34" charset="0"/>
                <a:ea typeface="Courier New" pitchFamily="34" charset="-122"/>
                <a:cs typeface="Courier New" pitchFamily="34" charset="-120"/>
              </a:rPr>
              <a:t>deactivates</a:t>
            </a:r>
            <a:endParaRPr lang="en-US" sz="950" dirty="0"/>
          </a:p>
        </p:txBody>
      </p:sp>
      <p:sp>
        <p:nvSpPr>
          <p:cNvPr id="13" name="Text 11"/>
          <p:cNvSpPr txBox="1"/>
          <p:nvPr/>
        </p:nvSpPr>
        <p:spPr>
          <a:xfrm>
            <a:off x="5486400" y="2688336"/>
            <a:ext cx="1426464" cy="201168"/>
          </a:xfrm>
          <a:prstGeom prst="rect">
            <a:avLst/>
          </a:prstGeom>
          <a:noFill/>
          <a:ln/>
        </p:spPr>
        <p:txBody>
          <a:bodyPr wrap="square" lIns="0" tIns="0" rIns="0" bIns="0" rtlCol="0" anchor="ctr"/>
          <a:lstStyle/>
          <a:p>
            <a:pPr algn="ctr" indent="0" marL="0">
              <a:buNone/>
            </a:pPr>
            <a:r>
              <a:rPr lang="en-US" sz="900" dirty="0">
                <a:solidFill>
                  <a:srgbClr val="6A6875"/>
                </a:solidFill>
                <a:latin typeface="Calibri" pitchFamily="34" charset="0"/>
                <a:ea typeface="Calibri" pitchFamily="34" charset="-122"/>
                <a:cs typeface="Calibri" pitchFamily="34" charset="-120"/>
              </a:rPr>
              <a:t>3</a:t>
            </a:r>
            <a:endParaRPr lang="en-US" sz="900" dirty="0"/>
          </a:p>
        </p:txBody>
      </p:sp>
      <p:sp>
        <p:nvSpPr>
          <p:cNvPr id="14" name="Shape 12"/>
          <p:cNvSpPr/>
          <p:nvPr/>
        </p:nvSpPr>
        <p:spPr>
          <a:xfrm>
            <a:off x="7022592" y="2340864"/>
            <a:ext cx="1426464" cy="329184"/>
          </a:xfrm>
          <a:prstGeom prst="roundRect">
            <a:avLst>
              <a:gd name="adj" fmla="val 16667"/>
            </a:avLst>
          </a:prstGeom>
          <a:solidFill>
            <a:srgbClr val="F7F5FA"/>
          </a:solidFill>
          <a:ln w="9525">
            <a:solidFill>
              <a:srgbClr val="E5E2E8"/>
            </a:solidFill>
            <a:prstDash val="solid"/>
          </a:ln>
        </p:spPr>
      </p:sp>
      <p:sp>
        <p:nvSpPr>
          <p:cNvPr id="15" name="Text 13"/>
          <p:cNvSpPr txBox="1"/>
          <p:nvPr/>
        </p:nvSpPr>
        <p:spPr>
          <a:xfrm>
            <a:off x="7022592" y="2340864"/>
            <a:ext cx="1426464" cy="329184"/>
          </a:xfrm>
          <a:prstGeom prst="rect">
            <a:avLst/>
          </a:prstGeom>
          <a:noFill/>
          <a:ln/>
        </p:spPr>
        <p:txBody>
          <a:bodyPr wrap="square" lIns="0" tIns="0" rIns="0" bIns="0" rtlCol="0" anchor="ctr"/>
          <a:lstStyle/>
          <a:p>
            <a:pPr algn="ctr" indent="0" marL="0">
              <a:buNone/>
            </a:pPr>
            <a:r>
              <a:rPr lang="en-US" sz="950" b="1" dirty="0">
                <a:solidFill>
                  <a:srgbClr val="EDA72C"/>
                </a:solidFill>
                <a:latin typeface="Courier New" pitchFamily="34" charset="0"/>
                <a:ea typeface="Courier New" pitchFamily="34" charset="-122"/>
                <a:cs typeface="Courier New" pitchFamily="34" charset="-120"/>
              </a:rPr>
              <a:t>regulates</a:t>
            </a:r>
            <a:endParaRPr lang="en-US" sz="950" dirty="0"/>
          </a:p>
        </p:txBody>
      </p:sp>
      <p:sp>
        <p:nvSpPr>
          <p:cNvPr id="16" name="Text 14"/>
          <p:cNvSpPr txBox="1"/>
          <p:nvPr/>
        </p:nvSpPr>
        <p:spPr>
          <a:xfrm>
            <a:off x="7022592" y="2688336"/>
            <a:ext cx="1426464" cy="201168"/>
          </a:xfrm>
          <a:prstGeom prst="rect">
            <a:avLst/>
          </a:prstGeom>
          <a:noFill/>
          <a:ln/>
        </p:spPr>
        <p:txBody>
          <a:bodyPr wrap="square" lIns="0" tIns="0" rIns="0" bIns="0" rtlCol="0" anchor="ctr"/>
          <a:lstStyle/>
          <a:p>
            <a:pPr algn="ctr" indent="0" marL="0">
              <a:buNone/>
            </a:pPr>
            <a:r>
              <a:rPr lang="en-US" sz="900" dirty="0">
                <a:solidFill>
                  <a:srgbClr val="6A6875"/>
                </a:solidFill>
                <a:latin typeface="Calibri" pitchFamily="34" charset="0"/>
                <a:ea typeface="Calibri" pitchFamily="34" charset="-122"/>
                <a:cs typeface="Calibri" pitchFamily="34" charset="-120"/>
              </a:rPr>
              <a:t>78</a:t>
            </a:r>
            <a:endParaRPr lang="en-US" sz="900" dirty="0"/>
          </a:p>
        </p:txBody>
      </p:sp>
      <p:sp>
        <p:nvSpPr>
          <p:cNvPr id="17" name="Shape 15"/>
          <p:cNvSpPr/>
          <p:nvPr/>
        </p:nvSpPr>
        <p:spPr>
          <a:xfrm>
            <a:off x="658368" y="3145536"/>
            <a:ext cx="164592" cy="164592"/>
          </a:xfrm>
          <a:prstGeom prst="ellipse">
            <a:avLst/>
          </a:prstGeom>
          <a:solidFill>
            <a:srgbClr val="E04F86"/>
          </a:solidFill>
          <a:ln w="12700">
            <a:solidFill>
              <a:srgbClr val="333333"/>
            </a:solidFill>
            <a:prstDash val="solid"/>
          </a:ln>
        </p:spPr>
      </p:sp>
      <p:sp>
        <p:nvSpPr>
          <p:cNvPr id="18" name="Text 16"/>
          <p:cNvSpPr txBox="1"/>
          <p:nvPr/>
        </p:nvSpPr>
        <p:spPr>
          <a:xfrm>
            <a:off x="932688" y="3072384"/>
            <a:ext cx="3291840" cy="274320"/>
          </a:xfrm>
          <a:prstGeom prst="rect">
            <a:avLst/>
          </a:prstGeom>
          <a:noFill/>
          <a:ln/>
        </p:spPr>
        <p:txBody>
          <a:bodyPr wrap="square" lIns="0" tIns="0" rIns="0" bIns="0" rtlCol="0" anchor="ctr"/>
          <a:lstStyle/>
          <a:p>
            <a:pPr indent="0" marL="0">
              <a:buNone/>
            </a:pPr>
            <a:r>
              <a:rPr lang="en-US" sz="1350" b="1" dirty="0">
                <a:solidFill>
                  <a:srgbClr val="22222A"/>
                </a:solidFill>
                <a:latin typeface="Calibri" pitchFamily="34" charset="0"/>
                <a:ea typeface="Calibri" pitchFamily="34" charset="-122"/>
                <a:cs typeface="Calibri" pitchFamily="34" charset="-120"/>
              </a:rPr>
              <a:t>defense</a:t>
            </a:r>
            <a:pPr indent="0" marL="0">
              <a:buNone/>
            </a:pPr>
            <a:r>
              <a:rPr lang="en-US" sz="1150" dirty="0">
                <a:solidFill>
                  <a:srgbClr val="807C8A"/>
                </a:solidFill>
                <a:latin typeface="Calibri" pitchFamily="34" charset="0"/>
                <a:ea typeface="Calibri" pitchFamily="34" charset="-122"/>
                <a:cs typeface="Calibri" pitchFamily="34" charset="-120"/>
              </a:rPr>
              <a:t>   how the pattern is built</a:t>
            </a:r>
            <a:endParaRPr lang="en-US" sz="1350" dirty="0"/>
          </a:p>
        </p:txBody>
      </p:sp>
      <p:sp>
        <p:nvSpPr>
          <p:cNvPr id="19" name="Shape 17"/>
          <p:cNvSpPr/>
          <p:nvPr/>
        </p:nvSpPr>
        <p:spPr>
          <a:xfrm>
            <a:off x="3950208" y="3054096"/>
            <a:ext cx="1426464" cy="329184"/>
          </a:xfrm>
          <a:prstGeom prst="roundRect">
            <a:avLst>
              <a:gd name="adj" fmla="val 16667"/>
            </a:avLst>
          </a:prstGeom>
          <a:solidFill>
            <a:srgbClr val="F7F5FA"/>
          </a:solidFill>
          <a:ln w="9525">
            <a:solidFill>
              <a:srgbClr val="E5E2E8"/>
            </a:solidFill>
            <a:prstDash val="solid"/>
          </a:ln>
        </p:spPr>
      </p:sp>
      <p:sp>
        <p:nvSpPr>
          <p:cNvPr id="20" name="Text 18"/>
          <p:cNvSpPr txBox="1"/>
          <p:nvPr/>
        </p:nvSpPr>
        <p:spPr>
          <a:xfrm>
            <a:off x="3950208" y="3054096"/>
            <a:ext cx="1426464" cy="329184"/>
          </a:xfrm>
          <a:prstGeom prst="rect">
            <a:avLst/>
          </a:prstGeom>
          <a:noFill/>
          <a:ln/>
        </p:spPr>
        <p:txBody>
          <a:bodyPr wrap="square" lIns="0" tIns="0" rIns="0" bIns="0" rtlCol="0" anchor="ctr"/>
          <a:lstStyle/>
          <a:p>
            <a:pPr algn="ctr" indent="0" marL="0">
              <a:buNone/>
            </a:pPr>
            <a:r>
              <a:rPr lang="en-US" sz="950" b="1" dirty="0">
                <a:solidFill>
                  <a:srgbClr val="E04F86"/>
                </a:solidFill>
                <a:latin typeface="Courier New" pitchFamily="34" charset="0"/>
                <a:ea typeface="Courier New" pitchFamily="34" charset="-122"/>
                <a:cs typeface="Courier New" pitchFamily="34" charset="-120"/>
              </a:rPr>
              <a:t>defends_against</a:t>
            </a:r>
            <a:endParaRPr lang="en-US" sz="950" dirty="0"/>
          </a:p>
        </p:txBody>
      </p:sp>
      <p:sp>
        <p:nvSpPr>
          <p:cNvPr id="21" name="Text 19"/>
          <p:cNvSpPr txBox="1"/>
          <p:nvPr/>
        </p:nvSpPr>
        <p:spPr>
          <a:xfrm>
            <a:off x="3950208" y="3401568"/>
            <a:ext cx="1426464" cy="201168"/>
          </a:xfrm>
          <a:prstGeom prst="rect">
            <a:avLst/>
          </a:prstGeom>
          <a:noFill/>
          <a:ln/>
        </p:spPr>
        <p:txBody>
          <a:bodyPr wrap="square" lIns="0" tIns="0" rIns="0" bIns="0" rtlCol="0" anchor="ctr"/>
          <a:lstStyle/>
          <a:p>
            <a:pPr algn="ctr" indent="0" marL="0">
              <a:buNone/>
            </a:pPr>
            <a:r>
              <a:rPr lang="en-US" sz="900" dirty="0">
                <a:solidFill>
                  <a:srgbClr val="6A6875"/>
                </a:solidFill>
                <a:latin typeface="Calibri" pitchFamily="34" charset="0"/>
                <a:ea typeface="Calibri" pitchFamily="34" charset="-122"/>
                <a:cs typeface="Calibri" pitchFamily="34" charset="-120"/>
              </a:rPr>
              <a:t>15</a:t>
            </a:r>
            <a:endParaRPr lang="en-US" sz="900" dirty="0"/>
          </a:p>
        </p:txBody>
      </p:sp>
      <p:sp>
        <p:nvSpPr>
          <p:cNvPr id="22" name="Shape 20"/>
          <p:cNvSpPr/>
          <p:nvPr/>
        </p:nvSpPr>
        <p:spPr>
          <a:xfrm>
            <a:off x="5486400" y="3054096"/>
            <a:ext cx="1426464" cy="329184"/>
          </a:xfrm>
          <a:prstGeom prst="roundRect">
            <a:avLst>
              <a:gd name="adj" fmla="val 16667"/>
            </a:avLst>
          </a:prstGeom>
          <a:solidFill>
            <a:srgbClr val="F7F5FA"/>
          </a:solidFill>
          <a:ln w="9525">
            <a:solidFill>
              <a:srgbClr val="E5E2E8"/>
            </a:solidFill>
            <a:prstDash val="solid"/>
          </a:ln>
        </p:spPr>
      </p:sp>
      <p:sp>
        <p:nvSpPr>
          <p:cNvPr id="23" name="Text 21"/>
          <p:cNvSpPr txBox="1"/>
          <p:nvPr/>
        </p:nvSpPr>
        <p:spPr>
          <a:xfrm>
            <a:off x="5486400" y="3054096"/>
            <a:ext cx="1426464" cy="329184"/>
          </a:xfrm>
          <a:prstGeom prst="rect">
            <a:avLst/>
          </a:prstGeom>
          <a:noFill/>
          <a:ln/>
        </p:spPr>
        <p:txBody>
          <a:bodyPr wrap="square" lIns="0" tIns="0" rIns="0" bIns="0" rtlCol="0" anchor="ctr"/>
          <a:lstStyle/>
          <a:p>
            <a:pPr algn="ctr" indent="0" marL="0">
              <a:buNone/>
            </a:pPr>
            <a:r>
              <a:rPr lang="en-US" sz="950" b="1" dirty="0">
                <a:solidFill>
                  <a:srgbClr val="E04F86"/>
                </a:solidFill>
                <a:latin typeface="Courier New" pitchFamily="34" charset="0"/>
                <a:ea typeface="Courier New" pitchFamily="34" charset="-122"/>
                <a:cs typeface="Courier New" pitchFamily="34" charset="-120"/>
              </a:rPr>
              <a:t>manifests_as</a:t>
            </a:r>
            <a:endParaRPr lang="en-US" sz="950" dirty="0"/>
          </a:p>
        </p:txBody>
      </p:sp>
      <p:sp>
        <p:nvSpPr>
          <p:cNvPr id="24" name="Text 22"/>
          <p:cNvSpPr txBox="1"/>
          <p:nvPr/>
        </p:nvSpPr>
        <p:spPr>
          <a:xfrm>
            <a:off x="5486400" y="3401568"/>
            <a:ext cx="1426464" cy="201168"/>
          </a:xfrm>
          <a:prstGeom prst="rect">
            <a:avLst/>
          </a:prstGeom>
          <a:noFill/>
          <a:ln/>
        </p:spPr>
        <p:txBody>
          <a:bodyPr wrap="square" lIns="0" tIns="0" rIns="0" bIns="0" rtlCol="0" anchor="ctr"/>
          <a:lstStyle/>
          <a:p>
            <a:pPr algn="ctr" indent="0" marL="0">
              <a:buNone/>
            </a:pPr>
            <a:r>
              <a:rPr lang="en-US" sz="900" dirty="0">
                <a:solidFill>
                  <a:srgbClr val="6A6875"/>
                </a:solidFill>
                <a:latin typeface="Calibri" pitchFamily="34" charset="0"/>
                <a:ea typeface="Calibri" pitchFamily="34" charset="-122"/>
                <a:cs typeface="Calibri" pitchFamily="34" charset="-120"/>
              </a:rPr>
              <a:t>34</a:t>
            </a:r>
            <a:endParaRPr lang="en-US" sz="900" dirty="0"/>
          </a:p>
        </p:txBody>
      </p:sp>
      <p:sp>
        <p:nvSpPr>
          <p:cNvPr id="25" name="Shape 23"/>
          <p:cNvSpPr/>
          <p:nvPr/>
        </p:nvSpPr>
        <p:spPr>
          <a:xfrm>
            <a:off x="7022592" y="3054096"/>
            <a:ext cx="1426464" cy="329184"/>
          </a:xfrm>
          <a:prstGeom prst="roundRect">
            <a:avLst>
              <a:gd name="adj" fmla="val 16667"/>
            </a:avLst>
          </a:prstGeom>
          <a:solidFill>
            <a:srgbClr val="F7F5FA"/>
          </a:solidFill>
          <a:ln w="9525">
            <a:solidFill>
              <a:srgbClr val="E5E2E8"/>
            </a:solidFill>
            <a:prstDash val="solid"/>
          </a:ln>
        </p:spPr>
      </p:sp>
      <p:sp>
        <p:nvSpPr>
          <p:cNvPr id="26" name="Text 24"/>
          <p:cNvSpPr txBox="1"/>
          <p:nvPr/>
        </p:nvSpPr>
        <p:spPr>
          <a:xfrm>
            <a:off x="7022592" y="3054096"/>
            <a:ext cx="1426464" cy="329184"/>
          </a:xfrm>
          <a:prstGeom prst="rect">
            <a:avLst/>
          </a:prstGeom>
          <a:noFill/>
          <a:ln/>
        </p:spPr>
        <p:txBody>
          <a:bodyPr wrap="square" lIns="0" tIns="0" rIns="0" bIns="0" rtlCol="0" anchor="ctr"/>
          <a:lstStyle/>
          <a:p>
            <a:pPr algn="ctr" indent="0" marL="0">
              <a:buNone/>
            </a:pPr>
            <a:r>
              <a:rPr lang="en-US" sz="950" b="1" dirty="0">
                <a:solidFill>
                  <a:srgbClr val="E04F86"/>
                </a:solidFill>
                <a:latin typeface="Courier New" pitchFamily="34" charset="0"/>
                <a:ea typeface="Courier New" pitchFamily="34" charset="-122"/>
                <a:cs typeface="Courier New" pitchFamily="34" charset="-120"/>
              </a:rPr>
              <a:t>sustains</a:t>
            </a:r>
            <a:endParaRPr lang="en-US" sz="950" dirty="0"/>
          </a:p>
        </p:txBody>
      </p:sp>
      <p:sp>
        <p:nvSpPr>
          <p:cNvPr id="27" name="Text 25"/>
          <p:cNvSpPr txBox="1"/>
          <p:nvPr/>
        </p:nvSpPr>
        <p:spPr>
          <a:xfrm>
            <a:off x="7022592" y="3401568"/>
            <a:ext cx="1426464" cy="201168"/>
          </a:xfrm>
          <a:prstGeom prst="rect">
            <a:avLst/>
          </a:prstGeom>
          <a:noFill/>
          <a:ln/>
        </p:spPr>
        <p:txBody>
          <a:bodyPr wrap="square" lIns="0" tIns="0" rIns="0" bIns="0" rtlCol="0" anchor="ctr"/>
          <a:lstStyle/>
          <a:p>
            <a:pPr algn="ctr" indent="0" marL="0">
              <a:buNone/>
            </a:pPr>
            <a:r>
              <a:rPr lang="en-US" sz="900" dirty="0">
                <a:solidFill>
                  <a:srgbClr val="6A6875"/>
                </a:solidFill>
                <a:latin typeface="Calibri" pitchFamily="34" charset="0"/>
                <a:ea typeface="Calibri" pitchFamily="34" charset="-122"/>
                <a:cs typeface="Calibri" pitchFamily="34" charset="-120"/>
              </a:rPr>
              <a:t>56</a:t>
            </a:r>
            <a:endParaRPr lang="en-US" sz="900" dirty="0"/>
          </a:p>
        </p:txBody>
      </p:sp>
      <p:sp>
        <p:nvSpPr>
          <p:cNvPr id="28" name="Shape 26"/>
          <p:cNvSpPr/>
          <p:nvPr/>
        </p:nvSpPr>
        <p:spPr>
          <a:xfrm>
            <a:off x="8558784" y="3054096"/>
            <a:ext cx="1426464" cy="329184"/>
          </a:xfrm>
          <a:prstGeom prst="roundRect">
            <a:avLst>
              <a:gd name="adj" fmla="val 16667"/>
            </a:avLst>
          </a:prstGeom>
          <a:solidFill>
            <a:srgbClr val="F7F5FA"/>
          </a:solidFill>
          <a:ln w="9525">
            <a:solidFill>
              <a:srgbClr val="E5E2E8"/>
            </a:solidFill>
            <a:prstDash val="solid"/>
          </a:ln>
        </p:spPr>
      </p:sp>
      <p:sp>
        <p:nvSpPr>
          <p:cNvPr id="29" name="Text 27"/>
          <p:cNvSpPr txBox="1"/>
          <p:nvPr/>
        </p:nvSpPr>
        <p:spPr>
          <a:xfrm>
            <a:off x="8558784" y="3054096"/>
            <a:ext cx="1426464" cy="329184"/>
          </a:xfrm>
          <a:prstGeom prst="rect">
            <a:avLst/>
          </a:prstGeom>
          <a:noFill/>
          <a:ln/>
        </p:spPr>
        <p:txBody>
          <a:bodyPr wrap="square" lIns="0" tIns="0" rIns="0" bIns="0" rtlCol="0" anchor="ctr"/>
          <a:lstStyle/>
          <a:p>
            <a:pPr algn="ctr" indent="0" marL="0">
              <a:buNone/>
            </a:pPr>
            <a:r>
              <a:rPr lang="en-US" sz="950" b="1" dirty="0">
                <a:solidFill>
                  <a:srgbClr val="E04F86"/>
                </a:solidFill>
                <a:latin typeface="Courier New" pitchFamily="34" charset="0"/>
                <a:ea typeface="Courier New" pitchFamily="34" charset="-122"/>
                <a:cs typeface="Courier New" pitchFamily="34" charset="-120"/>
              </a:rPr>
              <a:t>originates_in</a:t>
            </a:r>
            <a:endParaRPr lang="en-US" sz="950" dirty="0"/>
          </a:p>
        </p:txBody>
      </p:sp>
      <p:sp>
        <p:nvSpPr>
          <p:cNvPr id="30" name="Text 28"/>
          <p:cNvSpPr txBox="1"/>
          <p:nvPr/>
        </p:nvSpPr>
        <p:spPr>
          <a:xfrm>
            <a:off x="8558784" y="3401568"/>
            <a:ext cx="1426464" cy="201168"/>
          </a:xfrm>
          <a:prstGeom prst="rect">
            <a:avLst/>
          </a:prstGeom>
          <a:noFill/>
          <a:ln/>
        </p:spPr>
        <p:txBody>
          <a:bodyPr wrap="square" lIns="0" tIns="0" rIns="0" bIns="0" rtlCol="0" anchor="ctr"/>
          <a:lstStyle/>
          <a:p>
            <a:pPr algn="ctr" indent="0" marL="0">
              <a:buNone/>
            </a:pPr>
            <a:r>
              <a:rPr lang="en-US" sz="900" dirty="0">
                <a:solidFill>
                  <a:srgbClr val="6A6875"/>
                </a:solidFill>
                <a:latin typeface="Calibri" pitchFamily="34" charset="0"/>
                <a:ea typeface="Calibri" pitchFamily="34" charset="-122"/>
                <a:cs typeface="Calibri" pitchFamily="34" charset="-120"/>
              </a:rPr>
              <a:t>60</a:t>
            </a:r>
            <a:endParaRPr lang="en-US" sz="900" dirty="0"/>
          </a:p>
        </p:txBody>
      </p:sp>
      <p:sp>
        <p:nvSpPr>
          <p:cNvPr id="31" name="Shape 29"/>
          <p:cNvSpPr/>
          <p:nvPr/>
        </p:nvSpPr>
        <p:spPr>
          <a:xfrm>
            <a:off x="658368" y="3858768"/>
            <a:ext cx="164592" cy="164592"/>
          </a:xfrm>
          <a:prstGeom prst="ellipse">
            <a:avLst/>
          </a:prstGeom>
          <a:solidFill>
            <a:srgbClr val="5B83E8"/>
          </a:solidFill>
          <a:ln w="12700">
            <a:solidFill>
              <a:srgbClr val="333333"/>
            </a:solidFill>
            <a:prstDash val="solid"/>
          </a:ln>
        </p:spPr>
      </p:sp>
      <p:sp>
        <p:nvSpPr>
          <p:cNvPr id="32" name="Text 30"/>
          <p:cNvSpPr txBox="1"/>
          <p:nvPr/>
        </p:nvSpPr>
        <p:spPr>
          <a:xfrm>
            <a:off x="932688" y="3785616"/>
            <a:ext cx="3291840" cy="274320"/>
          </a:xfrm>
          <a:prstGeom prst="rect">
            <a:avLst/>
          </a:prstGeom>
          <a:noFill/>
          <a:ln/>
        </p:spPr>
        <p:txBody>
          <a:bodyPr wrap="square" lIns="0" tIns="0" rIns="0" bIns="0" rtlCol="0" anchor="ctr"/>
          <a:lstStyle/>
          <a:p>
            <a:pPr indent="0" marL="0">
              <a:buNone/>
            </a:pPr>
            <a:r>
              <a:rPr lang="en-US" sz="1350" b="1" dirty="0">
                <a:solidFill>
                  <a:srgbClr val="22222A"/>
                </a:solidFill>
                <a:latin typeface="Calibri" pitchFamily="34" charset="0"/>
                <a:ea typeface="Calibri" pitchFamily="34" charset="-122"/>
                <a:cs typeface="Calibri" pitchFamily="34" charset="-120"/>
              </a:rPr>
              <a:t>identity</a:t>
            </a:r>
            <a:pPr indent="0" marL="0">
              <a:buNone/>
            </a:pPr>
            <a:r>
              <a:rPr lang="en-US" sz="1150" dirty="0">
                <a:solidFill>
                  <a:srgbClr val="807C8A"/>
                </a:solidFill>
                <a:latin typeface="Calibri" pitchFamily="34" charset="0"/>
                <a:ea typeface="Calibri" pitchFamily="34" charset="-122"/>
                <a:cs typeface="Calibri" pitchFamily="34" charset="-120"/>
              </a:rPr>
              <a:t>   how things compare</a:t>
            </a:r>
            <a:endParaRPr lang="en-US" sz="1350" dirty="0"/>
          </a:p>
        </p:txBody>
      </p:sp>
      <p:sp>
        <p:nvSpPr>
          <p:cNvPr id="33" name="Shape 31"/>
          <p:cNvSpPr/>
          <p:nvPr/>
        </p:nvSpPr>
        <p:spPr>
          <a:xfrm>
            <a:off x="3950208" y="3767328"/>
            <a:ext cx="1426464" cy="329184"/>
          </a:xfrm>
          <a:prstGeom prst="roundRect">
            <a:avLst>
              <a:gd name="adj" fmla="val 16667"/>
            </a:avLst>
          </a:prstGeom>
          <a:solidFill>
            <a:srgbClr val="F7F5FA"/>
          </a:solidFill>
          <a:ln w="9525">
            <a:solidFill>
              <a:srgbClr val="E5E2E8"/>
            </a:solidFill>
            <a:prstDash val="solid"/>
          </a:ln>
        </p:spPr>
      </p:sp>
      <p:sp>
        <p:nvSpPr>
          <p:cNvPr id="34" name="Text 32"/>
          <p:cNvSpPr txBox="1"/>
          <p:nvPr/>
        </p:nvSpPr>
        <p:spPr>
          <a:xfrm>
            <a:off x="3950208" y="3767328"/>
            <a:ext cx="1426464" cy="329184"/>
          </a:xfrm>
          <a:prstGeom prst="rect">
            <a:avLst/>
          </a:prstGeom>
          <a:noFill/>
          <a:ln/>
        </p:spPr>
        <p:txBody>
          <a:bodyPr wrap="square" lIns="0" tIns="0" rIns="0" bIns="0" rtlCol="0" anchor="ctr"/>
          <a:lstStyle/>
          <a:p>
            <a:pPr algn="ctr" indent="0" marL="0">
              <a:buNone/>
            </a:pPr>
            <a:r>
              <a:rPr lang="en-US" sz="950" b="1" dirty="0">
                <a:solidFill>
                  <a:srgbClr val="5B83E8"/>
                </a:solidFill>
                <a:latin typeface="Courier New" pitchFamily="34" charset="0"/>
                <a:ea typeface="Courier New" pitchFamily="34" charset="-122"/>
                <a:cs typeface="Courier New" pitchFamily="34" charset="-120"/>
              </a:rPr>
              <a:t>characterizes</a:t>
            </a:r>
            <a:endParaRPr lang="en-US" sz="950" dirty="0"/>
          </a:p>
        </p:txBody>
      </p:sp>
      <p:sp>
        <p:nvSpPr>
          <p:cNvPr id="35" name="Text 33"/>
          <p:cNvSpPr txBox="1"/>
          <p:nvPr/>
        </p:nvSpPr>
        <p:spPr>
          <a:xfrm>
            <a:off x="3950208" y="4114800"/>
            <a:ext cx="1426464" cy="201168"/>
          </a:xfrm>
          <a:prstGeom prst="rect">
            <a:avLst/>
          </a:prstGeom>
          <a:noFill/>
          <a:ln/>
        </p:spPr>
        <p:txBody>
          <a:bodyPr wrap="square" lIns="0" tIns="0" rIns="0" bIns="0" rtlCol="0" anchor="ctr"/>
          <a:lstStyle/>
          <a:p>
            <a:pPr algn="ctr" indent="0" marL="0">
              <a:buNone/>
            </a:pPr>
            <a:r>
              <a:rPr lang="en-US" sz="900" dirty="0">
                <a:solidFill>
                  <a:srgbClr val="6A6875"/>
                </a:solidFill>
                <a:latin typeface="Calibri" pitchFamily="34" charset="0"/>
                <a:ea typeface="Calibri" pitchFamily="34" charset="-122"/>
                <a:cs typeface="Calibri" pitchFamily="34" charset="-120"/>
              </a:rPr>
              <a:t>224</a:t>
            </a:r>
            <a:endParaRPr lang="en-US" sz="900" dirty="0"/>
          </a:p>
        </p:txBody>
      </p:sp>
      <p:sp>
        <p:nvSpPr>
          <p:cNvPr id="36" name="Shape 34"/>
          <p:cNvSpPr/>
          <p:nvPr/>
        </p:nvSpPr>
        <p:spPr>
          <a:xfrm>
            <a:off x="5486400" y="3767328"/>
            <a:ext cx="1426464" cy="329184"/>
          </a:xfrm>
          <a:prstGeom prst="roundRect">
            <a:avLst>
              <a:gd name="adj" fmla="val 16667"/>
            </a:avLst>
          </a:prstGeom>
          <a:solidFill>
            <a:srgbClr val="F7F5FA"/>
          </a:solidFill>
          <a:ln w="9525">
            <a:solidFill>
              <a:srgbClr val="E5E2E8"/>
            </a:solidFill>
            <a:prstDash val="solid"/>
          </a:ln>
        </p:spPr>
      </p:sp>
      <p:sp>
        <p:nvSpPr>
          <p:cNvPr id="37" name="Text 35"/>
          <p:cNvSpPr txBox="1"/>
          <p:nvPr/>
        </p:nvSpPr>
        <p:spPr>
          <a:xfrm>
            <a:off x="5486400" y="3767328"/>
            <a:ext cx="1426464" cy="329184"/>
          </a:xfrm>
          <a:prstGeom prst="rect">
            <a:avLst/>
          </a:prstGeom>
          <a:noFill/>
          <a:ln/>
        </p:spPr>
        <p:txBody>
          <a:bodyPr wrap="square" lIns="0" tIns="0" rIns="0" bIns="0" rtlCol="0" anchor="ctr"/>
          <a:lstStyle/>
          <a:p>
            <a:pPr algn="ctr" indent="0" marL="0">
              <a:buNone/>
            </a:pPr>
            <a:r>
              <a:rPr lang="en-US" sz="950" b="1" dirty="0">
                <a:solidFill>
                  <a:srgbClr val="5B83E8"/>
                </a:solidFill>
                <a:latin typeface="Courier New" pitchFamily="34" charset="0"/>
                <a:ea typeface="Courier New" pitchFamily="34" charset="-122"/>
                <a:cs typeface="Courier New" pitchFamily="34" charset="-120"/>
              </a:rPr>
              <a:t>mirrors</a:t>
            </a:r>
            <a:endParaRPr lang="en-US" sz="950" dirty="0"/>
          </a:p>
        </p:txBody>
      </p:sp>
      <p:sp>
        <p:nvSpPr>
          <p:cNvPr id="38" name="Text 36"/>
          <p:cNvSpPr txBox="1"/>
          <p:nvPr/>
        </p:nvSpPr>
        <p:spPr>
          <a:xfrm>
            <a:off x="5486400" y="4114800"/>
            <a:ext cx="1426464" cy="201168"/>
          </a:xfrm>
          <a:prstGeom prst="rect">
            <a:avLst/>
          </a:prstGeom>
          <a:noFill/>
          <a:ln/>
        </p:spPr>
        <p:txBody>
          <a:bodyPr wrap="square" lIns="0" tIns="0" rIns="0" bIns="0" rtlCol="0" anchor="ctr"/>
          <a:lstStyle/>
          <a:p>
            <a:pPr algn="ctr" indent="0" marL="0">
              <a:buNone/>
            </a:pPr>
            <a:r>
              <a:rPr lang="en-US" sz="900" dirty="0">
                <a:solidFill>
                  <a:srgbClr val="6A6875"/>
                </a:solidFill>
                <a:latin typeface="Calibri" pitchFamily="34" charset="0"/>
                <a:ea typeface="Calibri" pitchFamily="34" charset="-122"/>
                <a:cs typeface="Calibri" pitchFamily="34" charset="-120"/>
              </a:rPr>
              <a:t>374</a:t>
            </a:r>
            <a:endParaRPr lang="en-US" sz="900" dirty="0"/>
          </a:p>
        </p:txBody>
      </p:sp>
      <p:sp>
        <p:nvSpPr>
          <p:cNvPr id="39" name="Shape 37"/>
          <p:cNvSpPr/>
          <p:nvPr/>
        </p:nvSpPr>
        <p:spPr>
          <a:xfrm>
            <a:off x="7022592" y="3767328"/>
            <a:ext cx="1426464" cy="329184"/>
          </a:xfrm>
          <a:prstGeom prst="roundRect">
            <a:avLst>
              <a:gd name="adj" fmla="val 16667"/>
            </a:avLst>
          </a:prstGeom>
          <a:solidFill>
            <a:srgbClr val="F7F5FA"/>
          </a:solidFill>
          <a:ln w="9525">
            <a:solidFill>
              <a:srgbClr val="E5E2E8"/>
            </a:solidFill>
            <a:prstDash val="solid"/>
          </a:ln>
        </p:spPr>
      </p:sp>
      <p:sp>
        <p:nvSpPr>
          <p:cNvPr id="40" name="Text 38"/>
          <p:cNvSpPr txBox="1"/>
          <p:nvPr/>
        </p:nvSpPr>
        <p:spPr>
          <a:xfrm>
            <a:off x="7022592" y="3767328"/>
            <a:ext cx="1426464" cy="329184"/>
          </a:xfrm>
          <a:prstGeom prst="rect">
            <a:avLst/>
          </a:prstGeom>
          <a:noFill/>
          <a:ln/>
        </p:spPr>
        <p:txBody>
          <a:bodyPr wrap="square" lIns="0" tIns="0" rIns="0" bIns="0" rtlCol="0" anchor="ctr"/>
          <a:lstStyle/>
          <a:p>
            <a:pPr algn="ctr" indent="0" marL="0">
              <a:buNone/>
            </a:pPr>
            <a:r>
              <a:rPr lang="en-US" sz="950" b="1" dirty="0">
                <a:solidFill>
                  <a:srgbClr val="5B83E8"/>
                </a:solidFill>
                <a:latin typeface="Courier New" pitchFamily="34" charset="0"/>
                <a:ea typeface="Courier New" pitchFamily="34" charset="-122"/>
                <a:cs typeface="Courier New" pitchFamily="34" charset="-120"/>
              </a:rPr>
              <a:t>contrasts_with</a:t>
            </a:r>
            <a:endParaRPr lang="en-US" sz="950" dirty="0"/>
          </a:p>
        </p:txBody>
      </p:sp>
      <p:sp>
        <p:nvSpPr>
          <p:cNvPr id="41" name="Text 39"/>
          <p:cNvSpPr txBox="1"/>
          <p:nvPr/>
        </p:nvSpPr>
        <p:spPr>
          <a:xfrm>
            <a:off x="7022592" y="4114800"/>
            <a:ext cx="1426464" cy="201168"/>
          </a:xfrm>
          <a:prstGeom prst="rect">
            <a:avLst/>
          </a:prstGeom>
          <a:noFill/>
          <a:ln/>
        </p:spPr>
        <p:txBody>
          <a:bodyPr wrap="square" lIns="0" tIns="0" rIns="0" bIns="0" rtlCol="0" anchor="ctr"/>
          <a:lstStyle/>
          <a:p>
            <a:pPr algn="ctr" indent="0" marL="0">
              <a:buNone/>
            </a:pPr>
            <a:r>
              <a:rPr lang="en-US" sz="900" dirty="0">
                <a:solidFill>
                  <a:srgbClr val="6A6875"/>
                </a:solidFill>
                <a:latin typeface="Calibri" pitchFamily="34" charset="0"/>
                <a:ea typeface="Calibri" pitchFamily="34" charset="-122"/>
                <a:cs typeface="Calibri" pitchFamily="34" charset="-120"/>
              </a:rPr>
              <a:t>520</a:t>
            </a:r>
            <a:endParaRPr lang="en-US" sz="900" dirty="0"/>
          </a:p>
        </p:txBody>
      </p:sp>
      <p:sp>
        <p:nvSpPr>
          <p:cNvPr id="42" name="Shape 40"/>
          <p:cNvSpPr/>
          <p:nvPr/>
        </p:nvSpPr>
        <p:spPr>
          <a:xfrm>
            <a:off x="8558784" y="3767328"/>
            <a:ext cx="1426464" cy="329184"/>
          </a:xfrm>
          <a:prstGeom prst="roundRect">
            <a:avLst>
              <a:gd name="adj" fmla="val 16667"/>
            </a:avLst>
          </a:prstGeom>
          <a:solidFill>
            <a:srgbClr val="F7F5FA"/>
          </a:solidFill>
          <a:ln w="9525">
            <a:solidFill>
              <a:srgbClr val="E5E2E8"/>
            </a:solidFill>
            <a:prstDash val="solid"/>
          </a:ln>
        </p:spPr>
      </p:sp>
      <p:sp>
        <p:nvSpPr>
          <p:cNvPr id="43" name="Text 41"/>
          <p:cNvSpPr txBox="1"/>
          <p:nvPr/>
        </p:nvSpPr>
        <p:spPr>
          <a:xfrm>
            <a:off x="8558784" y="3767328"/>
            <a:ext cx="1426464" cy="329184"/>
          </a:xfrm>
          <a:prstGeom prst="rect">
            <a:avLst/>
          </a:prstGeom>
          <a:noFill/>
          <a:ln/>
        </p:spPr>
        <p:txBody>
          <a:bodyPr wrap="square" lIns="0" tIns="0" rIns="0" bIns="0" rtlCol="0" anchor="ctr"/>
          <a:lstStyle/>
          <a:p>
            <a:pPr algn="ctr" indent="0" marL="0">
              <a:buNone/>
            </a:pPr>
            <a:r>
              <a:rPr lang="en-US" sz="950" b="1" dirty="0">
                <a:solidFill>
                  <a:srgbClr val="5B83E8"/>
                </a:solidFill>
                <a:latin typeface="Courier New" pitchFamily="34" charset="0"/>
                <a:ea typeface="Courier New" pitchFamily="34" charset="-122"/>
                <a:cs typeface="Courier New" pitchFamily="34" charset="-120"/>
              </a:rPr>
              <a:t>mistaken_for</a:t>
            </a:r>
            <a:endParaRPr lang="en-US" sz="950" dirty="0"/>
          </a:p>
        </p:txBody>
      </p:sp>
      <p:sp>
        <p:nvSpPr>
          <p:cNvPr id="44" name="Text 42"/>
          <p:cNvSpPr txBox="1"/>
          <p:nvPr/>
        </p:nvSpPr>
        <p:spPr>
          <a:xfrm>
            <a:off x="8558784" y="4114800"/>
            <a:ext cx="1426464" cy="201168"/>
          </a:xfrm>
          <a:prstGeom prst="rect">
            <a:avLst/>
          </a:prstGeom>
          <a:noFill/>
          <a:ln/>
        </p:spPr>
        <p:txBody>
          <a:bodyPr wrap="square" lIns="0" tIns="0" rIns="0" bIns="0" rtlCol="0" anchor="ctr"/>
          <a:lstStyle/>
          <a:p>
            <a:pPr algn="ctr" indent="0" marL="0">
              <a:buNone/>
            </a:pPr>
            <a:r>
              <a:rPr lang="en-US" sz="900" dirty="0">
                <a:solidFill>
                  <a:srgbClr val="6A6875"/>
                </a:solidFill>
                <a:latin typeface="Calibri" pitchFamily="34" charset="0"/>
                <a:ea typeface="Calibri" pitchFamily="34" charset="-122"/>
                <a:cs typeface="Calibri" pitchFamily="34" charset="-120"/>
              </a:rPr>
              <a:t>34</a:t>
            </a:r>
            <a:endParaRPr lang="en-US" sz="900" dirty="0"/>
          </a:p>
        </p:txBody>
      </p:sp>
      <p:sp>
        <p:nvSpPr>
          <p:cNvPr id="45" name="Shape 43"/>
          <p:cNvSpPr/>
          <p:nvPr/>
        </p:nvSpPr>
        <p:spPr>
          <a:xfrm>
            <a:off x="10094976" y="3767328"/>
            <a:ext cx="1426464" cy="329184"/>
          </a:xfrm>
          <a:prstGeom prst="roundRect">
            <a:avLst>
              <a:gd name="adj" fmla="val 16667"/>
            </a:avLst>
          </a:prstGeom>
          <a:solidFill>
            <a:srgbClr val="F7F5FA"/>
          </a:solidFill>
          <a:ln w="9525">
            <a:solidFill>
              <a:srgbClr val="E5E2E8"/>
            </a:solidFill>
            <a:prstDash val="solid"/>
          </a:ln>
        </p:spPr>
      </p:sp>
      <p:sp>
        <p:nvSpPr>
          <p:cNvPr id="46" name="Text 44"/>
          <p:cNvSpPr txBox="1"/>
          <p:nvPr/>
        </p:nvSpPr>
        <p:spPr>
          <a:xfrm>
            <a:off x="10094976" y="3767328"/>
            <a:ext cx="1426464" cy="329184"/>
          </a:xfrm>
          <a:prstGeom prst="rect">
            <a:avLst/>
          </a:prstGeom>
          <a:noFill/>
          <a:ln/>
        </p:spPr>
        <p:txBody>
          <a:bodyPr wrap="square" lIns="0" tIns="0" rIns="0" bIns="0" rtlCol="0" anchor="ctr"/>
          <a:lstStyle/>
          <a:p>
            <a:pPr algn="ctr" indent="0" marL="0">
              <a:buNone/>
            </a:pPr>
            <a:r>
              <a:rPr lang="en-US" sz="950" b="1" dirty="0">
                <a:solidFill>
                  <a:srgbClr val="5B83E8"/>
                </a:solidFill>
                <a:latin typeface="Courier New" pitchFamily="34" charset="0"/>
                <a:ea typeface="Courier New" pitchFamily="34" charset="-122"/>
                <a:cs typeface="Courier New" pitchFamily="34" charset="-120"/>
              </a:rPr>
              <a:t>part_of</a:t>
            </a:r>
            <a:endParaRPr lang="en-US" sz="950" dirty="0"/>
          </a:p>
        </p:txBody>
      </p:sp>
      <p:sp>
        <p:nvSpPr>
          <p:cNvPr id="47" name="Text 45"/>
          <p:cNvSpPr txBox="1"/>
          <p:nvPr/>
        </p:nvSpPr>
        <p:spPr>
          <a:xfrm>
            <a:off x="10094976" y="4114800"/>
            <a:ext cx="1426464" cy="201168"/>
          </a:xfrm>
          <a:prstGeom prst="rect">
            <a:avLst/>
          </a:prstGeom>
          <a:noFill/>
          <a:ln/>
        </p:spPr>
        <p:txBody>
          <a:bodyPr wrap="square" lIns="0" tIns="0" rIns="0" bIns="0" rtlCol="0" anchor="ctr"/>
          <a:lstStyle/>
          <a:p>
            <a:pPr algn="ctr" indent="0" marL="0">
              <a:buNone/>
            </a:pPr>
            <a:r>
              <a:rPr lang="en-US" sz="900" dirty="0">
                <a:solidFill>
                  <a:srgbClr val="6A6875"/>
                </a:solidFill>
                <a:latin typeface="Calibri" pitchFamily="34" charset="0"/>
                <a:ea typeface="Calibri" pitchFamily="34" charset="-122"/>
                <a:cs typeface="Calibri" pitchFamily="34" charset="-120"/>
              </a:rPr>
              <a:t>209</a:t>
            </a:r>
            <a:endParaRPr lang="en-US" sz="900" dirty="0"/>
          </a:p>
        </p:txBody>
      </p:sp>
      <p:sp>
        <p:nvSpPr>
          <p:cNvPr id="48" name="Shape 46"/>
          <p:cNvSpPr/>
          <p:nvPr/>
        </p:nvSpPr>
        <p:spPr>
          <a:xfrm>
            <a:off x="658368" y="4572000"/>
            <a:ext cx="164592" cy="164592"/>
          </a:xfrm>
          <a:prstGeom prst="ellipse">
            <a:avLst/>
          </a:prstGeom>
          <a:solidFill>
            <a:srgbClr val="5BB84F"/>
          </a:solidFill>
          <a:ln w="12700">
            <a:solidFill>
              <a:srgbClr val="333333"/>
            </a:solidFill>
            <a:prstDash val="solid"/>
          </a:ln>
        </p:spPr>
      </p:sp>
      <p:sp>
        <p:nvSpPr>
          <p:cNvPr id="49" name="Text 47"/>
          <p:cNvSpPr txBox="1"/>
          <p:nvPr/>
        </p:nvSpPr>
        <p:spPr>
          <a:xfrm>
            <a:off x="932688" y="4498848"/>
            <a:ext cx="3291840" cy="274320"/>
          </a:xfrm>
          <a:prstGeom prst="rect">
            <a:avLst/>
          </a:prstGeom>
          <a:noFill/>
          <a:ln/>
        </p:spPr>
        <p:txBody>
          <a:bodyPr wrap="square" lIns="0" tIns="0" rIns="0" bIns="0" rtlCol="0" anchor="ctr"/>
          <a:lstStyle/>
          <a:p>
            <a:pPr indent="0" marL="0">
              <a:buNone/>
            </a:pPr>
            <a:r>
              <a:rPr lang="en-US" sz="1350" b="1" dirty="0">
                <a:solidFill>
                  <a:srgbClr val="22222A"/>
                </a:solidFill>
                <a:latin typeface="Calibri" pitchFamily="34" charset="0"/>
                <a:ea typeface="Calibri" pitchFamily="34" charset="-122"/>
                <a:cs typeface="Calibri" pitchFamily="34" charset="-120"/>
              </a:rPr>
              <a:t>healing</a:t>
            </a:r>
            <a:pPr indent="0" marL="0">
              <a:buNone/>
            </a:pPr>
            <a:r>
              <a:rPr lang="en-US" sz="1150" dirty="0">
                <a:solidFill>
                  <a:srgbClr val="807C8A"/>
                </a:solidFill>
                <a:latin typeface="Calibri" pitchFamily="34" charset="0"/>
                <a:ea typeface="Calibri" pitchFamily="34" charset="-122"/>
                <a:cs typeface="Calibri" pitchFamily="34" charset="-120"/>
              </a:rPr>
              <a:t>   what changes it</a:t>
            </a:r>
            <a:endParaRPr lang="en-US" sz="1350" dirty="0"/>
          </a:p>
        </p:txBody>
      </p:sp>
      <p:sp>
        <p:nvSpPr>
          <p:cNvPr id="50" name="Shape 48"/>
          <p:cNvSpPr/>
          <p:nvPr/>
        </p:nvSpPr>
        <p:spPr>
          <a:xfrm>
            <a:off x="3950208" y="4480560"/>
            <a:ext cx="1426464" cy="329184"/>
          </a:xfrm>
          <a:prstGeom prst="roundRect">
            <a:avLst>
              <a:gd name="adj" fmla="val 16667"/>
            </a:avLst>
          </a:prstGeom>
          <a:solidFill>
            <a:srgbClr val="F7F5FA"/>
          </a:solidFill>
          <a:ln w="9525">
            <a:solidFill>
              <a:srgbClr val="E5E2E8"/>
            </a:solidFill>
            <a:prstDash val="solid"/>
          </a:ln>
        </p:spPr>
      </p:sp>
      <p:sp>
        <p:nvSpPr>
          <p:cNvPr id="51" name="Text 49"/>
          <p:cNvSpPr txBox="1"/>
          <p:nvPr/>
        </p:nvSpPr>
        <p:spPr>
          <a:xfrm>
            <a:off x="3950208" y="4480560"/>
            <a:ext cx="1426464" cy="329184"/>
          </a:xfrm>
          <a:prstGeom prst="rect">
            <a:avLst/>
          </a:prstGeom>
          <a:noFill/>
          <a:ln/>
        </p:spPr>
        <p:txBody>
          <a:bodyPr wrap="square" lIns="0" tIns="0" rIns="0" bIns="0" rtlCol="0" anchor="ctr"/>
          <a:lstStyle/>
          <a:p>
            <a:pPr algn="ctr" indent="0" marL="0">
              <a:buNone/>
            </a:pPr>
            <a:r>
              <a:rPr lang="en-US" sz="950" b="1" dirty="0">
                <a:solidFill>
                  <a:srgbClr val="5BB84F"/>
                </a:solidFill>
                <a:latin typeface="Courier New" pitchFamily="34" charset="0"/>
                <a:ea typeface="Courier New" pitchFamily="34" charset="-122"/>
                <a:cs typeface="Courier New" pitchFamily="34" charset="-120"/>
              </a:rPr>
              <a:t>healed_by</a:t>
            </a:r>
            <a:endParaRPr lang="en-US" sz="950" dirty="0"/>
          </a:p>
        </p:txBody>
      </p:sp>
      <p:sp>
        <p:nvSpPr>
          <p:cNvPr id="52" name="Text 50"/>
          <p:cNvSpPr txBox="1"/>
          <p:nvPr/>
        </p:nvSpPr>
        <p:spPr>
          <a:xfrm>
            <a:off x="3950208" y="4828032"/>
            <a:ext cx="1426464" cy="201168"/>
          </a:xfrm>
          <a:prstGeom prst="rect">
            <a:avLst/>
          </a:prstGeom>
          <a:noFill/>
          <a:ln/>
        </p:spPr>
        <p:txBody>
          <a:bodyPr wrap="square" lIns="0" tIns="0" rIns="0" bIns="0" rtlCol="0" anchor="ctr"/>
          <a:lstStyle/>
          <a:p>
            <a:pPr algn="ctr" indent="0" marL="0">
              <a:buNone/>
            </a:pPr>
            <a:r>
              <a:rPr lang="en-US" sz="900" dirty="0">
                <a:solidFill>
                  <a:srgbClr val="6A6875"/>
                </a:solidFill>
                <a:latin typeface="Calibri" pitchFamily="34" charset="0"/>
                <a:ea typeface="Calibri" pitchFamily="34" charset="-122"/>
                <a:cs typeface="Calibri" pitchFamily="34" charset="-120"/>
              </a:rPr>
              <a:t>88</a:t>
            </a:r>
            <a:endParaRPr lang="en-US" sz="900" dirty="0"/>
          </a:p>
        </p:txBody>
      </p:sp>
      <p:sp>
        <p:nvSpPr>
          <p:cNvPr id="53" name="Shape 51"/>
          <p:cNvSpPr/>
          <p:nvPr/>
        </p:nvSpPr>
        <p:spPr>
          <a:xfrm>
            <a:off x="5486400" y="4480560"/>
            <a:ext cx="1426464" cy="329184"/>
          </a:xfrm>
          <a:prstGeom prst="roundRect">
            <a:avLst>
              <a:gd name="adj" fmla="val 16667"/>
            </a:avLst>
          </a:prstGeom>
          <a:solidFill>
            <a:srgbClr val="F7F5FA"/>
          </a:solidFill>
          <a:ln w="9525">
            <a:solidFill>
              <a:srgbClr val="E5E2E8"/>
            </a:solidFill>
            <a:prstDash val="solid"/>
          </a:ln>
        </p:spPr>
      </p:sp>
      <p:sp>
        <p:nvSpPr>
          <p:cNvPr id="54" name="Text 52"/>
          <p:cNvSpPr txBox="1"/>
          <p:nvPr/>
        </p:nvSpPr>
        <p:spPr>
          <a:xfrm>
            <a:off x="5486400" y="4480560"/>
            <a:ext cx="1426464" cy="329184"/>
          </a:xfrm>
          <a:prstGeom prst="rect">
            <a:avLst/>
          </a:prstGeom>
          <a:noFill/>
          <a:ln/>
        </p:spPr>
        <p:txBody>
          <a:bodyPr wrap="square" lIns="0" tIns="0" rIns="0" bIns="0" rtlCol="0" anchor="ctr"/>
          <a:lstStyle/>
          <a:p>
            <a:pPr algn="ctr" indent="0" marL="0">
              <a:buNone/>
            </a:pPr>
            <a:r>
              <a:rPr lang="en-US" sz="950" b="1" dirty="0">
                <a:solidFill>
                  <a:srgbClr val="5BB84F"/>
                </a:solidFill>
                <a:latin typeface="Courier New" pitchFamily="34" charset="0"/>
                <a:ea typeface="Courier New" pitchFamily="34" charset="-122"/>
                <a:cs typeface="Courier New" pitchFamily="34" charset="-120"/>
              </a:rPr>
              <a:t>requires</a:t>
            </a:r>
            <a:endParaRPr lang="en-US" sz="950" dirty="0"/>
          </a:p>
        </p:txBody>
      </p:sp>
      <p:sp>
        <p:nvSpPr>
          <p:cNvPr id="55" name="Text 53"/>
          <p:cNvSpPr txBox="1"/>
          <p:nvPr/>
        </p:nvSpPr>
        <p:spPr>
          <a:xfrm>
            <a:off x="5486400" y="4828032"/>
            <a:ext cx="1426464" cy="201168"/>
          </a:xfrm>
          <a:prstGeom prst="rect">
            <a:avLst/>
          </a:prstGeom>
          <a:noFill/>
          <a:ln/>
        </p:spPr>
        <p:txBody>
          <a:bodyPr wrap="square" lIns="0" tIns="0" rIns="0" bIns="0" rtlCol="0" anchor="ctr"/>
          <a:lstStyle/>
          <a:p>
            <a:pPr algn="ctr" indent="0" marL="0">
              <a:buNone/>
            </a:pPr>
            <a:r>
              <a:rPr lang="en-US" sz="900" dirty="0">
                <a:solidFill>
                  <a:srgbClr val="6A6875"/>
                </a:solidFill>
                <a:latin typeface="Calibri" pitchFamily="34" charset="0"/>
                <a:ea typeface="Calibri" pitchFamily="34" charset="-122"/>
                <a:cs typeface="Calibri" pitchFamily="34" charset="-120"/>
              </a:rPr>
              <a:t>87</a:t>
            </a:r>
            <a:endParaRPr lang="en-US" sz="900" dirty="0"/>
          </a:p>
        </p:txBody>
      </p:sp>
      <p:sp>
        <p:nvSpPr>
          <p:cNvPr id="56" name="Shape 54"/>
          <p:cNvSpPr/>
          <p:nvPr/>
        </p:nvSpPr>
        <p:spPr>
          <a:xfrm>
            <a:off x="658368" y="5285232"/>
            <a:ext cx="164592" cy="164592"/>
          </a:xfrm>
          <a:prstGeom prst="ellipse">
            <a:avLst/>
          </a:prstGeom>
          <a:solidFill>
            <a:srgbClr val="8B8B96"/>
          </a:solidFill>
          <a:ln w="12700">
            <a:solidFill>
              <a:srgbClr val="333333"/>
            </a:solidFill>
            <a:prstDash val="solid"/>
          </a:ln>
        </p:spPr>
      </p:sp>
      <p:sp>
        <p:nvSpPr>
          <p:cNvPr id="57" name="Text 55"/>
          <p:cNvSpPr txBox="1"/>
          <p:nvPr/>
        </p:nvSpPr>
        <p:spPr>
          <a:xfrm>
            <a:off x="932688" y="5212080"/>
            <a:ext cx="3291840" cy="274320"/>
          </a:xfrm>
          <a:prstGeom prst="rect">
            <a:avLst/>
          </a:prstGeom>
          <a:noFill/>
          <a:ln/>
        </p:spPr>
        <p:txBody>
          <a:bodyPr wrap="square" lIns="0" tIns="0" rIns="0" bIns="0" rtlCol="0" anchor="ctr"/>
          <a:lstStyle/>
          <a:p>
            <a:pPr indent="0" marL="0">
              <a:buNone/>
            </a:pPr>
            <a:r>
              <a:rPr lang="en-US" sz="1350" b="1" dirty="0">
                <a:solidFill>
                  <a:srgbClr val="22222A"/>
                </a:solidFill>
                <a:latin typeface="Calibri" pitchFamily="34" charset="0"/>
                <a:ea typeface="Calibri" pitchFamily="34" charset="-122"/>
                <a:cs typeface="Calibri" pitchFamily="34" charset="-120"/>
              </a:rPr>
              <a:t>provenance</a:t>
            </a:r>
            <a:pPr indent="0" marL="0">
              <a:buNone/>
            </a:pPr>
            <a:r>
              <a:rPr lang="en-US" sz="1150" dirty="0">
                <a:solidFill>
                  <a:srgbClr val="807C8A"/>
                </a:solidFill>
                <a:latin typeface="Calibri" pitchFamily="34" charset="0"/>
                <a:ea typeface="Calibri" pitchFamily="34" charset="-122"/>
                <a:cs typeface="Calibri" pitchFamily="34" charset="-120"/>
              </a:rPr>
              <a:t>   where it came from</a:t>
            </a:r>
            <a:endParaRPr lang="en-US" sz="1350" dirty="0"/>
          </a:p>
        </p:txBody>
      </p:sp>
      <p:sp>
        <p:nvSpPr>
          <p:cNvPr id="58" name="Shape 56"/>
          <p:cNvSpPr/>
          <p:nvPr/>
        </p:nvSpPr>
        <p:spPr>
          <a:xfrm>
            <a:off x="3950208" y="5193792"/>
            <a:ext cx="1426464" cy="329184"/>
          </a:xfrm>
          <a:prstGeom prst="roundRect">
            <a:avLst>
              <a:gd name="adj" fmla="val 16667"/>
            </a:avLst>
          </a:prstGeom>
          <a:solidFill>
            <a:srgbClr val="F7F5FA"/>
          </a:solidFill>
          <a:ln w="9525">
            <a:solidFill>
              <a:srgbClr val="E5E2E8"/>
            </a:solidFill>
            <a:prstDash val="solid"/>
          </a:ln>
        </p:spPr>
      </p:sp>
      <p:sp>
        <p:nvSpPr>
          <p:cNvPr id="59" name="Text 57"/>
          <p:cNvSpPr txBox="1"/>
          <p:nvPr/>
        </p:nvSpPr>
        <p:spPr>
          <a:xfrm>
            <a:off x="3950208" y="5193792"/>
            <a:ext cx="1426464" cy="329184"/>
          </a:xfrm>
          <a:prstGeom prst="rect">
            <a:avLst/>
          </a:prstGeom>
          <a:noFill/>
          <a:ln/>
        </p:spPr>
        <p:txBody>
          <a:bodyPr wrap="square" lIns="0" tIns="0" rIns="0" bIns="0" rtlCol="0" anchor="ctr"/>
          <a:lstStyle/>
          <a:p>
            <a:pPr algn="ctr" indent="0" marL="0">
              <a:buNone/>
            </a:pPr>
            <a:r>
              <a:rPr lang="en-US" sz="950" b="1" dirty="0">
                <a:solidFill>
                  <a:srgbClr val="8B8B96"/>
                </a:solidFill>
                <a:latin typeface="Courier New" pitchFamily="34" charset="0"/>
                <a:ea typeface="Courier New" pitchFamily="34" charset="-122"/>
                <a:cs typeface="Courier New" pitchFamily="34" charset="-120"/>
              </a:rPr>
              <a:t>described_in</a:t>
            </a:r>
            <a:endParaRPr lang="en-US" sz="950" dirty="0"/>
          </a:p>
        </p:txBody>
      </p:sp>
      <p:sp>
        <p:nvSpPr>
          <p:cNvPr id="60" name="Text 58"/>
          <p:cNvSpPr txBox="1"/>
          <p:nvPr/>
        </p:nvSpPr>
        <p:spPr>
          <a:xfrm>
            <a:off x="3950208" y="5541264"/>
            <a:ext cx="1426464" cy="201168"/>
          </a:xfrm>
          <a:prstGeom prst="rect">
            <a:avLst/>
          </a:prstGeom>
          <a:noFill/>
          <a:ln/>
        </p:spPr>
        <p:txBody>
          <a:bodyPr wrap="square" lIns="0" tIns="0" rIns="0" bIns="0" rtlCol="0" anchor="ctr"/>
          <a:lstStyle/>
          <a:p>
            <a:pPr algn="ctr" indent="0" marL="0">
              <a:buNone/>
            </a:pPr>
            <a:r>
              <a:rPr lang="en-US" sz="900" dirty="0">
                <a:solidFill>
                  <a:srgbClr val="6A6875"/>
                </a:solidFill>
                <a:latin typeface="Calibri" pitchFamily="34" charset="0"/>
                <a:ea typeface="Calibri" pitchFamily="34" charset="-122"/>
                <a:cs typeface="Calibri" pitchFamily="34" charset="-120"/>
              </a:rPr>
              <a:t>568</a:t>
            </a:r>
            <a:endParaRPr lang="en-US" sz="900" dirty="0"/>
          </a:p>
        </p:txBody>
      </p:sp>
      <p:sp>
        <p:nvSpPr>
          <p:cNvPr id="61" name="Shape 59"/>
          <p:cNvSpPr/>
          <p:nvPr/>
        </p:nvSpPr>
        <p:spPr>
          <a:xfrm>
            <a:off x="5486400" y="5193792"/>
            <a:ext cx="1426464" cy="329184"/>
          </a:xfrm>
          <a:prstGeom prst="roundRect">
            <a:avLst>
              <a:gd name="adj" fmla="val 16667"/>
            </a:avLst>
          </a:prstGeom>
          <a:solidFill>
            <a:srgbClr val="F7F5FA"/>
          </a:solidFill>
          <a:ln w="9525">
            <a:solidFill>
              <a:srgbClr val="E5E2E8"/>
            </a:solidFill>
            <a:prstDash val="solid"/>
          </a:ln>
        </p:spPr>
      </p:sp>
      <p:sp>
        <p:nvSpPr>
          <p:cNvPr id="62" name="Text 60"/>
          <p:cNvSpPr txBox="1"/>
          <p:nvPr/>
        </p:nvSpPr>
        <p:spPr>
          <a:xfrm>
            <a:off x="5486400" y="5193792"/>
            <a:ext cx="1426464" cy="329184"/>
          </a:xfrm>
          <a:prstGeom prst="rect">
            <a:avLst/>
          </a:prstGeom>
          <a:noFill/>
          <a:ln/>
        </p:spPr>
        <p:txBody>
          <a:bodyPr wrap="square" lIns="0" tIns="0" rIns="0" bIns="0" rtlCol="0" anchor="ctr"/>
          <a:lstStyle/>
          <a:p>
            <a:pPr algn="ctr" indent="0" marL="0">
              <a:buNone/>
            </a:pPr>
            <a:r>
              <a:rPr lang="en-US" sz="950" b="1" dirty="0">
                <a:solidFill>
                  <a:srgbClr val="8B8B96"/>
                </a:solidFill>
                <a:latin typeface="Courier New" pitchFamily="34" charset="0"/>
                <a:ea typeface="Courier New" pitchFamily="34" charset="-122"/>
                <a:cs typeface="Courier New" pitchFamily="34" charset="-120"/>
              </a:rPr>
              <a:t>derived_from</a:t>
            </a:r>
            <a:endParaRPr lang="en-US" sz="950" dirty="0"/>
          </a:p>
        </p:txBody>
      </p:sp>
      <p:sp>
        <p:nvSpPr>
          <p:cNvPr id="63" name="Text 61"/>
          <p:cNvSpPr txBox="1"/>
          <p:nvPr/>
        </p:nvSpPr>
        <p:spPr>
          <a:xfrm>
            <a:off x="5486400" y="5541264"/>
            <a:ext cx="1426464" cy="201168"/>
          </a:xfrm>
          <a:prstGeom prst="rect">
            <a:avLst/>
          </a:prstGeom>
          <a:noFill/>
          <a:ln/>
        </p:spPr>
        <p:txBody>
          <a:bodyPr wrap="square" lIns="0" tIns="0" rIns="0" bIns="0" rtlCol="0" anchor="ctr"/>
          <a:lstStyle/>
          <a:p>
            <a:pPr algn="ctr" indent="0" marL="0">
              <a:buNone/>
            </a:pPr>
            <a:r>
              <a:rPr lang="en-US" sz="900" dirty="0">
                <a:solidFill>
                  <a:srgbClr val="6A6875"/>
                </a:solidFill>
                <a:latin typeface="Calibri" pitchFamily="34" charset="0"/>
                <a:ea typeface="Calibri" pitchFamily="34" charset="-122"/>
                <a:cs typeface="Calibri" pitchFamily="34" charset="-120"/>
              </a:rPr>
              <a:t>25</a:t>
            </a:r>
            <a:endParaRPr lang="en-US" sz="900" dirty="0"/>
          </a:p>
        </p:txBody>
      </p:sp>
      <p:sp>
        <p:nvSpPr>
          <p:cNvPr id="64" name="Text 62"/>
          <p:cNvSpPr txBox="1"/>
          <p:nvPr/>
        </p:nvSpPr>
        <p:spPr>
          <a:xfrm>
            <a:off x="658368" y="6108192"/>
            <a:ext cx="10874959" cy="457200"/>
          </a:xfrm>
          <a:prstGeom prst="rect">
            <a:avLst/>
          </a:prstGeom>
          <a:noFill/>
          <a:ln/>
        </p:spPr>
        <p:txBody>
          <a:bodyPr wrap="square" lIns="0" tIns="0" rIns="0" bIns="0" rtlCol="0" anchor="ctr"/>
          <a:lstStyle/>
          <a:p>
            <a:pPr indent="0" marL="0">
              <a:lnSpc>
                <a:spcPts val="1600"/>
              </a:lnSpc>
              <a:buNone/>
            </a:pPr>
            <a:r>
              <a:rPr lang="en-US" sz="1150" i="1" dirty="0">
                <a:solidFill>
                  <a:srgbClr val="807C8A"/>
                </a:solidFill>
                <a:latin typeface="Calibri" pitchFamily="34" charset="0"/>
                <a:ea typeface="Calibri" pitchFamily="34" charset="-122"/>
                <a:cs typeface="Calibri" pitchFamily="34" charset="-120"/>
              </a:rPr>
              <a:t>Flow predicates — triggers, deactivates, manifests_as — stay narrow on purpose: a rejection there is an authoring mistake, not a gap in the schema. Descriptive ones widen as real cases turn up.</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807C8A"/>
                </a:solidFill>
                <a:latin typeface="Calibri" pitchFamily="34" charset="0"/>
                <a:ea typeface="Calibri" pitchFamily="34" charset="-122"/>
                <a:cs typeface="Calibri" pitchFamily="34" charset="-120"/>
              </a:rPr>
              <a:t>9</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7B4BD8"/>
                </a:solidFill>
                <a:latin typeface="Calibri" pitchFamily="34" charset="0"/>
                <a:ea typeface="Calibri" pitchFamily="34" charset="-122"/>
                <a:cs typeface="Calibri" pitchFamily="34" charset="-120"/>
              </a:rPr>
              <a:t>THE BUILD</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200" b="1" dirty="0">
                <a:solidFill>
                  <a:srgbClr val="22222A"/>
                </a:solidFill>
                <a:latin typeface="Cambria" pitchFamily="34" charset="0"/>
                <a:ea typeface="Cambria" pitchFamily="34" charset="-122"/>
                <a:cs typeface="Cambria" pitchFamily="34" charset="-120"/>
              </a:rPr>
              <a:t>From a transcript to three surfaces</a:t>
            </a:r>
            <a:endParaRPr lang="en-US" sz="3200" dirty="0"/>
          </a:p>
        </p:txBody>
      </p:sp>
      <p:sp>
        <p:nvSpPr>
          <p:cNvPr id="5" name="Shape 3"/>
          <p:cNvSpPr/>
          <p:nvPr/>
        </p:nvSpPr>
        <p:spPr>
          <a:xfrm>
            <a:off x="658368" y="1737360"/>
            <a:ext cx="1897014" cy="2331720"/>
          </a:xfrm>
          <a:prstGeom prst="roundRect">
            <a:avLst>
              <a:gd name="adj" fmla="val 3856"/>
            </a:avLst>
          </a:prstGeom>
          <a:solidFill>
            <a:srgbClr val="F7F5FA"/>
          </a:solidFill>
          <a:ln w="9525">
            <a:solidFill>
              <a:srgbClr val="E5E2E8"/>
            </a:solidFill>
            <a:prstDash val="solid"/>
          </a:ln>
        </p:spPr>
      </p:sp>
      <p:sp>
        <p:nvSpPr>
          <p:cNvPr id="6" name="Text 4"/>
          <p:cNvSpPr txBox="1"/>
          <p:nvPr/>
        </p:nvSpPr>
        <p:spPr>
          <a:xfrm>
            <a:off x="877824" y="1920240"/>
            <a:ext cx="457200" cy="365760"/>
          </a:xfrm>
          <a:prstGeom prst="rect">
            <a:avLst/>
          </a:prstGeom>
          <a:noFill/>
          <a:ln/>
        </p:spPr>
        <p:txBody>
          <a:bodyPr wrap="square" lIns="0" tIns="0" rIns="0" bIns="0" rtlCol="0" anchor="ctr"/>
          <a:lstStyle/>
          <a:p>
            <a:pPr indent="0" marL="0">
              <a:buNone/>
            </a:pPr>
            <a:r>
              <a:rPr lang="en-US" sz="2200" b="1" dirty="0">
                <a:solidFill>
                  <a:srgbClr val="7B4BD8"/>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877824" y="2359152"/>
            <a:ext cx="1458102" cy="274320"/>
          </a:xfrm>
          <a:prstGeom prst="rect">
            <a:avLst/>
          </a:prstGeom>
          <a:noFill/>
          <a:ln/>
        </p:spPr>
        <p:txBody>
          <a:bodyPr wrap="square" lIns="0" tIns="0" rIns="0" bIns="0" rtlCol="0" anchor="ctr"/>
          <a:lstStyle/>
          <a:p>
            <a:pPr indent="0" marL="0">
              <a:buNone/>
            </a:pPr>
            <a:r>
              <a:rPr lang="en-US" sz="1400" b="1" dirty="0">
                <a:solidFill>
                  <a:srgbClr val="22222A"/>
                </a:solidFill>
                <a:latin typeface="Calibri" pitchFamily="34" charset="0"/>
                <a:ea typeface="Calibri" pitchFamily="34" charset="-122"/>
                <a:cs typeface="Calibri" pitchFamily="34" charset="-120"/>
              </a:rPr>
              <a:t>Transcript</a:t>
            </a:r>
            <a:endParaRPr lang="en-US" sz="1400" dirty="0"/>
          </a:p>
        </p:txBody>
      </p:sp>
      <p:sp>
        <p:nvSpPr>
          <p:cNvPr id="8" name="Text 6"/>
          <p:cNvSpPr txBox="1"/>
          <p:nvPr/>
        </p:nvSpPr>
        <p:spPr>
          <a:xfrm>
            <a:off x="877824" y="2670048"/>
            <a:ext cx="1458102" cy="1280160"/>
          </a:xfrm>
          <a:prstGeom prst="rect">
            <a:avLst/>
          </a:prstGeom>
          <a:noFill/>
          <a:ln/>
        </p:spPr>
        <p:txBody>
          <a:bodyPr wrap="square" lIns="0" tIns="0" rIns="0" bIns="0" rtlCol="0" anchor="ctr"/>
          <a:lstStyle/>
          <a:p>
            <a:pPr indent="0" marL="0">
              <a:lnSpc>
                <a:spcPts val="1450"/>
              </a:lnSpc>
              <a:buNone/>
            </a:pPr>
            <a:r>
              <a:rPr lang="en-US" sz="1050" dirty="0">
                <a:solidFill>
                  <a:srgbClr val="6A6875"/>
                </a:solidFill>
                <a:latin typeface="Calibri" pitchFamily="34" charset="0"/>
                <a:ea typeface="Calibri" pitchFamily="34" charset="-122"/>
                <a:cs typeface="Calibri" pitchFamily="34" charset="-120"/>
              </a:rPr>
              <a:t>Pulled per video. Working input only — gitignored, never committed, never published.</a:t>
            </a:r>
            <a:endParaRPr lang="en-US" sz="1050" dirty="0"/>
          </a:p>
        </p:txBody>
      </p:sp>
      <p:sp>
        <p:nvSpPr>
          <p:cNvPr id="9" name="Shape 7"/>
          <p:cNvSpPr/>
          <p:nvPr/>
        </p:nvSpPr>
        <p:spPr>
          <a:xfrm>
            <a:off x="2628534" y="2880360"/>
            <a:ext cx="201168" cy="0"/>
          </a:xfrm>
          <a:prstGeom prst="line">
            <a:avLst/>
          </a:prstGeom>
          <a:noFill/>
          <a:ln w="15875">
            <a:solidFill>
              <a:srgbClr val="807C8A"/>
            </a:solidFill>
            <a:prstDash val="solid"/>
            <a:tailEnd type="triangle"/>
          </a:ln>
        </p:spPr>
      </p:sp>
      <p:sp>
        <p:nvSpPr>
          <p:cNvPr id="10" name="Shape 8"/>
          <p:cNvSpPr/>
          <p:nvPr/>
        </p:nvSpPr>
        <p:spPr>
          <a:xfrm>
            <a:off x="2902854" y="1737360"/>
            <a:ext cx="1897014" cy="2331720"/>
          </a:xfrm>
          <a:prstGeom prst="roundRect">
            <a:avLst>
              <a:gd name="adj" fmla="val 3856"/>
            </a:avLst>
          </a:prstGeom>
          <a:solidFill>
            <a:srgbClr val="F7F5FA"/>
          </a:solidFill>
          <a:ln w="9525">
            <a:solidFill>
              <a:srgbClr val="E5E2E8"/>
            </a:solidFill>
            <a:prstDash val="solid"/>
          </a:ln>
        </p:spPr>
      </p:sp>
      <p:sp>
        <p:nvSpPr>
          <p:cNvPr id="11" name="Text 9"/>
          <p:cNvSpPr txBox="1"/>
          <p:nvPr/>
        </p:nvSpPr>
        <p:spPr>
          <a:xfrm>
            <a:off x="3122310" y="1920240"/>
            <a:ext cx="457200" cy="365760"/>
          </a:xfrm>
          <a:prstGeom prst="rect">
            <a:avLst/>
          </a:prstGeom>
          <a:noFill/>
          <a:ln/>
        </p:spPr>
        <p:txBody>
          <a:bodyPr wrap="square" lIns="0" tIns="0" rIns="0" bIns="0" rtlCol="0" anchor="ctr"/>
          <a:lstStyle/>
          <a:p>
            <a:pPr indent="0" marL="0">
              <a:buNone/>
            </a:pPr>
            <a:r>
              <a:rPr lang="en-US" sz="2200" b="1" dirty="0">
                <a:solidFill>
                  <a:srgbClr val="7B4BD8"/>
                </a:solidFill>
                <a:latin typeface="Cambria" pitchFamily="34" charset="0"/>
                <a:ea typeface="Cambria" pitchFamily="34" charset="-122"/>
                <a:cs typeface="Cambria" pitchFamily="34" charset="-120"/>
              </a:rPr>
              <a:t>2</a:t>
            </a:r>
            <a:endParaRPr lang="en-US" sz="2200" dirty="0"/>
          </a:p>
        </p:txBody>
      </p:sp>
      <p:sp>
        <p:nvSpPr>
          <p:cNvPr id="12" name="Text 10"/>
          <p:cNvSpPr txBox="1"/>
          <p:nvPr/>
        </p:nvSpPr>
        <p:spPr>
          <a:xfrm>
            <a:off x="3122310" y="2359152"/>
            <a:ext cx="1458102" cy="274320"/>
          </a:xfrm>
          <a:prstGeom prst="rect">
            <a:avLst/>
          </a:prstGeom>
          <a:noFill/>
          <a:ln/>
        </p:spPr>
        <p:txBody>
          <a:bodyPr wrap="square" lIns="0" tIns="0" rIns="0" bIns="0" rtlCol="0" anchor="ctr"/>
          <a:lstStyle/>
          <a:p>
            <a:pPr indent="0" marL="0">
              <a:buNone/>
            </a:pPr>
            <a:r>
              <a:rPr lang="en-US" sz="1400" b="1" dirty="0">
                <a:solidFill>
                  <a:srgbClr val="22222A"/>
                </a:solidFill>
                <a:latin typeface="Calibri" pitchFamily="34" charset="0"/>
                <a:ea typeface="Calibri" pitchFamily="34" charset="-122"/>
                <a:cs typeface="Calibri" pitchFamily="34" charset="-120"/>
              </a:rPr>
              <a:t>Mining</a:t>
            </a:r>
            <a:endParaRPr lang="en-US" sz="1400" dirty="0"/>
          </a:p>
        </p:txBody>
      </p:sp>
      <p:sp>
        <p:nvSpPr>
          <p:cNvPr id="13" name="Text 11"/>
          <p:cNvSpPr txBox="1"/>
          <p:nvPr/>
        </p:nvSpPr>
        <p:spPr>
          <a:xfrm>
            <a:off x="3122310" y="2670048"/>
            <a:ext cx="1458102" cy="1280160"/>
          </a:xfrm>
          <a:prstGeom prst="rect">
            <a:avLst/>
          </a:prstGeom>
          <a:noFill/>
          <a:ln/>
        </p:spPr>
        <p:txBody>
          <a:bodyPr wrap="square" lIns="0" tIns="0" rIns="0" bIns="0" rtlCol="0" anchor="ctr"/>
          <a:lstStyle/>
          <a:p>
            <a:pPr indent="0" marL="0">
              <a:lnSpc>
                <a:spcPts val="1450"/>
              </a:lnSpc>
              <a:buNone/>
            </a:pPr>
            <a:r>
              <a:rPr lang="en-US" sz="1050" dirty="0">
                <a:solidFill>
                  <a:srgbClr val="6A6875"/>
                </a:solidFill>
                <a:latin typeface="Calibri" pitchFamily="34" charset="0"/>
                <a:ea typeface="Calibri" pitchFamily="34" charset="-122"/>
                <a:cs typeface="Calibri" pitchFamily="34" charset="-120"/>
              </a:rPr>
              <a:t>Claims read out by hand into notes: a gloss, a lens map, and typed edges with timestamps.</a:t>
            </a:r>
            <a:endParaRPr lang="en-US" sz="1050" dirty="0"/>
          </a:p>
        </p:txBody>
      </p:sp>
      <p:sp>
        <p:nvSpPr>
          <p:cNvPr id="14" name="Shape 12"/>
          <p:cNvSpPr/>
          <p:nvPr/>
        </p:nvSpPr>
        <p:spPr>
          <a:xfrm>
            <a:off x="4873020" y="2880360"/>
            <a:ext cx="201168" cy="0"/>
          </a:xfrm>
          <a:prstGeom prst="line">
            <a:avLst/>
          </a:prstGeom>
          <a:noFill/>
          <a:ln w="15875">
            <a:solidFill>
              <a:srgbClr val="807C8A"/>
            </a:solidFill>
            <a:prstDash val="solid"/>
            <a:tailEnd type="triangle"/>
          </a:ln>
        </p:spPr>
      </p:sp>
      <p:sp>
        <p:nvSpPr>
          <p:cNvPr id="15" name="Shape 13"/>
          <p:cNvSpPr/>
          <p:nvPr/>
        </p:nvSpPr>
        <p:spPr>
          <a:xfrm>
            <a:off x="5147340" y="1737360"/>
            <a:ext cx="1897014" cy="2331720"/>
          </a:xfrm>
          <a:prstGeom prst="roundRect">
            <a:avLst>
              <a:gd name="adj" fmla="val 3856"/>
            </a:avLst>
          </a:prstGeom>
          <a:solidFill>
            <a:srgbClr val="F7F5FA"/>
          </a:solidFill>
          <a:ln w="9525">
            <a:solidFill>
              <a:srgbClr val="E5E2E8"/>
            </a:solidFill>
            <a:prstDash val="solid"/>
          </a:ln>
        </p:spPr>
      </p:sp>
      <p:sp>
        <p:nvSpPr>
          <p:cNvPr id="16" name="Text 14"/>
          <p:cNvSpPr txBox="1"/>
          <p:nvPr/>
        </p:nvSpPr>
        <p:spPr>
          <a:xfrm>
            <a:off x="5366796" y="1920240"/>
            <a:ext cx="457200" cy="365760"/>
          </a:xfrm>
          <a:prstGeom prst="rect">
            <a:avLst/>
          </a:prstGeom>
          <a:noFill/>
          <a:ln/>
        </p:spPr>
        <p:txBody>
          <a:bodyPr wrap="square" lIns="0" tIns="0" rIns="0" bIns="0" rtlCol="0" anchor="ctr"/>
          <a:lstStyle/>
          <a:p>
            <a:pPr indent="0" marL="0">
              <a:buNone/>
            </a:pPr>
            <a:r>
              <a:rPr lang="en-US" sz="2200" b="1" dirty="0">
                <a:solidFill>
                  <a:srgbClr val="7B4BD8"/>
                </a:solidFill>
                <a:latin typeface="Cambria" pitchFamily="34" charset="0"/>
                <a:ea typeface="Cambria" pitchFamily="34" charset="-122"/>
                <a:cs typeface="Cambria" pitchFamily="34" charset="-120"/>
              </a:rPr>
              <a:t>3</a:t>
            </a:r>
            <a:endParaRPr lang="en-US" sz="2200" dirty="0"/>
          </a:p>
        </p:txBody>
      </p:sp>
      <p:sp>
        <p:nvSpPr>
          <p:cNvPr id="17" name="Text 15"/>
          <p:cNvSpPr txBox="1"/>
          <p:nvPr/>
        </p:nvSpPr>
        <p:spPr>
          <a:xfrm>
            <a:off x="5366796" y="2359152"/>
            <a:ext cx="1458102" cy="274320"/>
          </a:xfrm>
          <a:prstGeom prst="rect">
            <a:avLst/>
          </a:prstGeom>
          <a:noFill/>
          <a:ln/>
        </p:spPr>
        <p:txBody>
          <a:bodyPr wrap="square" lIns="0" tIns="0" rIns="0" bIns="0" rtlCol="0" anchor="ctr"/>
          <a:lstStyle/>
          <a:p>
            <a:pPr indent="0" marL="0">
              <a:buNone/>
            </a:pPr>
            <a:r>
              <a:rPr lang="en-US" sz="1400" b="1" dirty="0">
                <a:solidFill>
                  <a:srgbClr val="22222A"/>
                </a:solidFill>
                <a:latin typeface="Calibri" pitchFamily="34" charset="0"/>
                <a:ea typeface="Calibri" pitchFamily="34" charset="-122"/>
                <a:cs typeface="Calibri" pitchFamily="34" charset="-120"/>
              </a:rPr>
              <a:t>Validate</a:t>
            </a:r>
            <a:endParaRPr lang="en-US" sz="1400" dirty="0"/>
          </a:p>
        </p:txBody>
      </p:sp>
      <p:sp>
        <p:nvSpPr>
          <p:cNvPr id="18" name="Text 16"/>
          <p:cNvSpPr txBox="1"/>
          <p:nvPr/>
        </p:nvSpPr>
        <p:spPr>
          <a:xfrm>
            <a:off x="5366796" y="2670048"/>
            <a:ext cx="1458102" cy="1280160"/>
          </a:xfrm>
          <a:prstGeom prst="rect">
            <a:avLst/>
          </a:prstGeom>
          <a:noFill/>
          <a:ln/>
        </p:spPr>
        <p:txBody>
          <a:bodyPr wrap="square" lIns="0" tIns="0" rIns="0" bIns="0" rtlCol="0" anchor="ctr"/>
          <a:lstStyle/>
          <a:p>
            <a:pPr indent="0" marL="0">
              <a:lnSpc>
                <a:spcPts val="1450"/>
              </a:lnSpc>
              <a:buNone/>
            </a:pPr>
            <a:r>
              <a:rPr lang="en-US" sz="1050" dirty="0">
                <a:solidFill>
                  <a:srgbClr val="6A6875"/>
                </a:solidFill>
                <a:latin typeface="Calibri" pitchFamily="34" charset="0"/>
                <a:ea typeface="Calibri" pitchFamily="34" charset="-122"/>
                <a:cs typeface="Calibri" pitchFamily="34" charset="-120"/>
              </a:rPr>
              <a:t>A closed vocabulary, enforced. Domain and range checked on every edge; nothing lands that fails.</a:t>
            </a:r>
            <a:endParaRPr lang="en-US" sz="1050" dirty="0"/>
          </a:p>
        </p:txBody>
      </p:sp>
      <p:sp>
        <p:nvSpPr>
          <p:cNvPr id="19" name="Shape 17"/>
          <p:cNvSpPr/>
          <p:nvPr/>
        </p:nvSpPr>
        <p:spPr>
          <a:xfrm>
            <a:off x="7117507" y="2880360"/>
            <a:ext cx="201168" cy="0"/>
          </a:xfrm>
          <a:prstGeom prst="line">
            <a:avLst/>
          </a:prstGeom>
          <a:noFill/>
          <a:ln w="15875">
            <a:solidFill>
              <a:srgbClr val="807C8A"/>
            </a:solidFill>
            <a:prstDash val="solid"/>
            <a:tailEnd type="triangle"/>
          </a:ln>
        </p:spPr>
      </p:sp>
      <p:sp>
        <p:nvSpPr>
          <p:cNvPr id="20" name="Shape 18"/>
          <p:cNvSpPr/>
          <p:nvPr/>
        </p:nvSpPr>
        <p:spPr>
          <a:xfrm>
            <a:off x="7391827" y="1737360"/>
            <a:ext cx="1897014" cy="2331720"/>
          </a:xfrm>
          <a:prstGeom prst="roundRect">
            <a:avLst>
              <a:gd name="adj" fmla="val 3856"/>
            </a:avLst>
          </a:prstGeom>
          <a:solidFill>
            <a:srgbClr val="F7F5FA"/>
          </a:solidFill>
          <a:ln w="9525">
            <a:solidFill>
              <a:srgbClr val="E5E2E8"/>
            </a:solidFill>
            <a:prstDash val="solid"/>
          </a:ln>
        </p:spPr>
      </p:sp>
      <p:sp>
        <p:nvSpPr>
          <p:cNvPr id="21" name="Text 19"/>
          <p:cNvSpPr txBox="1"/>
          <p:nvPr/>
        </p:nvSpPr>
        <p:spPr>
          <a:xfrm>
            <a:off x="7611283" y="1920240"/>
            <a:ext cx="457200" cy="365760"/>
          </a:xfrm>
          <a:prstGeom prst="rect">
            <a:avLst/>
          </a:prstGeom>
          <a:noFill/>
          <a:ln/>
        </p:spPr>
        <p:txBody>
          <a:bodyPr wrap="square" lIns="0" tIns="0" rIns="0" bIns="0" rtlCol="0" anchor="ctr"/>
          <a:lstStyle/>
          <a:p>
            <a:pPr indent="0" marL="0">
              <a:buNone/>
            </a:pPr>
            <a:r>
              <a:rPr lang="en-US" sz="2200" b="1" dirty="0">
                <a:solidFill>
                  <a:srgbClr val="7B4BD8"/>
                </a:solidFill>
                <a:latin typeface="Cambria" pitchFamily="34" charset="0"/>
                <a:ea typeface="Cambria" pitchFamily="34" charset="-122"/>
                <a:cs typeface="Cambria" pitchFamily="34" charset="-120"/>
              </a:rPr>
              <a:t>4</a:t>
            </a:r>
            <a:endParaRPr lang="en-US" sz="2200" dirty="0"/>
          </a:p>
        </p:txBody>
      </p:sp>
      <p:sp>
        <p:nvSpPr>
          <p:cNvPr id="22" name="Text 20"/>
          <p:cNvSpPr txBox="1"/>
          <p:nvPr/>
        </p:nvSpPr>
        <p:spPr>
          <a:xfrm>
            <a:off x="7611283" y="2359152"/>
            <a:ext cx="1458102" cy="274320"/>
          </a:xfrm>
          <a:prstGeom prst="rect">
            <a:avLst/>
          </a:prstGeom>
          <a:noFill/>
          <a:ln/>
        </p:spPr>
        <p:txBody>
          <a:bodyPr wrap="square" lIns="0" tIns="0" rIns="0" bIns="0" rtlCol="0" anchor="ctr"/>
          <a:lstStyle/>
          <a:p>
            <a:pPr indent="0" marL="0">
              <a:buNone/>
            </a:pPr>
            <a:r>
              <a:rPr lang="en-US" sz="1400" b="1" dirty="0">
                <a:solidFill>
                  <a:srgbClr val="22222A"/>
                </a:solidFill>
                <a:latin typeface="Calibri" pitchFamily="34" charset="0"/>
                <a:ea typeface="Calibri" pitchFamily="34" charset="-122"/>
                <a:cs typeface="Calibri" pitchFamily="34" charset="-120"/>
              </a:rPr>
              <a:t>Build</a:t>
            </a:r>
            <a:endParaRPr lang="en-US" sz="1400" dirty="0"/>
          </a:p>
        </p:txBody>
      </p:sp>
      <p:sp>
        <p:nvSpPr>
          <p:cNvPr id="23" name="Text 21"/>
          <p:cNvSpPr txBox="1"/>
          <p:nvPr/>
        </p:nvSpPr>
        <p:spPr>
          <a:xfrm>
            <a:off x="7611283" y="2670048"/>
            <a:ext cx="1458102" cy="1280160"/>
          </a:xfrm>
          <a:prstGeom prst="rect">
            <a:avLst/>
          </a:prstGeom>
          <a:noFill/>
          <a:ln/>
        </p:spPr>
        <p:txBody>
          <a:bodyPr wrap="square" lIns="0" tIns="0" rIns="0" bIns="0" rtlCol="0" anchor="ctr"/>
          <a:lstStyle/>
          <a:p>
            <a:pPr indent="0" marL="0">
              <a:lnSpc>
                <a:spcPts val="1450"/>
              </a:lnSpc>
              <a:buNone/>
            </a:pPr>
            <a:r>
              <a:rPr lang="en-US" sz="1050" dirty="0">
                <a:solidFill>
                  <a:srgbClr val="6A6875"/>
                </a:solidFill>
                <a:latin typeface="Calibri" pitchFamily="34" charset="0"/>
                <a:ea typeface="Calibri" pitchFamily="34" charset="-122"/>
                <a:cs typeface="Calibri" pitchFamily="34" charset="-120"/>
              </a:rPr>
              <a:t>Quartz renders the notes; scripts emit the graph JSON, the explorer, the flows and the agent kit.</a:t>
            </a:r>
            <a:endParaRPr lang="en-US" sz="1050" dirty="0"/>
          </a:p>
        </p:txBody>
      </p:sp>
      <p:sp>
        <p:nvSpPr>
          <p:cNvPr id="24" name="Shape 22"/>
          <p:cNvSpPr/>
          <p:nvPr/>
        </p:nvSpPr>
        <p:spPr>
          <a:xfrm>
            <a:off x="9361993" y="2880360"/>
            <a:ext cx="201168" cy="0"/>
          </a:xfrm>
          <a:prstGeom prst="line">
            <a:avLst/>
          </a:prstGeom>
          <a:noFill/>
          <a:ln w="15875">
            <a:solidFill>
              <a:srgbClr val="807C8A"/>
            </a:solidFill>
            <a:prstDash val="solid"/>
            <a:tailEnd type="triangle"/>
          </a:ln>
        </p:spPr>
      </p:sp>
      <p:sp>
        <p:nvSpPr>
          <p:cNvPr id="25" name="Shape 23"/>
          <p:cNvSpPr/>
          <p:nvPr/>
        </p:nvSpPr>
        <p:spPr>
          <a:xfrm>
            <a:off x="9636313" y="1737360"/>
            <a:ext cx="1897014" cy="2331720"/>
          </a:xfrm>
          <a:prstGeom prst="roundRect">
            <a:avLst>
              <a:gd name="adj" fmla="val 3856"/>
            </a:avLst>
          </a:prstGeom>
          <a:solidFill>
            <a:srgbClr val="F7F5FA"/>
          </a:solidFill>
          <a:ln w="9525">
            <a:solidFill>
              <a:srgbClr val="E5E2E8"/>
            </a:solidFill>
            <a:prstDash val="solid"/>
          </a:ln>
        </p:spPr>
      </p:sp>
      <p:sp>
        <p:nvSpPr>
          <p:cNvPr id="26" name="Text 24"/>
          <p:cNvSpPr txBox="1"/>
          <p:nvPr/>
        </p:nvSpPr>
        <p:spPr>
          <a:xfrm>
            <a:off x="9855769" y="1920240"/>
            <a:ext cx="457200" cy="365760"/>
          </a:xfrm>
          <a:prstGeom prst="rect">
            <a:avLst/>
          </a:prstGeom>
          <a:noFill/>
          <a:ln/>
        </p:spPr>
        <p:txBody>
          <a:bodyPr wrap="square" lIns="0" tIns="0" rIns="0" bIns="0" rtlCol="0" anchor="ctr"/>
          <a:lstStyle/>
          <a:p>
            <a:pPr indent="0" marL="0">
              <a:buNone/>
            </a:pPr>
            <a:r>
              <a:rPr lang="en-US" sz="2200" b="1" dirty="0">
                <a:solidFill>
                  <a:srgbClr val="7B4BD8"/>
                </a:solidFill>
                <a:latin typeface="Cambria" pitchFamily="34" charset="0"/>
                <a:ea typeface="Cambria" pitchFamily="34" charset="-122"/>
                <a:cs typeface="Cambria" pitchFamily="34" charset="-120"/>
              </a:rPr>
              <a:t>5</a:t>
            </a:r>
            <a:endParaRPr lang="en-US" sz="2200" dirty="0"/>
          </a:p>
        </p:txBody>
      </p:sp>
      <p:sp>
        <p:nvSpPr>
          <p:cNvPr id="27" name="Text 25"/>
          <p:cNvSpPr txBox="1"/>
          <p:nvPr/>
        </p:nvSpPr>
        <p:spPr>
          <a:xfrm>
            <a:off x="9855769" y="2359152"/>
            <a:ext cx="1458102" cy="274320"/>
          </a:xfrm>
          <a:prstGeom prst="rect">
            <a:avLst/>
          </a:prstGeom>
          <a:noFill/>
          <a:ln/>
        </p:spPr>
        <p:txBody>
          <a:bodyPr wrap="square" lIns="0" tIns="0" rIns="0" bIns="0" rtlCol="0" anchor="ctr"/>
          <a:lstStyle/>
          <a:p>
            <a:pPr indent="0" marL="0">
              <a:buNone/>
            </a:pPr>
            <a:r>
              <a:rPr lang="en-US" sz="1400" b="1" dirty="0">
                <a:solidFill>
                  <a:srgbClr val="22222A"/>
                </a:solidFill>
                <a:latin typeface="Calibri" pitchFamily="34" charset="0"/>
                <a:ea typeface="Calibri" pitchFamily="34" charset="-122"/>
                <a:cs typeface="Calibri" pitchFamily="34" charset="-120"/>
              </a:rPr>
              <a:t>Check</a:t>
            </a:r>
            <a:endParaRPr lang="en-US" sz="1400" dirty="0"/>
          </a:p>
        </p:txBody>
      </p:sp>
      <p:sp>
        <p:nvSpPr>
          <p:cNvPr id="28" name="Text 26"/>
          <p:cNvSpPr txBox="1"/>
          <p:nvPr/>
        </p:nvSpPr>
        <p:spPr>
          <a:xfrm>
            <a:off x="9855769" y="2670048"/>
            <a:ext cx="1458102" cy="1280160"/>
          </a:xfrm>
          <a:prstGeom prst="rect">
            <a:avLst/>
          </a:prstGeom>
          <a:noFill/>
          <a:ln/>
        </p:spPr>
        <p:txBody>
          <a:bodyPr wrap="square" lIns="0" tIns="0" rIns="0" bIns="0" rtlCol="0" anchor="ctr"/>
          <a:lstStyle/>
          <a:p>
            <a:pPr indent="0" marL="0">
              <a:lnSpc>
                <a:spcPts val="1450"/>
              </a:lnSpc>
              <a:buNone/>
            </a:pPr>
            <a:r>
              <a:rPr lang="en-US" sz="1050" dirty="0">
                <a:solidFill>
                  <a:srgbClr val="6A6875"/>
                </a:solidFill>
                <a:latin typeface="Calibri" pitchFamily="34" charset="0"/>
                <a:ea typeface="Calibri" pitchFamily="34" charset="-122"/>
                <a:cs typeface="Calibri" pitchFamily="34" charset="-120"/>
              </a:rPr>
              <a:t>A smoke test over the published HTML — not the source — then it deploys.</a:t>
            </a:r>
            <a:endParaRPr lang="en-US" sz="1050" dirty="0"/>
          </a:p>
        </p:txBody>
      </p:sp>
      <p:sp>
        <p:nvSpPr>
          <p:cNvPr id="29" name="Text 27"/>
          <p:cNvSpPr txBox="1"/>
          <p:nvPr/>
        </p:nvSpPr>
        <p:spPr>
          <a:xfrm>
            <a:off x="658368" y="4434840"/>
            <a:ext cx="10874959" cy="292608"/>
          </a:xfrm>
          <a:prstGeom prst="rect">
            <a:avLst/>
          </a:prstGeom>
          <a:noFill/>
          <a:ln/>
        </p:spPr>
        <p:txBody>
          <a:bodyPr wrap="square" lIns="0" tIns="0" rIns="0" bIns="0" rtlCol="0" anchor="ctr"/>
          <a:lstStyle/>
          <a:p>
            <a:pPr indent="0" marL="0">
              <a:buNone/>
            </a:pPr>
            <a:r>
              <a:rPr lang="en-US" sz="1500" b="1" dirty="0">
                <a:solidFill>
                  <a:srgbClr val="22222A"/>
                </a:solidFill>
                <a:latin typeface="Calibri" pitchFamily="34" charset="0"/>
                <a:ea typeface="Calibri" pitchFamily="34" charset="-122"/>
                <a:cs typeface="Calibri" pitchFamily="34" charset="-120"/>
              </a:rPr>
              <a:t>Everything downstream is generated</a:t>
            </a:r>
            <a:endParaRPr lang="en-US" sz="1500" dirty="0"/>
          </a:p>
        </p:txBody>
      </p:sp>
      <p:sp>
        <p:nvSpPr>
          <p:cNvPr id="30" name="Text 28"/>
          <p:cNvSpPr txBox="1"/>
          <p:nvPr/>
        </p:nvSpPr>
        <p:spPr>
          <a:xfrm>
            <a:off x="658368" y="4800600"/>
            <a:ext cx="6766560" cy="1097280"/>
          </a:xfrm>
          <a:prstGeom prst="rect">
            <a:avLst/>
          </a:prstGeom>
          <a:noFill/>
          <a:ln/>
        </p:spPr>
        <p:txBody>
          <a:bodyPr wrap="square" lIns="0" tIns="0" rIns="0" bIns="0" rtlCol="0" anchor="ctr"/>
          <a:lstStyle/>
          <a:p>
            <a:pPr indent="0" marL="0">
              <a:lnSpc>
                <a:spcPts val="1850"/>
              </a:lnSpc>
              <a:buNone/>
            </a:pPr>
            <a:r>
              <a:rPr lang="en-US" sz="1250" dirty="0">
                <a:solidFill>
                  <a:srgbClr val="6A6875"/>
                </a:solidFill>
                <a:latin typeface="Calibri" pitchFamily="34" charset="0"/>
                <a:ea typeface="Calibri" pitchFamily="34" charset="-122"/>
                <a:cs typeface="Calibri" pitchFamily="34" charset="-120"/>
              </a:rPr>
              <a:t>The site, the explorer data, the flows, the agent kit and this deck are all emitted from the notes by script. Nothing is maintained in two places, so nothing can drift — and the same pipeline runs locally and in CI, so what deploys is what was tested.</a:t>
            </a:r>
            <a:endParaRPr lang="en-US" sz="1250" dirty="0"/>
          </a:p>
        </p:txBody>
      </p:sp>
      <p:sp>
        <p:nvSpPr>
          <p:cNvPr id="31" name="Text 29"/>
          <p:cNvSpPr txBox="1"/>
          <p:nvPr/>
        </p:nvSpPr>
        <p:spPr>
          <a:xfrm>
            <a:off x="7863840" y="4434840"/>
            <a:ext cx="3657600" cy="292608"/>
          </a:xfrm>
          <a:prstGeom prst="rect">
            <a:avLst/>
          </a:prstGeom>
          <a:noFill/>
          <a:ln/>
        </p:spPr>
        <p:txBody>
          <a:bodyPr wrap="square" lIns="0" tIns="0" rIns="0" bIns="0" rtlCol="0" anchor="ctr"/>
          <a:lstStyle/>
          <a:p>
            <a:pPr indent="0" marL="0">
              <a:buNone/>
            </a:pPr>
            <a:r>
              <a:rPr lang="en-US" sz="1500" b="1" dirty="0">
                <a:solidFill>
                  <a:srgbClr val="22222A"/>
                </a:solidFill>
                <a:latin typeface="Calibri" pitchFamily="34" charset="0"/>
                <a:ea typeface="Calibri" pitchFamily="34" charset="-122"/>
                <a:cs typeface="Calibri" pitchFamily="34" charset="-120"/>
              </a:rPr>
              <a:t>Zero runtime dependencies</a:t>
            </a:r>
            <a:endParaRPr lang="en-US" sz="1500" dirty="0"/>
          </a:p>
        </p:txBody>
      </p:sp>
      <p:sp>
        <p:nvSpPr>
          <p:cNvPr id="32" name="Text 30"/>
          <p:cNvSpPr txBox="1"/>
          <p:nvPr/>
        </p:nvSpPr>
        <p:spPr>
          <a:xfrm>
            <a:off x="7863840" y="4800600"/>
            <a:ext cx="3657600" cy="1097280"/>
          </a:xfrm>
          <a:prstGeom prst="rect">
            <a:avLst/>
          </a:prstGeom>
          <a:noFill/>
          <a:ln/>
        </p:spPr>
        <p:txBody>
          <a:bodyPr wrap="square" lIns="0" tIns="0" rIns="0" bIns="0" rtlCol="0" anchor="ctr"/>
          <a:lstStyle/>
          <a:p>
            <a:pPr indent="0" marL="0">
              <a:lnSpc>
                <a:spcPts val="1850"/>
              </a:lnSpc>
              <a:buNone/>
            </a:pPr>
            <a:r>
              <a:rPr lang="en-US" sz="1250" dirty="0">
                <a:solidFill>
                  <a:srgbClr val="6A6875"/>
                </a:solidFill>
                <a:latin typeface="Calibri" pitchFamily="34" charset="0"/>
                <a:ea typeface="Calibri" pitchFamily="34" charset="-122"/>
                <a:cs typeface="Calibri" pitchFamily="34" charset="-120"/>
              </a:rPr>
              <a:t>The note format is parsed by hand-written code — no YAML library, no graph database, no server. The published site is static files, which is also why the whole thing can be handed to an assistant as a folder.</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807C8A"/>
                </a:solidFill>
                <a:latin typeface="Calibri" pitchFamily="34" charset="0"/>
                <a:ea typeface="Calibri" pitchFamily="34" charset="-122"/>
                <a:cs typeface="Calibri" pitchFamily="34" charset="-120"/>
              </a:rPr>
              <a:t>10</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7B4BD8"/>
                </a:solidFill>
                <a:latin typeface="Calibri" pitchFamily="34" charset="0"/>
                <a:ea typeface="Calibri" pitchFamily="34" charset="-122"/>
                <a:cs typeface="Calibri" pitchFamily="34" charset="-120"/>
              </a:rPr>
              <a:t>WHAT IS ENFORCED</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200" b="1" dirty="0">
                <a:solidFill>
                  <a:srgbClr val="22222A"/>
                </a:solidFill>
                <a:latin typeface="Cambria" pitchFamily="34" charset="0"/>
                <a:ea typeface="Cambria" pitchFamily="34" charset="-122"/>
                <a:cs typeface="Cambria" pitchFamily="34" charset="-120"/>
              </a:rPr>
              <a:t>The checks that refuse a change</a:t>
            </a:r>
            <a:endParaRPr lang="en-US" sz="3200" dirty="0"/>
          </a:p>
        </p:txBody>
      </p:sp>
      <p:sp>
        <p:nvSpPr>
          <p:cNvPr id="5" name="Shape 3"/>
          <p:cNvSpPr/>
          <p:nvPr/>
        </p:nvSpPr>
        <p:spPr>
          <a:xfrm>
            <a:off x="658368" y="1600200"/>
            <a:ext cx="5212080" cy="1298448"/>
          </a:xfrm>
          <a:prstGeom prst="roundRect">
            <a:avLst>
              <a:gd name="adj" fmla="val 5634"/>
            </a:avLst>
          </a:prstGeom>
          <a:solidFill>
            <a:srgbClr val="F7F5FA"/>
          </a:solidFill>
          <a:ln w="9525">
            <a:solidFill>
              <a:srgbClr val="E5E2E8"/>
            </a:solidFill>
            <a:prstDash val="solid"/>
          </a:ln>
        </p:spPr>
      </p:sp>
      <p:sp>
        <p:nvSpPr>
          <p:cNvPr id="6" name="Text 4"/>
          <p:cNvSpPr txBox="1"/>
          <p:nvPr/>
        </p:nvSpPr>
        <p:spPr>
          <a:xfrm>
            <a:off x="932688" y="1783080"/>
            <a:ext cx="4800600" cy="274320"/>
          </a:xfrm>
          <a:prstGeom prst="rect">
            <a:avLst/>
          </a:prstGeom>
          <a:noFill/>
          <a:ln/>
        </p:spPr>
        <p:txBody>
          <a:bodyPr wrap="square" lIns="0" tIns="0" rIns="0" bIns="0" rtlCol="0" anchor="ctr"/>
          <a:lstStyle/>
          <a:p>
            <a:pPr indent="0" marL="0">
              <a:buNone/>
            </a:pPr>
            <a:r>
              <a:rPr lang="en-US" sz="1350" b="1" dirty="0">
                <a:solidFill>
                  <a:srgbClr val="22222A"/>
                </a:solidFill>
                <a:latin typeface="Calibri" pitchFamily="34" charset="0"/>
                <a:ea typeface="Calibri" pitchFamily="34" charset="-122"/>
                <a:cs typeface="Calibri" pitchFamily="34" charset="-120"/>
              </a:rPr>
              <a:t>Closed vocabulary</a:t>
            </a:r>
            <a:endParaRPr lang="en-US" sz="1350" dirty="0"/>
          </a:p>
        </p:txBody>
      </p:sp>
      <p:sp>
        <p:nvSpPr>
          <p:cNvPr id="7" name="Text 5"/>
          <p:cNvSpPr txBox="1"/>
          <p:nvPr/>
        </p:nvSpPr>
        <p:spPr>
          <a:xfrm>
            <a:off x="932688" y="2103120"/>
            <a:ext cx="4800600" cy="685800"/>
          </a:xfrm>
          <a:prstGeom prst="rect">
            <a:avLst/>
          </a:prstGeom>
          <a:noFill/>
          <a:ln/>
        </p:spPr>
        <p:txBody>
          <a:bodyPr wrap="square" lIns="0" tIns="0" rIns="0" bIns="0" rtlCol="0" anchor="ctr"/>
          <a:lstStyle/>
          <a:p>
            <a:pPr indent="0" marL="0">
              <a:lnSpc>
                <a:spcPts val="1550"/>
              </a:lnSpc>
              <a:buNone/>
            </a:pPr>
            <a:r>
              <a:rPr lang="en-US" sz="1100" dirty="0">
                <a:solidFill>
                  <a:srgbClr val="6A6875"/>
                </a:solidFill>
                <a:latin typeface="Calibri" pitchFamily="34" charset="0"/>
                <a:ea typeface="Calibri" pitchFamily="34" charset="-122"/>
                <a:cs typeface="Calibri" pitchFamily="34" charset="-120"/>
              </a:rPr>
              <a:t>Eleven node types, sixteen predicates. Anything else is rejected outright.</a:t>
            </a:r>
            <a:endParaRPr lang="en-US" sz="1100" dirty="0"/>
          </a:p>
        </p:txBody>
      </p:sp>
      <p:sp>
        <p:nvSpPr>
          <p:cNvPr id="8" name="Shape 6"/>
          <p:cNvSpPr/>
          <p:nvPr/>
        </p:nvSpPr>
        <p:spPr>
          <a:xfrm>
            <a:off x="6327648" y="1600200"/>
            <a:ext cx="5212080" cy="1298448"/>
          </a:xfrm>
          <a:prstGeom prst="roundRect">
            <a:avLst>
              <a:gd name="adj" fmla="val 5634"/>
            </a:avLst>
          </a:prstGeom>
          <a:solidFill>
            <a:srgbClr val="F7F5FA"/>
          </a:solidFill>
          <a:ln w="9525">
            <a:solidFill>
              <a:srgbClr val="E5E2E8"/>
            </a:solidFill>
            <a:prstDash val="solid"/>
          </a:ln>
        </p:spPr>
      </p:sp>
      <p:sp>
        <p:nvSpPr>
          <p:cNvPr id="9" name="Text 7"/>
          <p:cNvSpPr txBox="1"/>
          <p:nvPr/>
        </p:nvSpPr>
        <p:spPr>
          <a:xfrm>
            <a:off x="6601968" y="1783080"/>
            <a:ext cx="4800600" cy="274320"/>
          </a:xfrm>
          <a:prstGeom prst="rect">
            <a:avLst/>
          </a:prstGeom>
          <a:noFill/>
          <a:ln/>
        </p:spPr>
        <p:txBody>
          <a:bodyPr wrap="square" lIns="0" tIns="0" rIns="0" bIns="0" rtlCol="0" anchor="ctr"/>
          <a:lstStyle/>
          <a:p>
            <a:pPr indent="0" marL="0">
              <a:buNone/>
            </a:pPr>
            <a:r>
              <a:rPr lang="en-US" sz="1350" b="1" dirty="0">
                <a:solidFill>
                  <a:srgbClr val="22222A"/>
                </a:solidFill>
                <a:latin typeface="Calibri" pitchFamily="34" charset="0"/>
                <a:ea typeface="Calibri" pitchFamily="34" charset="-122"/>
                <a:cs typeface="Calibri" pitchFamily="34" charset="-120"/>
              </a:rPr>
              <a:t>Domain and range</a:t>
            </a:r>
            <a:endParaRPr lang="en-US" sz="1350" dirty="0"/>
          </a:p>
        </p:txBody>
      </p:sp>
      <p:sp>
        <p:nvSpPr>
          <p:cNvPr id="10" name="Text 8"/>
          <p:cNvSpPr txBox="1"/>
          <p:nvPr/>
        </p:nvSpPr>
        <p:spPr>
          <a:xfrm>
            <a:off x="6601968" y="2103120"/>
            <a:ext cx="4800600" cy="685800"/>
          </a:xfrm>
          <a:prstGeom prst="rect">
            <a:avLst/>
          </a:prstGeom>
          <a:noFill/>
          <a:ln/>
        </p:spPr>
        <p:txBody>
          <a:bodyPr wrap="square" lIns="0" tIns="0" rIns="0" bIns="0" rtlCol="0" anchor="ctr"/>
          <a:lstStyle/>
          <a:p>
            <a:pPr indent="0" marL="0">
              <a:lnSpc>
                <a:spcPts val="1550"/>
              </a:lnSpc>
              <a:buNone/>
            </a:pPr>
            <a:r>
              <a:rPr lang="en-US" sz="1100" dirty="0">
                <a:solidFill>
                  <a:srgbClr val="6A6875"/>
                </a:solidFill>
                <a:latin typeface="Calibri" pitchFamily="34" charset="0"/>
                <a:ea typeface="Calibri" pitchFamily="34" charset="-122"/>
                <a:cs typeface="Calibri" pitchFamily="34" charset="-120"/>
              </a:rPr>
              <a:t>A practice cannot trigger anything; only a belief can sustain a strategy. Every edge is checked against the table.</a:t>
            </a:r>
            <a:endParaRPr lang="en-US" sz="1100" dirty="0"/>
          </a:p>
        </p:txBody>
      </p:sp>
      <p:sp>
        <p:nvSpPr>
          <p:cNvPr id="11" name="Shape 9"/>
          <p:cNvSpPr/>
          <p:nvPr/>
        </p:nvSpPr>
        <p:spPr>
          <a:xfrm>
            <a:off x="658368" y="3081528"/>
            <a:ext cx="5212080" cy="1298448"/>
          </a:xfrm>
          <a:prstGeom prst="roundRect">
            <a:avLst>
              <a:gd name="adj" fmla="val 5634"/>
            </a:avLst>
          </a:prstGeom>
          <a:solidFill>
            <a:srgbClr val="F7F5FA"/>
          </a:solidFill>
          <a:ln w="9525">
            <a:solidFill>
              <a:srgbClr val="E5E2E8"/>
            </a:solidFill>
            <a:prstDash val="solid"/>
          </a:ln>
        </p:spPr>
      </p:sp>
      <p:sp>
        <p:nvSpPr>
          <p:cNvPr id="12" name="Text 10"/>
          <p:cNvSpPr txBox="1"/>
          <p:nvPr/>
        </p:nvSpPr>
        <p:spPr>
          <a:xfrm>
            <a:off x="932688" y="3264408"/>
            <a:ext cx="4800600" cy="274320"/>
          </a:xfrm>
          <a:prstGeom prst="rect">
            <a:avLst/>
          </a:prstGeom>
          <a:noFill/>
          <a:ln/>
        </p:spPr>
        <p:txBody>
          <a:bodyPr wrap="square" lIns="0" tIns="0" rIns="0" bIns="0" rtlCol="0" anchor="ctr"/>
          <a:lstStyle/>
          <a:p>
            <a:pPr indent="0" marL="0">
              <a:buNone/>
            </a:pPr>
            <a:r>
              <a:rPr lang="en-US" sz="1350" b="1" dirty="0">
                <a:solidFill>
                  <a:srgbClr val="22222A"/>
                </a:solidFill>
                <a:latin typeface="Calibri" pitchFamily="34" charset="0"/>
                <a:ea typeface="Calibri" pitchFamily="34" charset="-122"/>
                <a:cs typeface="Calibri" pitchFamily="34" charset="-120"/>
              </a:rPr>
              <a:t>Every link resolves</a:t>
            </a:r>
            <a:endParaRPr lang="en-US" sz="1350" dirty="0"/>
          </a:p>
        </p:txBody>
      </p:sp>
      <p:sp>
        <p:nvSpPr>
          <p:cNvPr id="13" name="Text 11"/>
          <p:cNvSpPr txBox="1"/>
          <p:nvPr/>
        </p:nvSpPr>
        <p:spPr>
          <a:xfrm>
            <a:off x="932688" y="3584448"/>
            <a:ext cx="4800600" cy="685800"/>
          </a:xfrm>
          <a:prstGeom prst="rect">
            <a:avLst/>
          </a:prstGeom>
          <a:noFill/>
          <a:ln/>
        </p:spPr>
        <p:txBody>
          <a:bodyPr wrap="square" lIns="0" tIns="0" rIns="0" bIns="0" rtlCol="0" anchor="ctr"/>
          <a:lstStyle/>
          <a:p>
            <a:pPr indent="0" marL="0">
              <a:lnSpc>
                <a:spcPts val="1550"/>
              </a:lnSpc>
              <a:buNone/>
            </a:pPr>
            <a:r>
              <a:rPr lang="en-US" sz="1100" dirty="0">
                <a:solidFill>
                  <a:srgbClr val="6A6875"/>
                </a:solidFill>
                <a:latin typeface="Calibri" pitchFamily="34" charset="0"/>
                <a:ea typeface="Calibri" pitchFamily="34" charset="-122"/>
                <a:cs typeface="Calibri" pitchFamily="34" charset="-120"/>
              </a:rPr>
              <a:t>A wikilink to a title that does not exist fails the build rather than publishing a dead end.</a:t>
            </a:r>
            <a:endParaRPr lang="en-US" sz="1100" dirty="0"/>
          </a:p>
        </p:txBody>
      </p:sp>
      <p:sp>
        <p:nvSpPr>
          <p:cNvPr id="14" name="Shape 12"/>
          <p:cNvSpPr/>
          <p:nvPr/>
        </p:nvSpPr>
        <p:spPr>
          <a:xfrm>
            <a:off x="6327648" y="3081528"/>
            <a:ext cx="5212080" cy="1298448"/>
          </a:xfrm>
          <a:prstGeom prst="roundRect">
            <a:avLst>
              <a:gd name="adj" fmla="val 5634"/>
            </a:avLst>
          </a:prstGeom>
          <a:solidFill>
            <a:srgbClr val="F7F5FA"/>
          </a:solidFill>
          <a:ln w="9525">
            <a:solidFill>
              <a:srgbClr val="E5E2E8"/>
            </a:solidFill>
            <a:prstDash val="solid"/>
          </a:ln>
        </p:spPr>
      </p:sp>
      <p:sp>
        <p:nvSpPr>
          <p:cNvPr id="15" name="Text 13"/>
          <p:cNvSpPr txBox="1"/>
          <p:nvPr/>
        </p:nvSpPr>
        <p:spPr>
          <a:xfrm>
            <a:off x="6601968" y="3264408"/>
            <a:ext cx="4800600" cy="274320"/>
          </a:xfrm>
          <a:prstGeom prst="rect">
            <a:avLst/>
          </a:prstGeom>
          <a:noFill/>
          <a:ln/>
        </p:spPr>
        <p:txBody>
          <a:bodyPr wrap="square" lIns="0" tIns="0" rIns="0" bIns="0" rtlCol="0" anchor="ctr"/>
          <a:lstStyle/>
          <a:p>
            <a:pPr indent="0" marL="0">
              <a:buNone/>
            </a:pPr>
            <a:r>
              <a:rPr lang="en-US" sz="1350" b="1" dirty="0">
                <a:solidFill>
                  <a:srgbClr val="22222A"/>
                </a:solidFill>
                <a:latin typeface="Calibri" pitchFamily="34" charset="0"/>
                <a:ea typeface="Calibri" pitchFamily="34" charset="-122"/>
                <a:cs typeface="Calibri" pitchFamily="34" charset="-120"/>
              </a:rPr>
              <a:t>No dead ends in a flow</a:t>
            </a:r>
            <a:endParaRPr lang="en-US" sz="1350" dirty="0"/>
          </a:p>
        </p:txBody>
      </p:sp>
      <p:sp>
        <p:nvSpPr>
          <p:cNvPr id="16" name="Text 14"/>
          <p:cNvSpPr txBox="1"/>
          <p:nvPr/>
        </p:nvSpPr>
        <p:spPr>
          <a:xfrm>
            <a:off x="6601968" y="3584448"/>
            <a:ext cx="4800600" cy="685800"/>
          </a:xfrm>
          <a:prstGeom prst="rect">
            <a:avLst/>
          </a:prstGeom>
          <a:noFill/>
          <a:ln/>
        </p:spPr>
        <p:txBody>
          <a:bodyPr wrap="square" lIns="0" tIns="0" rIns="0" bIns="0" rtlCol="0" anchor="ctr"/>
          <a:lstStyle/>
          <a:p>
            <a:pPr indent="0" marL="0">
              <a:lnSpc>
                <a:spcPts val="1550"/>
              </a:lnSpc>
              <a:buNone/>
            </a:pPr>
            <a:r>
              <a:rPr lang="en-US" sz="1100" dirty="0">
                <a:solidFill>
                  <a:srgbClr val="6A6875"/>
                </a:solidFill>
                <a:latin typeface="Calibri" pitchFamily="34" charset="0"/>
                <a:ea typeface="Calibri" pitchFamily="34" charset="-122"/>
                <a:cs typeface="Calibri" pitchFamily="34" charset="-120"/>
              </a:rPr>
              <a:t>A step that is not an exit must lead somewhere, and every step must be reachable from the first.</a:t>
            </a:r>
            <a:endParaRPr lang="en-US" sz="1100" dirty="0"/>
          </a:p>
        </p:txBody>
      </p:sp>
      <p:sp>
        <p:nvSpPr>
          <p:cNvPr id="17" name="Shape 15"/>
          <p:cNvSpPr/>
          <p:nvPr/>
        </p:nvSpPr>
        <p:spPr>
          <a:xfrm>
            <a:off x="658368" y="4562856"/>
            <a:ext cx="5212080" cy="1298448"/>
          </a:xfrm>
          <a:prstGeom prst="roundRect">
            <a:avLst>
              <a:gd name="adj" fmla="val 5634"/>
            </a:avLst>
          </a:prstGeom>
          <a:solidFill>
            <a:srgbClr val="F7F5FA"/>
          </a:solidFill>
          <a:ln w="9525">
            <a:solidFill>
              <a:srgbClr val="E5E2E8"/>
            </a:solidFill>
            <a:prstDash val="solid"/>
          </a:ln>
        </p:spPr>
      </p:sp>
      <p:sp>
        <p:nvSpPr>
          <p:cNvPr id="18" name="Text 16"/>
          <p:cNvSpPr txBox="1"/>
          <p:nvPr/>
        </p:nvSpPr>
        <p:spPr>
          <a:xfrm>
            <a:off x="932688" y="4745736"/>
            <a:ext cx="4800600" cy="274320"/>
          </a:xfrm>
          <a:prstGeom prst="rect">
            <a:avLst/>
          </a:prstGeom>
          <a:noFill/>
          <a:ln/>
        </p:spPr>
        <p:txBody>
          <a:bodyPr wrap="square" lIns="0" tIns="0" rIns="0" bIns="0" rtlCol="0" anchor="ctr"/>
          <a:lstStyle/>
          <a:p>
            <a:pPr indent="0" marL="0">
              <a:buNone/>
            </a:pPr>
            <a:r>
              <a:rPr lang="en-US" sz="1350" b="1" dirty="0">
                <a:solidFill>
                  <a:srgbClr val="22222A"/>
                </a:solidFill>
                <a:latin typeface="Calibri" pitchFamily="34" charset="0"/>
                <a:ea typeface="Calibri" pitchFamily="34" charset="-122"/>
                <a:cs typeface="Calibri" pitchFamily="34" charset="-120"/>
              </a:rPr>
              <a:t>The safety gate comes first</a:t>
            </a:r>
            <a:endParaRPr lang="en-US" sz="1350" dirty="0"/>
          </a:p>
        </p:txBody>
      </p:sp>
      <p:sp>
        <p:nvSpPr>
          <p:cNvPr id="19" name="Text 17"/>
          <p:cNvSpPr txBox="1"/>
          <p:nvPr/>
        </p:nvSpPr>
        <p:spPr>
          <a:xfrm>
            <a:off x="932688" y="5065776"/>
            <a:ext cx="4800600" cy="685800"/>
          </a:xfrm>
          <a:prstGeom prst="rect">
            <a:avLst/>
          </a:prstGeom>
          <a:noFill/>
          <a:ln/>
        </p:spPr>
        <p:txBody>
          <a:bodyPr wrap="square" lIns="0" tIns="0" rIns="0" bIns="0" rtlCol="0" anchor="ctr"/>
          <a:lstStyle/>
          <a:p>
            <a:pPr indent="0" marL="0">
              <a:lnSpc>
                <a:spcPts val="1550"/>
              </a:lnSpc>
              <a:buNone/>
            </a:pPr>
            <a:r>
              <a:rPr lang="en-US" sz="1100" dirty="0">
                <a:solidFill>
                  <a:srgbClr val="6A6875"/>
                </a:solidFill>
                <a:latin typeface="Calibri" pitchFamily="34" charset="0"/>
                <a:ea typeface="Calibri" pitchFamily="34" charset="-122"/>
                <a:cs typeface="Calibri" pitchFamily="34" charset="-120"/>
              </a:rPr>
              <a:t>A flow whose reframe step sits before its safety gate is rejected. The rule is structural, not remembered.</a:t>
            </a:r>
            <a:endParaRPr lang="en-US" sz="1100" dirty="0"/>
          </a:p>
        </p:txBody>
      </p:sp>
      <p:sp>
        <p:nvSpPr>
          <p:cNvPr id="20" name="Shape 18"/>
          <p:cNvSpPr/>
          <p:nvPr/>
        </p:nvSpPr>
        <p:spPr>
          <a:xfrm>
            <a:off x="6327648" y="4562856"/>
            <a:ext cx="5212080" cy="1298448"/>
          </a:xfrm>
          <a:prstGeom prst="roundRect">
            <a:avLst>
              <a:gd name="adj" fmla="val 5634"/>
            </a:avLst>
          </a:prstGeom>
          <a:solidFill>
            <a:srgbClr val="F7F5FA"/>
          </a:solidFill>
          <a:ln w="9525">
            <a:solidFill>
              <a:srgbClr val="E5E2E8"/>
            </a:solidFill>
            <a:prstDash val="solid"/>
          </a:ln>
        </p:spPr>
      </p:sp>
      <p:sp>
        <p:nvSpPr>
          <p:cNvPr id="21" name="Text 19"/>
          <p:cNvSpPr txBox="1"/>
          <p:nvPr/>
        </p:nvSpPr>
        <p:spPr>
          <a:xfrm>
            <a:off x="6601968" y="4745736"/>
            <a:ext cx="4800600" cy="274320"/>
          </a:xfrm>
          <a:prstGeom prst="rect">
            <a:avLst/>
          </a:prstGeom>
          <a:noFill/>
          <a:ln/>
        </p:spPr>
        <p:txBody>
          <a:bodyPr wrap="square" lIns="0" tIns="0" rIns="0" bIns="0" rtlCol="0" anchor="ctr"/>
          <a:lstStyle/>
          <a:p>
            <a:pPr indent="0" marL="0">
              <a:buNone/>
            </a:pPr>
            <a:r>
              <a:rPr lang="en-US" sz="1350" b="1" dirty="0">
                <a:solidFill>
                  <a:srgbClr val="22222A"/>
                </a:solidFill>
                <a:latin typeface="Calibri" pitchFamily="34" charset="0"/>
                <a:ea typeface="Calibri" pitchFamily="34" charset="-122"/>
                <a:cs typeface="Calibri" pitchFamily="34" charset="-120"/>
              </a:rPr>
              <a:t>The published site</a:t>
            </a:r>
            <a:endParaRPr lang="en-US" sz="1350" dirty="0"/>
          </a:p>
        </p:txBody>
      </p:sp>
      <p:sp>
        <p:nvSpPr>
          <p:cNvPr id="22" name="Text 20"/>
          <p:cNvSpPr txBox="1"/>
          <p:nvPr/>
        </p:nvSpPr>
        <p:spPr>
          <a:xfrm>
            <a:off x="6601968" y="5065776"/>
            <a:ext cx="4800600" cy="685800"/>
          </a:xfrm>
          <a:prstGeom prst="rect">
            <a:avLst/>
          </a:prstGeom>
          <a:noFill/>
          <a:ln/>
        </p:spPr>
        <p:txBody>
          <a:bodyPr wrap="square" lIns="0" tIns="0" rIns="0" bIns="0" rtlCol="0" anchor="ctr"/>
          <a:lstStyle/>
          <a:p>
            <a:pPr indent="0" marL="0">
              <a:lnSpc>
                <a:spcPts val="1550"/>
              </a:lnSpc>
              <a:buNone/>
            </a:pPr>
            <a:r>
              <a:rPr lang="en-US" sz="1100" dirty="0">
                <a:solidFill>
                  <a:srgbClr val="6A6875"/>
                </a:solidFill>
                <a:latin typeface="Calibri" pitchFamily="34" charset="0"/>
                <a:ea typeface="Calibri" pitchFamily="34" charset="-122"/>
                <a:cs typeface="Calibri" pitchFamily="34" charset="-120"/>
              </a:rPr>
              <a:t>A smoke test over the built HTML: no unexpanded templates, no empty sections, no page the home page fails to link to.</a:t>
            </a:r>
            <a:endParaRPr lang="en-US" sz="1100" dirty="0"/>
          </a:p>
        </p:txBody>
      </p:sp>
      <p:sp>
        <p:nvSpPr>
          <p:cNvPr id="23" name="Text 21"/>
          <p:cNvSpPr txBox="1"/>
          <p:nvPr/>
        </p:nvSpPr>
        <p:spPr>
          <a:xfrm>
            <a:off x="658368" y="6126480"/>
            <a:ext cx="10874959" cy="457200"/>
          </a:xfrm>
          <a:prstGeom prst="rect">
            <a:avLst/>
          </a:prstGeom>
          <a:noFill/>
          <a:ln/>
        </p:spPr>
        <p:txBody>
          <a:bodyPr wrap="square" lIns="0" tIns="0" rIns="0" bIns="0" rtlCol="0" anchor="ctr"/>
          <a:lstStyle/>
          <a:p>
            <a:pPr indent="0" marL="0">
              <a:lnSpc>
                <a:spcPts val="1600"/>
              </a:lnSpc>
              <a:buNone/>
            </a:pPr>
            <a:r>
              <a:rPr lang="en-US" sz="1150" i="1" dirty="0">
                <a:solidFill>
                  <a:srgbClr val="807C8A"/>
                </a:solidFill>
                <a:latin typeface="Calibri" pitchFamily="34" charset="0"/>
                <a:ea typeface="Calibri" pitchFamily="34" charset="-122"/>
                <a:cs typeface="Calibri" pitchFamily="34" charset="-120"/>
              </a:rPr>
              <a:t>The last one exists because every presentation defect this project has had was found by a person looking, not by a check. The data was always validated; what shipped was not.</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807C8A"/>
                </a:solidFill>
                <a:latin typeface="Calibri" pitchFamily="34" charset="0"/>
                <a:ea typeface="Calibri" pitchFamily="34" charset="-122"/>
                <a:cs typeface="Calibri" pitchFamily="34" charset="-120"/>
              </a:rPr>
              <a:t>11</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7B4BD8"/>
                </a:solidFill>
                <a:latin typeface="Calibri" pitchFamily="34" charset="0"/>
                <a:ea typeface="Calibri" pitchFamily="34" charset="-122"/>
                <a:cs typeface="Calibri" pitchFamily="34" charset="-120"/>
              </a:rPr>
              <a:t>HOW TO USE IT</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200" b="1" dirty="0">
                <a:solidFill>
                  <a:srgbClr val="22222A"/>
                </a:solidFill>
                <a:latin typeface="Cambria" pitchFamily="34" charset="0"/>
                <a:ea typeface="Cambria" pitchFamily="34" charset="-122"/>
                <a:cs typeface="Cambria" pitchFamily="34" charset="-120"/>
              </a:rPr>
              <a:t>Two ways in</a:t>
            </a:r>
            <a:endParaRPr lang="en-US" sz="3200" dirty="0"/>
          </a:p>
        </p:txBody>
      </p:sp>
      <p:sp>
        <p:nvSpPr>
          <p:cNvPr id="5" name="Text 3"/>
          <p:cNvSpPr txBox="1"/>
          <p:nvPr/>
        </p:nvSpPr>
        <p:spPr>
          <a:xfrm>
            <a:off x="658368" y="1609344"/>
            <a:ext cx="9134966" cy="457200"/>
          </a:xfrm>
          <a:prstGeom prst="rect">
            <a:avLst/>
          </a:prstGeom>
          <a:noFill/>
          <a:ln/>
        </p:spPr>
        <p:txBody>
          <a:bodyPr wrap="square" lIns="0" tIns="0" rIns="0" bIns="0" rtlCol="0" anchor="ctr"/>
          <a:lstStyle/>
          <a:p>
            <a:pPr indent="0" marL="0">
              <a:lnSpc>
                <a:spcPts val="2100"/>
              </a:lnSpc>
              <a:buNone/>
            </a:pPr>
            <a:r>
              <a:rPr lang="en-US" sz="1450" dirty="0">
                <a:solidFill>
                  <a:srgbClr val="6A6875"/>
                </a:solidFill>
                <a:latin typeface="Calibri" pitchFamily="34" charset="0"/>
                <a:ea typeface="Calibri" pitchFamily="34" charset="-122"/>
                <a:cs typeface="Calibri" pitchFamily="34" charset="-120"/>
              </a:rPr>
              <a:t>The same notes, two ways. Nothing is duplicated by hand — both are one static build from one set of markdown files.</a:t>
            </a:r>
            <a:endParaRPr lang="en-US" sz="1450" dirty="0"/>
          </a:p>
        </p:txBody>
      </p:sp>
      <p:sp>
        <p:nvSpPr>
          <p:cNvPr id="6" name="Shape 4"/>
          <p:cNvSpPr/>
          <p:nvPr/>
        </p:nvSpPr>
        <p:spPr>
          <a:xfrm>
            <a:off x="658368" y="2057400"/>
            <a:ext cx="4846320" cy="2743200"/>
          </a:xfrm>
          <a:prstGeom prst="roundRect">
            <a:avLst>
              <a:gd name="adj" fmla="val 2667"/>
            </a:avLst>
          </a:prstGeom>
          <a:solidFill>
            <a:srgbClr val="F7F5FA"/>
          </a:solidFill>
          <a:ln w="9525">
            <a:solidFill>
              <a:srgbClr val="E5E2E8"/>
            </a:solidFill>
            <a:prstDash val="solid"/>
          </a:ln>
        </p:spPr>
      </p:sp>
      <p:sp>
        <p:nvSpPr>
          <p:cNvPr id="7" name="Shape 5"/>
          <p:cNvSpPr/>
          <p:nvPr/>
        </p:nvSpPr>
        <p:spPr>
          <a:xfrm>
            <a:off x="914400" y="2340864"/>
            <a:ext cx="201168" cy="201168"/>
          </a:xfrm>
          <a:prstGeom prst="ellipse">
            <a:avLst/>
          </a:prstGeom>
          <a:solidFill>
            <a:srgbClr val="2BB0A3"/>
          </a:solidFill>
          <a:ln w="12700">
            <a:solidFill>
              <a:srgbClr val="333333"/>
            </a:solidFill>
            <a:prstDash val="solid"/>
          </a:ln>
        </p:spPr>
      </p:sp>
      <p:sp>
        <p:nvSpPr>
          <p:cNvPr id="8" name="Text 6"/>
          <p:cNvSpPr txBox="1"/>
          <p:nvPr/>
        </p:nvSpPr>
        <p:spPr>
          <a:xfrm>
            <a:off x="1225296" y="2304288"/>
            <a:ext cx="4023360" cy="274320"/>
          </a:xfrm>
          <a:prstGeom prst="rect">
            <a:avLst/>
          </a:prstGeom>
          <a:noFill/>
          <a:ln/>
        </p:spPr>
        <p:txBody>
          <a:bodyPr wrap="square" lIns="0" tIns="0" rIns="0" bIns="0" rtlCol="0" anchor="ctr"/>
          <a:lstStyle/>
          <a:p>
            <a:pPr indent="0" marL="0">
              <a:buNone/>
            </a:pPr>
            <a:r>
              <a:rPr lang="en-US" sz="1550" b="1" dirty="0">
                <a:solidFill>
                  <a:srgbClr val="22222A"/>
                </a:solidFill>
                <a:latin typeface="Calibri" pitchFamily="34" charset="0"/>
                <a:ea typeface="Calibri" pitchFamily="34" charset="-122"/>
                <a:cs typeface="Calibri" pitchFamily="34" charset="-120"/>
              </a:rPr>
              <a:t>the explorer</a:t>
            </a:r>
            <a:endParaRPr lang="en-US" sz="1550" dirty="0"/>
          </a:p>
        </p:txBody>
      </p:sp>
      <p:sp>
        <p:nvSpPr>
          <p:cNvPr id="9" name="Text 7"/>
          <p:cNvSpPr txBox="1"/>
          <p:nvPr/>
        </p:nvSpPr>
        <p:spPr>
          <a:xfrm>
            <a:off x="914400" y="2688336"/>
            <a:ext cx="4334256" cy="274320"/>
          </a:xfrm>
          <a:prstGeom prst="rect">
            <a:avLst/>
          </a:prstGeom>
          <a:noFill/>
          <a:ln/>
        </p:spPr>
        <p:txBody>
          <a:bodyPr wrap="square" lIns="0" tIns="0" rIns="0" bIns="0" rtlCol="0" anchor="ctr"/>
          <a:lstStyle/>
          <a:p>
            <a:pPr indent="0" marL="0">
              <a:buNone/>
            </a:pPr>
            <a:r>
              <a:rPr lang="en-US" sz="1000" b="1" dirty="0">
                <a:solidFill>
                  <a:srgbClr val="2BB0A3"/>
                </a:solidFill>
                <a:latin typeface="Courier New" pitchFamily="34" charset="0"/>
                <a:ea typeface="Courier New" pitchFamily="34" charset="-122"/>
                <a:cs typeface="Courier New" pitchFamily="34" charset="-120"/>
              </a:rPr>
              <a:t>Browse the graph</a:t>
            </a:r>
            <a:endParaRPr lang="en-US" sz="1000" dirty="0"/>
          </a:p>
        </p:txBody>
      </p:sp>
      <p:sp>
        <p:nvSpPr>
          <p:cNvPr id="10" name="Text 8"/>
          <p:cNvSpPr txBox="1"/>
          <p:nvPr/>
        </p:nvSpPr>
        <p:spPr>
          <a:xfrm>
            <a:off x="914400" y="3017520"/>
            <a:ext cx="4334256" cy="1645920"/>
          </a:xfrm>
          <a:prstGeom prst="rect">
            <a:avLst/>
          </a:prstGeom>
          <a:noFill/>
          <a:ln/>
        </p:spPr>
        <p:txBody>
          <a:bodyPr wrap="square" lIns="0" tIns="0" rIns="0" bIns="0" rtlCol="0" anchor="ctr"/>
          <a:lstStyle/>
          <a:p>
            <a:pPr indent="0" marL="0">
              <a:lnSpc>
                <a:spcPts val="1550"/>
              </a:lnSpc>
              <a:buNone/>
            </a:pPr>
            <a:r>
              <a:rPr lang="en-US" sz="1100" dirty="0">
                <a:solidFill>
                  <a:srgbClr val="6A6875"/>
                </a:solidFill>
                <a:latin typeface="Calibri" pitchFamily="34" charset="0"/>
                <a:ea typeface="Calibri" pitchFamily="34" charset="-122"/>
                <a:cs typeface="Calibri" pitchFamily="34" charset="-120"/>
              </a:rPr>
              <a:t>Opens on one idea and draws its neighbourhood rather than a 616-node hairball. Click a neighbour to read it, double-click to move there. The whole view is in the URL, so any state of it can be handed to someone else.</a:t>
            </a:r>
            <a:endParaRPr lang="en-US" sz="1100" dirty="0"/>
          </a:p>
        </p:txBody>
      </p:sp>
      <p:sp>
        <p:nvSpPr>
          <p:cNvPr id="11" name="Shape 9"/>
          <p:cNvSpPr/>
          <p:nvPr/>
        </p:nvSpPr>
        <p:spPr>
          <a:xfrm>
            <a:off x="6327648" y="2057400"/>
            <a:ext cx="4846320" cy="2743200"/>
          </a:xfrm>
          <a:prstGeom prst="roundRect">
            <a:avLst>
              <a:gd name="adj" fmla="val 2667"/>
            </a:avLst>
          </a:prstGeom>
          <a:solidFill>
            <a:srgbClr val="F7F5FA"/>
          </a:solidFill>
          <a:ln w="9525">
            <a:solidFill>
              <a:srgbClr val="E5E2E8"/>
            </a:solidFill>
            <a:prstDash val="solid"/>
          </a:ln>
        </p:spPr>
      </p:sp>
      <p:sp>
        <p:nvSpPr>
          <p:cNvPr id="12" name="Shape 10"/>
          <p:cNvSpPr/>
          <p:nvPr/>
        </p:nvSpPr>
        <p:spPr>
          <a:xfrm>
            <a:off x="6583680" y="2340864"/>
            <a:ext cx="201168" cy="201168"/>
          </a:xfrm>
          <a:prstGeom prst="ellipse">
            <a:avLst/>
          </a:prstGeom>
          <a:solidFill>
            <a:srgbClr val="E04F86"/>
          </a:solidFill>
          <a:ln w="12700">
            <a:solidFill>
              <a:srgbClr val="333333"/>
            </a:solidFill>
            <a:prstDash val="solid"/>
          </a:ln>
        </p:spPr>
      </p:sp>
      <p:sp>
        <p:nvSpPr>
          <p:cNvPr id="13" name="Text 11"/>
          <p:cNvSpPr txBox="1"/>
          <p:nvPr/>
        </p:nvSpPr>
        <p:spPr>
          <a:xfrm>
            <a:off x="6894576" y="2304288"/>
            <a:ext cx="4023360" cy="274320"/>
          </a:xfrm>
          <a:prstGeom prst="rect">
            <a:avLst/>
          </a:prstGeom>
          <a:noFill/>
          <a:ln/>
        </p:spPr>
        <p:txBody>
          <a:bodyPr wrap="square" lIns="0" tIns="0" rIns="0" bIns="0" rtlCol="0" anchor="ctr"/>
          <a:lstStyle/>
          <a:p>
            <a:pPr indent="0" marL="0">
              <a:buNone/>
            </a:pPr>
            <a:r>
              <a:rPr lang="en-US" sz="1550" b="1" dirty="0">
                <a:solidFill>
                  <a:srgbClr val="22222A"/>
                </a:solidFill>
                <a:latin typeface="Calibri" pitchFamily="34" charset="0"/>
                <a:ea typeface="Calibri" pitchFamily="34" charset="-122"/>
                <a:cs typeface="Calibri" pitchFamily="34" charset="-120"/>
              </a:rPr>
              <a:t>the assistant</a:t>
            </a:r>
            <a:endParaRPr lang="en-US" sz="1550" dirty="0"/>
          </a:p>
        </p:txBody>
      </p:sp>
      <p:sp>
        <p:nvSpPr>
          <p:cNvPr id="14" name="Text 12"/>
          <p:cNvSpPr txBox="1"/>
          <p:nvPr/>
        </p:nvSpPr>
        <p:spPr>
          <a:xfrm>
            <a:off x="6583680" y="2688336"/>
            <a:ext cx="4334256" cy="274320"/>
          </a:xfrm>
          <a:prstGeom prst="rect">
            <a:avLst/>
          </a:prstGeom>
          <a:noFill/>
          <a:ln/>
        </p:spPr>
        <p:txBody>
          <a:bodyPr wrap="square" lIns="0" tIns="0" rIns="0" bIns="0" rtlCol="0" anchor="ctr"/>
          <a:lstStyle/>
          <a:p>
            <a:pPr indent="0" marL="0">
              <a:buNone/>
            </a:pPr>
            <a:r>
              <a:rPr lang="en-US" sz="1000" b="1" dirty="0">
                <a:solidFill>
                  <a:srgbClr val="E04F86"/>
                </a:solidFill>
                <a:latin typeface="Courier New" pitchFamily="34" charset="0"/>
                <a:ea typeface="Courier New" pitchFamily="34" charset="-122"/>
                <a:cs typeface="Courier New" pitchFamily="34" charset="-120"/>
              </a:rPr>
              <a:t>Talk it through</a:t>
            </a:r>
            <a:endParaRPr lang="en-US" sz="1000" dirty="0"/>
          </a:p>
        </p:txBody>
      </p:sp>
      <p:sp>
        <p:nvSpPr>
          <p:cNvPr id="15" name="Text 13"/>
          <p:cNvSpPr txBox="1"/>
          <p:nvPr/>
        </p:nvSpPr>
        <p:spPr>
          <a:xfrm>
            <a:off x="6583680" y="3017520"/>
            <a:ext cx="4334256" cy="1645920"/>
          </a:xfrm>
          <a:prstGeom prst="rect">
            <a:avLst/>
          </a:prstGeom>
          <a:noFill/>
          <a:ln/>
        </p:spPr>
        <p:txBody>
          <a:bodyPr wrap="square" lIns="0" tIns="0" rIns="0" bIns="0" rtlCol="0" anchor="ctr"/>
          <a:lstStyle/>
          <a:p>
            <a:pPr indent="0" marL="0">
              <a:lnSpc>
                <a:spcPts val="1550"/>
              </a:lnSpc>
              <a:buNone/>
            </a:pPr>
            <a:r>
              <a:rPr lang="en-US" sz="1100" dirty="0">
                <a:solidFill>
                  <a:srgbClr val="6A6875"/>
                </a:solidFill>
                <a:latin typeface="Calibri" pitchFamily="34" charset="0"/>
                <a:ea typeface="Calibri" pitchFamily="34" charset="-122"/>
                <a:cs typeface="Calibri" pitchFamily="34" charset="-120"/>
              </a:rPr>
              <a:t>Download the repo, point Claude Code or Codex at it, and describe what is going on. It reads the material rather than working from memory, and opens a window showing you the nodes it is drawing on.</a:t>
            </a:r>
            <a:endParaRPr lang="en-US" sz="1100" dirty="0"/>
          </a:p>
        </p:txBody>
      </p:sp>
      <p:sp>
        <p:nvSpPr>
          <p:cNvPr id="16" name="Shape 14"/>
          <p:cNvSpPr/>
          <p:nvPr/>
        </p:nvSpPr>
        <p:spPr>
          <a:xfrm>
            <a:off x="658368" y="5074920"/>
            <a:ext cx="10874959" cy="1005840"/>
          </a:xfrm>
          <a:prstGeom prst="roundRect">
            <a:avLst>
              <a:gd name="adj" fmla="val 7273"/>
            </a:avLst>
          </a:prstGeom>
          <a:solidFill>
            <a:srgbClr val="F7F5FA"/>
          </a:solidFill>
          <a:ln w="9525">
            <a:solidFill>
              <a:srgbClr val="E5E2E8"/>
            </a:solidFill>
            <a:prstDash val="solid"/>
          </a:ln>
        </p:spPr>
      </p:sp>
      <p:sp>
        <p:nvSpPr>
          <p:cNvPr id="17" name="Text 15"/>
          <p:cNvSpPr txBox="1"/>
          <p:nvPr/>
        </p:nvSpPr>
        <p:spPr>
          <a:xfrm>
            <a:off x="950976" y="5074920"/>
            <a:ext cx="10289743" cy="1005840"/>
          </a:xfrm>
          <a:prstGeom prst="rect">
            <a:avLst/>
          </a:prstGeom>
          <a:noFill/>
          <a:ln/>
        </p:spPr>
        <p:txBody>
          <a:bodyPr wrap="square" lIns="0" tIns="0" rIns="0" bIns="0" rtlCol="0" anchor="ctr"/>
          <a:lstStyle/>
          <a:p>
            <a:pPr indent="0" marL="0">
              <a:lnSpc>
                <a:spcPts val="1800"/>
              </a:lnSpc>
              <a:buNone/>
            </a:pPr>
            <a:r>
              <a:rPr lang="en-US" sz="1250" dirty="0">
                <a:solidFill>
                  <a:srgbClr val="6A6875"/>
                </a:solidFill>
                <a:latin typeface="Calibri" pitchFamily="34" charset="0"/>
                <a:ea typeface="Calibri" pitchFamily="34" charset="-122"/>
                <a:cs typeface="Calibri" pitchFamily="34" charset="-120"/>
              </a:rPr>
              <a:t>The first is a website and needs nothing installed. The second runs on your own machine and is the one the project is actually for — the site exists so that the material is inspectable, not because a wiki was the goal.</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807C8A"/>
                </a:solidFill>
                <a:latin typeface="Calibri" pitchFamily="34" charset="0"/>
                <a:ea typeface="Calibri" pitchFamily="34" charset="-122"/>
                <a:cs typeface="Calibri" pitchFamily="34" charset="-120"/>
              </a:rPr>
              <a:t>12</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7B4BD8"/>
                </a:solidFill>
                <a:latin typeface="Calibri" pitchFamily="34" charset="0"/>
                <a:ea typeface="Calibri" pitchFamily="34" charset="-122"/>
                <a:cs typeface="Calibri" pitchFamily="34" charset="-120"/>
              </a:rPr>
              <a:t>THE FIRST WAY IN</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200" b="1" dirty="0">
                <a:solidFill>
                  <a:srgbClr val="22222A"/>
                </a:solidFill>
                <a:latin typeface="Cambria" pitchFamily="34" charset="0"/>
                <a:ea typeface="Cambria" pitchFamily="34" charset="-122"/>
                <a:cs typeface="Cambria" pitchFamily="34" charset="-120"/>
              </a:rPr>
              <a:t>Reading the graph</a:t>
            </a:r>
            <a:endParaRPr lang="en-US" sz="3200" dirty="0"/>
          </a:p>
        </p:txBody>
      </p:sp>
      <p:pic>
        <p:nvPicPr>
          <p:cNvPr id="5" name="Image 0" descr="scripts/deck/assets/deck-explore.png">    </p:cNvPr>
          <p:cNvPicPr>
            <a:picLocks noChangeAspect="1"/>
          </p:cNvPicPr>
          <p:nvPr/>
        </p:nvPicPr>
        <p:blipFill>
          <a:blip r:embed="rId1"/>
          <a:stretch>
            <a:fillRect/>
          </a:stretch>
        </p:blipFill>
        <p:spPr>
          <a:xfrm>
            <a:off x="658368" y="1371600"/>
            <a:ext cx="7406640" cy="4626864"/>
          </a:xfrm>
          <a:prstGeom prst="rect">
            <a:avLst/>
          </a:prstGeom>
        </p:spPr>
      </p:pic>
      <p:sp>
        <p:nvSpPr>
          <p:cNvPr id="6" name="Text 3"/>
          <p:cNvSpPr txBox="1"/>
          <p:nvPr/>
        </p:nvSpPr>
        <p:spPr>
          <a:xfrm>
            <a:off x="8321040" y="1481328"/>
            <a:ext cx="3212287" cy="274320"/>
          </a:xfrm>
          <a:prstGeom prst="rect">
            <a:avLst/>
          </a:prstGeom>
          <a:noFill/>
          <a:ln/>
        </p:spPr>
        <p:txBody>
          <a:bodyPr wrap="square" lIns="0" tIns="0" rIns="0" bIns="0" rtlCol="0" anchor="ctr"/>
          <a:lstStyle/>
          <a:p>
            <a:pPr indent="0" marL="0">
              <a:buNone/>
            </a:pPr>
            <a:r>
              <a:rPr lang="en-US" sz="1250" b="1" dirty="0">
                <a:solidFill>
                  <a:srgbClr val="22222A"/>
                </a:solidFill>
                <a:latin typeface="Calibri" pitchFamily="34" charset="0"/>
                <a:ea typeface="Calibri" pitchFamily="34" charset="-122"/>
                <a:cs typeface="Calibri" pitchFamily="34" charset="-120"/>
              </a:rPr>
              <a:t>Colour is the attachment style</a:t>
            </a:r>
            <a:endParaRPr lang="en-US" sz="1250" dirty="0"/>
          </a:p>
        </p:txBody>
      </p:sp>
      <p:sp>
        <p:nvSpPr>
          <p:cNvPr id="7" name="Text 4"/>
          <p:cNvSpPr txBox="1"/>
          <p:nvPr/>
        </p:nvSpPr>
        <p:spPr>
          <a:xfrm>
            <a:off x="8321040" y="1773936"/>
            <a:ext cx="3212287" cy="841248"/>
          </a:xfrm>
          <a:prstGeom prst="rect">
            <a:avLst/>
          </a:prstGeom>
          <a:noFill/>
          <a:ln/>
        </p:spPr>
        <p:txBody>
          <a:bodyPr wrap="square" lIns="0" tIns="0" rIns="0" bIns="0" rtlCol="0" anchor="ctr"/>
          <a:lstStyle/>
          <a:p>
            <a:pPr indent="0" marL="0">
              <a:lnSpc>
                <a:spcPts val="1450"/>
              </a:lnSpc>
              <a:buNone/>
            </a:pPr>
            <a:r>
              <a:rPr lang="en-US" sz="1050" dirty="0">
                <a:solidFill>
                  <a:srgbClr val="6A6875"/>
                </a:solidFill>
                <a:latin typeface="Calibri" pitchFamily="34" charset="0"/>
                <a:ea typeface="Calibri" pitchFamily="34" charset="-122"/>
                <a:cs typeface="Calibri" pitchFamily="34" charset="-120"/>
              </a:rPr>
              <a:t>Blue is avoidant, orange anxious, red fearful-avoidant, green secure — the old A/B/C/D lettering, in colour. Grey means the node belongs to more than one style, so it is not style-specific at all.</a:t>
            </a:r>
            <a:endParaRPr lang="en-US" sz="1050" dirty="0"/>
          </a:p>
        </p:txBody>
      </p:sp>
      <p:sp>
        <p:nvSpPr>
          <p:cNvPr id="8" name="Text 5"/>
          <p:cNvSpPr txBox="1"/>
          <p:nvPr/>
        </p:nvSpPr>
        <p:spPr>
          <a:xfrm>
            <a:off x="8321040" y="2651760"/>
            <a:ext cx="3212287" cy="274320"/>
          </a:xfrm>
          <a:prstGeom prst="rect">
            <a:avLst/>
          </a:prstGeom>
          <a:noFill/>
          <a:ln/>
        </p:spPr>
        <p:txBody>
          <a:bodyPr wrap="square" lIns="0" tIns="0" rIns="0" bIns="0" rtlCol="0" anchor="ctr"/>
          <a:lstStyle/>
          <a:p>
            <a:pPr indent="0" marL="0">
              <a:buNone/>
            </a:pPr>
            <a:r>
              <a:rPr lang="en-US" sz="1250" b="1" dirty="0">
                <a:solidFill>
                  <a:srgbClr val="22222A"/>
                </a:solidFill>
                <a:latin typeface="Calibri" pitchFamily="34" charset="0"/>
                <a:ea typeface="Calibri" pitchFamily="34" charset="-122"/>
                <a:cs typeface="Calibri" pitchFamily="34" charset="-120"/>
              </a:rPr>
              <a:t>Shape is the kind of node</a:t>
            </a:r>
            <a:endParaRPr lang="en-US" sz="1250" dirty="0"/>
          </a:p>
        </p:txBody>
      </p:sp>
      <p:sp>
        <p:nvSpPr>
          <p:cNvPr id="9" name="Text 6"/>
          <p:cNvSpPr txBox="1"/>
          <p:nvPr/>
        </p:nvSpPr>
        <p:spPr>
          <a:xfrm>
            <a:off x="8321040" y="2944368"/>
            <a:ext cx="3212287" cy="841248"/>
          </a:xfrm>
          <a:prstGeom prst="rect">
            <a:avLst/>
          </a:prstGeom>
          <a:noFill/>
          <a:ln/>
        </p:spPr>
        <p:txBody>
          <a:bodyPr wrap="square" lIns="0" tIns="0" rIns="0" bIns="0" rtlCol="0" anchor="ctr"/>
          <a:lstStyle/>
          <a:p>
            <a:pPr indent="0" marL="0">
              <a:lnSpc>
                <a:spcPts val="1450"/>
              </a:lnSpc>
              <a:buNone/>
            </a:pPr>
            <a:r>
              <a:rPr lang="en-US" sz="1050" dirty="0">
                <a:solidFill>
                  <a:srgbClr val="6A6875"/>
                </a:solidFill>
                <a:latin typeface="Calibri" pitchFamily="34" charset="0"/>
                <a:ea typeface="Calibri" pitchFamily="34" charset="-122"/>
                <a:cs typeface="Calibri" pitchFamily="34" charset="-120"/>
              </a:rPr>
              <a:t>A triangle is a strategy, a diamond a state, a square a belief, a pentagon a developmental origin. Sixteen link types, coloured by family, run between them.</a:t>
            </a:r>
            <a:endParaRPr lang="en-US" sz="1050" dirty="0"/>
          </a:p>
        </p:txBody>
      </p:sp>
      <p:sp>
        <p:nvSpPr>
          <p:cNvPr id="10" name="Text 7"/>
          <p:cNvSpPr txBox="1"/>
          <p:nvPr/>
        </p:nvSpPr>
        <p:spPr>
          <a:xfrm>
            <a:off x="8321040" y="3822192"/>
            <a:ext cx="3212287" cy="274320"/>
          </a:xfrm>
          <a:prstGeom prst="rect">
            <a:avLst/>
          </a:prstGeom>
          <a:noFill/>
          <a:ln/>
        </p:spPr>
        <p:txBody>
          <a:bodyPr wrap="square" lIns="0" tIns="0" rIns="0" bIns="0" rtlCol="0" anchor="ctr"/>
          <a:lstStyle/>
          <a:p>
            <a:pPr indent="0" marL="0">
              <a:buNone/>
            </a:pPr>
            <a:r>
              <a:rPr lang="en-US" sz="1250" b="1" dirty="0">
                <a:solidFill>
                  <a:srgbClr val="22222A"/>
                </a:solidFill>
                <a:latin typeface="Calibri" pitchFamily="34" charset="0"/>
                <a:ea typeface="Calibri" pitchFamily="34" charset="-122"/>
                <a:cs typeface="Calibri" pitchFamily="34" charset="-120"/>
              </a:rPr>
              <a:t>Click reads, double-click moves</a:t>
            </a:r>
            <a:endParaRPr lang="en-US" sz="1250" dirty="0"/>
          </a:p>
        </p:txBody>
      </p:sp>
      <p:sp>
        <p:nvSpPr>
          <p:cNvPr id="11" name="Text 8"/>
          <p:cNvSpPr txBox="1"/>
          <p:nvPr/>
        </p:nvSpPr>
        <p:spPr>
          <a:xfrm>
            <a:off x="8321040" y="4114800"/>
            <a:ext cx="3212287" cy="841248"/>
          </a:xfrm>
          <a:prstGeom prst="rect">
            <a:avLst/>
          </a:prstGeom>
          <a:noFill/>
          <a:ln/>
        </p:spPr>
        <p:txBody>
          <a:bodyPr wrap="square" lIns="0" tIns="0" rIns="0" bIns="0" rtlCol="0" anchor="ctr"/>
          <a:lstStyle/>
          <a:p>
            <a:pPr indent="0" marL="0">
              <a:lnSpc>
                <a:spcPts val="1450"/>
              </a:lnSpc>
              <a:buNone/>
            </a:pPr>
            <a:r>
              <a:rPr lang="en-US" sz="1050" dirty="0">
                <a:solidFill>
                  <a:srgbClr val="6A6875"/>
                </a:solidFill>
                <a:latin typeface="Calibri" pitchFamily="34" charset="0"/>
                <a:ea typeface="Calibri" pitchFamily="34" charset="-122"/>
                <a:cs typeface="Calibri" pitchFamily="34" charset="-120"/>
              </a:rPr>
              <a:t>Clicking opens a node in the panel without disturbing the view, so you can read your way around the neighbourhood. Moving the graph is something you ask for.</a:t>
            </a:r>
            <a:endParaRPr lang="en-US" sz="1050" dirty="0"/>
          </a:p>
        </p:txBody>
      </p:sp>
      <p:sp>
        <p:nvSpPr>
          <p:cNvPr id="12" name="Text 9"/>
          <p:cNvSpPr txBox="1"/>
          <p:nvPr/>
        </p:nvSpPr>
        <p:spPr>
          <a:xfrm>
            <a:off x="8321040" y="4992624"/>
            <a:ext cx="3212287" cy="274320"/>
          </a:xfrm>
          <a:prstGeom prst="rect">
            <a:avLst/>
          </a:prstGeom>
          <a:noFill/>
          <a:ln/>
        </p:spPr>
        <p:txBody>
          <a:bodyPr wrap="square" lIns="0" tIns="0" rIns="0" bIns="0" rtlCol="0" anchor="ctr"/>
          <a:lstStyle/>
          <a:p>
            <a:pPr indent="0" marL="0">
              <a:buNone/>
            </a:pPr>
            <a:r>
              <a:rPr lang="en-US" sz="1250" b="1" dirty="0">
                <a:solidFill>
                  <a:srgbClr val="22222A"/>
                </a:solidFill>
                <a:latin typeface="Calibri" pitchFamily="34" charset="0"/>
                <a:ea typeface="Calibri" pitchFamily="34" charset="-122"/>
                <a:cs typeface="Calibri" pitchFamily="34" charset="-120"/>
              </a:rPr>
              <a:t>Every claim carries its timestamp</a:t>
            </a:r>
            <a:endParaRPr lang="en-US" sz="1250" dirty="0"/>
          </a:p>
        </p:txBody>
      </p:sp>
      <p:sp>
        <p:nvSpPr>
          <p:cNvPr id="13" name="Text 10"/>
          <p:cNvSpPr txBox="1"/>
          <p:nvPr/>
        </p:nvSpPr>
        <p:spPr>
          <a:xfrm>
            <a:off x="8321040" y="5285232"/>
            <a:ext cx="3212287" cy="841248"/>
          </a:xfrm>
          <a:prstGeom prst="rect">
            <a:avLst/>
          </a:prstGeom>
          <a:noFill/>
          <a:ln/>
        </p:spPr>
        <p:txBody>
          <a:bodyPr wrap="square" lIns="0" tIns="0" rIns="0" bIns="0" rtlCol="0" anchor="ctr"/>
          <a:lstStyle/>
          <a:p>
            <a:pPr indent="0" marL="0">
              <a:lnSpc>
                <a:spcPts val="1450"/>
              </a:lnSpc>
              <a:buNone/>
            </a:pPr>
            <a:r>
              <a:rPr lang="en-US" sz="1050" dirty="0">
                <a:solidFill>
                  <a:srgbClr val="6A6875"/>
                </a:solidFill>
                <a:latin typeface="Calibri" pitchFamily="34" charset="0"/>
                <a:ea typeface="Calibri" pitchFamily="34" charset="-122"/>
                <a:cs typeface="Calibri" pitchFamily="34" charset="-120"/>
              </a:rPr>
              <a:t>The relationships list gives the second in the video where she says it. Follow the timestamp rather than taking a note’s word for anything.</a:t>
            </a:r>
            <a:endParaRPr lang="en-US" sz="1050" dirty="0"/>
          </a:p>
        </p:txBody>
      </p:sp>
      <p:sp>
        <p:nvSpPr>
          <p:cNvPr id="14" name="Text 11"/>
          <p:cNvSpPr txBox="1"/>
          <p:nvPr/>
        </p:nvSpPr>
        <p:spPr>
          <a:xfrm>
            <a:off x="658368" y="6108192"/>
            <a:ext cx="7406640" cy="274320"/>
          </a:xfrm>
          <a:prstGeom prst="rect">
            <a:avLst/>
          </a:prstGeom>
          <a:noFill/>
          <a:ln/>
        </p:spPr>
        <p:txBody>
          <a:bodyPr wrap="square" lIns="0" tIns="0" rIns="0" bIns="0" rtlCol="0" anchor="ctr"/>
          <a:lstStyle/>
          <a:p>
            <a:pPr indent="0" marL="0">
              <a:buNone/>
            </a:pPr>
            <a:r>
              <a:rPr lang="en-US" sz="1100" dirty="0">
                <a:solidFill>
                  <a:srgbClr val="7B4BD8"/>
                </a:solidFill>
                <a:latin typeface="Courier New" pitchFamily="34" charset="0"/>
                <a:ea typeface="Courier New" pitchFamily="34" charset="-122"/>
                <a:cs typeface="Courier New" pitchFamily="34" charset="-120"/>
              </a:rPr>
              <a:t>touyette.github.io/AS-KG/typed-graph/</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807C8A"/>
                </a:solidFill>
                <a:latin typeface="Calibri" pitchFamily="34" charset="0"/>
                <a:ea typeface="Calibri" pitchFamily="34" charset="-122"/>
                <a:cs typeface="Calibri" pitchFamily="34" charset="-120"/>
              </a:rPr>
              <a:t>13</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7B4BD8"/>
                </a:solidFill>
                <a:latin typeface="Calibri" pitchFamily="34" charset="0"/>
                <a:ea typeface="Calibri" pitchFamily="34" charset="-122"/>
                <a:cs typeface="Calibri" pitchFamily="34" charset="-120"/>
              </a:rPr>
              <a:t>THE THIRD WAY IN</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200" b="1" dirty="0">
                <a:solidFill>
                  <a:srgbClr val="22222A"/>
                </a:solidFill>
                <a:latin typeface="Cambria" pitchFamily="34" charset="0"/>
                <a:ea typeface="Cambria" pitchFamily="34" charset="-122"/>
                <a:cs typeface="Cambria" pitchFamily="34" charset="-120"/>
              </a:rPr>
              <a:t>Running it yourself</a:t>
            </a:r>
            <a:endParaRPr lang="en-US" sz="3200" dirty="0"/>
          </a:p>
        </p:txBody>
      </p:sp>
      <p:sp>
        <p:nvSpPr>
          <p:cNvPr id="5" name="Text 3"/>
          <p:cNvSpPr txBox="1"/>
          <p:nvPr/>
        </p:nvSpPr>
        <p:spPr>
          <a:xfrm>
            <a:off x="658368" y="1609344"/>
            <a:ext cx="9134966" cy="548640"/>
          </a:xfrm>
          <a:prstGeom prst="rect">
            <a:avLst/>
          </a:prstGeom>
          <a:noFill/>
          <a:ln/>
        </p:spPr>
        <p:txBody>
          <a:bodyPr wrap="square" lIns="0" tIns="0" rIns="0" bIns="0" rtlCol="0" anchor="ctr"/>
          <a:lstStyle/>
          <a:p>
            <a:pPr indent="0" marL="0">
              <a:lnSpc>
                <a:spcPts val="2100"/>
              </a:lnSpc>
              <a:buNone/>
            </a:pPr>
            <a:r>
              <a:rPr lang="en-US" sz="1450" dirty="0">
                <a:solidFill>
                  <a:srgbClr val="6A6875"/>
                </a:solidFill>
                <a:latin typeface="Calibri" pitchFamily="34" charset="0"/>
                <a:ea typeface="Calibri" pitchFamily="34" charset="-122"/>
                <a:cs typeface="Calibri" pitchFamily="34" charset="-120"/>
              </a:rPr>
              <a:t>Download the repository and point a file-reading assistant at it. There is no service to sign up for and nothing is sent anywhere — the corpus, the rules and the tools are all in the folder.</a:t>
            </a:r>
            <a:endParaRPr lang="en-US" sz="1450" dirty="0"/>
          </a:p>
        </p:txBody>
      </p:sp>
      <p:sp>
        <p:nvSpPr>
          <p:cNvPr id="6" name="Shape 4"/>
          <p:cNvSpPr/>
          <p:nvPr/>
        </p:nvSpPr>
        <p:spPr>
          <a:xfrm>
            <a:off x="658368" y="2331720"/>
            <a:ext cx="384048" cy="384048"/>
          </a:xfrm>
          <a:prstGeom prst="ellipse">
            <a:avLst/>
          </a:prstGeom>
          <a:solidFill>
            <a:srgbClr val="7B4BD8"/>
          </a:solidFill>
          <a:ln w="12700">
            <a:solidFill>
              <a:srgbClr val="333333"/>
            </a:solidFill>
            <a:prstDash val="solid"/>
          </a:ln>
        </p:spPr>
      </p:sp>
      <p:sp>
        <p:nvSpPr>
          <p:cNvPr id="7" name="Text 5"/>
          <p:cNvSpPr txBox="1"/>
          <p:nvPr/>
        </p:nvSpPr>
        <p:spPr>
          <a:xfrm>
            <a:off x="658368" y="2331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225296" y="2350008"/>
            <a:ext cx="2743200" cy="310896"/>
          </a:xfrm>
          <a:prstGeom prst="rect">
            <a:avLst/>
          </a:prstGeom>
          <a:noFill/>
          <a:ln/>
        </p:spPr>
        <p:txBody>
          <a:bodyPr wrap="square" lIns="0" tIns="0" rIns="0" bIns="0" rtlCol="0" anchor="ctr"/>
          <a:lstStyle/>
          <a:p>
            <a:pPr indent="0" marL="0">
              <a:buNone/>
            </a:pPr>
            <a:r>
              <a:rPr lang="en-US" sz="1350" b="1" dirty="0">
                <a:solidFill>
                  <a:srgbClr val="22222A"/>
                </a:solidFill>
                <a:latin typeface="Calibri" pitchFamily="34" charset="0"/>
                <a:ea typeface="Calibri" pitchFamily="34" charset="-122"/>
                <a:cs typeface="Calibri" pitchFamily="34" charset="-120"/>
              </a:rPr>
              <a:t>Clone it</a:t>
            </a:r>
            <a:endParaRPr lang="en-US" sz="1350" dirty="0"/>
          </a:p>
        </p:txBody>
      </p:sp>
      <p:sp>
        <p:nvSpPr>
          <p:cNvPr id="9" name="Text 7"/>
          <p:cNvSpPr txBox="1"/>
          <p:nvPr/>
        </p:nvSpPr>
        <p:spPr>
          <a:xfrm>
            <a:off x="4041648" y="2313432"/>
            <a:ext cx="7491679" cy="841248"/>
          </a:xfrm>
          <a:prstGeom prst="rect">
            <a:avLst/>
          </a:prstGeom>
          <a:noFill/>
          <a:ln/>
        </p:spPr>
        <p:txBody>
          <a:bodyPr wrap="square" lIns="0" tIns="0" rIns="0" bIns="0" rtlCol="0" anchor="t"/>
          <a:lstStyle/>
          <a:p>
            <a:pPr indent="0" marL="0">
              <a:lnSpc>
                <a:spcPts val="1600"/>
              </a:lnSpc>
              <a:buNone/>
            </a:pPr>
            <a:r>
              <a:rPr lang="en-US" sz="1150" dirty="0">
                <a:solidFill>
                  <a:srgbClr val="6A6875"/>
                </a:solidFill>
                <a:latin typeface="Calibri" pitchFamily="34" charset="0"/>
                <a:ea typeface="Calibri" pitchFamily="34" charset="-122"/>
                <a:cs typeface="Calibri" pitchFamily="34" charset="-120"/>
              </a:rPr>
              <a:t>git clone the repo and open it with Claude Code, Codex, or anything else that can read files and run a command.</a:t>
            </a:r>
            <a:endParaRPr lang="en-US" sz="1150" dirty="0"/>
          </a:p>
        </p:txBody>
      </p:sp>
      <p:sp>
        <p:nvSpPr>
          <p:cNvPr id="10" name="Shape 8"/>
          <p:cNvSpPr/>
          <p:nvPr/>
        </p:nvSpPr>
        <p:spPr>
          <a:xfrm>
            <a:off x="658368" y="3355848"/>
            <a:ext cx="384048" cy="384048"/>
          </a:xfrm>
          <a:prstGeom prst="ellipse">
            <a:avLst/>
          </a:prstGeom>
          <a:solidFill>
            <a:srgbClr val="7B4BD8"/>
          </a:solidFill>
          <a:ln w="12700">
            <a:solidFill>
              <a:srgbClr val="333333"/>
            </a:solidFill>
            <a:prstDash val="solid"/>
          </a:ln>
        </p:spPr>
      </p:sp>
      <p:sp>
        <p:nvSpPr>
          <p:cNvPr id="11" name="Text 9"/>
          <p:cNvSpPr txBox="1"/>
          <p:nvPr/>
        </p:nvSpPr>
        <p:spPr>
          <a:xfrm>
            <a:off x="658368" y="33558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225296" y="3374136"/>
            <a:ext cx="2743200" cy="310896"/>
          </a:xfrm>
          <a:prstGeom prst="rect">
            <a:avLst/>
          </a:prstGeom>
          <a:noFill/>
          <a:ln/>
        </p:spPr>
        <p:txBody>
          <a:bodyPr wrap="square" lIns="0" tIns="0" rIns="0" bIns="0" rtlCol="0" anchor="ctr"/>
          <a:lstStyle/>
          <a:p>
            <a:pPr indent="0" marL="0">
              <a:buNone/>
            </a:pPr>
            <a:r>
              <a:rPr lang="en-US" sz="1350" b="1" dirty="0">
                <a:solidFill>
                  <a:srgbClr val="22222A"/>
                </a:solidFill>
                <a:latin typeface="Calibri" pitchFamily="34" charset="0"/>
                <a:ea typeface="Calibri" pitchFamily="34" charset="-122"/>
                <a:cs typeface="Calibri" pitchFamily="34" charset="-120"/>
              </a:rPr>
              <a:t>It reads two files</a:t>
            </a:r>
            <a:endParaRPr lang="en-US" sz="1350" dirty="0"/>
          </a:p>
        </p:txBody>
      </p:sp>
      <p:sp>
        <p:nvSpPr>
          <p:cNvPr id="13" name="Text 11"/>
          <p:cNvSpPr txBox="1"/>
          <p:nvPr/>
        </p:nvSpPr>
        <p:spPr>
          <a:xfrm>
            <a:off x="4041648" y="3337560"/>
            <a:ext cx="7491679" cy="841248"/>
          </a:xfrm>
          <a:prstGeom prst="rect">
            <a:avLst/>
          </a:prstGeom>
          <a:noFill/>
          <a:ln/>
        </p:spPr>
        <p:txBody>
          <a:bodyPr wrap="square" lIns="0" tIns="0" rIns="0" bIns="0" rtlCol="0" anchor="t"/>
          <a:lstStyle/>
          <a:p>
            <a:pPr indent="0" marL="0">
              <a:lnSpc>
                <a:spcPts val="1600"/>
              </a:lnSpc>
              <a:buNone/>
            </a:pPr>
            <a:r>
              <a:rPr lang="en-US" sz="1150" dirty="0">
                <a:solidFill>
                  <a:srgbClr val="6A6875"/>
                </a:solidFill>
                <a:latin typeface="Calibri" pitchFamily="34" charset="0"/>
                <a:ea typeface="Calibri" pitchFamily="34" charset="-122"/>
                <a:cs typeface="Calibri" pitchFamily="34" charset="-120"/>
              </a:rPr>
              <a:t>AGENTS.md is the briefing — what the corpus is for, what to read, what not to, and the rules that bind. INDEX.md is 168 load-bearing nodes with their typed links, so the first hop is already made.</a:t>
            </a:r>
            <a:endParaRPr lang="en-US" sz="1150" dirty="0"/>
          </a:p>
        </p:txBody>
      </p:sp>
      <p:sp>
        <p:nvSpPr>
          <p:cNvPr id="14" name="Shape 12"/>
          <p:cNvSpPr/>
          <p:nvPr/>
        </p:nvSpPr>
        <p:spPr>
          <a:xfrm>
            <a:off x="658368" y="4379976"/>
            <a:ext cx="384048" cy="384048"/>
          </a:xfrm>
          <a:prstGeom prst="ellipse">
            <a:avLst/>
          </a:prstGeom>
          <a:solidFill>
            <a:srgbClr val="7B4BD8"/>
          </a:solidFill>
          <a:ln w="12700">
            <a:solidFill>
              <a:srgbClr val="333333"/>
            </a:solidFill>
            <a:prstDash val="solid"/>
          </a:ln>
        </p:spPr>
      </p:sp>
      <p:sp>
        <p:nvSpPr>
          <p:cNvPr id="15" name="Text 13"/>
          <p:cNvSpPr txBox="1"/>
          <p:nvPr/>
        </p:nvSpPr>
        <p:spPr>
          <a:xfrm>
            <a:off x="658368" y="43799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225296" y="4398264"/>
            <a:ext cx="2743200" cy="310896"/>
          </a:xfrm>
          <a:prstGeom prst="rect">
            <a:avLst/>
          </a:prstGeom>
          <a:noFill/>
          <a:ln/>
        </p:spPr>
        <p:txBody>
          <a:bodyPr wrap="square" lIns="0" tIns="0" rIns="0" bIns="0" rtlCol="0" anchor="ctr"/>
          <a:lstStyle/>
          <a:p>
            <a:pPr indent="0" marL="0">
              <a:buNone/>
            </a:pPr>
            <a:r>
              <a:rPr lang="en-US" sz="1350" b="1" dirty="0">
                <a:solidFill>
                  <a:srgbClr val="22222A"/>
                </a:solidFill>
                <a:latin typeface="Calibri" pitchFamily="34" charset="0"/>
                <a:ea typeface="Calibri" pitchFamily="34" charset="-122"/>
                <a:cs typeface="Calibri" pitchFamily="34" charset="-120"/>
              </a:rPr>
              <a:t>Then only what it needs</a:t>
            </a:r>
            <a:endParaRPr lang="en-US" sz="1350" dirty="0"/>
          </a:p>
        </p:txBody>
      </p:sp>
      <p:sp>
        <p:nvSpPr>
          <p:cNvPr id="17" name="Text 15"/>
          <p:cNvSpPr txBox="1"/>
          <p:nvPr/>
        </p:nvSpPr>
        <p:spPr>
          <a:xfrm>
            <a:off x="4041648" y="4361688"/>
            <a:ext cx="7491679" cy="841248"/>
          </a:xfrm>
          <a:prstGeom prst="rect">
            <a:avLst/>
          </a:prstGeom>
          <a:noFill/>
          <a:ln/>
        </p:spPr>
        <p:txBody>
          <a:bodyPr wrap="square" lIns="0" tIns="0" rIns="0" bIns="0" rtlCol="0" anchor="t"/>
          <a:lstStyle/>
          <a:p>
            <a:pPr indent="0" marL="0">
              <a:lnSpc>
                <a:spcPts val="1600"/>
              </a:lnSpc>
              <a:buNone/>
            </a:pPr>
            <a:r>
              <a:rPr lang="en-US" sz="1150" dirty="0">
                <a:solidFill>
                  <a:srgbClr val="6A6875"/>
                </a:solidFill>
                <a:latin typeface="Calibri" pitchFamily="34" charset="0"/>
                <a:ea typeface="Calibri" pitchFamily="34" charset="-122"/>
                <a:cs typeface="Calibri" pitchFamily="34" charset="-120"/>
              </a:rPr>
              <a:t>A node is one markdown file with its prose, its links and its timestamps. It fetches the handful that matter instead of loading 616 of them.</a:t>
            </a:r>
            <a:endParaRPr lang="en-US" sz="1150" dirty="0"/>
          </a:p>
        </p:txBody>
      </p:sp>
      <p:sp>
        <p:nvSpPr>
          <p:cNvPr id="18" name="Shape 16"/>
          <p:cNvSpPr/>
          <p:nvPr/>
        </p:nvSpPr>
        <p:spPr>
          <a:xfrm>
            <a:off x="658368" y="5404104"/>
            <a:ext cx="384048" cy="384048"/>
          </a:xfrm>
          <a:prstGeom prst="ellipse">
            <a:avLst/>
          </a:prstGeom>
          <a:solidFill>
            <a:srgbClr val="7B4BD8"/>
          </a:solidFill>
          <a:ln w="12700">
            <a:solidFill>
              <a:srgbClr val="333333"/>
            </a:solidFill>
            <a:prstDash val="solid"/>
          </a:ln>
        </p:spPr>
      </p:sp>
      <p:sp>
        <p:nvSpPr>
          <p:cNvPr id="19" name="Text 17"/>
          <p:cNvSpPr txBox="1"/>
          <p:nvPr/>
        </p:nvSpPr>
        <p:spPr>
          <a:xfrm>
            <a:off x="658368" y="54041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1225296" y="5422392"/>
            <a:ext cx="2743200" cy="310896"/>
          </a:xfrm>
          <a:prstGeom prst="rect">
            <a:avLst/>
          </a:prstGeom>
          <a:noFill/>
          <a:ln/>
        </p:spPr>
        <p:txBody>
          <a:bodyPr wrap="square" lIns="0" tIns="0" rIns="0" bIns="0" rtlCol="0" anchor="ctr"/>
          <a:lstStyle/>
          <a:p>
            <a:pPr indent="0" marL="0">
              <a:buNone/>
            </a:pPr>
            <a:r>
              <a:rPr lang="en-US" sz="1350" b="1" dirty="0">
                <a:solidFill>
                  <a:srgbClr val="22222A"/>
                </a:solidFill>
                <a:latin typeface="Calibri" pitchFamily="34" charset="0"/>
                <a:ea typeface="Calibri" pitchFamily="34" charset="-122"/>
                <a:cs typeface="Calibri" pitchFamily="34" charset="-120"/>
              </a:rPr>
              <a:t>Describe what is going on</a:t>
            </a:r>
            <a:endParaRPr lang="en-US" sz="1350" dirty="0"/>
          </a:p>
        </p:txBody>
      </p:sp>
      <p:sp>
        <p:nvSpPr>
          <p:cNvPr id="21" name="Text 19"/>
          <p:cNvSpPr txBox="1"/>
          <p:nvPr/>
        </p:nvSpPr>
        <p:spPr>
          <a:xfrm>
            <a:off x="4041648" y="5385816"/>
            <a:ext cx="7491679" cy="841248"/>
          </a:xfrm>
          <a:prstGeom prst="rect">
            <a:avLst/>
          </a:prstGeom>
          <a:noFill/>
          <a:ln/>
        </p:spPr>
        <p:txBody>
          <a:bodyPr wrap="square" lIns="0" tIns="0" rIns="0" bIns="0" rtlCol="0" anchor="t"/>
          <a:lstStyle/>
          <a:p>
            <a:pPr indent="0" marL="0">
              <a:lnSpc>
                <a:spcPts val="1600"/>
              </a:lnSpc>
              <a:buNone/>
            </a:pPr>
            <a:r>
              <a:rPr lang="en-US" sz="1150" dirty="0">
                <a:solidFill>
                  <a:srgbClr val="6A6875"/>
                </a:solidFill>
                <a:latin typeface="Calibri" pitchFamily="34" charset="0"/>
                <a:ea typeface="Calibri" pitchFamily="34" charset="-122"/>
                <a:cs typeface="Calibri" pitchFamily="34" charset="-120"/>
              </a:rPr>
              <a:t>It listens first, asks two or three questions of its own, and only then offers the part you cannot see — as a question, with the node it came from.</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807C8A"/>
                </a:solidFill>
                <a:latin typeface="Calibri" pitchFamily="34" charset="0"/>
                <a:ea typeface="Calibri" pitchFamily="34" charset="-122"/>
                <a:cs typeface="Calibri" pitchFamily="34" charset="-120"/>
              </a:rPr>
              <a:t>14</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7B4BD8"/>
                </a:solidFill>
                <a:latin typeface="Calibri" pitchFamily="34" charset="0"/>
                <a:ea typeface="Calibri" pitchFamily="34" charset="-122"/>
                <a:cs typeface="Calibri" pitchFamily="34" charset="-120"/>
              </a:rPr>
              <a:t>THE CONTRACT</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200" b="1" dirty="0">
                <a:solidFill>
                  <a:srgbClr val="22222A"/>
                </a:solidFill>
                <a:latin typeface="Cambria" pitchFamily="34" charset="0"/>
                <a:ea typeface="Cambria" pitchFamily="34" charset="-122"/>
                <a:cs typeface="Cambria" pitchFamily="34" charset="-120"/>
              </a:rPr>
              <a:t>What the assistant is handed</a:t>
            </a:r>
            <a:endParaRPr lang="en-US" sz="3200" dirty="0"/>
          </a:p>
        </p:txBody>
      </p:sp>
      <p:sp>
        <p:nvSpPr>
          <p:cNvPr id="5" name="Text 3"/>
          <p:cNvSpPr txBox="1"/>
          <p:nvPr/>
        </p:nvSpPr>
        <p:spPr>
          <a:xfrm>
            <a:off x="658368" y="1609344"/>
            <a:ext cx="8699967" cy="411480"/>
          </a:xfrm>
          <a:prstGeom prst="rect">
            <a:avLst/>
          </a:prstGeom>
          <a:noFill/>
          <a:ln/>
        </p:spPr>
        <p:txBody>
          <a:bodyPr wrap="square" lIns="0" tIns="0" rIns="0" bIns="0" rtlCol="0" anchor="ctr"/>
          <a:lstStyle/>
          <a:p>
            <a:pPr indent="0" marL="0">
              <a:lnSpc>
                <a:spcPts val="2100"/>
              </a:lnSpc>
              <a:buNone/>
            </a:pPr>
            <a:r>
              <a:rPr lang="en-US" sz="1450" dirty="0">
                <a:solidFill>
                  <a:srgbClr val="6A6875"/>
                </a:solidFill>
                <a:latin typeface="Calibri" pitchFamily="34" charset="0"/>
                <a:ea typeface="Calibri" pitchFamily="34" charset="-122"/>
                <a:cs typeface="Calibri" pitchFamily="34" charset="-120"/>
              </a:rPr>
              <a:t>A read budget, written down. The costs are the reason it exists — an earlier session read most of the corpus before saying a word.</a:t>
            </a:r>
            <a:endParaRPr lang="en-US" sz="1450" dirty="0"/>
          </a:p>
        </p:txBody>
      </p:sp>
      <p:sp>
        <p:nvSpPr>
          <p:cNvPr id="6" name="Text 4"/>
          <p:cNvSpPr txBox="1"/>
          <p:nvPr/>
        </p:nvSpPr>
        <p:spPr>
          <a:xfrm>
            <a:off x="658368" y="2103120"/>
            <a:ext cx="2377440" cy="256032"/>
          </a:xfrm>
          <a:prstGeom prst="rect">
            <a:avLst/>
          </a:prstGeom>
          <a:noFill/>
          <a:ln/>
        </p:spPr>
        <p:txBody>
          <a:bodyPr wrap="square" lIns="0" tIns="0" rIns="0" bIns="0" rtlCol="0" anchor="ctr"/>
          <a:lstStyle/>
          <a:p>
            <a:pPr indent="0" marL="0">
              <a:lnSpc>
                <a:spcPts val="1600"/>
              </a:lnSpc>
              <a:buNone/>
            </a:pPr>
            <a:r>
              <a:rPr lang="en-US" sz="1200" b="1" dirty="0">
                <a:solidFill>
                  <a:srgbClr val="7B4BD8"/>
                </a:solidFill>
                <a:latin typeface="Courier New" pitchFamily="34" charset="0"/>
                <a:ea typeface="Courier New" pitchFamily="34" charset="-122"/>
                <a:cs typeface="Courier New" pitchFamily="34" charset="-120"/>
              </a:rPr>
              <a:t>AGENTS.md</a:t>
            </a:r>
            <a:endParaRPr lang="en-US" sz="1200" dirty="0"/>
          </a:p>
        </p:txBody>
      </p:sp>
      <p:sp>
        <p:nvSpPr>
          <p:cNvPr id="7" name="Text 5"/>
          <p:cNvSpPr txBox="1"/>
          <p:nvPr/>
        </p:nvSpPr>
        <p:spPr>
          <a:xfrm>
            <a:off x="3081528" y="2103120"/>
            <a:ext cx="1188720" cy="237744"/>
          </a:xfrm>
          <a:prstGeom prst="rect">
            <a:avLst/>
          </a:prstGeom>
          <a:noFill/>
          <a:ln/>
        </p:spPr>
        <p:txBody>
          <a:bodyPr wrap="square" lIns="0" tIns="0" rIns="0" bIns="0" rtlCol="0" anchor="ctr"/>
          <a:lstStyle/>
          <a:p>
            <a:pPr indent="0" marL="0">
              <a:lnSpc>
                <a:spcPts val="1600"/>
              </a:lnSpc>
              <a:buNone/>
            </a:pPr>
            <a:r>
              <a:rPr lang="en-US" sz="1050" dirty="0">
                <a:solidFill>
                  <a:srgbClr val="807C8A"/>
                </a:solidFill>
                <a:latin typeface="Calibri" pitchFamily="34" charset="0"/>
                <a:ea typeface="Calibri" pitchFamily="34" charset="-122"/>
                <a:cs typeface="Calibri" pitchFamily="34" charset="-120"/>
              </a:rPr>
              <a:t>~2k</a:t>
            </a:r>
            <a:endParaRPr lang="en-US" sz="1050" dirty="0"/>
          </a:p>
        </p:txBody>
      </p:sp>
      <p:sp>
        <p:nvSpPr>
          <p:cNvPr id="8" name="Text 6"/>
          <p:cNvSpPr txBox="1"/>
          <p:nvPr/>
        </p:nvSpPr>
        <p:spPr>
          <a:xfrm>
            <a:off x="4361688" y="2103120"/>
            <a:ext cx="7171639" cy="603504"/>
          </a:xfrm>
          <a:prstGeom prst="rect">
            <a:avLst/>
          </a:prstGeom>
          <a:noFill/>
          <a:ln/>
        </p:spPr>
        <p:txBody>
          <a:bodyPr wrap="square" lIns="0" tIns="0" rIns="0" bIns="0" rtlCol="0" anchor="ctr"/>
          <a:lstStyle/>
          <a:p>
            <a:pPr indent="0" marL="0">
              <a:lnSpc>
                <a:spcPts val="1600"/>
              </a:lnSpc>
              <a:buNone/>
            </a:pPr>
            <a:r>
              <a:rPr lang="en-US" sz="1150" dirty="0">
                <a:solidFill>
                  <a:srgbClr val="6A6875"/>
                </a:solidFill>
                <a:latin typeface="Calibri" pitchFamily="34" charset="0"/>
                <a:ea typeface="Calibri" pitchFamily="34" charset="-122"/>
                <a:cs typeface="Calibri" pitchFamily="34" charset="-120"/>
              </a:rPr>
              <a:t>The briefing. What the material is for, the four-step sequence, the eight rules, and an explicit list of what not to open.</a:t>
            </a:r>
            <a:endParaRPr lang="en-US" sz="1150" dirty="0"/>
          </a:p>
        </p:txBody>
      </p:sp>
      <p:sp>
        <p:nvSpPr>
          <p:cNvPr id="9" name="Text 7"/>
          <p:cNvSpPr txBox="1"/>
          <p:nvPr/>
        </p:nvSpPr>
        <p:spPr>
          <a:xfrm>
            <a:off x="658368" y="2770632"/>
            <a:ext cx="2377440" cy="256032"/>
          </a:xfrm>
          <a:prstGeom prst="rect">
            <a:avLst/>
          </a:prstGeom>
          <a:noFill/>
          <a:ln/>
        </p:spPr>
        <p:txBody>
          <a:bodyPr wrap="square" lIns="0" tIns="0" rIns="0" bIns="0" rtlCol="0" anchor="ctr"/>
          <a:lstStyle/>
          <a:p>
            <a:pPr indent="0" marL="0">
              <a:lnSpc>
                <a:spcPts val="1600"/>
              </a:lnSpc>
              <a:buNone/>
            </a:pPr>
            <a:r>
              <a:rPr lang="en-US" sz="1200" b="1" dirty="0">
                <a:solidFill>
                  <a:srgbClr val="7B4BD8"/>
                </a:solidFill>
                <a:latin typeface="Courier New" pitchFamily="34" charset="0"/>
                <a:ea typeface="Courier New" pitchFamily="34" charset="-122"/>
                <a:cs typeface="Courier New" pitchFamily="34" charset="-120"/>
              </a:rPr>
              <a:t>INDEX.md</a:t>
            </a:r>
            <a:endParaRPr lang="en-US" sz="1200" dirty="0"/>
          </a:p>
        </p:txBody>
      </p:sp>
      <p:sp>
        <p:nvSpPr>
          <p:cNvPr id="10" name="Text 8"/>
          <p:cNvSpPr txBox="1"/>
          <p:nvPr/>
        </p:nvSpPr>
        <p:spPr>
          <a:xfrm>
            <a:off x="3081528" y="2770632"/>
            <a:ext cx="1188720" cy="237744"/>
          </a:xfrm>
          <a:prstGeom prst="rect">
            <a:avLst/>
          </a:prstGeom>
          <a:noFill/>
          <a:ln/>
        </p:spPr>
        <p:txBody>
          <a:bodyPr wrap="square" lIns="0" tIns="0" rIns="0" bIns="0" rtlCol="0" anchor="ctr"/>
          <a:lstStyle/>
          <a:p>
            <a:pPr indent="0" marL="0">
              <a:lnSpc>
                <a:spcPts val="1600"/>
              </a:lnSpc>
              <a:buNone/>
            </a:pPr>
            <a:r>
              <a:rPr lang="en-US" sz="1050" dirty="0">
                <a:solidFill>
                  <a:srgbClr val="807C8A"/>
                </a:solidFill>
                <a:latin typeface="Calibri" pitchFamily="34" charset="0"/>
                <a:ea typeface="Calibri" pitchFamily="34" charset="-122"/>
                <a:cs typeface="Calibri" pitchFamily="34" charset="-120"/>
              </a:rPr>
              <a:t>~17k</a:t>
            </a:r>
            <a:endParaRPr lang="en-US" sz="1050" dirty="0"/>
          </a:p>
        </p:txBody>
      </p:sp>
      <p:sp>
        <p:nvSpPr>
          <p:cNvPr id="11" name="Text 9"/>
          <p:cNvSpPr txBox="1"/>
          <p:nvPr/>
        </p:nvSpPr>
        <p:spPr>
          <a:xfrm>
            <a:off x="4361688" y="2770632"/>
            <a:ext cx="7171639" cy="603504"/>
          </a:xfrm>
          <a:prstGeom prst="rect">
            <a:avLst/>
          </a:prstGeom>
          <a:noFill/>
          <a:ln/>
        </p:spPr>
        <p:txBody>
          <a:bodyPr wrap="square" lIns="0" tIns="0" rIns="0" bIns="0" rtlCol="0" anchor="ctr"/>
          <a:lstStyle/>
          <a:p>
            <a:pPr indent="0" marL="0">
              <a:lnSpc>
                <a:spcPts val="1600"/>
              </a:lnSpc>
              <a:buNone/>
            </a:pPr>
            <a:r>
              <a:rPr lang="en-US" sz="1150" dirty="0">
                <a:solidFill>
                  <a:srgbClr val="6A6875"/>
                </a:solidFill>
                <a:latin typeface="Calibri" pitchFamily="34" charset="0"/>
                <a:ea typeface="Calibri" pitchFamily="34" charset="-122"/>
                <a:cs typeface="Calibri" pitchFamily="34" charset="-120"/>
              </a:rPr>
              <a:t>168 load-bearing nodes, each with its gloss and its typed links — so reading the index already makes the first hop. Generated from the notes, so it cannot drift.</a:t>
            </a:r>
            <a:endParaRPr lang="en-US" sz="1150" dirty="0"/>
          </a:p>
        </p:txBody>
      </p:sp>
      <p:sp>
        <p:nvSpPr>
          <p:cNvPr id="12" name="Text 10"/>
          <p:cNvSpPr txBox="1"/>
          <p:nvPr/>
        </p:nvSpPr>
        <p:spPr>
          <a:xfrm>
            <a:off x="658368" y="3438144"/>
            <a:ext cx="2377440" cy="256032"/>
          </a:xfrm>
          <a:prstGeom prst="rect">
            <a:avLst/>
          </a:prstGeom>
          <a:noFill/>
          <a:ln/>
        </p:spPr>
        <p:txBody>
          <a:bodyPr wrap="square" lIns="0" tIns="0" rIns="0" bIns="0" rtlCol="0" anchor="ctr"/>
          <a:lstStyle/>
          <a:p>
            <a:pPr indent="0" marL="0">
              <a:lnSpc>
                <a:spcPts val="1600"/>
              </a:lnSpc>
              <a:buNone/>
            </a:pPr>
            <a:r>
              <a:rPr lang="en-US" sz="1200" b="1" dirty="0">
                <a:solidFill>
                  <a:srgbClr val="7B4BD8"/>
                </a:solidFill>
                <a:latin typeface="Courier New" pitchFamily="34" charset="0"/>
                <a:ea typeface="Courier New" pitchFamily="34" charset="-122"/>
                <a:cs typeface="Courier New" pitchFamily="34" charset="-120"/>
              </a:rPr>
              <a:t>content/&lt;id&gt;.md</a:t>
            </a:r>
            <a:endParaRPr lang="en-US" sz="1200" dirty="0"/>
          </a:p>
        </p:txBody>
      </p:sp>
      <p:sp>
        <p:nvSpPr>
          <p:cNvPr id="13" name="Text 11"/>
          <p:cNvSpPr txBox="1"/>
          <p:nvPr/>
        </p:nvSpPr>
        <p:spPr>
          <a:xfrm>
            <a:off x="3081528" y="3438144"/>
            <a:ext cx="1188720" cy="237744"/>
          </a:xfrm>
          <a:prstGeom prst="rect">
            <a:avLst/>
          </a:prstGeom>
          <a:noFill/>
          <a:ln/>
        </p:spPr>
        <p:txBody>
          <a:bodyPr wrap="square" lIns="0" tIns="0" rIns="0" bIns="0" rtlCol="0" anchor="ctr"/>
          <a:lstStyle/>
          <a:p>
            <a:pPr indent="0" marL="0">
              <a:lnSpc>
                <a:spcPts val="1600"/>
              </a:lnSpc>
              <a:buNone/>
            </a:pPr>
            <a:r>
              <a:rPr lang="en-US" sz="1050" dirty="0">
                <a:solidFill>
                  <a:srgbClr val="807C8A"/>
                </a:solidFill>
                <a:latin typeface="Calibri" pitchFamily="34" charset="0"/>
                <a:ea typeface="Calibri" pitchFamily="34" charset="-122"/>
                <a:cs typeface="Calibri" pitchFamily="34" charset="-120"/>
              </a:rPr>
              <a:t>~300 each</a:t>
            </a:r>
            <a:endParaRPr lang="en-US" sz="1050" dirty="0"/>
          </a:p>
        </p:txBody>
      </p:sp>
      <p:sp>
        <p:nvSpPr>
          <p:cNvPr id="14" name="Text 12"/>
          <p:cNvSpPr txBox="1"/>
          <p:nvPr/>
        </p:nvSpPr>
        <p:spPr>
          <a:xfrm>
            <a:off x="4361688" y="3438144"/>
            <a:ext cx="7171639" cy="603504"/>
          </a:xfrm>
          <a:prstGeom prst="rect">
            <a:avLst/>
          </a:prstGeom>
          <a:noFill/>
          <a:ln/>
        </p:spPr>
        <p:txBody>
          <a:bodyPr wrap="square" lIns="0" tIns="0" rIns="0" bIns="0" rtlCol="0" anchor="ctr"/>
          <a:lstStyle/>
          <a:p>
            <a:pPr indent="0" marL="0">
              <a:lnSpc>
                <a:spcPts val="1600"/>
              </a:lnSpc>
              <a:buNone/>
            </a:pPr>
            <a:r>
              <a:rPr lang="en-US" sz="1150" dirty="0">
                <a:solidFill>
                  <a:srgbClr val="6A6875"/>
                </a:solidFill>
                <a:latin typeface="Calibri" pitchFamily="34" charset="0"/>
                <a:ea typeface="Calibri" pitchFamily="34" charset="-122"/>
                <a:cs typeface="Calibri" pitchFamily="34" charset="-120"/>
              </a:rPr>
              <a:t>One node: the prose, every typed link, and the video timestamp for each. Read when a node matters; never all of them.</a:t>
            </a:r>
            <a:endParaRPr lang="en-US" sz="1150" dirty="0"/>
          </a:p>
        </p:txBody>
      </p:sp>
      <p:sp>
        <p:nvSpPr>
          <p:cNvPr id="15" name="Text 13"/>
          <p:cNvSpPr txBox="1"/>
          <p:nvPr/>
        </p:nvSpPr>
        <p:spPr>
          <a:xfrm>
            <a:off x="658368" y="4105656"/>
            <a:ext cx="2377440" cy="256032"/>
          </a:xfrm>
          <a:prstGeom prst="rect">
            <a:avLst/>
          </a:prstGeom>
          <a:noFill/>
          <a:ln/>
        </p:spPr>
        <p:txBody>
          <a:bodyPr wrap="square" lIns="0" tIns="0" rIns="0" bIns="0" rtlCol="0" anchor="ctr"/>
          <a:lstStyle/>
          <a:p>
            <a:pPr indent="0" marL="0">
              <a:lnSpc>
                <a:spcPts val="1600"/>
              </a:lnSpc>
              <a:buNone/>
            </a:pPr>
            <a:r>
              <a:rPr lang="en-US" sz="1200" b="1" dirty="0">
                <a:solidFill>
                  <a:srgbClr val="7B4BD8"/>
                </a:solidFill>
                <a:latin typeface="Courier New" pitchFamily="34" charset="0"/>
                <a:ea typeface="Courier New" pitchFamily="34" charset="-122"/>
                <a:cs typeface="Courier New" pitchFamily="34" charset="-120"/>
              </a:rPr>
              <a:t>flows/&lt;name&gt;.json</a:t>
            </a:r>
            <a:endParaRPr lang="en-US" sz="1200" dirty="0"/>
          </a:p>
        </p:txBody>
      </p:sp>
      <p:sp>
        <p:nvSpPr>
          <p:cNvPr id="16" name="Text 14"/>
          <p:cNvSpPr txBox="1"/>
          <p:nvPr/>
        </p:nvSpPr>
        <p:spPr>
          <a:xfrm>
            <a:off x="3081528" y="4105656"/>
            <a:ext cx="1188720" cy="237744"/>
          </a:xfrm>
          <a:prstGeom prst="rect">
            <a:avLst/>
          </a:prstGeom>
          <a:noFill/>
          <a:ln/>
        </p:spPr>
        <p:txBody>
          <a:bodyPr wrap="square" lIns="0" tIns="0" rIns="0" bIns="0" rtlCol="0" anchor="ctr"/>
          <a:lstStyle/>
          <a:p>
            <a:pPr indent="0" marL="0">
              <a:lnSpc>
                <a:spcPts val="1600"/>
              </a:lnSpc>
              <a:buNone/>
            </a:pPr>
            <a:r>
              <a:rPr lang="en-US" sz="1050" dirty="0">
                <a:solidFill>
                  <a:srgbClr val="807C8A"/>
                </a:solidFill>
                <a:latin typeface="Calibri" pitchFamily="34" charset="0"/>
                <a:ea typeface="Calibri" pitchFamily="34" charset="-122"/>
                <a:cs typeface="Calibri" pitchFamily="34" charset="-120"/>
              </a:rPr>
              <a:t>~700 each</a:t>
            </a:r>
            <a:endParaRPr lang="en-US" sz="1050" dirty="0"/>
          </a:p>
        </p:txBody>
      </p:sp>
      <p:sp>
        <p:nvSpPr>
          <p:cNvPr id="17" name="Text 15"/>
          <p:cNvSpPr txBox="1"/>
          <p:nvPr/>
        </p:nvSpPr>
        <p:spPr>
          <a:xfrm>
            <a:off x="4361688" y="4105656"/>
            <a:ext cx="7171639" cy="603504"/>
          </a:xfrm>
          <a:prstGeom prst="rect">
            <a:avLst/>
          </a:prstGeom>
          <a:noFill/>
          <a:ln/>
        </p:spPr>
        <p:txBody>
          <a:bodyPr wrap="square" lIns="0" tIns="0" rIns="0" bIns="0" rtlCol="0" anchor="ctr"/>
          <a:lstStyle/>
          <a:p>
            <a:pPr indent="0" marL="0">
              <a:lnSpc>
                <a:spcPts val="1600"/>
              </a:lnSpc>
              <a:buNone/>
            </a:pPr>
            <a:r>
              <a:rPr lang="en-US" sz="1150" dirty="0">
                <a:solidFill>
                  <a:srgbClr val="6A6875"/>
                </a:solidFill>
                <a:latin typeface="Calibri" pitchFamily="34" charset="0"/>
                <a:ea typeface="Calibri" pitchFamily="34" charset="-122"/>
                <a:cs typeface="Calibri" pitchFamily="34" charset="-120"/>
              </a:rPr>
              <a:t>A situation’s screening gate and its stopping conditions, for when one matches.</a:t>
            </a:r>
            <a:endParaRPr lang="en-US" sz="1150" dirty="0"/>
          </a:p>
        </p:txBody>
      </p:sp>
      <p:sp>
        <p:nvSpPr>
          <p:cNvPr id="18" name="Text 16"/>
          <p:cNvSpPr txBox="1"/>
          <p:nvPr/>
        </p:nvSpPr>
        <p:spPr>
          <a:xfrm>
            <a:off x="658368" y="4773168"/>
            <a:ext cx="2377440" cy="256032"/>
          </a:xfrm>
          <a:prstGeom prst="rect">
            <a:avLst/>
          </a:prstGeom>
          <a:noFill/>
          <a:ln/>
        </p:spPr>
        <p:txBody>
          <a:bodyPr wrap="square" lIns="0" tIns="0" rIns="0" bIns="0" rtlCol="0" anchor="ctr"/>
          <a:lstStyle/>
          <a:p>
            <a:pPr indent="0" marL="0">
              <a:lnSpc>
                <a:spcPts val="1600"/>
              </a:lnSpc>
              <a:buNone/>
            </a:pPr>
            <a:r>
              <a:rPr lang="en-US" sz="1200" b="1" dirty="0">
                <a:solidFill>
                  <a:srgbClr val="7B4BD8"/>
                </a:solidFill>
                <a:latin typeface="Courier New" pitchFamily="34" charset="0"/>
                <a:ea typeface="Courier New" pitchFamily="34" charset="-122"/>
                <a:cs typeface="Courier New" pitchFamily="34" charset="-120"/>
              </a:rPr>
              <a:t>journal/</a:t>
            </a:r>
            <a:endParaRPr lang="en-US" sz="1200" dirty="0"/>
          </a:p>
        </p:txBody>
      </p:sp>
      <p:sp>
        <p:nvSpPr>
          <p:cNvPr id="19" name="Text 17"/>
          <p:cNvSpPr txBox="1"/>
          <p:nvPr/>
        </p:nvSpPr>
        <p:spPr>
          <a:xfrm>
            <a:off x="3081528" y="4773168"/>
            <a:ext cx="1188720" cy="237744"/>
          </a:xfrm>
          <a:prstGeom prst="rect">
            <a:avLst/>
          </a:prstGeom>
          <a:noFill/>
          <a:ln/>
        </p:spPr>
        <p:txBody>
          <a:bodyPr wrap="square" lIns="0" tIns="0" rIns="0" bIns="0" rtlCol="0" anchor="ctr"/>
          <a:lstStyle/>
          <a:p>
            <a:pPr indent="0" marL="0">
              <a:lnSpc>
                <a:spcPts val="1600"/>
              </a:lnSpc>
              <a:buNone/>
            </a:pPr>
            <a:r>
              <a:rPr lang="en-US" sz="1050" dirty="0">
                <a:solidFill>
                  <a:srgbClr val="807C8A"/>
                </a:solidFill>
                <a:latin typeface="Calibri" pitchFamily="34" charset="0"/>
                <a:ea typeface="Calibri" pitchFamily="34" charset="-122"/>
                <a:cs typeface="Calibri" pitchFamily="34" charset="-120"/>
              </a:rPr>
              <a:t>theirs</a:t>
            </a:r>
            <a:endParaRPr lang="en-US" sz="1050" dirty="0"/>
          </a:p>
        </p:txBody>
      </p:sp>
      <p:sp>
        <p:nvSpPr>
          <p:cNvPr id="20" name="Text 18"/>
          <p:cNvSpPr txBox="1"/>
          <p:nvPr/>
        </p:nvSpPr>
        <p:spPr>
          <a:xfrm>
            <a:off x="4361688" y="4773168"/>
            <a:ext cx="7171639" cy="603504"/>
          </a:xfrm>
          <a:prstGeom prst="rect">
            <a:avLst/>
          </a:prstGeom>
          <a:noFill/>
          <a:ln/>
        </p:spPr>
        <p:txBody>
          <a:bodyPr wrap="square" lIns="0" tIns="0" rIns="0" bIns="0" rtlCol="0" anchor="ctr"/>
          <a:lstStyle/>
          <a:p>
            <a:pPr indent="0" marL="0">
              <a:lnSpc>
                <a:spcPts val="1600"/>
              </a:lnSpc>
              <a:buNone/>
            </a:pPr>
            <a:r>
              <a:rPr lang="en-US" sz="1150" dirty="0">
                <a:solidFill>
                  <a:srgbClr val="6A6875"/>
                </a:solidFill>
                <a:latin typeface="Calibri" pitchFamily="34" charset="0"/>
                <a:ea typeface="Calibri" pitchFamily="34" charset="-122"/>
                <a:cs typeface="Calibri" pitchFamily="34" charset="-120"/>
              </a:rPr>
              <a:t>Notes the person chose to keep. Never read without asking, never written without asking, never committed.</a:t>
            </a:r>
            <a:endParaRPr lang="en-US" sz="1150" dirty="0"/>
          </a:p>
        </p:txBody>
      </p:sp>
      <p:sp>
        <p:nvSpPr>
          <p:cNvPr id="21" name="Text 19"/>
          <p:cNvSpPr txBox="1"/>
          <p:nvPr/>
        </p:nvSpPr>
        <p:spPr>
          <a:xfrm>
            <a:off x="658368" y="5440680"/>
            <a:ext cx="2377440" cy="256032"/>
          </a:xfrm>
          <a:prstGeom prst="rect">
            <a:avLst/>
          </a:prstGeom>
          <a:noFill/>
          <a:ln/>
        </p:spPr>
        <p:txBody>
          <a:bodyPr wrap="square" lIns="0" tIns="0" rIns="0" bIns="0" rtlCol="0" anchor="ctr"/>
          <a:lstStyle/>
          <a:p>
            <a:pPr indent="0" marL="0">
              <a:lnSpc>
                <a:spcPts val="1600"/>
              </a:lnSpc>
              <a:buNone/>
            </a:pPr>
            <a:r>
              <a:rPr lang="en-US" sz="1200" b="1" dirty="0">
                <a:solidFill>
                  <a:srgbClr val="807C8A"/>
                </a:solidFill>
                <a:latin typeface="Courier New" pitchFamily="34" charset="0"/>
                <a:ea typeface="Courier New" pitchFamily="34" charset="-122"/>
                <a:cs typeface="Courier New" pitchFamily="34" charset="-120"/>
              </a:rPr>
              <a:t>graph.json</a:t>
            </a:r>
            <a:endParaRPr lang="en-US" sz="1200" dirty="0"/>
          </a:p>
        </p:txBody>
      </p:sp>
      <p:sp>
        <p:nvSpPr>
          <p:cNvPr id="22" name="Text 20"/>
          <p:cNvSpPr txBox="1"/>
          <p:nvPr/>
        </p:nvSpPr>
        <p:spPr>
          <a:xfrm>
            <a:off x="3081528" y="5440680"/>
            <a:ext cx="1188720" cy="237744"/>
          </a:xfrm>
          <a:prstGeom prst="rect">
            <a:avLst/>
          </a:prstGeom>
          <a:noFill/>
          <a:ln/>
        </p:spPr>
        <p:txBody>
          <a:bodyPr wrap="square" lIns="0" tIns="0" rIns="0" bIns="0" rtlCol="0" anchor="ctr"/>
          <a:lstStyle/>
          <a:p>
            <a:pPr indent="0" marL="0">
              <a:lnSpc>
                <a:spcPts val="1600"/>
              </a:lnSpc>
              <a:buNone/>
            </a:pPr>
            <a:r>
              <a:rPr lang="en-US" sz="1050" dirty="0">
                <a:solidFill>
                  <a:srgbClr val="807C8A"/>
                </a:solidFill>
                <a:latin typeface="Calibri" pitchFamily="34" charset="0"/>
                <a:ea typeface="Calibri" pitchFamily="34" charset="-122"/>
                <a:cs typeface="Calibri" pitchFamily="34" charset="-120"/>
              </a:rPr>
              <a:t>do not</a:t>
            </a:r>
            <a:endParaRPr lang="en-US" sz="1050" dirty="0"/>
          </a:p>
        </p:txBody>
      </p:sp>
      <p:sp>
        <p:nvSpPr>
          <p:cNvPr id="23" name="Text 21"/>
          <p:cNvSpPr txBox="1"/>
          <p:nvPr/>
        </p:nvSpPr>
        <p:spPr>
          <a:xfrm>
            <a:off x="4361688" y="5440680"/>
            <a:ext cx="7171639" cy="603504"/>
          </a:xfrm>
          <a:prstGeom prst="rect">
            <a:avLst/>
          </a:prstGeom>
          <a:noFill/>
          <a:ln/>
        </p:spPr>
        <p:txBody>
          <a:bodyPr wrap="square" lIns="0" tIns="0" rIns="0" bIns="0" rtlCol="0" anchor="ctr"/>
          <a:lstStyle/>
          <a:p>
            <a:pPr indent="0" marL="0">
              <a:lnSpc>
                <a:spcPts val="1600"/>
              </a:lnSpc>
              <a:buNone/>
            </a:pPr>
            <a:r>
              <a:rPr lang="en-US" sz="1150" dirty="0">
                <a:solidFill>
                  <a:srgbClr val="6A6875"/>
                </a:solidFill>
                <a:latin typeface="Calibri" pitchFamily="34" charset="0"/>
                <a:ea typeface="Calibri" pitchFamily="34" charset="-122"/>
                <a:cs typeface="Calibri" pitchFamily="34" charset="-120"/>
              </a:rPr>
              <a:t>Named in AGENTS.md as a thing not to load. It is for programs, not for a context window.</a:t>
            </a:r>
            <a:endParaRPr lang="en-US" sz="1150" dirty="0"/>
          </a:p>
        </p:txBody>
      </p:sp>
      <p:sp>
        <p:nvSpPr>
          <p:cNvPr id="24" name="Shape 22"/>
          <p:cNvSpPr/>
          <p:nvPr/>
        </p:nvSpPr>
        <p:spPr>
          <a:xfrm>
            <a:off x="658368" y="6108192"/>
            <a:ext cx="10874959" cy="566928"/>
          </a:xfrm>
          <a:prstGeom prst="roundRect">
            <a:avLst>
              <a:gd name="adj" fmla="val 12903"/>
            </a:avLst>
          </a:prstGeom>
          <a:solidFill>
            <a:srgbClr val="F7F5FA"/>
          </a:solidFill>
          <a:ln w="9525">
            <a:solidFill>
              <a:srgbClr val="E5E2E8"/>
            </a:solidFill>
            <a:prstDash val="solid"/>
          </a:ln>
        </p:spPr>
      </p:sp>
      <p:sp>
        <p:nvSpPr>
          <p:cNvPr id="25" name="Text 23"/>
          <p:cNvSpPr txBox="1"/>
          <p:nvPr/>
        </p:nvSpPr>
        <p:spPr>
          <a:xfrm>
            <a:off x="950976" y="6108192"/>
            <a:ext cx="10289743" cy="566928"/>
          </a:xfrm>
          <a:prstGeom prst="rect">
            <a:avLst/>
          </a:prstGeom>
          <a:noFill/>
          <a:ln/>
        </p:spPr>
        <p:txBody>
          <a:bodyPr wrap="square" lIns="0" tIns="0" rIns="0" bIns="0" rtlCol="0" anchor="ctr"/>
          <a:lstStyle/>
          <a:p>
            <a:pPr indent="0" marL="0">
              <a:buNone/>
            </a:pPr>
            <a:r>
              <a:rPr lang="en-US" sz="1150" dirty="0">
                <a:solidFill>
                  <a:srgbClr val="6A6875"/>
                </a:solidFill>
                <a:latin typeface="Calibri" pitchFamily="34" charset="0"/>
                <a:ea typeface="Calibri" pitchFamily="34" charset="-122"/>
                <a:cs typeface="Calibri" pitchFamily="34" charset="-120"/>
              </a:rPr>
              <a:t>The rules travel with the data. They are in the file the assistant reads first, not in a prompt someone has to remember to paste.</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807C8A"/>
                </a:solidFill>
                <a:latin typeface="Calibri" pitchFamily="34" charset="0"/>
                <a:ea typeface="Calibri" pitchFamily="34" charset="-122"/>
                <a:cs typeface="Calibri" pitchFamily="34" charset="-120"/>
              </a:rPr>
              <a:t>15</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7B4BD8"/>
                </a:solidFill>
                <a:latin typeface="Calibri" pitchFamily="34" charset="0"/>
                <a:ea typeface="Calibri" pitchFamily="34" charset="-122"/>
                <a:cs typeface="Calibri" pitchFamily="34" charset="-120"/>
              </a:rPr>
              <a:t>WHILE YOU TALK</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200" b="1" dirty="0">
                <a:solidFill>
                  <a:srgbClr val="22222A"/>
                </a:solidFill>
                <a:latin typeface="Cambria" pitchFamily="34" charset="0"/>
                <a:ea typeface="Cambria" pitchFamily="34" charset="-122"/>
                <a:cs typeface="Cambria" pitchFamily="34" charset="-120"/>
              </a:rPr>
              <a:t>The window it opens</a:t>
            </a:r>
            <a:endParaRPr lang="en-US" sz="3200" dirty="0"/>
          </a:p>
        </p:txBody>
      </p:sp>
      <p:pic>
        <p:nvPicPr>
          <p:cNvPr id="5" name="Image 0" descr="scripts/deck/assets/deck-discussion.png">    </p:cNvPr>
          <p:cNvPicPr>
            <a:picLocks noChangeAspect="1"/>
          </p:cNvPicPr>
          <p:nvPr/>
        </p:nvPicPr>
        <p:blipFill>
          <a:blip r:embed="rId1"/>
          <a:stretch>
            <a:fillRect/>
          </a:stretch>
        </p:blipFill>
        <p:spPr>
          <a:xfrm>
            <a:off x="658368" y="1371600"/>
            <a:ext cx="7406640" cy="4626864"/>
          </a:xfrm>
          <a:prstGeom prst="rect">
            <a:avLst/>
          </a:prstGeom>
        </p:spPr>
      </p:pic>
      <p:sp>
        <p:nvSpPr>
          <p:cNvPr id="6" name="Text 3"/>
          <p:cNvSpPr txBox="1"/>
          <p:nvPr/>
        </p:nvSpPr>
        <p:spPr>
          <a:xfrm>
            <a:off x="8321040" y="1481328"/>
            <a:ext cx="3212287" cy="310896"/>
          </a:xfrm>
          <a:prstGeom prst="rect">
            <a:avLst/>
          </a:prstGeom>
          <a:noFill/>
          <a:ln/>
        </p:spPr>
        <p:txBody>
          <a:bodyPr wrap="square" lIns="0" tIns="0" rIns="0" bIns="0" rtlCol="0" anchor="ctr"/>
          <a:lstStyle/>
          <a:p>
            <a:pPr indent="0" marL="0">
              <a:buNone/>
            </a:pPr>
            <a:r>
              <a:rPr lang="en-US" sz="1300" b="1" dirty="0">
                <a:solidFill>
                  <a:srgbClr val="22222A"/>
                </a:solidFill>
                <a:latin typeface="Calibri" pitchFamily="34" charset="0"/>
                <a:ea typeface="Calibri" pitchFamily="34" charset="-122"/>
                <a:cs typeface="Calibri" pitchFamily="34" charset="-120"/>
              </a:rPr>
              <a:t>So you can get past its sentences</a:t>
            </a:r>
            <a:endParaRPr lang="en-US" sz="1300" dirty="0"/>
          </a:p>
        </p:txBody>
      </p:sp>
      <p:sp>
        <p:nvSpPr>
          <p:cNvPr id="7" name="Text 4"/>
          <p:cNvSpPr txBox="1"/>
          <p:nvPr/>
        </p:nvSpPr>
        <p:spPr>
          <a:xfrm>
            <a:off x="8321040" y="1828800"/>
            <a:ext cx="3212287" cy="1463040"/>
          </a:xfrm>
          <a:prstGeom prst="rect">
            <a:avLst/>
          </a:prstGeom>
          <a:noFill/>
          <a:ln/>
        </p:spPr>
        <p:txBody>
          <a:bodyPr wrap="square" lIns="0" tIns="0" rIns="0" bIns="0" rtlCol="0" anchor="ctr"/>
          <a:lstStyle/>
          <a:p>
            <a:pPr indent="0" marL="0">
              <a:lnSpc>
                <a:spcPts val="1550"/>
              </a:lnSpc>
              <a:buNone/>
            </a:pPr>
            <a:r>
              <a:rPr lang="en-US" sz="1100" dirty="0">
                <a:solidFill>
                  <a:srgbClr val="6A6875"/>
                </a:solidFill>
                <a:latin typeface="Calibri" pitchFamily="34" charset="0"/>
                <a:ea typeface="Calibri" pitchFamily="34" charset="-122"/>
                <a:cs typeface="Calibri" pitchFamily="34" charset="-120"/>
              </a:rPr>
              <a:t>The assistant starts a small local server and pushes the nodes it is drawing on into a browser window, with a line saying how they relate to what it just said. You are not stuck with its summary — the material is right there, and you can wander off into it.</a:t>
            </a:r>
            <a:endParaRPr lang="en-US" sz="1100" dirty="0"/>
          </a:p>
        </p:txBody>
      </p:sp>
      <p:sp>
        <p:nvSpPr>
          <p:cNvPr id="8" name="Text 5"/>
          <p:cNvSpPr txBox="1"/>
          <p:nvPr/>
        </p:nvSpPr>
        <p:spPr>
          <a:xfrm>
            <a:off x="8321040" y="3383280"/>
            <a:ext cx="3212287" cy="310896"/>
          </a:xfrm>
          <a:prstGeom prst="rect">
            <a:avLst/>
          </a:prstGeom>
          <a:noFill/>
          <a:ln/>
        </p:spPr>
        <p:txBody>
          <a:bodyPr wrap="square" lIns="0" tIns="0" rIns="0" bIns="0" rtlCol="0" anchor="ctr"/>
          <a:lstStyle/>
          <a:p>
            <a:pPr indent="0" marL="0">
              <a:buNone/>
            </a:pPr>
            <a:r>
              <a:rPr lang="en-US" sz="1300" b="1" dirty="0">
                <a:solidFill>
                  <a:srgbClr val="22222A"/>
                </a:solidFill>
                <a:latin typeface="Calibri" pitchFamily="34" charset="0"/>
                <a:ea typeface="Calibri" pitchFamily="34" charset="-122"/>
                <a:cs typeface="Calibri" pitchFamily="34" charset="-120"/>
              </a:rPr>
              <a:t>It reads back what you opened</a:t>
            </a:r>
            <a:endParaRPr lang="en-US" sz="1300" dirty="0"/>
          </a:p>
        </p:txBody>
      </p:sp>
      <p:sp>
        <p:nvSpPr>
          <p:cNvPr id="9" name="Text 6"/>
          <p:cNvSpPr txBox="1"/>
          <p:nvPr/>
        </p:nvSpPr>
        <p:spPr>
          <a:xfrm>
            <a:off x="8321040" y="3730752"/>
            <a:ext cx="3212287" cy="1371600"/>
          </a:xfrm>
          <a:prstGeom prst="rect">
            <a:avLst/>
          </a:prstGeom>
          <a:noFill/>
          <a:ln/>
        </p:spPr>
        <p:txBody>
          <a:bodyPr wrap="square" lIns="0" tIns="0" rIns="0" bIns="0" rtlCol="0" anchor="ctr"/>
          <a:lstStyle/>
          <a:p>
            <a:pPr indent="0" marL="0">
              <a:lnSpc>
                <a:spcPts val="1550"/>
              </a:lnSpc>
              <a:buNone/>
            </a:pPr>
            <a:r>
              <a:rPr lang="en-US" sz="1100" dirty="0">
                <a:solidFill>
                  <a:srgbClr val="6A6875"/>
                </a:solidFill>
                <a:latin typeface="Calibri" pitchFamily="34" charset="0"/>
                <a:ea typeface="Calibri" pitchFamily="34" charset="-122"/>
                <a:cs typeface="Calibri" pitchFamily="34" charset="-120"/>
              </a:rPr>
              <a:t>The window reports which nodes you actually looked at. If you lingered on one, that is the one worth talking about — which is a better signal than anything the assistant could infer from your typing.</a:t>
            </a:r>
            <a:endParaRPr lang="en-US" sz="1100" dirty="0"/>
          </a:p>
        </p:txBody>
      </p:sp>
      <p:sp>
        <p:nvSpPr>
          <p:cNvPr id="10" name="Text 7"/>
          <p:cNvSpPr txBox="1"/>
          <p:nvPr/>
        </p:nvSpPr>
        <p:spPr>
          <a:xfrm>
            <a:off x="8321040" y="5138928"/>
            <a:ext cx="3212287" cy="457200"/>
          </a:xfrm>
          <a:prstGeom prst="rect">
            <a:avLst/>
          </a:prstGeom>
          <a:noFill/>
          <a:ln/>
        </p:spPr>
        <p:txBody>
          <a:bodyPr wrap="square" lIns="0" tIns="0" rIns="0" bIns="0" rtlCol="0" anchor="ctr"/>
          <a:lstStyle/>
          <a:p>
            <a:pPr indent="0" marL="0">
              <a:lnSpc>
                <a:spcPts val="1400"/>
              </a:lnSpc>
              <a:buNone/>
            </a:pPr>
            <a:r>
              <a:rPr lang="en-US" sz="1000" dirty="0">
                <a:solidFill>
                  <a:srgbClr val="7B4BD8"/>
                </a:solidFill>
                <a:latin typeface="Courier New" pitchFamily="34" charset="0"/>
                <a:ea typeface="Courier New" pitchFamily="34" charset="-122"/>
                <a:cs typeface="Courier New" pitchFamily="34" charset="-120"/>
              </a:rPr>
              <a:t>node tools/show.mjs &lt;nodes&gt; --why "…"</a:t>
            </a:r>
            <a:endParaRPr lang="en-US" sz="1000" dirty="0"/>
          </a:p>
        </p:txBody>
      </p:sp>
      <p:sp>
        <p:nvSpPr>
          <p:cNvPr id="11" name="Text 8"/>
          <p:cNvSpPr txBox="1"/>
          <p:nvPr/>
        </p:nvSpPr>
        <p:spPr>
          <a:xfrm>
            <a:off x="8321040" y="5632704"/>
            <a:ext cx="3212287" cy="274320"/>
          </a:xfrm>
          <a:prstGeom prst="rect">
            <a:avLst/>
          </a:prstGeom>
          <a:noFill/>
          <a:ln/>
        </p:spPr>
        <p:txBody>
          <a:bodyPr wrap="square" lIns="0" tIns="0" rIns="0" bIns="0" rtlCol="0" anchor="ctr"/>
          <a:lstStyle/>
          <a:p>
            <a:pPr indent="0" marL="0">
              <a:buNone/>
            </a:pPr>
            <a:r>
              <a:rPr lang="en-US" sz="1050" i="1" dirty="0">
                <a:solidFill>
                  <a:srgbClr val="807C8A"/>
                </a:solidFill>
                <a:latin typeface="Calibri" pitchFamily="34" charset="0"/>
                <a:ea typeface="Calibri" pitchFamily="34" charset="-122"/>
                <a:cs typeface="Calibri" pitchFamily="34" charset="-120"/>
              </a:rPr>
              <a:t>Local only. Nothing leaves the machine.</a:t>
            </a:r>
            <a:endParaRPr lang="en-US" sz="1050" dirty="0"/>
          </a:p>
        </p:txBody>
      </p:sp>
      <p:sp>
        <p:nvSpPr>
          <p:cNvPr id="12" name="Text 9"/>
          <p:cNvSpPr txBox="1"/>
          <p:nvPr/>
        </p:nvSpPr>
        <p:spPr>
          <a:xfrm>
            <a:off x="658368" y="6108192"/>
            <a:ext cx="7406640" cy="274320"/>
          </a:xfrm>
          <a:prstGeom prst="rect">
            <a:avLst/>
          </a:prstGeom>
          <a:noFill/>
          <a:ln/>
        </p:spPr>
        <p:txBody>
          <a:bodyPr wrap="square" lIns="0" tIns="0" rIns="0" bIns="0" rtlCol="0" anchor="ctr"/>
          <a:lstStyle/>
          <a:p>
            <a:pPr indent="0" marL="0">
              <a:buNone/>
            </a:pPr>
            <a:r>
              <a:rPr lang="en-US" sz="1050" i="1" dirty="0">
                <a:solidFill>
                  <a:srgbClr val="807C8A"/>
                </a:solidFill>
                <a:latin typeface="Calibri" pitchFamily="34" charset="0"/>
                <a:ea typeface="Calibri" pitchFamily="34" charset="-122"/>
                <a:cs typeface="Calibri" pitchFamily="34" charset="-120"/>
              </a:rPr>
              <a:t>The banner is what the assistant said about this set; the panel is the node you chose to read.</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161C"/>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52505C"/>
                </a:solidFill>
                <a:latin typeface="Calibri" pitchFamily="34" charset="0"/>
                <a:ea typeface="Calibri" pitchFamily="34" charset="-122"/>
                <a:cs typeface="Calibri" pitchFamily="34" charset="-120"/>
              </a:rPr>
              <a:t>16</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9E86E8"/>
                </a:solidFill>
                <a:latin typeface="Calibri" pitchFamily="34" charset="0"/>
                <a:ea typeface="Calibri" pitchFamily="34" charset="-122"/>
                <a:cs typeface="Calibri" pitchFamily="34" charset="-120"/>
              </a:rPr>
              <a:t>THE CONSTRAINTS</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Eight rules, and one of them is code</a:t>
            </a:r>
            <a:endParaRPr lang="en-US" sz="3400" dirty="0"/>
          </a:p>
        </p:txBody>
      </p:sp>
      <p:sp>
        <p:nvSpPr>
          <p:cNvPr id="5" name="Text 3"/>
          <p:cNvSpPr txBox="1"/>
          <p:nvPr/>
        </p:nvSpPr>
        <p:spPr>
          <a:xfrm>
            <a:off x="658368" y="1691640"/>
            <a:ext cx="7863840" cy="777240"/>
          </a:xfrm>
          <a:prstGeom prst="rect">
            <a:avLst/>
          </a:prstGeom>
          <a:noFill/>
          <a:ln/>
        </p:spPr>
        <p:txBody>
          <a:bodyPr wrap="square" lIns="0" tIns="0" rIns="0" bIns="0" rtlCol="0" anchor="ctr"/>
          <a:lstStyle/>
          <a:p>
            <a:pPr indent="0" marL="0">
              <a:lnSpc>
                <a:spcPts val="2000"/>
              </a:lnSpc>
              <a:buNone/>
            </a:pPr>
            <a:r>
              <a:rPr lang="en-US" sz="1350" dirty="0">
                <a:solidFill>
                  <a:srgbClr val="A9A5B4"/>
                </a:solidFill>
                <a:latin typeface="Calibri" pitchFamily="34" charset="0"/>
                <a:ea typeface="Calibri" pitchFamily="34" charset="-122"/>
                <a:cs typeface="Calibri" pitchFamily="34" charset="-120"/>
              </a:rPr>
              <a:t>Anything built on this graph inherits these. They are in AGENTS.md, which is the first thing an assistant reads, and the first one is enforced by the flow validator rather than trusted to memory.</a:t>
            </a:r>
            <a:endParaRPr lang="en-US" sz="1350" dirty="0"/>
          </a:p>
        </p:txBody>
      </p:sp>
      <p:sp>
        <p:nvSpPr>
          <p:cNvPr id="6" name="Text 4"/>
          <p:cNvSpPr txBox="1"/>
          <p:nvPr/>
        </p:nvSpPr>
        <p:spPr>
          <a:xfrm>
            <a:off x="658368" y="2651760"/>
            <a:ext cx="292608" cy="256032"/>
          </a:xfrm>
          <a:prstGeom prst="rect">
            <a:avLst/>
          </a:prstGeom>
          <a:noFill/>
          <a:ln/>
        </p:spPr>
        <p:txBody>
          <a:bodyPr wrap="square" lIns="0" tIns="0" rIns="0" bIns="0" rtlCol="0" anchor="ctr"/>
          <a:lstStyle/>
          <a:p>
            <a:pPr indent="0" marL="0">
              <a:buNone/>
            </a:pPr>
            <a:r>
              <a:rPr lang="en-US" sz="1200" b="1" dirty="0">
                <a:solidFill>
                  <a:srgbClr val="9E86E8"/>
                </a:solidFill>
                <a:latin typeface="Cambria" pitchFamily="34" charset="0"/>
                <a:ea typeface="Cambria" pitchFamily="34" charset="-122"/>
                <a:cs typeface="Cambria" pitchFamily="34" charset="-120"/>
              </a:rPr>
              <a:t>1</a:t>
            </a:r>
            <a:endParaRPr lang="en-US" sz="1200" dirty="0"/>
          </a:p>
        </p:txBody>
      </p:sp>
      <p:sp>
        <p:nvSpPr>
          <p:cNvPr id="7" name="Text 5"/>
          <p:cNvSpPr txBox="1"/>
          <p:nvPr/>
        </p:nvSpPr>
        <p:spPr>
          <a:xfrm>
            <a:off x="969264" y="2651760"/>
            <a:ext cx="5029200"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Screen before you reframe</a:t>
            </a:r>
            <a:endParaRPr lang="en-US" sz="1250" dirty="0"/>
          </a:p>
        </p:txBody>
      </p:sp>
      <p:sp>
        <p:nvSpPr>
          <p:cNvPr id="8" name="Text 6"/>
          <p:cNvSpPr txBox="1"/>
          <p:nvPr/>
        </p:nvSpPr>
        <p:spPr>
          <a:xfrm>
            <a:off x="969264" y="2916936"/>
            <a:ext cx="5029200" cy="548640"/>
          </a:xfrm>
          <a:prstGeom prst="rect">
            <a:avLst/>
          </a:prstGeom>
          <a:noFill/>
          <a:ln/>
        </p:spPr>
        <p:txBody>
          <a:bodyPr wrap="square" lIns="0" tIns="0" rIns="0" bIns="0" rtlCol="0" anchor="ctr"/>
          <a:lstStyle/>
          <a:p>
            <a:pPr indent="0" marL="0">
              <a:lnSpc>
                <a:spcPts val="1400"/>
              </a:lnSpc>
              <a:buNone/>
            </a:pPr>
            <a:r>
              <a:rPr lang="en-US" sz="1050" dirty="0">
                <a:solidFill>
                  <a:srgbClr val="918D9D"/>
                </a:solidFill>
                <a:latin typeface="Calibri" pitchFamily="34" charset="0"/>
                <a:ea typeface="Calibri" pitchFamily="34" charset="-122"/>
                <a:cs typeface="Calibri" pitchFamily="34" charset="-120"/>
              </a:rPr>
              <a:t>Patterns amplify real signals; they do not manufacture them. Establish nothing is actually happening first.</a:t>
            </a:r>
            <a:endParaRPr lang="en-US" sz="1050" dirty="0"/>
          </a:p>
        </p:txBody>
      </p:sp>
      <p:sp>
        <p:nvSpPr>
          <p:cNvPr id="9" name="Text 7"/>
          <p:cNvSpPr txBox="1"/>
          <p:nvPr/>
        </p:nvSpPr>
        <p:spPr>
          <a:xfrm>
            <a:off x="6327648" y="2651760"/>
            <a:ext cx="292608" cy="256032"/>
          </a:xfrm>
          <a:prstGeom prst="rect">
            <a:avLst/>
          </a:prstGeom>
          <a:noFill/>
          <a:ln/>
        </p:spPr>
        <p:txBody>
          <a:bodyPr wrap="square" lIns="0" tIns="0" rIns="0" bIns="0" rtlCol="0" anchor="ctr"/>
          <a:lstStyle/>
          <a:p>
            <a:pPr indent="0" marL="0">
              <a:buNone/>
            </a:pPr>
            <a:r>
              <a:rPr lang="en-US" sz="1200" b="1" dirty="0">
                <a:solidFill>
                  <a:srgbClr val="9E86E8"/>
                </a:solidFill>
                <a:latin typeface="Cambria" pitchFamily="34" charset="0"/>
                <a:ea typeface="Cambria" pitchFamily="34" charset="-122"/>
                <a:cs typeface="Cambria" pitchFamily="34" charset="-120"/>
              </a:rPr>
              <a:t>2</a:t>
            </a:r>
            <a:endParaRPr lang="en-US" sz="1200" dirty="0"/>
          </a:p>
        </p:txBody>
      </p:sp>
      <p:sp>
        <p:nvSpPr>
          <p:cNvPr id="10" name="Text 8"/>
          <p:cNvSpPr txBox="1"/>
          <p:nvPr/>
        </p:nvSpPr>
        <p:spPr>
          <a:xfrm>
            <a:off x="6638544" y="2651760"/>
            <a:ext cx="5029200"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Never tell anyone their style</a:t>
            </a:r>
            <a:endParaRPr lang="en-US" sz="1250" dirty="0"/>
          </a:p>
        </p:txBody>
      </p:sp>
      <p:sp>
        <p:nvSpPr>
          <p:cNvPr id="11" name="Text 9"/>
          <p:cNvSpPr txBox="1"/>
          <p:nvPr/>
        </p:nvSpPr>
        <p:spPr>
          <a:xfrm>
            <a:off x="6638544" y="2916936"/>
            <a:ext cx="5029200" cy="548640"/>
          </a:xfrm>
          <a:prstGeom prst="rect">
            <a:avLst/>
          </a:prstGeom>
          <a:noFill/>
          <a:ln/>
        </p:spPr>
        <p:txBody>
          <a:bodyPr wrap="square" lIns="0" tIns="0" rIns="0" bIns="0" rtlCol="0" anchor="ctr"/>
          <a:lstStyle/>
          <a:p>
            <a:pPr indent="0" marL="0">
              <a:lnSpc>
                <a:spcPts val="1400"/>
              </a:lnSpc>
              <a:buNone/>
            </a:pPr>
            <a:r>
              <a:rPr lang="en-US" sz="1050" dirty="0">
                <a:solidFill>
                  <a:srgbClr val="918D9D"/>
                </a:solidFill>
                <a:latin typeface="Calibri" pitchFamily="34" charset="0"/>
                <a:ea typeface="Calibri" pitchFamily="34" charset="-122"/>
                <a:cs typeface="Calibri" pitchFamily="34" charset="-120"/>
              </a:rPr>
              <a:t>Not as a guess, not as "this sounds like". Recognition, not classification.</a:t>
            </a:r>
            <a:endParaRPr lang="en-US" sz="1050" dirty="0"/>
          </a:p>
        </p:txBody>
      </p:sp>
      <p:sp>
        <p:nvSpPr>
          <p:cNvPr id="12" name="Text 10"/>
          <p:cNvSpPr txBox="1"/>
          <p:nvPr/>
        </p:nvSpPr>
        <p:spPr>
          <a:xfrm>
            <a:off x="658368" y="3593592"/>
            <a:ext cx="292608" cy="256032"/>
          </a:xfrm>
          <a:prstGeom prst="rect">
            <a:avLst/>
          </a:prstGeom>
          <a:noFill/>
          <a:ln/>
        </p:spPr>
        <p:txBody>
          <a:bodyPr wrap="square" lIns="0" tIns="0" rIns="0" bIns="0" rtlCol="0" anchor="ctr"/>
          <a:lstStyle/>
          <a:p>
            <a:pPr indent="0" marL="0">
              <a:buNone/>
            </a:pPr>
            <a:r>
              <a:rPr lang="en-US" sz="1200" b="1" dirty="0">
                <a:solidFill>
                  <a:srgbClr val="9E86E8"/>
                </a:solidFill>
                <a:latin typeface="Cambria" pitchFamily="34" charset="0"/>
                <a:ea typeface="Cambria" pitchFamily="34" charset="-122"/>
                <a:cs typeface="Cambria" pitchFamily="34" charset="-120"/>
              </a:rPr>
              <a:t>3</a:t>
            </a:r>
            <a:endParaRPr lang="en-US" sz="1200" dirty="0"/>
          </a:p>
        </p:txBody>
      </p:sp>
      <p:sp>
        <p:nvSpPr>
          <p:cNvPr id="13" name="Text 11"/>
          <p:cNvSpPr txBox="1"/>
          <p:nvPr/>
        </p:nvSpPr>
        <p:spPr>
          <a:xfrm>
            <a:off x="969264" y="3593592"/>
            <a:ext cx="5029200"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If they say no, it was no</a:t>
            </a:r>
            <a:endParaRPr lang="en-US" sz="1250" dirty="0"/>
          </a:p>
        </p:txBody>
      </p:sp>
      <p:sp>
        <p:nvSpPr>
          <p:cNvPr id="14" name="Text 12"/>
          <p:cNvSpPr txBox="1"/>
          <p:nvPr/>
        </p:nvSpPr>
        <p:spPr>
          <a:xfrm>
            <a:off x="969264" y="3858768"/>
            <a:ext cx="5029200" cy="548640"/>
          </a:xfrm>
          <a:prstGeom prst="rect">
            <a:avLst/>
          </a:prstGeom>
          <a:noFill/>
          <a:ln/>
        </p:spPr>
        <p:txBody>
          <a:bodyPr wrap="square" lIns="0" tIns="0" rIns="0" bIns="0" rtlCol="0" anchor="ctr"/>
          <a:lstStyle/>
          <a:p>
            <a:pPr indent="0" marL="0">
              <a:lnSpc>
                <a:spcPts val="1400"/>
              </a:lnSpc>
              <a:buNone/>
            </a:pPr>
            <a:r>
              <a:rPr lang="en-US" sz="1050" dirty="0">
                <a:solidFill>
                  <a:srgbClr val="918D9D"/>
                </a:solidFill>
                <a:latin typeface="Calibri" pitchFamily="34" charset="0"/>
                <a:ea typeface="Calibri" pitchFamily="34" charset="-122"/>
                <a:cs typeface="Calibri" pitchFamily="34" charset="-120"/>
              </a:rPr>
              <a:t>They know their own life better than the graph does. Drop it; do not ask the same question twice.</a:t>
            </a:r>
            <a:endParaRPr lang="en-US" sz="1050" dirty="0"/>
          </a:p>
        </p:txBody>
      </p:sp>
      <p:sp>
        <p:nvSpPr>
          <p:cNvPr id="15" name="Text 13"/>
          <p:cNvSpPr txBox="1"/>
          <p:nvPr/>
        </p:nvSpPr>
        <p:spPr>
          <a:xfrm>
            <a:off x="6327648" y="3593592"/>
            <a:ext cx="292608" cy="256032"/>
          </a:xfrm>
          <a:prstGeom prst="rect">
            <a:avLst/>
          </a:prstGeom>
          <a:noFill/>
          <a:ln/>
        </p:spPr>
        <p:txBody>
          <a:bodyPr wrap="square" lIns="0" tIns="0" rIns="0" bIns="0" rtlCol="0" anchor="ctr"/>
          <a:lstStyle/>
          <a:p>
            <a:pPr indent="0" marL="0">
              <a:buNone/>
            </a:pPr>
            <a:r>
              <a:rPr lang="en-US" sz="1200" b="1" dirty="0">
                <a:solidFill>
                  <a:srgbClr val="9E86E8"/>
                </a:solidFill>
                <a:latin typeface="Cambria" pitchFamily="34" charset="0"/>
                <a:ea typeface="Cambria" pitchFamily="34" charset="-122"/>
                <a:cs typeface="Cambria" pitchFamily="34" charset="-120"/>
              </a:rPr>
              <a:t>4</a:t>
            </a:r>
            <a:endParaRPr lang="en-US" sz="1200" dirty="0"/>
          </a:p>
        </p:txBody>
      </p:sp>
      <p:sp>
        <p:nvSpPr>
          <p:cNvPr id="16" name="Text 14"/>
          <p:cNvSpPr txBox="1"/>
          <p:nvPr/>
        </p:nvSpPr>
        <p:spPr>
          <a:xfrm>
            <a:off x="6638544" y="3593592"/>
            <a:ext cx="5029200"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Never type an absent partner</a:t>
            </a:r>
            <a:endParaRPr lang="en-US" sz="1250" dirty="0"/>
          </a:p>
        </p:txBody>
      </p:sp>
      <p:sp>
        <p:nvSpPr>
          <p:cNvPr id="17" name="Text 15"/>
          <p:cNvSpPr txBox="1"/>
          <p:nvPr/>
        </p:nvSpPr>
        <p:spPr>
          <a:xfrm>
            <a:off x="6638544" y="3858768"/>
            <a:ext cx="5029200" cy="548640"/>
          </a:xfrm>
          <a:prstGeom prst="rect">
            <a:avLst/>
          </a:prstGeom>
          <a:noFill/>
          <a:ln/>
        </p:spPr>
        <p:txBody>
          <a:bodyPr wrap="square" lIns="0" tIns="0" rIns="0" bIns="0" rtlCol="0" anchor="ctr"/>
          <a:lstStyle/>
          <a:p>
            <a:pPr indent="0" marL="0">
              <a:lnSpc>
                <a:spcPts val="1400"/>
              </a:lnSpc>
              <a:buNone/>
            </a:pPr>
            <a:r>
              <a:rPr lang="en-US" sz="1050" dirty="0">
                <a:solidFill>
                  <a:srgbClr val="918D9D"/>
                </a:solidFill>
                <a:latin typeface="Calibri" pitchFamily="34" charset="0"/>
                <a:ea typeface="Calibri" pitchFamily="34" charset="-122"/>
                <a:cs typeface="Calibri" pitchFamily="34" charset="-120"/>
              </a:rPr>
              <a:t>The person in the room is the only one whose interior is available.</a:t>
            </a:r>
            <a:endParaRPr lang="en-US" sz="1050" dirty="0"/>
          </a:p>
        </p:txBody>
      </p:sp>
      <p:sp>
        <p:nvSpPr>
          <p:cNvPr id="18" name="Text 16"/>
          <p:cNvSpPr txBox="1"/>
          <p:nvPr/>
        </p:nvSpPr>
        <p:spPr>
          <a:xfrm>
            <a:off x="658368" y="4535424"/>
            <a:ext cx="292608" cy="256032"/>
          </a:xfrm>
          <a:prstGeom prst="rect">
            <a:avLst/>
          </a:prstGeom>
          <a:noFill/>
          <a:ln/>
        </p:spPr>
        <p:txBody>
          <a:bodyPr wrap="square" lIns="0" tIns="0" rIns="0" bIns="0" rtlCol="0" anchor="ctr"/>
          <a:lstStyle/>
          <a:p>
            <a:pPr indent="0" marL="0">
              <a:buNone/>
            </a:pPr>
            <a:r>
              <a:rPr lang="en-US" sz="1200" b="1" dirty="0">
                <a:solidFill>
                  <a:srgbClr val="9E86E8"/>
                </a:solidFill>
                <a:latin typeface="Cambria" pitchFamily="34" charset="0"/>
                <a:ea typeface="Cambria" pitchFamily="34" charset="-122"/>
                <a:cs typeface="Cambria" pitchFamily="34" charset="-120"/>
              </a:rPr>
              <a:t>5</a:t>
            </a:r>
            <a:endParaRPr lang="en-US" sz="1200" dirty="0"/>
          </a:p>
        </p:txBody>
      </p:sp>
      <p:sp>
        <p:nvSpPr>
          <p:cNvPr id="19" name="Text 17"/>
          <p:cNvSpPr txBox="1"/>
          <p:nvPr/>
        </p:nvSpPr>
        <p:spPr>
          <a:xfrm>
            <a:off x="969264" y="4535424"/>
            <a:ext cx="5029200"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Cite it or do not say it</a:t>
            </a:r>
            <a:endParaRPr lang="en-US" sz="1250" dirty="0"/>
          </a:p>
        </p:txBody>
      </p:sp>
      <p:sp>
        <p:nvSpPr>
          <p:cNvPr id="20" name="Text 18"/>
          <p:cNvSpPr txBox="1"/>
          <p:nvPr/>
        </p:nvSpPr>
        <p:spPr>
          <a:xfrm>
            <a:off x="969264" y="4800600"/>
            <a:ext cx="5029200" cy="548640"/>
          </a:xfrm>
          <a:prstGeom prst="rect">
            <a:avLst/>
          </a:prstGeom>
          <a:noFill/>
          <a:ln/>
        </p:spPr>
        <p:txBody>
          <a:bodyPr wrap="square" lIns="0" tIns="0" rIns="0" bIns="0" rtlCol="0" anchor="ctr"/>
          <a:lstStyle/>
          <a:p>
            <a:pPr indent="0" marL="0">
              <a:lnSpc>
                <a:spcPts val="1400"/>
              </a:lnSpc>
              <a:buNone/>
            </a:pPr>
            <a:r>
              <a:rPr lang="en-US" sz="1050" dirty="0">
                <a:solidFill>
                  <a:srgbClr val="918D9D"/>
                </a:solidFill>
                <a:latin typeface="Calibri" pitchFamily="34" charset="0"/>
                <a:ea typeface="Calibri" pitchFamily="34" charset="-122"/>
                <a:cs typeface="Calibri" pitchFamily="34" charset="-120"/>
              </a:rPr>
              <a:t>Untraceable claims get flagged as inference or left out.</a:t>
            </a:r>
            <a:endParaRPr lang="en-US" sz="1050" dirty="0"/>
          </a:p>
        </p:txBody>
      </p:sp>
      <p:sp>
        <p:nvSpPr>
          <p:cNvPr id="21" name="Text 19"/>
          <p:cNvSpPr txBox="1"/>
          <p:nvPr/>
        </p:nvSpPr>
        <p:spPr>
          <a:xfrm>
            <a:off x="6327648" y="4535424"/>
            <a:ext cx="292608" cy="256032"/>
          </a:xfrm>
          <a:prstGeom prst="rect">
            <a:avLst/>
          </a:prstGeom>
          <a:noFill/>
          <a:ln/>
        </p:spPr>
        <p:txBody>
          <a:bodyPr wrap="square" lIns="0" tIns="0" rIns="0" bIns="0" rtlCol="0" anchor="ctr"/>
          <a:lstStyle/>
          <a:p>
            <a:pPr indent="0" marL="0">
              <a:buNone/>
            </a:pPr>
            <a:r>
              <a:rPr lang="en-US" sz="1200" b="1" dirty="0">
                <a:solidFill>
                  <a:srgbClr val="9E86E8"/>
                </a:solidFill>
                <a:latin typeface="Cambria" pitchFamily="34" charset="0"/>
                <a:ea typeface="Cambria" pitchFamily="34" charset="-122"/>
                <a:cs typeface="Cambria" pitchFamily="34" charset="-120"/>
              </a:rPr>
              <a:t>6</a:t>
            </a:r>
            <a:endParaRPr lang="en-US" sz="1200" dirty="0"/>
          </a:p>
        </p:txBody>
      </p:sp>
      <p:sp>
        <p:nvSpPr>
          <p:cNvPr id="22" name="Text 20"/>
          <p:cNvSpPr txBox="1"/>
          <p:nvPr/>
        </p:nvSpPr>
        <p:spPr>
          <a:xfrm>
            <a:off x="6638544" y="4535424"/>
            <a:ext cx="5029200"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No diagnosis, no quiz, no scoring</a:t>
            </a:r>
            <a:endParaRPr lang="en-US" sz="1250" dirty="0"/>
          </a:p>
        </p:txBody>
      </p:sp>
      <p:sp>
        <p:nvSpPr>
          <p:cNvPr id="23" name="Text 21"/>
          <p:cNvSpPr txBox="1"/>
          <p:nvPr/>
        </p:nvSpPr>
        <p:spPr>
          <a:xfrm>
            <a:off x="6638544" y="4800600"/>
            <a:ext cx="5029200" cy="548640"/>
          </a:xfrm>
          <a:prstGeom prst="rect">
            <a:avLst/>
          </a:prstGeom>
          <a:noFill/>
          <a:ln/>
        </p:spPr>
        <p:txBody>
          <a:bodyPr wrap="square" lIns="0" tIns="0" rIns="0" bIns="0" rtlCol="0" anchor="ctr"/>
          <a:lstStyle/>
          <a:p>
            <a:pPr indent="0" marL="0">
              <a:lnSpc>
                <a:spcPts val="1400"/>
              </a:lnSpc>
              <a:buNone/>
            </a:pPr>
            <a:r>
              <a:rPr lang="en-US" sz="1050" dirty="0">
                <a:solidFill>
                  <a:srgbClr val="918D9D"/>
                </a:solidFill>
                <a:latin typeface="Calibri" pitchFamily="34" charset="0"/>
                <a:ea typeface="Calibri" pitchFamily="34" charset="-122"/>
                <a:cs typeface="Calibri" pitchFamily="34" charset="-120"/>
              </a:rPr>
              <a:t>No instrument that outputs a category.</a:t>
            </a:r>
            <a:endParaRPr lang="en-US" sz="1050" dirty="0"/>
          </a:p>
        </p:txBody>
      </p:sp>
      <p:sp>
        <p:nvSpPr>
          <p:cNvPr id="24" name="Text 22"/>
          <p:cNvSpPr txBox="1"/>
          <p:nvPr/>
        </p:nvSpPr>
        <p:spPr>
          <a:xfrm>
            <a:off x="658368" y="5477256"/>
            <a:ext cx="292608" cy="256032"/>
          </a:xfrm>
          <a:prstGeom prst="rect">
            <a:avLst/>
          </a:prstGeom>
          <a:noFill/>
          <a:ln/>
        </p:spPr>
        <p:txBody>
          <a:bodyPr wrap="square" lIns="0" tIns="0" rIns="0" bIns="0" rtlCol="0" anchor="ctr"/>
          <a:lstStyle/>
          <a:p>
            <a:pPr indent="0" marL="0">
              <a:buNone/>
            </a:pPr>
            <a:r>
              <a:rPr lang="en-US" sz="1200" b="1" dirty="0">
                <a:solidFill>
                  <a:srgbClr val="9E86E8"/>
                </a:solidFill>
                <a:latin typeface="Cambria" pitchFamily="34" charset="0"/>
                <a:ea typeface="Cambria" pitchFamily="34" charset="-122"/>
                <a:cs typeface="Cambria" pitchFamily="34" charset="-120"/>
              </a:rPr>
              <a:t>7</a:t>
            </a:r>
            <a:endParaRPr lang="en-US" sz="1200" dirty="0"/>
          </a:p>
        </p:txBody>
      </p:sp>
      <p:sp>
        <p:nvSpPr>
          <p:cNvPr id="25" name="Text 23"/>
          <p:cNvSpPr txBox="1"/>
          <p:nvPr/>
        </p:nvSpPr>
        <p:spPr>
          <a:xfrm>
            <a:off x="969264" y="5477256"/>
            <a:ext cx="5029200"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Hand off in a crisis</a:t>
            </a:r>
            <a:endParaRPr lang="en-US" sz="1250" dirty="0"/>
          </a:p>
        </p:txBody>
      </p:sp>
      <p:sp>
        <p:nvSpPr>
          <p:cNvPr id="26" name="Text 24"/>
          <p:cNvSpPr txBox="1"/>
          <p:nvPr/>
        </p:nvSpPr>
        <p:spPr>
          <a:xfrm>
            <a:off x="969264" y="5742432"/>
            <a:ext cx="5029200" cy="548640"/>
          </a:xfrm>
          <a:prstGeom prst="rect">
            <a:avLst/>
          </a:prstGeom>
          <a:noFill/>
          <a:ln/>
        </p:spPr>
        <p:txBody>
          <a:bodyPr wrap="square" lIns="0" tIns="0" rIns="0" bIns="0" rtlCol="0" anchor="ctr"/>
          <a:lstStyle/>
          <a:p>
            <a:pPr indent="0" marL="0">
              <a:lnSpc>
                <a:spcPts val="1400"/>
              </a:lnSpc>
              <a:buNone/>
            </a:pPr>
            <a:r>
              <a:rPr lang="en-US" sz="1050" dirty="0">
                <a:solidFill>
                  <a:srgbClr val="918D9D"/>
                </a:solidFill>
                <a:latin typeface="Calibri" pitchFamily="34" charset="0"/>
                <a:ea typeface="Calibri" pitchFamily="34" charset="-122"/>
                <a:cs typeface="Calibri" pitchFamily="34" charset="-120"/>
              </a:rPr>
              <a:t>Distress above the working range needs a person, not a decision tree.</a:t>
            </a:r>
            <a:endParaRPr lang="en-US" sz="1050" dirty="0"/>
          </a:p>
        </p:txBody>
      </p:sp>
      <p:sp>
        <p:nvSpPr>
          <p:cNvPr id="27" name="Text 25"/>
          <p:cNvSpPr txBox="1"/>
          <p:nvPr/>
        </p:nvSpPr>
        <p:spPr>
          <a:xfrm>
            <a:off x="6327648" y="5477256"/>
            <a:ext cx="292608" cy="256032"/>
          </a:xfrm>
          <a:prstGeom prst="rect">
            <a:avLst/>
          </a:prstGeom>
          <a:noFill/>
          <a:ln/>
        </p:spPr>
        <p:txBody>
          <a:bodyPr wrap="square" lIns="0" tIns="0" rIns="0" bIns="0" rtlCol="0" anchor="ctr"/>
          <a:lstStyle/>
          <a:p>
            <a:pPr indent="0" marL="0">
              <a:buNone/>
            </a:pPr>
            <a:r>
              <a:rPr lang="en-US" sz="1200" b="1" dirty="0">
                <a:solidFill>
                  <a:srgbClr val="9E86E8"/>
                </a:solidFill>
                <a:latin typeface="Cambria" pitchFamily="34" charset="0"/>
                <a:ea typeface="Cambria" pitchFamily="34" charset="-122"/>
                <a:cs typeface="Cambria" pitchFamily="34" charset="-120"/>
              </a:rPr>
              <a:t>8</a:t>
            </a:r>
            <a:endParaRPr lang="en-US" sz="1200" dirty="0"/>
          </a:p>
        </p:txBody>
      </p:sp>
      <p:sp>
        <p:nvSpPr>
          <p:cNvPr id="28" name="Text 26"/>
          <p:cNvSpPr txBox="1"/>
          <p:nvPr/>
        </p:nvSpPr>
        <p:spPr>
          <a:xfrm>
            <a:off x="6638544" y="5477256"/>
            <a:ext cx="5029200"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Not therapy, and no expertise claimed</a:t>
            </a:r>
            <a:endParaRPr lang="en-US" sz="1250" dirty="0"/>
          </a:p>
        </p:txBody>
      </p:sp>
      <p:sp>
        <p:nvSpPr>
          <p:cNvPr id="29" name="Text 27"/>
          <p:cNvSpPr txBox="1"/>
          <p:nvPr/>
        </p:nvSpPr>
        <p:spPr>
          <a:xfrm>
            <a:off x="6638544" y="5742432"/>
            <a:ext cx="5029200" cy="548640"/>
          </a:xfrm>
          <a:prstGeom prst="rect">
            <a:avLst/>
          </a:prstGeom>
          <a:noFill/>
          <a:ln/>
        </p:spPr>
        <p:txBody>
          <a:bodyPr wrap="square" lIns="0" tIns="0" rIns="0" bIns="0" rtlCol="0" anchor="ctr"/>
          <a:lstStyle/>
          <a:p>
            <a:pPr indent="0" marL="0">
              <a:lnSpc>
                <a:spcPts val="1400"/>
              </a:lnSpc>
              <a:buNone/>
            </a:pPr>
            <a:r>
              <a:rPr lang="en-US" sz="1050" dirty="0">
                <a:solidFill>
                  <a:srgbClr val="918D9D"/>
                </a:solidFill>
                <a:latin typeface="Calibri" pitchFamily="34" charset="0"/>
                <a:ea typeface="Calibri" pitchFamily="34" charset="-122"/>
                <a:cs typeface="Calibri" pitchFamily="34" charset="-120"/>
              </a:rPr>
              <a:t>Priebe states her own position plainly. Anything built on the corpus inherits that ceiling.</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807C8A"/>
                </a:solidFill>
                <a:latin typeface="Calibri" pitchFamily="34" charset="0"/>
                <a:ea typeface="Calibri" pitchFamily="34" charset="-122"/>
                <a:cs typeface="Calibri" pitchFamily="34" charset="-120"/>
              </a:rPr>
              <a:t>17</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7B4BD8"/>
                </a:solidFill>
                <a:latin typeface="Calibri" pitchFamily="34" charset="0"/>
                <a:ea typeface="Calibri" pitchFamily="34" charset="-122"/>
                <a:cs typeface="Calibri" pitchFamily="34" charset="-120"/>
              </a:rPr>
              <a:t>HONESTY</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200" b="1" dirty="0">
                <a:solidFill>
                  <a:srgbClr val="22222A"/>
                </a:solidFill>
                <a:latin typeface="Cambria" pitchFamily="34" charset="0"/>
                <a:ea typeface="Cambria" pitchFamily="34" charset="-122"/>
                <a:cs typeface="Cambria" pitchFamily="34" charset="-120"/>
              </a:rPr>
              <a:t>What this is not</a:t>
            </a:r>
            <a:endParaRPr lang="en-US" sz="3200" dirty="0"/>
          </a:p>
        </p:txBody>
      </p:sp>
      <p:sp>
        <p:nvSpPr>
          <p:cNvPr id="5" name="Text 3"/>
          <p:cNvSpPr txBox="1"/>
          <p:nvPr/>
        </p:nvSpPr>
        <p:spPr>
          <a:xfrm>
            <a:off x="658368" y="1481328"/>
            <a:ext cx="3931920" cy="566928"/>
          </a:xfrm>
          <a:prstGeom prst="rect">
            <a:avLst/>
          </a:prstGeom>
          <a:noFill/>
          <a:ln/>
        </p:spPr>
        <p:txBody>
          <a:bodyPr wrap="square" lIns="0" tIns="0" rIns="0" bIns="0" rtlCol="0" anchor="ctr"/>
          <a:lstStyle/>
          <a:p>
            <a:pPr indent="0" marL="0">
              <a:lnSpc>
                <a:spcPts val="1650"/>
              </a:lnSpc>
              <a:buNone/>
            </a:pPr>
            <a:r>
              <a:rPr lang="en-US" sz="1300" b="1" dirty="0">
                <a:solidFill>
                  <a:srgbClr val="22222A"/>
                </a:solidFill>
                <a:latin typeface="Calibri" pitchFamily="34" charset="0"/>
                <a:ea typeface="Calibri" pitchFamily="34" charset="-122"/>
                <a:cs typeface="Calibri" pitchFamily="34" charset="-120"/>
              </a:rPr>
              <a:t>One person’s corpus</a:t>
            </a:r>
            <a:endParaRPr lang="en-US" sz="1300" dirty="0"/>
          </a:p>
        </p:txBody>
      </p:sp>
      <p:sp>
        <p:nvSpPr>
          <p:cNvPr id="6" name="Text 4"/>
          <p:cNvSpPr txBox="1"/>
          <p:nvPr/>
        </p:nvSpPr>
        <p:spPr>
          <a:xfrm>
            <a:off x="4892040" y="1481328"/>
            <a:ext cx="6641287" cy="868680"/>
          </a:xfrm>
          <a:prstGeom prst="rect">
            <a:avLst/>
          </a:prstGeom>
          <a:noFill/>
          <a:ln/>
        </p:spPr>
        <p:txBody>
          <a:bodyPr wrap="square" lIns="0" tIns="0" rIns="0" bIns="0" rtlCol="0" anchor="ctr"/>
          <a:lstStyle/>
          <a:p>
            <a:pPr indent="0" marL="0">
              <a:lnSpc>
                <a:spcPts val="1650"/>
              </a:lnSpc>
              <a:buNone/>
            </a:pPr>
            <a:r>
              <a:rPr lang="en-US" sz="1150" dirty="0">
                <a:solidFill>
                  <a:srgbClr val="6A6875"/>
                </a:solidFill>
                <a:latin typeface="Calibri" pitchFamily="34" charset="0"/>
                <a:ea typeface="Calibri" pitchFamily="34" charset="-122"/>
                <a:cs typeface="Calibri" pitchFamily="34" charset="-120"/>
              </a:rPr>
              <a:t>Everything here is Heidi Priebe’s framing. It is not a survey of attachment research, and where she diverges from the literature the graph records her, faithfully, without adjudicating.</a:t>
            </a:r>
            <a:endParaRPr lang="en-US" sz="1150" dirty="0"/>
          </a:p>
        </p:txBody>
      </p:sp>
      <p:sp>
        <p:nvSpPr>
          <p:cNvPr id="7" name="Text 5"/>
          <p:cNvSpPr txBox="1"/>
          <p:nvPr/>
        </p:nvSpPr>
        <p:spPr>
          <a:xfrm>
            <a:off x="658368" y="2450592"/>
            <a:ext cx="3931920" cy="566928"/>
          </a:xfrm>
          <a:prstGeom prst="rect">
            <a:avLst/>
          </a:prstGeom>
          <a:noFill/>
          <a:ln/>
        </p:spPr>
        <p:txBody>
          <a:bodyPr wrap="square" lIns="0" tIns="0" rIns="0" bIns="0" rtlCol="0" anchor="ctr"/>
          <a:lstStyle/>
          <a:p>
            <a:pPr indent="0" marL="0">
              <a:lnSpc>
                <a:spcPts val="1650"/>
              </a:lnSpc>
              <a:buNone/>
            </a:pPr>
            <a:r>
              <a:rPr lang="en-US" sz="1300" b="1" dirty="0">
                <a:solidFill>
                  <a:srgbClr val="22222A"/>
                </a:solidFill>
                <a:latin typeface="Calibri" pitchFamily="34" charset="0"/>
                <a:ea typeface="Calibri" pitchFamily="34" charset="-122"/>
                <a:cs typeface="Calibri" pitchFamily="34" charset="-120"/>
              </a:rPr>
              <a:t>A ceiling inherited from the source</a:t>
            </a:r>
            <a:endParaRPr lang="en-US" sz="1300" dirty="0"/>
          </a:p>
        </p:txBody>
      </p:sp>
      <p:sp>
        <p:nvSpPr>
          <p:cNvPr id="8" name="Text 6"/>
          <p:cNvSpPr txBox="1"/>
          <p:nvPr/>
        </p:nvSpPr>
        <p:spPr>
          <a:xfrm>
            <a:off x="4892040" y="2450592"/>
            <a:ext cx="6641287" cy="868680"/>
          </a:xfrm>
          <a:prstGeom prst="rect">
            <a:avLst/>
          </a:prstGeom>
          <a:noFill/>
          <a:ln/>
        </p:spPr>
        <p:txBody>
          <a:bodyPr wrap="square" lIns="0" tIns="0" rIns="0" bIns="0" rtlCol="0" anchor="ctr"/>
          <a:lstStyle/>
          <a:p>
            <a:pPr indent="0" marL="0">
              <a:lnSpc>
                <a:spcPts val="1650"/>
              </a:lnSpc>
              <a:buNone/>
            </a:pPr>
            <a:r>
              <a:rPr lang="en-US" sz="1150" dirty="0">
                <a:solidFill>
                  <a:srgbClr val="6A6875"/>
                </a:solidFill>
                <a:latin typeface="Calibri" pitchFamily="34" charset="0"/>
                <a:ea typeface="Calibri" pitchFamily="34" charset="-122"/>
                <a:cs typeface="Calibri" pitchFamily="34" charset="-120"/>
              </a:rPr>
              <a:t>She states her own position plainly — largely self-taught, doing a master’s, not an expert. Anything built on the corpus inherits that and should not present itself as clinical guidance.</a:t>
            </a:r>
            <a:endParaRPr lang="en-US" sz="1150" dirty="0"/>
          </a:p>
        </p:txBody>
      </p:sp>
      <p:sp>
        <p:nvSpPr>
          <p:cNvPr id="9" name="Text 7"/>
          <p:cNvSpPr txBox="1"/>
          <p:nvPr/>
        </p:nvSpPr>
        <p:spPr>
          <a:xfrm>
            <a:off x="658368" y="3419856"/>
            <a:ext cx="3931920" cy="566928"/>
          </a:xfrm>
          <a:prstGeom prst="rect">
            <a:avLst/>
          </a:prstGeom>
          <a:noFill/>
          <a:ln/>
        </p:spPr>
        <p:txBody>
          <a:bodyPr wrap="square" lIns="0" tIns="0" rIns="0" bIns="0" rtlCol="0" anchor="ctr"/>
          <a:lstStyle/>
          <a:p>
            <a:pPr indent="0" marL="0">
              <a:lnSpc>
                <a:spcPts val="1650"/>
              </a:lnSpc>
              <a:buNone/>
            </a:pPr>
            <a:r>
              <a:rPr lang="en-US" sz="1300" b="1" dirty="0">
                <a:solidFill>
                  <a:srgbClr val="22222A"/>
                </a:solidFill>
                <a:latin typeface="Calibri" pitchFamily="34" charset="0"/>
                <a:ea typeface="Calibri" pitchFamily="34" charset="-122"/>
                <a:cs typeface="Calibri" pitchFamily="34" charset="-120"/>
              </a:rPr>
              <a:t>103 nodes marked "literature" are unverified</a:t>
            </a:r>
            <a:endParaRPr lang="en-US" sz="1300" dirty="0"/>
          </a:p>
        </p:txBody>
      </p:sp>
      <p:sp>
        <p:nvSpPr>
          <p:cNvPr id="10" name="Text 8"/>
          <p:cNvSpPr txBox="1"/>
          <p:nvPr/>
        </p:nvSpPr>
        <p:spPr>
          <a:xfrm>
            <a:off x="4892040" y="3419856"/>
            <a:ext cx="6641287" cy="868680"/>
          </a:xfrm>
          <a:prstGeom prst="rect">
            <a:avLst/>
          </a:prstGeom>
          <a:noFill/>
          <a:ln/>
        </p:spPr>
        <p:txBody>
          <a:bodyPr wrap="square" lIns="0" tIns="0" rIns="0" bIns="0" rtlCol="0" anchor="ctr"/>
          <a:lstStyle/>
          <a:p>
            <a:pPr indent="0" marL="0">
              <a:lnSpc>
                <a:spcPts val="1650"/>
              </a:lnSpc>
              <a:buNone/>
            </a:pPr>
            <a:r>
              <a:rPr lang="en-US" sz="1150" dirty="0">
                <a:solidFill>
                  <a:srgbClr val="6A6875"/>
                </a:solidFill>
                <a:latin typeface="Calibri" pitchFamily="34" charset="0"/>
                <a:ea typeface="Calibri" pitchFamily="34" charset="-122"/>
                <a:cs typeface="Calibri" pitchFamily="34" charset="-120"/>
              </a:rPr>
              <a:t>They are labelled as standard attachment theory because she presents them that way. Checking them against the primary literature is parked, deliberately, and the label says where an idea came from — not how well established it is.</a:t>
            </a:r>
            <a:endParaRPr lang="en-US" sz="1150" dirty="0"/>
          </a:p>
        </p:txBody>
      </p:sp>
      <p:sp>
        <p:nvSpPr>
          <p:cNvPr id="11" name="Text 9"/>
          <p:cNvSpPr txBox="1"/>
          <p:nvPr/>
        </p:nvSpPr>
        <p:spPr>
          <a:xfrm>
            <a:off x="658368" y="4389120"/>
            <a:ext cx="3931920" cy="566928"/>
          </a:xfrm>
          <a:prstGeom prst="rect">
            <a:avLst/>
          </a:prstGeom>
          <a:noFill/>
          <a:ln/>
        </p:spPr>
        <p:txBody>
          <a:bodyPr wrap="square" lIns="0" tIns="0" rIns="0" bIns="0" rtlCol="0" anchor="ctr"/>
          <a:lstStyle/>
          <a:p>
            <a:pPr indent="0" marL="0">
              <a:lnSpc>
                <a:spcPts val="1650"/>
              </a:lnSpc>
              <a:buNone/>
            </a:pPr>
            <a:r>
              <a:rPr lang="en-US" sz="1300" b="1" dirty="0">
                <a:solidFill>
                  <a:srgbClr val="22222A"/>
                </a:solidFill>
                <a:latin typeface="Calibri" pitchFamily="34" charset="0"/>
                <a:ea typeface="Calibri" pitchFamily="34" charset="-122"/>
                <a:cs typeface="Calibri" pitchFamily="34" charset="-120"/>
              </a:rPr>
              <a:t>Not a diagnosis, not a test</a:t>
            </a:r>
            <a:endParaRPr lang="en-US" sz="1300" dirty="0"/>
          </a:p>
        </p:txBody>
      </p:sp>
      <p:sp>
        <p:nvSpPr>
          <p:cNvPr id="12" name="Text 10"/>
          <p:cNvSpPr txBox="1"/>
          <p:nvPr/>
        </p:nvSpPr>
        <p:spPr>
          <a:xfrm>
            <a:off x="4892040" y="4389120"/>
            <a:ext cx="6641287" cy="868680"/>
          </a:xfrm>
          <a:prstGeom prst="rect">
            <a:avLst/>
          </a:prstGeom>
          <a:noFill/>
          <a:ln/>
        </p:spPr>
        <p:txBody>
          <a:bodyPr wrap="square" lIns="0" tIns="0" rIns="0" bIns="0" rtlCol="0" anchor="ctr"/>
          <a:lstStyle/>
          <a:p>
            <a:pPr indent="0" marL="0">
              <a:lnSpc>
                <a:spcPts val="1650"/>
              </a:lnSpc>
              <a:buNone/>
            </a:pPr>
            <a:r>
              <a:rPr lang="en-US" sz="1150" dirty="0">
                <a:solidFill>
                  <a:srgbClr val="6A6875"/>
                </a:solidFill>
                <a:latin typeface="Calibri" pitchFamily="34" charset="0"/>
                <a:ea typeface="Calibri" pitchFamily="34" charset="-122"/>
                <a:cs typeface="Calibri" pitchFamily="34" charset="-120"/>
              </a:rPr>
              <a:t>Nothing outputs a category. If it ever does, that is a bug in something built on it, not a feature of the graph.</a:t>
            </a:r>
            <a:endParaRPr lang="en-US" sz="1150" dirty="0"/>
          </a:p>
        </p:txBody>
      </p:sp>
      <p:sp>
        <p:nvSpPr>
          <p:cNvPr id="13" name="Text 11"/>
          <p:cNvSpPr txBox="1"/>
          <p:nvPr/>
        </p:nvSpPr>
        <p:spPr>
          <a:xfrm>
            <a:off x="658368" y="5358384"/>
            <a:ext cx="3931920" cy="566928"/>
          </a:xfrm>
          <a:prstGeom prst="rect">
            <a:avLst/>
          </a:prstGeom>
          <a:noFill/>
          <a:ln/>
        </p:spPr>
        <p:txBody>
          <a:bodyPr wrap="square" lIns="0" tIns="0" rIns="0" bIns="0" rtlCol="0" anchor="ctr"/>
          <a:lstStyle/>
          <a:p>
            <a:pPr indent="0" marL="0">
              <a:lnSpc>
                <a:spcPts val="1650"/>
              </a:lnSpc>
              <a:buNone/>
            </a:pPr>
            <a:r>
              <a:rPr lang="en-US" sz="1300" b="1" dirty="0">
                <a:solidFill>
                  <a:srgbClr val="22222A"/>
                </a:solidFill>
                <a:latin typeface="Calibri" pitchFamily="34" charset="0"/>
                <a:ea typeface="Calibri" pitchFamily="34" charset="-122"/>
                <a:cs typeface="Calibri" pitchFamily="34" charset="-120"/>
              </a:rPr>
              <a:t>Derivative, and dependent</a:t>
            </a:r>
            <a:endParaRPr lang="en-US" sz="1300" dirty="0"/>
          </a:p>
        </p:txBody>
      </p:sp>
      <p:sp>
        <p:nvSpPr>
          <p:cNvPr id="14" name="Text 12"/>
          <p:cNvSpPr txBox="1"/>
          <p:nvPr/>
        </p:nvSpPr>
        <p:spPr>
          <a:xfrm>
            <a:off x="4892040" y="5358384"/>
            <a:ext cx="6641287" cy="868680"/>
          </a:xfrm>
          <a:prstGeom prst="rect">
            <a:avLst/>
          </a:prstGeom>
          <a:noFill/>
          <a:ln/>
        </p:spPr>
        <p:txBody>
          <a:bodyPr wrap="square" lIns="0" tIns="0" rIns="0" bIns="0" rtlCol="0" anchor="ctr"/>
          <a:lstStyle/>
          <a:p>
            <a:pPr indent="0" marL="0">
              <a:lnSpc>
                <a:spcPts val="1650"/>
              </a:lnSpc>
              <a:buNone/>
            </a:pPr>
            <a:r>
              <a:rPr lang="en-US" sz="1150" dirty="0">
                <a:solidFill>
                  <a:srgbClr val="6A6875"/>
                </a:solidFill>
                <a:latin typeface="Calibri" pitchFamily="34" charset="0"/>
                <a:ea typeface="Calibri" pitchFamily="34" charset="-122"/>
                <a:cs typeface="Calibri" pitchFamily="34" charset="-120"/>
              </a:rPr>
              <a:t>This is an index into her work built to help someone re-find it, not to replace watching it. All credit for the ideas is hers.</a:t>
            </a:r>
            <a:endParaRPr lang="en-US" sz="1150" dirty="0"/>
          </a:p>
        </p:txBody>
      </p:sp>
      <p:sp>
        <p:nvSpPr>
          <p:cNvPr id="15" name="Text 13"/>
          <p:cNvSpPr txBox="1"/>
          <p:nvPr/>
        </p:nvSpPr>
        <p:spPr>
          <a:xfrm>
            <a:off x="658368" y="6217920"/>
            <a:ext cx="10874959" cy="365760"/>
          </a:xfrm>
          <a:prstGeom prst="rect">
            <a:avLst/>
          </a:prstGeom>
          <a:noFill/>
          <a:ln/>
        </p:spPr>
        <p:txBody>
          <a:bodyPr wrap="square" lIns="0" tIns="0" rIns="0" bIns="0" rtlCol="0" anchor="ctr"/>
          <a:lstStyle/>
          <a:p>
            <a:pPr indent="0" marL="0">
              <a:buNone/>
            </a:pPr>
            <a:r>
              <a:rPr lang="en-US" sz="1150" i="1" dirty="0">
                <a:solidFill>
                  <a:srgbClr val="807C8A"/>
                </a:solidFill>
                <a:latin typeface="Calibri" pitchFamily="34" charset="0"/>
                <a:ea typeface="Calibri" pitchFamily="34" charset="-122"/>
                <a:cs typeface="Calibri" pitchFamily="34" charset="-120"/>
              </a:rPr>
              <a:t>Attachment styles are a framework for self-understanding, not a diagnosis, a personality type, or a fixed trait. Nothing here is therapy or a substitute for it.</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161C"/>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52505C"/>
                </a:solidFill>
                <a:latin typeface="Calibri" pitchFamily="34" charset="0"/>
                <a:ea typeface="Calibri" pitchFamily="34" charset="-122"/>
                <a:cs typeface="Calibri" pitchFamily="34" charset="-120"/>
              </a:rPr>
              <a:t>18</a:t>
            </a:r>
            <a:endParaRPr lang="en-US" sz="900" dirty="0"/>
          </a:p>
        </p:txBody>
      </p:sp>
      <p:sp>
        <p:nvSpPr>
          <p:cNvPr id="3" name="Text 1"/>
          <p:cNvSpPr txBox="1"/>
          <p:nvPr/>
        </p:nvSpPr>
        <p:spPr>
          <a:xfrm>
            <a:off x="658368" y="2395728"/>
            <a:ext cx="7315200" cy="457200"/>
          </a:xfrm>
          <a:prstGeom prst="rect">
            <a:avLst/>
          </a:prstGeom>
          <a:noFill/>
          <a:ln/>
        </p:spPr>
        <p:txBody>
          <a:bodyPr wrap="square" lIns="0" tIns="0" rIns="0" bIns="0" rtlCol="0" anchor="ctr"/>
          <a:lstStyle/>
          <a:p>
            <a:pPr indent="0" marL="0">
              <a:buNone/>
            </a:pPr>
            <a:r>
              <a:rPr lang="en-US" sz="1700" b="1" spc="140" kern="0" dirty="0">
                <a:solidFill>
                  <a:srgbClr val="9E86E8"/>
                </a:solidFill>
                <a:latin typeface="Calibri" pitchFamily="34" charset="0"/>
                <a:ea typeface="Calibri" pitchFamily="34" charset="-122"/>
                <a:cs typeface="Calibri" pitchFamily="34" charset="-120"/>
              </a:rPr>
              <a:t>Part two</a:t>
            </a:r>
            <a:endParaRPr lang="en-US" sz="1700" dirty="0"/>
          </a:p>
        </p:txBody>
      </p:sp>
      <p:sp>
        <p:nvSpPr>
          <p:cNvPr id="4" name="Text 2"/>
          <p:cNvSpPr txBox="1"/>
          <p:nvPr/>
        </p:nvSpPr>
        <p:spPr>
          <a:xfrm>
            <a:off x="658368" y="2834640"/>
            <a:ext cx="82296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Inside the graph</a:t>
            </a:r>
            <a:endParaRPr lang="en-US" sz="4400" dirty="0"/>
          </a:p>
        </p:txBody>
      </p:sp>
      <p:sp>
        <p:nvSpPr>
          <p:cNvPr id="5" name="Text 3"/>
          <p:cNvSpPr txBox="1"/>
          <p:nvPr/>
        </p:nvSpPr>
        <p:spPr>
          <a:xfrm>
            <a:off x="658368" y="3977640"/>
            <a:ext cx="6949440" cy="822960"/>
          </a:xfrm>
          <a:prstGeom prst="rect">
            <a:avLst/>
          </a:prstGeom>
          <a:noFill/>
          <a:ln/>
        </p:spPr>
        <p:txBody>
          <a:bodyPr wrap="square" lIns="0" tIns="0" rIns="0" bIns="0" rtlCol="0" anchor="ctr"/>
          <a:lstStyle/>
          <a:p>
            <a:pPr indent="0" marL="0">
              <a:lnSpc>
                <a:spcPts val="2100"/>
              </a:lnSpc>
              <a:buNone/>
            </a:pPr>
            <a:r>
              <a:rPr lang="en-US" sz="1400" dirty="0">
                <a:solidFill>
                  <a:srgbClr val="9C98A8"/>
                </a:solidFill>
                <a:latin typeface="Calibri" pitchFamily="34" charset="0"/>
                <a:ea typeface="Calibri" pitchFamily="34" charset="-122"/>
                <a:cs typeface="Calibri" pitchFamily="34" charset="-120"/>
              </a:rPr>
              <a:t>The loops the material actually forms, and the nodes that carry the most of it. Every gloss from here on is the note’s own first sentence, and every number is read out of the graph.</a:t>
            </a:r>
            <a:endParaRPr lang="en-US" sz="1400" dirty="0"/>
          </a:p>
        </p:txBody>
      </p:sp>
      <p:sp>
        <p:nvSpPr>
          <p:cNvPr id="6" name="Shape 4"/>
          <p:cNvSpPr/>
          <p:nvPr/>
        </p:nvSpPr>
        <p:spPr>
          <a:xfrm>
            <a:off x="658368" y="5120640"/>
            <a:ext cx="201168" cy="201168"/>
          </a:xfrm>
          <a:prstGeom prst="ellipse">
            <a:avLst/>
          </a:prstGeom>
          <a:solidFill>
            <a:srgbClr val="F2643E"/>
          </a:solidFill>
          <a:ln w="12700">
            <a:solidFill>
              <a:srgbClr val="333333"/>
            </a:solidFill>
            <a:prstDash val="solid"/>
          </a:ln>
        </p:spPr>
      </p:sp>
      <p:sp>
        <p:nvSpPr>
          <p:cNvPr id="7" name="Shape 5"/>
          <p:cNvSpPr/>
          <p:nvPr/>
        </p:nvSpPr>
        <p:spPr>
          <a:xfrm>
            <a:off x="987552" y="5120640"/>
            <a:ext cx="201168" cy="201168"/>
          </a:xfrm>
          <a:prstGeom prst="ellipse">
            <a:avLst/>
          </a:prstGeom>
          <a:solidFill>
            <a:srgbClr val="EDA72C"/>
          </a:solidFill>
          <a:ln w="12700">
            <a:solidFill>
              <a:srgbClr val="333333"/>
            </a:solidFill>
            <a:prstDash val="solid"/>
          </a:ln>
        </p:spPr>
      </p:sp>
      <p:sp>
        <p:nvSpPr>
          <p:cNvPr id="8" name="Shape 6"/>
          <p:cNvSpPr/>
          <p:nvPr/>
        </p:nvSpPr>
        <p:spPr>
          <a:xfrm>
            <a:off x="1316736" y="5120640"/>
            <a:ext cx="201168" cy="201168"/>
          </a:xfrm>
          <a:prstGeom prst="ellipse">
            <a:avLst/>
          </a:prstGeom>
          <a:solidFill>
            <a:srgbClr val="E04F86"/>
          </a:solidFill>
          <a:ln w="12700">
            <a:solidFill>
              <a:srgbClr val="333333"/>
            </a:solidFill>
            <a:prstDash val="solid"/>
          </a:ln>
        </p:spPr>
      </p:sp>
      <p:sp>
        <p:nvSpPr>
          <p:cNvPr id="9" name="Shape 7"/>
          <p:cNvSpPr/>
          <p:nvPr/>
        </p:nvSpPr>
        <p:spPr>
          <a:xfrm>
            <a:off x="1645920" y="5120640"/>
            <a:ext cx="201168" cy="201168"/>
          </a:xfrm>
          <a:prstGeom prst="ellipse">
            <a:avLst/>
          </a:prstGeom>
          <a:solidFill>
            <a:srgbClr val="C56AD9"/>
          </a:solidFill>
          <a:ln w="12700">
            <a:solidFill>
              <a:srgbClr val="333333"/>
            </a:solidFill>
            <a:prstDash val="solid"/>
          </a:ln>
        </p:spPr>
      </p:sp>
      <p:sp>
        <p:nvSpPr>
          <p:cNvPr id="10" name="Shape 8"/>
          <p:cNvSpPr/>
          <p:nvPr/>
        </p:nvSpPr>
        <p:spPr>
          <a:xfrm>
            <a:off x="1975104" y="5120640"/>
            <a:ext cx="201168" cy="201168"/>
          </a:xfrm>
          <a:prstGeom prst="ellipse">
            <a:avLst/>
          </a:prstGeom>
          <a:solidFill>
            <a:srgbClr val="5B83E8"/>
          </a:solidFill>
          <a:ln w="12700">
            <a:solidFill>
              <a:srgbClr val="333333"/>
            </a:solidFill>
            <a:prstDash val="solid"/>
          </a:ln>
        </p:spPr>
      </p:sp>
      <p:sp>
        <p:nvSpPr>
          <p:cNvPr id="11" name="Shape 9"/>
          <p:cNvSpPr/>
          <p:nvPr/>
        </p:nvSpPr>
        <p:spPr>
          <a:xfrm>
            <a:off x="2304288" y="5120640"/>
            <a:ext cx="201168" cy="201168"/>
          </a:xfrm>
          <a:prstGeom prst="ellipse">
            <a:avLst/>
          </a:prstGeom>
          <a:solidFill>
            <a:srgbClr val="3C5FA8"/>
          </a:solidFill>
          <a:ln w="12700">
            <a:solidFill>
              <a:srgbClr val="333333"/>
            </a:solidFill>
            <a:prstDash val="solid"/>
          </a:ln>
        </p:spPr>
      </p:sp>
      <p:sp>
        <p:nvSpPr>
          <p:cNvPr id="12" name="Shape 10"/>
          <p:cNvSpPr/>
          <p:nvPr/>
        </p:nvSpPr>
        <p:spPr>
          <a:xfrm>
            <a:off x="2633472" y="5120640"/>
            <a:ext cx="201168" cy="201168"/>
          </a:xfrm>
          <a:prstGeom prst="ellipse">
            <a:avLst/>
          </a:prstGeom>
          <a:solidFill>
            <a:srgbClr val="5BB84F"/>
          </a:solidFill>
          <a:ln w="12700">
            <a:solidFill>
              <a:srgbClr val="333333"/>
            </a:solidFill>
            <a:prstDash val="solid"/>
          </a:ln>
        </p:spPr>
      </p:sp>
      <p:sp>
        <p:nvSpPr>
          <p:cNvPr id="13" name="Shape 11"/>
          <p:cNvSpPr/>
          <p:nvPr/>
        </p:nvSpPr>
        <p:spPr>
          <a:xfrm>
            <a:off x="2962656" y="5120640"/>
            <a:ext cx="201168" cy="201168"/>
          </a:xfrm>
          <a:prstGeom prst="ellipse">
            <a:avLst/>
          </a:prstGeom>
          <a:solidFill>
            <a:srgbClr val="2BB0A3"/>
          </a:solidFill>
          <a:ln w="12700">
            <a:solidFill>
              <a:srgbClr val="333333"/>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807C8A"/>
                </a:solidFill>
                <a:latin typeface="Calibri" pitchFamily="34" charset="0"/>
                <a:ea typeface="Calibri" pitchFamily="34" charset="-122"/>
                <a:cs typeface="Calibri" pitchFamily="34" charset="-120"/>
              </a:rPr>
              <a:t>19</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7B4BD8"/>
                </a:solidFill>
                <a:latin typeface="Calibri" pitchFamily="34" charset="0"/>
                <a:ea typeface="Calibri" pitchFamily="34" charset="-122"/>
                <a:cs typeface="Calibri" pitchFamily="34" charset="-120"/>
              </a:rPr>
              <a:t>THE VOCABULARY</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200" b="1" dirty="0">
                <a:solidFill>
                  <a:srgbClr val="22222A"/>
                </a:solidFill>
                <a:latin typeface="Cambria" pitchFamily="34" charset="0"/>
                <a:ea typeface="Cambria" pitchFamily="34" charset="-122"/>
                <a:cs typeface="Cambria" pitchFamily="34" charset="-120"/>
              </a:rPr>
              <a:t>Eleven kinds of node</a:t>
            </a:r>
            <a:endParaRPr lang="en-US" sz="3200" dirty="0"/>
          </a:p>
        </p:txBody>
      </p:sp>
      <p:sp>
        <p:nvSpPr>
          <p:cNvPr id="5" name="Text 3"/>
          <p:cNvSpPr txBox="1"/>
          <p:nvPr/>
        </p:nvSpPr>
        <p:spPr>
          <a:xfrm>
            <a:off x="658368" y="1609344"/>
            <a:ext cx="8482468" cy="365760"/>
          </a:xfrm>
          <a:prstGeom prst="rect">
            <a:avLst/>
          </a:prstGeom>
          <a:noFill/>
          <a:ln/>
        </p:spPr>
        <p:txBody>
          <a:bodyPr wrap="square" lIns="0" tIns="0" rIns="0" bIns="0" rtlCol="0" anchor="ctr"/>
          <a:lstStyle/>
          <a:p>
            <a:pPr indent="0" marL="0">
              <a:lnSpc>
                <a:spcPts val="2100"/>
              </a:lnSpc>
              <a:buNone/>
            </a:pPr>
            <a:r>
              <a:rPr lang="en-US" sz="1450" dirty="0">
                <a:solidFill>
                  <a:srgbClr val="6A6875"/>
                </a:solidFill>
                <a:latin typeface="Calibri" pitchFamily="34" charset="0"/>
                <a:ea typeface="Calibri" pitchFamily="34" charset="-122"/>
                <a:cs typeface="Calibri" pitchFamily="34" charset="-120"/>
              </a:rPr>
              <a:t>A closed list. Nothing gets written into the graph that does not fit it, and the validator refuses anything that does not.</a:t>
            </a:r>
            <a:endParaRPr lang="en-US" sz="1450" dirty="0"/>
          </a:p>
        </p:txBody>
      </p:sp>
      <p:sp>
        <p:nvSpPr>
          <p:cNvPr id="6" name="Shape 4"/>
          <p:cNvSpPr/>
          <p:nvPr/>
        </p:nvSpPr>
        <p:spPr>
          <a:xfrm>
            <a:off x="658368" y="2340864"/>
            <a:ext cx="182880" cy="182880"/>
          </a:xfrm>
          <a:prstGeom prst="ellipse">
            <a:avLst/>
          </a:prstGeom>
          <a:solidFill>
            <a:srgbClr val="F2643E"/>
          </a:solidFill>
          <a:ln w="12700">
            <a:solidFill>
              <a:srgbClr val="333333"/>
            </a:solidFill>
            <a:prstDash val="solid"/>
          </a:ln>
        </p:spPr>
      </p:sp>
      <p:sp>
        <p:nvSpPr>
          <p:cNvPr id="7" name="Text 5"/>
          <p:cNvSpPr txBox="1"/>
          <p:nvPr/>
        </p:nvSpPr>
        <p:spPr>
          <a:xfrm>
            <a:off x="950976" y="2286000"/>
            <a:ext cx="3200400" cy="256032"/>
          </a:xfrm>
          <a:prstGeom prst="rect">
            <a:avLst/>
          </a:prstGeom>
          <a:noFill/>
          <a:ln/>
        </p:spPr>
        <p:txBody>
          <a:bodyPr wrap="square" lIns="0" tIns="0" rIns="0" bIns="0" rtlCol="0" anchor="ctr"/>
          <a:lstStyle/>
          <a:p>
            <a:pPr indent="0" marL="0">
              <a:buNone/>
            </a:pPr>
            <a:r>
              <a:rPr lang="en-US" sz="1400" b="1" dirty="0">
                <a:solidFill>
                  <a:srgbClr val="22222A"/>
                </a:solidFill>
                <a:latin typeface="Calibri" pitchFamily="34" charset="0"/>
                <a:ea typeface="Calibri" pitchFamily="34" charset="-122"/>
                <a:cs typeface="Calibri" pitchFamily="34" charset="-120"/>
              </a:rPr>
              <a:t>trigger</a:t>
            </a:r>
            <a:pPr indent="0" marL="0">
              <a:buNone/>
            </a:pPr>
            <a:r>
              <a:rPr lang="en-US" sz="1200" b="1" dirty="0">
                <a:solidFill>
                  <a:srgbClr val="F2643E"/>
                </a:solidFill>
                <a:latin typeface="Calibri" pitchFamily="34" charset="0"/>
                <a:ea typeface="Calibri" pitchFamily="34" charset="-122"/>
                <a:cs typeface="Calibri" pitchFamily="34" charset="-120"/>
              </a:rPr>
              <a:t>   4</a:t>
            </a:r>
            <a:endParaRPr lang="en-US" sz="1400" dirty="0"/>
          </a:p>
        </p:txBody>
      </p:sp>
      <p:sp>
        <p:nvSpPr>
          <p:cNvPr id="8" name="Text 6"/>
          <p:cNvSpPr txBox="1"/>
          <p:nvPr/>
        </p:nvSpPr>
        <p:spPr>
          <a:xfrm>
            <a:off x="950976" y="2560320"/>
            <a:ext cx="3200400" cy="502920"/>
          </a:xfrm>
          <a:prstGeom prst="rect">
            <a:avLst/>
          </a:prstGeom>
          <a:noFill/>
          <a:ln/>
        </p:spPr>
        <p:txBody>
          <a:bodyPr wrap="square" lIns="0" tIns="0" rIns="0" bIns="0" rtlCol="0" anchor="ctr"/>
          <a:lstStyle/>
          <a:p>
            <a:pPr indent="0" marL="0">
              <a:lnSpc>
                <a:spcPts val="1500"/>
              </a:lnSpc>
              <a:buNone/>
            </a:pPr>
            <a:r>
              <a:rPr lang="en-US" sz="1100" dirty="0">
                <a:solidFill>
                  <a:srgbClr val="6A6875"/>
                </a:solidFill>
                <a:latin typeface="Calibri" pitchFamily="34" charset="0"/>
                <a:ea typeface="Calibri" pitchFamily="34" charset="-122"/>
                <a:cs typeface="Calibri" pitchFamily="34" charset="-120"/>
              </a:rPr>
              <a:t>What sets the system off</a:t>
            </a:r>
            <a:endParaRPr lang="en-US" sz="1100" dirty="0"/>
          </a:p>
        </p:txBody>
      </p:sp>
      <p:sp>
        <p:nvSpPr>
          <p:cNvPr id="9" name="Shape 7"/>
          <p:cNvSpPr/>
          <p:nvPr/>
        </p:nvSpPr>
        <p:spPr>
          <a:xfrm>
            <a:off x="4453128" y="2340864"/>
            <a:ext cx="182880" cy="182880"/>
          </a:xfrm>
          <a:prstGeom prst="ellipse">
            <a:avLst/>
          </a:prstGeom>
          <a:solidFill>
            <a:srgbClr val="EDA72C"/>
          </a:solidFill>
          <a:ln w="12700">
            <a:solidFill>
              <a:srgbClr val="333333"/>
            </a:solidFill>
            <a:prstDash val="solid"/>
          </a:ln>
        </p:spPr>
      </p:sp>
      <p:sp>
        <p:nvSpPr>
          <p:cNvPr id="10" name="Text 8"/>
          <p:cNvSpPr txBox="1"/>
          <p:nvPr/>
        </p:nvSpPr>
        <p:spPr>
          <a:xfrm>
            <a:off x="4745736" y="2286000"/>
            <a:ext cx="3200400" cy="256032"/>
          </a:xfrm>
          <a:prstGeom prst="rect">
            <a:avLst/>
          </a:prstGeom>
          <a:noFill/>
          <a:ln/>
        </p:spPr>
        <p:txBody>
          <a:bodyPr wrap="square" lIns="0" tIns="0" rIns="0" bIns="0" rtlCol="0" anchor="ctr"/>
          <a:lstStyle/>
          <a:p>
            <a:pPr indent="0" marL="0">
              <a:buNone/>
            </a:pPr>
            <a:r>
              <a:rPr lang="en-US" sz="1400" b="1" dirty="0">
                <a:solidFill>
                  <a:srgbClr val="22222A"/>
                </a:solidFill>
                <a:latin typeface="Calibri" pitchFamily="34" charset="0"/>
                <a:ea typeface="Calibri" pitchFamily="34" charset="-122"/>
                <a:cs typeface="Calibri" pitchFamily="34" charset="-120"/>
              </a:rPr>
              <a:t>state</a:t>
            </a:r>
            <a:pPr indent="0" marL="0">
              <a:buNone/>
            </a:pPr>
            <a:r>
              <a:rPr lang="en-US" sz="1200" b="1" dirty="0">
                <a:solidFill>
                  <a:srgbClr val="EDA72C"/>
                </a:solidFill>
                <a:latin typeface="Calibri" pitchFamily="34" charset="0"/>
                <a:ea typeface="Calibri" pitchFamily="34" charset="-122"/>
                <a:cs typeface="Calibri" pitchFamily="34" charset="-120"/>
              </a:rPr>
              <a:t>   29</a:t>
            </a:r>
            <a:endParaRPr lang="en-US" sz="1400" dirty="0"/>
          </a:p>
        </p:txBody>
      </p:sp>
      <p:sp>
        <p:nvSpPr>
          <p:cNvPr id="11" name="Text 9"/>
          <p:cNvSpPr txBox="1"/>
          <p:nvPr/>
        </p:nvSpPr>
        <p:spPr>
          <a:xfrm>
            <a:off x="4745736" y="2560320"/>
            <a:ext cx="3200400" cy="502920"/>
          </a:xfrm>
          <a:prstGeom prst="rect">
            <a:avLst/>
          </a:prstGeom>
          <a:noFill/>
          <a:ln/>
        </p:spPr>
        <p:txBody>
          <a:bodyPr wrap="square" lIns="0" tIns="0" rIns="0" bIns="0" rtlCol="0" anchor="ctr"/>
          <a:lstStyle/>
          <a:p>
            <a:pPr indent="0" marL="0">
              <a:lnSpc>
                <a:spcPts val="1500"/>
              </a:lnSpc>
              <a:buNone/>
            </a:pPr>
            <a:r>
              <a:rPr lang="en-US" sz="1100" dirty="0">
                <a:solidFill>
                  <a:srgbClr val="6A6875"/>
                </a:solidFill>
                <a:latin typeface="Calibri" pitchFamily="34" charset="0"/>
                <a:ea typeface="Calibri" pitchFamily="34" charset="-122"/>
                <a:cs typeface="Calibri" pitchFamily="34" charset="-120"/>
              </a:rPr>
              <a:t>What is felt underneath</a:t>
            </a:r>
            <a:endParaRPr lang="en-US" sz="1100" dirty="0"/>
          </a:p>
        </p:txBody>
      </p:sp>
      <p:sp>
        <p:nvSpPr>
          <p:cNvPr id="12" name="Shape 10"/>
          <p:cNvSpPr/>
          <p:nvPr/>
        </p:nvSpPr>
        <p:spPr>
          <a:xfrm>
            <a:off x="8247888" y="2340864"/>
            <a:ext cx="182880" cy="182880"/>
          </a:xfrm>
          <a:prstGeom prst="ellipse">
            <a:avLst/>
          </a:prstGeom>
          <a:solidFill>
            <a:srgbClr val="E04F86"/>
          </a:solidFill>
          <a:ln w="12700">
            <a:solidFill>
              <a:srgbClr val="333333"/>
            </a:solidFill>
            <a:prstDash val="solid"/>
          </a:ln>
        </p:spPr>
      </p:sp>
      <p:sp>
        <p:nvSpPr>
          <p:cNvPr id="13" name="Text 11"/>
          <p:cNvSpPr txBox="1"/>
          <p:nvPr/>
        </p:nvSpPr>
        <p:spPr>
          <a:xfrm>
            <a:off x="8540496" y="2286000"/>
            <a:ext cx="3200400" cy="256032"/>
          </a:xfrm>
          <a:prstGeom prst="rect">
            <a:avLst/>
          </a:prstGeom>
          <a:noFill/>
          <a:ln/>
        </p:spPr>
        <p:txBody>
          <a:bodyPr wrap="square" lIns="0" tIns="0" rIns="0" bIns="0" rtlCol="0" anchor="ctr"/>
          <a:lstStyle/>
          <a:p>
            <a:pPr indent="0" marL="0">
              <a:buNone/>
            </a:pPr>
            <a:r>
              <a:rPr lang="en-US" sz="1400" b="1" dirty="0">
                <a:solidFill>
                  <a:srgbClr val="22222A"/>
                </a:solidFill>
                <a:latin typeface="Calibri" pitchFamily="34" charset="0"/>
                <a:ea typeface="Calibri" pitchFamily="34" charset="-122"/>
                <a:cs typeface="Calibri" pitchFamily="34" charset="-120"/>
              </a:rPr>
              <a:t>strategy</a:t>
            </a:r>
            <a:pPr indent="0" marL="0">
              <a:buNone/>
            </a:pPr>
            <a:r>
              <a:rPr lang="en-US" sz="1200" b="1" dirty="0">
                <a:solidFill>
                  <a:srgbClr val="E04F86"/>
                </a:solidFill>
                <a:latin typeface="Calibri" pitchFamily="34" charset="0"/>
                <a:ea typeface="Calibri" pitchFamily="34" charset="-122"/>
                <a:cs typeface="Calibri" pitchFamily="34" charset="-120"/>
              </a:rPr>
              <a:t>   23</a:t>
            </a:r>
            <a:endParaRPr lang="en-US" sz="1400" dirty="0"/>
          </a:p>
        </p:txBody>
      </p:sp>
      <p:sp>
        <p:nvSpPr>
          <p:cNvPr id="14" name="Text 12"/>
          <p:cNvSpPr txBox="1"/>
          <p:nvPr/>
        </p:nvSpPr>
        <p:spPr>
          <a:xfrm>
            <a:off x="8540496" y="2560320"/>
            <a:ext cx="3200400" cy="502920"/>
          </a:xfrm>
          <a:prstGeom prst="rect">
            <a:avLst/>
          </a:prstGeom>
          <a:noFill/>
          <a:ln/>
        </p:spPr>
        <p:txBody>
          <a:bodyPr wrap="square" lIns="0" tIns="0" rIns="0" bIns="0" rtlCol="0" anchor="ctr"/>
          <a:lstStyle/>
          <a:p>
            <a:pPr indent="0" marL="0">
              <a:lnSpc>
                <a:spcPts val="1500"/>
              </a:lnSpc>
              <a:buNone/>
            </a:pPr>
            <a:r>
              <a:rPr lang="en-US" sz="1100" dirty="0">
                <a:solidFill>
                  <a:srgbClr val="6A6875"/>
                </a:solidFill>
                <a:latin typeface="Calibri" pitchFamily="34" charset="0"/>
                <a:ea typeface="Calibri" pitchFamily="34" charset="-122"/>
                <a:cs typeface="Calibri" pitchFamily="34" charset="-120"/>
              </a:rPr>
              <a:t>What the system does about it</a:t>
            </a:r>
            <a:endParaRPr lang="en-US" sz="1100" dirty="0"/>
          </a:p>
        </p:txBody>
      </p:sp>
      <p:sp>
        <p:nvSpPr>
          <p:cNvPr id="15" name="Shape 13"/>
          <p:cNvSpPr/>
          <p:nvPr/>
        </p:nvSpPr>
        <p:spPr>
          <a:xfrm>
            <a:off x="658368" y="3328416"/>
            <a:ext cx="182880" cy="182880"/>
          </a:xfrm>
          <a:prstGeom prst="ellipse">
            <a:avLst/>
          </a:prstGeom>
          <a:solidFill>
            <a:srgbClr val="C56AD9"/>
          </a:solidFill>
          <a:ln w="12700">
            <a:solidFill>
              <a:srgbClr val="333333"/>
            </a:solidFill>
            <a:prstDash val="solid"/>
          </a:ln>
        </p:spPr>
      </p:sp>
      <p:sp>
        <p:nvSpPr>
          <p:cNvPr id="16" name="Text 14"/>
          <p:cNvSpPr txBox="1"/>
          <p:nvPr/>
        </p:nvSpPr>
        <p:spPr>
          <a:xfrm>
            <a:off x="950976" y="3273552"/>
            <a:ext cx="3200400" cy="256032"/>
          </a:xfrm>
          <a:prstGeom prst="rect">
            <a:avLst/>
          </a:prstGeom>
          <a:noFill/>
          <a:ln/>
        </p:spPr>
        <p:txBody>
          <a:bodyPr wrap="square" lIns="0" tIns="0" rIns="0" bIns="0" rtlCol="0" anchor="ctr"/>
          <a:lstStyle/>
          <a:p>
            <a:pPr indent="0" marL="0">
              <a:buNone/>
            </a:pPr>
            <a:r>
              <a:rPr lang="en-US" sz="1400" b="1" dirty="0">
                <a:solidFill>
                  <a:srgbClr val="22222A"/>
                </a:solidFill>
                <a:latin typeface="Calibri" pitchFamily="34" charset="0"/>
                <a:ea typeface="Calibri" pitchFamily="34" charset="-122"/>
                <a:cs typeface="Calibri" pitchFamily="34" charset="-120"/>
              </a:rPr>
              <a:t>behavior</a:t>
            </a:r>
            <a:pPr indent="0" marL="0">
              <a:buNone/>
            </a:pPr>
            <a:r>
              <a:rPr lang="en-US" sz="1200" b="1" dirty="0">
                <a:solidFill>
                  <a:srgbClr val="C56AD9"/>
                </a:solidFill>
                <a:latin typeface="Calibri" pitchFamily="34" charset="0"/>
                <a:ea typeface="Calibri" pitchFamily="34" charset="-122"/>
                <a:cs typeface="Calibri" pitchFamily="34" charset="-120"/>
              </a:rPr>
              <a:t>   54</a:t>
            </a:r>
            <a:endParaRPr lang="en-US" sz="1400" dirty="0"/>
          </a:p>
        </p:txBody>
      </p:sp>
      <p:sp>
        <p:nvSpPr>
          <p:cNvPr id="17" name="Text 15"/>
          <p:cNvSpPr txBox="1"/>
          <p:nvPr/>
        </p:nvSpPr>
        <p:spPr>
          <a:xfrm>
            <a:off x="950976" y="3547872"/>
            <a:ext cx="3200400" cy="502920"/>
          </a:xfrm>
          <a:prstGeom prst="rect">
            <a:avLst/>
          </a:prstGeom>
          <a:noFill/>
          <a:ln/>
        </p:spPr>
        <p:txBody>
          <a:bodyPr wrap="square" lIns="0" tIns="0" rIns="0" bIns="0" rtlCol="0" anchor="ctr"/>
          <a:lstStyle/>
          <a:p>
            <a:pPr indent="0" marL="0">
              <a:lnSpc>
                <a:spcPts val="1500"/>
              </a:lnSpc>
              <a:buNone/>
            </a:pPr>
            <a:r>
              <a:rPr lang="en-US" sz="1100" dirty="0">
                <a:solidFill>
                  <a:srgbClr val="6A6875"/>
                </a:solidFill>
                <a:latin typeface="Calibri" pitchFamily="34" charset="0"/>
                <a:ea typeface="Calibri" pitchFamily="34" charset="-122"/>
                <a:cs typeface="Calibri" pitchFamily="34" charset="-120"/>
              </a:rPr>
              <a:t>What that looks like from outside</a:t>
            </a:r>
            <a:endParaRPr lang="en-US" sz="1100" dirty="0"/>
          </a:p>
        </p:txBody>
      </p:sp>
      <p:sp>
        <p:nvSpPr>
          <p:cNvPr id="18" name="Shape 16"/>
          <p:cNvSpPr/>
          <p:nvPr/>
        </p:nvSpPr>
        <p:spPr>
          <a:xfrm>
            <a:off x="4453128" y="3328416"/>
            <a:ext cx="182880" cy="182880"/>
          </a:xfrm>
          <a:prstGeom prst="ellipse">
            <a:avLst/>
          </a:prstGeom>
          <a:solidFill>
            <a:srgbClr val="5B83E8"/>
          </a:solidFill>
          <a:ln w="12700">
            <a:solidFill>
              <a:srgbClr val="333333"/>
            </a:solidFill>
            <a:prstDash val="solid"/>
          </a:ln>
        </p:spPr>
      </p:sp>
      <p:sp>
        <p:nvSpPr>
          <p:cNvPr id="19" name="Text 17"/>
          <p:cNvSpPr txBox="1"/>
          <p:nvPr/>
        </p:nvSpPr>
        <p:spPr>
          <a:xfrm>
            <a:off x="4745736" y="3273552"/>
            <a:ext cx="3200400" cy="256032"/>
          </a:xfrm>
          <a:prstGeom prst="rect">
            <a:avLst/>
          </a:prstGeom>
          <a:noFill/>
          <a:ln/>
        </p:spPr>
        <p:txBody>
          <a:bodyPr wrap="square" lIns="0" tIns="0" rIns="0" bIns="0" rtlCol="0" anchor="ctr"/>
          <a:lstStyle/>
          <a:p>
            <a:pPr indent="0" marL="0">
              <a:buNone/>
            </a:pPr>
            <a:r>
              <a:rPr lang="en-US" sz="1400" b="1" dirty="0">
                <a:solidFill>
                  <a:srgbClr val="22222A"/>
                </a:solidFill>
                <a:latin typeface="Calibri" pitchFamily="34" charset="0"/>
                <a:ea typeface="Calibri" pitchFamily="34" charset="-122"/>
                <a:cs typeface="Calibri" pitchFamily="34" charset="-120"/>
              </a:rPr>
              <a:t>belief</a:t>
            </a:r>
            <a:pPr indent="0" marL="0">
              <a:buNone/>
            </a:pPr>
            <a:r>
              <a:rPr lang="en-US" sz="1200" b="1" dirty="0">
                <a:solidFill>
                  <a:srgbClr val="5B83E8"/>
                </a:solidFill>
                <a:latin typeface="Calibri" pitchFamily="34" charset="0"/>
                <a:ea typeface="Calibri" pitchFamily="34" charset="-122"/>
                <a:cs typeface="Calibri" pitchFamily="34" charset="-120"/>
              </a:rPr>
              <a:t>   61</a:t>
            </a:r>
            <a:endParaRPr lang="en-US" sz="1400" dirty="0"/>
          </a:p>
        </p:txBody>
      </p:sp>
      <p:sp>
        <p:nvSpPr>
          <p:cNvPr id="20" name="Text 18"/>
          <p:cNvSpPr txBox="1"/>
          <p:nvPr/>
        </p:nvSpPr>
        <p:spPr>
          <a:xfrm>
            <a:off x="4745736" y="3547872"/>
            <a:ext cx="3200400" cy="502920"/>
          </a:xfrm>
          <a:prstGeom prst="rect">
            <a:avLst/>
          </a:prstGeom>
          <a:noFill/>
          <a:ln/>
        </p:spPr>
        <p:txBody>
          <a:bodyPr wrap="square" lIns="0" tIns="0" rIns="0" bIns="0" rtlCol="0" anchor="ctr"/>
          <a:lstStyle/>
          <a:p>
            <a:pPr indent="0" marL="0">
              <a:lnSpc>
                <a:spcPts val="1500"/>
              </a:lnSpc>
              <a:buNone/>
            </a:pPr>
            <a:r>
              <a:rPr lang="en-US" sz="1100" dirty="0">
                <a:solidFill>
                  <a:srgbClr val="6A6875"/>
                </a:solidFill>
                <a:latin typeface="Calibri" pitchFamily="34" charset="0"/>
                <a:ea typeface="Calibri" pitchFamily="34" charset="-122"/>
                <a:cs typeface="Calibri" pitchFamily="34" charset="-120"/>
              </a:rPr>
              <a:t>The conclusion that keeps it running</a:t>
            </a:r>
            <a:endParaRPr lang="en-US" sz="1100" dirty="0"/>
          </a:p>
        </p:txBody>
      </p:sp>
      <p:sp>
        <p:nvSpPr>
          <p:cNvPr id="21" name="Shape 19"/>
          <p:cNvSpPr/>
          <p:nvPr/>
        </p:nvSpPr>
        <p:spPr>
          <a:xfrm>
            <a:off x="8247888" y="3328416"/>
            <a:ext cx="182880" cy="182880"/>
          </a:xfrm>
          <a:prstGeom prst="ellipse">
            <a:avLst/>
          </a:prstGeom>
          <a:solidFill>
            <a:srgbClr val="3C5FA8"/>
          </a:solidFill>
          <a:ln w="12700">
            <a:solidFill>
              <a:srgbClr val="333333"/>
            </a:solidFill>
            <a:prstDash val="solid"/>
          </a:ln>
        </p:spPr>
      </p:sp>
      <p:sp>
        <p:nvSpPr>
          <p:cNvPr id="22" name="Text 20"/>
          <p:cNvSpPr txBox="1"/>
          <p:nvPr/>
        </p:nvSpPr>
        <p:spPr>
          <a:xfrm>
            <a:off x="8540496" y="3273552"/>
            <a:ext cx="3200400" cy="256032"/>
          </a:xfrm>
          <a:prstGeom prst="rect">
            <a:avLst/>
          </a:prstGeom>
          <a:noFill/>
          <a:ln/>
        </p:spPr>
        <p:txBody>
          <a:bodyPr wrap="square" lIns="0" tIns="0" rIns="0" bIns="0" rtlCol="0" anchor="ctr"/>
          <a:lstStyle/>
          <a:p>
            <a:pPr indent="0" marL="0">
              <a:buNone/>
            </a:pPr>
            <a:r>
              <a:rPr lang="en-US" sz="1400" b="1" dirty="0">
                <a:solidFill>
                  <a:srgbClr val="22222A"/>
                </a:solidFill>
                <a:latin typeface="Calibri" pitchFamily="34" charset="0"/>
                <a:ea typeface="Calibri" pitchFamily="34" charset="-122"/>
                <a:cs typeface="Calibri" pitchFamily="34" charset="-120"/>
              </a:rPr>
              <a:t>origin</a:t>
            </a:r>
            <a:pPr indent="0" marL="0">
              <a:buNone/>
            </a:pPr>
            <a:r>
              <a:rPr lang="en-US" sz="1200" b="1" dirty="0">
                <a:solidFill>
                  <a:srgbClr val="3C5FA8"/>
                </a:solidFill>
                <a:latin typeface="Calibri" pitchFamily="34" charset="0"/>
                <a:ea typeface="Calibri" pitchFamily="34" charset="-122"/>
                <a:cs typeface="Calibri" pitchFamily="34" charset="-120"/>
              </a:rPr>
              <a:t>   13</a:t>
            </a:r>
            <a:endParaRPr lang="en-US" sz="1400" dirty="0"/>
          </a:p>
        </p:txBody>
      </p:sp>
      <p:sp>
        <p:nvSpPr>
          <p:cNvPr id="23" name="Text 21"/>
          <p:cNvSpPr txBox="1"/>
          <p:nvPr/>
        </p:nvSpPr>
        <p:spPr>
          <a:xfrm>
            <a:off x="8540496" y="3547872"/>
            <a:ext cx="3200400" cy="502920"/>
          </a:xfrm>
          <a:prstGeom prst="rect">
            <a:avLst/>
          </a:prstGeom>
          <a:noFill/>
          <a:ln/>
        </p:spPr>
        <p:txBody>
          <a:bodyPr wrap="square" lIns="0" tIns="0" rIns="0" bIns="0" rtlCol="0" anchor="ctr"/>
          <a:lstStyle/>
          <a:p>
            <a:pPr indent="0" marL="0">
              <a:lnSpc>
                <a:spcPts val="1500"/>
              </a:lnSpc>
              <a:buNone/>
            </a:pPr>
            <a:r>
              <a:rPr lang="en-US" sz="1100" dirty="0">
                <a:solidFill>
                  <a:srgbClr val="6A6875"/>
                </a:solidFill>
                <a:latin typeface="Calibri" pitchFamily="34" charset="0"/>
                <a:ea typeface="Calibri" pitchFamily="34" charset="-122"/>
                <a:cs typeface="Calibri" pitchFamily="34" charset="-120"/>
              </a:rPr>
              <a:t>The developmental condition behind it</a:t>
            </a:r>
            <a:endParaRPr lang="en-US" sz="1100" dirty="0"/>
          </a:p>
        </p:txBody>
      </p:sp>
      <p:sp>
        <p:nvSpPr>
          <p:cNvPr id="24" name="Shape 22"/>
          <p:cNvSpPr/>
          <p:nvPr/>
        </p:nvSpPr>
        <p:spPr>
          <a:xfrm>
            <a:off x="658368" y="4315968"/>
            <a:ext cx="182880" cy="182880"/>
          </a:xfrm>
          <a:prstGeom prst="ellipse">
            <a:avLst/>
          </a:prstGeom>
          <a:solidFill>
            <a:srgbClr val="7A5CF0"/>
          </a:solidFill>
          <a:ln w="12700">
            <a:solidFill>
              <a:srgbClr val="333333"/>
            </a:solidFill>
            <a:prstDash val="solid"/>
          </a:ln>
        </p:spPr>
      </p:sp>
      <p:sp>
        <p:nvSpPr>
          <p:cNvPr id="25" name="Text 23"/>
          <p:cNvSpPr txBox="1"/>
          <p:nvPr/>
        </p:nvSpPr>
        <p:spPr>
          <a:xfrm>
            <a:off x="950976" y="4261104"/>
            <a:ext cx="3200400" cy="256032"/>
          </a:xfrm>
          <a:prstGeom prst="rect">
            <a:avLst/>
          </a:prstGeom>
          <a:noFill/>
          <a:ln/>
        </p:spPr>
        <p:txBody>
          <a:bodyPr wrap="square" lIns="0" tIns="0" rIns="0" bIns="0" rtlCol="0" anchor="ctr"/>
          <a:lstStyle/>
          <a:p>
            <a:pPr indent="0" marL="0">
              <a:buNone/>
            </a:pPr>
            <a:r>
              <a:rPr lang="en-US" sz="1400" b="1" dirty="0">
                <a:solidFill>
                  <a:srgbClr val="22222A"/>
                </a:solidFill>
                <a:latin typeface="Calibri" pitchFamily="34" charset="0"/>
                <a:ea typeface="Calibri" pitchFamily="34" charset="-122"/>
                <a:cs typeface="Calibri" pitchFamily="34" charset="-120"/>
              </a:rPr>
              <a:t>style</a:t>
            </a:r>
            <a:pPr indent="0" marL="0">
              <a:buNone/>
            </a:pPr>
            <a:r>
              <a:rPr lang="en-US" sz="1200" b="1" dirty="0">
                <a:solidFill>
                  <a:srgbClr val="7A5CF0"/>
                </a:solidFill>
                <a:latin typeface="Calibri" pitchFamily="34" charset="0"/>
                <a:ea typeface="Calibri" pitchFamily="34" charset="-122"/>
                <a:cs typeface="Calibri" pitchFamily="34" charset="-120"/>
              </a:rPr>
              <a:t>   4</a:t>
            </a:r>
            <a:endParaRPr lang="en-US" sz="1400" dirty="0"/>
          </a:p>
        </p:txBody>
      </p:sp>
      <p:sp>
        <p:nvSpPr>
          <p:cNvPr id="26" name="Text 24"/>
          <p:cNvSpPr txBox="1"/>
          <p:nvPr/>
        </p:nvSpPr>
        <p:spPr>
          <a:xfrm>
            <a:off x="950976" y="4535424"/>
            <a:ext cx="3200400" cy="502920"/>
          </a:xfrm>
          <a:prstGeom prst="rect">
            <a:avLst/>
          </a:prstGeom>
          <a:noFill/>
          <a:ln/>
        </p:spPr>
        <p:txBody>
          <a:bodyPr wrap="square" lIns="0" tIns="0" rIns="0" bIns="0" rtlCol="0" anchor="ctr"/>
          <a:lstStyle/>
          <a:p>
            <a:pPr indent="0" marL="0">
              <a:lnSpc>
                <a:spcPts val="1500"/>
              </a:lnSpc>
              <a:buNone/>
            </a:pPr>
            <a:r>
              <a:rPr lang="en-US" sz="1100" dirty="0">
                <a:solidFill>
                  <a:srgbClr val="6A6875"/>
                </a:solidFill>
                <a:latin typeface="Calibri" pitchFamily="34" charset="0"/>
                <a:ea typeface="Calibri" pitchFamily="34" charset="-122"/>
                <a:cs typeface="Calibri" pitchFamily="34" charset="-120"/>
              </a:rPr>
              <a:t>The four attachment patterns</a:t>
            </a:r>
            <a:endParaRPr lang="en-US" sz="1100" dirty="0"/>
          </a:p>
        </p:txBody>
      </p:sp>
      <p:sp>
        <p:nvSpPr>
          <p:cNvPr id="27" name="Shape 25"/>
          <p:cNvSpPr/>
          <p:nvPr/>
        </p:nvSpPr>
        <p:spPr>
          <a:xfrm>
            <a:off x="4453128" y="4315968"/>
            <a:ext cx="182880" cy="182880"/>
          </a:xfrm>
          <a:prstGeom prst="ellipse">
            <a:avLst/>
          </a:prstGeom>
          <a:solidFill>
            <a:srgbClr val="2BB0A3"/>
          </a:solidFill>
          <a:ln w="12700">
            <a:solidFill>
              <a:srgbClr val="333333"/>
            </a:solidFill>
            <a:prstDash val="solid"/>
          </a:ln>
        </p:spPr>
      </p:sp>
      <p:sp>
        <p:nvSpPr>
          <p:cNvPr id="28" name="Text 26"/>
          <p:cNvSpPr txBox="1"/>
          <p:nvPr/>
        </p:nvSpPr>
        <p:spPr>
          <a:xfrm>
            <a:off x="4745736" y="4261104"/>
            <a:ext cx="3200400" cy="256032"/>
          </a:xfrm>
          <a:prstGeom prst="rect">
            <a:avLst/>
          </a:prstGeom>
          <a:noFill/>
          <a:ln/>
        </p:spPr>
        <p:txBody>
          <a:bodyPr wrap="square" lIns="0" tIns="0" rIns="0" bIns="0" rtlCol="0" anchor="ctr"/>
          <a:lstStyle/>
          <a:p>
            <a:pPr indent="0" marL="0">
              <a:buNone/>
            </a:pPr>
            <a:r>
              <a:rPr lang="en-US" sz="1400" b="1" dirty="0">
                <a:solidFill>
                  <a:srgbClr val="22222A"/>
                </a:solidFill>
                <a:latin typeface="Calibri" pitchFamily="34" charset="0"/>
                <a:ea typeface="Calibri" pitchFamily="34" charset="-122"/>
                <a:cs typeface="Calibri" pitchFamily="34" charset="-120"/>
              </a:rPr>
              <a:t>concept</a:t>
            </a:r>
            <a:pPr indent="0" marL="0">
              <a:buNone/>
            </a:pPr>
            <a:r>
              <a:rPr lang="en-US" sz="1200" b="1" dirty="0">
                <a:solidFill>
                  <a:srgbClr val="2BB0A3"/>
                </a:solidFill>
                <a:latin typeface="Calibri" pitchFamily="34" charset="0"/>
                <a:ea typeface="Calibri" pitchFamily="34" charset="-122"/>
                <a:cs typeface="Calibri" pitchFamily="34" charset="-120"/>
              </a:rPr>
              <a:t>   259</a:t>
            </a:r>
            <a:endParaRPr lang="en-US" sz="1400" dirty="0"/>
          </a:p>
        </p:txBody>
      </p:sp>
      <p:sp>
        <p:nvSpPr>
          <p:cNvPr id="29" name="Text 27"/>
          <p:cNvSpPr txBox="1"/>
          <p:nvPr/>
        </p:nvSpPr>
        <p:spPr>
          <a:xfrm>
            <a:off x="4745736" y="4535424"/>
            <a:ext cx="3200400" cy="502920"/>
          </a:xfrm>
          <a:prstGeom prst="rect">
            <a:avLst/>
          </a:prstGeom>
          <a:noFill/>
          <a:ln/>
        </p:spPr>
        <p:txBody>
          <a:bodyPr wrap="square" lIns="0" tIns="0" rIns="0" bIns="0" rtlCol="0" anchor="ctr"/>
          <a:lstStyle/>
          <a:p>
            <a:pPr indent="0" marL="0">
              <a:lnSpc>
                <a:spcPts val="1500"/>
              </a:lnSpc>
              <a:buNone/>
            </a:pPr>
            <a:r>
              <a:rPr lang="en-US" sz="1100" dirty="0">
                <a:solidFill>
                  <a:srgbClr val="6A6875"/>
                </a:solidFill>
                <a:latin typeface="Calibri" pitchFamily="34" charset="0"/>
                <a:ea typeface="Calibri" pitchFamily="34" charset="-122"/>
                <a:cs typeface="Calibri" pitchFamily="34" charset="-120"/>
              </a:rPr>
              <a:t>A named idea in her framework</a:t>
            </a:r>
            <a:endParaRPr lang="en-US" sz="1100" dirty="0"/>
          </a:p>
        </p:txBody>
      </p:sp>
      <p:sp>
        <p:nvSpPr>
          <p:cNvPr id="30" name="Shape 28"/>
          <p:cNvSpPr/>
          <p:nvPr/>
        </p:nvSpPr>
        <p:spPr>
          <a:xfrm>
            <a:off x="8247888" y="4315968"/>
            <a:ext cx="182880" cy="182880"/>
          </a:xfrm>
          <a:prstGeom prst="ellipse">
            <a:avLst/>
          </a:prstGeom>
          <a:solidFill>
            <a:srgbClr val="5BB84F"/>
          </a:solidFill>
          <a:ln w="12700">
            <a:solidFill>
              <a:srgbClr val="333333"/>
            </a:solidFill>
            <a:prstDash val="solid"/>
          </a:ln>
        </p:spPr>
      </p:sp>
      <p:sp>
        <p:nvSpPr>
          <p:cNvPr id="31" name="Text 29"/>
          <p:cNvSpPr txBox="1"/>
          <p:nvPr/>
        </p:nvSpPr>
        <p:spPr>
          <a:xfrm>
            <a:off x="8540496" y="4261104"/>
            <a:ext cx="3200400" cy="256032"/>
          </a:xfrm>
          <a:prstGeom prst="rect">
            <a:avLst/>
          </a:prstGeom>
          <a:noFill/>
          <a:ln/>
        </p:spPr>
        <p:txBody>
          <a:bodyPr wrap="square" lIns="0" tIns="0" rIns="0" bIns="0" rtlCol="0" anchor="ctr"/>
          <a:lstStyle/>
          <a:p>
            <a:pPr indent="0" marL="0">
              <a:buNone/>
            </a:pPr>
            <a:r>
              <a:rPr lang="en-US" sz="1400" b="1" dirty="0">
                <a:solidFill>
                  <a:srgbClr val="22222A"/>
                </a:solidFill>
                <a:latin typeface="Calibri" pitchFamily="34" charset="0"/>
                <a:ea typeface="Calibri" pitchFamily="34" charset="-122"/>
                <a:cs typeface="Calibri" pitchFamily="34" charset="-120"/>
              </a:rPr>
              <a:t>practice</a:t>
            </a:r>
            <a:pPr indent="0" marL="0">
              <a:buNone/>
            </a:pPr>
            <a:r>
              <a:rPr lang="en-US" sz="1200" b="1" dirty="0">
                <a:solidFill>
                  <a:srgbClr val="5BB84F"/>
                </a:solidFill>
                <a:latin typeface="Calibri" pitchFamily="34" charset="0"/>
                <a:ea typeface="Calibri" pitchFamily="34" charset="-122"/>
                <a:cs typeface="Calibri" pitchFamily="34" charset="-120"/>
              </a:rPr>
              <a:t>   94</a:t>
            </a:r>
            <a:endParaRPr lang="en-US" sz="1400" dirty="0"/>
          </a:p>
        </p:txBody>
      </p:sp>
      <p:sp>
        <p:nvSpPr>
          <p:cNvPr id="32" name="Text 30"/>
          <p:cNvSpPr txBox="1"/>
          <p:nvPr/>
        </p:nvSpPr>
        <p:spPr>
          <a:xfrm>
            <a:off x="8540496" y="4535424"/>
            <a:ext cx="3200400" cy="502920"/>
          </a:xfrm>
          <a:prstGeom prst="rect">
            <a:avLst/>
          </a:prstGeom>
          <a:noFill/>
          <a:ln/>
        </p:spPr>
        <p:txBody>
          <a:bodyPr wrap="square" lIns="0" tIns="0" rIns="0" bIns="0" rtlCol="0" anchor="ctr"/>
          <a:lstStyle/>
          <a:p>
            <a:pPr indent="0" marL="0">
              <a:lnSpc>
                <a:spcPts val="1500"/>
              </a:lnSpc>
              <a:buNone/>
            </a:pPr>
            <a:r>
              <a:rPr lang="en-US" sz="1100" dirty="0">
                <a:solidFill>
                  <a:srgbClr val="6A6875"/>
                </a:solidFill>
                <a:latin typeface="Calibri" pitchFamily="34" charset="0"/>
                <a:ea typeface="Calibri" pitchFamily="34" charset="-122"/>
                <a:cs typeface="Calibri" pitchFamily="34" charset="-120"/>
              </a:rPr>
              <a:t>Something you can actually do</a:t>
            </a:r>
            <a:endParaRPr lang="en-US" sz="1100" dirty="0"/>
          </a:p>
        </p:txBody>
      </p:sp>
      <p:sp>
        <p:nvSpPr>
          <p:cNvPr id="33" name="Shape 31"/>
          <p:cNvSpPr/>
          <p:nvPr/>
        </p:nvSpPr>
        <p:spPr>
          <a:xfrm>
            <a:off x="658368" y="5303520"/>
            <a:ext cx="182880" cy="182880"/>
          </a:xfrm>
          <a:prstGeom prst="ellipse">
            <a:avLst/>
          </a:prstGeom>
          <a:solidFill>
            <a:srgbClr val="8B8B96"/>
          </a:solidFill>
          <a:ln w="12700">
            <a:solidFill>
              <a:srgbClr val="333333"/>
            </a:solidFill>
            <a:prstDash val="solid"/>
          </a:ln>
        </p:spPr>
      </p:sp>
      <p:sp>
        <p:nvSpPr>
          <p:cNvPr id="34" name="Text 32"/>
          <p:cNvSpPr txBox="1"/>
          <p:nvPr/>
        </p:nvSpPr>
        <p:spPr>
          <a:xfrm>
            <a:off x="950976" y="5248656"/>
            <a:ext cx="3200400" cy="256032"/>
          </a:xfrm>
          <a:prstGeom prst="rect">
            <a:avLst/>
          </a:prstGeom>
          <a:noFill/>
          <a:ln/>
        </p:spPr>
        <p:txBody>
          <a:bodyPr wrap="square" lIns="0" tIns="0" rIns="0" bIns="0" rtlCol="0" anchor="ctr"/>
          <a:lstStyle/>
          <a:p>
            <a:pPr indent="0" marL="0">
              <a:buNone/>
            </a:pPr>
            <a:r>
              <a:rPr lang="en-US" sz="1400" b="1" dirty="0">
                <a:solidFill>
                  <a:srgbClr val="22222A"/>
                </a:solidFill>
                <a:latin typeface="Calibri" pitchFamily="34" charset="0"/>
                <a:ea typeface="Calibri" pitchFamily="34" charset="-122"/>
                <a:cs typeface="Calibri" pitchFamily="34" charset="-120"/>
              </a:rPr>
              <a:t>video</a:t>
            </a:r>
            <a:pPr indent="0" marL="0">
              <a:buNone/>
            </a:pPr>
            <a:r>
              <a:rPr lang="en-US" sz="1200" b="1" dirty="0">
                <a:solidFill>
                  <a:srgbClr val="8B8B96"/>
                </a:solidFill>
                <a:latin typeface="Calibri" pitchFamily="34" charset="0"/>
                <a:ea typeface="Calibri" pitchFamily="34" charset="-122"/>
                <a:cs typeface="Calibri" pitchFamily="34" charset="-120"/>
              </a:rPr>
              <a:t>   54</a:t>
            </a:r>
            <a:endParaRPr lang="en-US" sz="1400" dirty="0"/>
          </a:p>
        </p:txBody>
      </p:sp>
      <p:sp>
        <p:nvSpPr>
          <p:cNvPr id="35" name="Text 33"/>
          <p:cNvSpPr txBox="1"/>
          <p:nvPr/>
        </p:nvSpPr>
        <p:spPr>
          <a:xfrm>
            <a:off x="950976" y="5522976"/>
            <a:ext cx="3200400" cy="502920"/>
          </a:xfrm>
          <a:prstGeom prst="rect">
            <a:avLst/>
          </a:prstGeom>
          <a:noFill/>
          <a:ln/>
        </p:spPr>
        <p:txBody>
          <a:bodyPr wrap="square" lIns="0" tIns="0" rIns="0" bIns="0" rtlCol="0" anchor="ctr"/>
          <a:lstStyle/>
          <a:p>
            <a:pPr indent="0" marL="0">
              <a:lnSpc>
                <a:spcPts val="1500"/>
              </a:lnSpc>
              <a:buNone/>
            </a:pPr>
            <a:r>
              <a:rPr lang="en-US" sz="1100" dirty="0">
                <a:solidFill>
                  <a:srgbClr val="6A6875"/>
                </a:solidFill>
                <a:latin typeface="Calibri" pitchFamily="34" charset="0"/>
                <a:ea typeface="Calibri" pitchFamily="34" charset="-122"/>
                <a:cs typeface="Calibri" pitchFamily="34" charset="-120"/>
              </a:rPr>
              <a:t>A source upload</a:t>
            </a:r>
            <a:endParaRPr lang="en-US" sz="1100" dirty="0"/>
          </a:p>
        </p:txBody>
      </p:sp>
      <p:sp>
        <p:nvSpPr>
          <p:cNvPr id="36" name="Shape 34"/>
          <p:cNvSpPr/>
          <p:nvPr/>
        </p:nvSpPr>
        <p:spPr>
          <a:xfrm>
            <a:off x="4453128" y="5303520"/>
            <a:ext cx="182880" cy="182880"/>
          </a:xfrm>
          <a:prstGeom prst="ellipse">
            <a:avLst/>
          </a:prstGeom>
          <a:solidFill>
            <a:srgbClr val="6F7480"/>
          </a:solidFill>
          <a:ln w="12700">
            <a:solidFill>
              <a:srgbClr val="333333"/>
            </a:solidFill>
            <a:prstDash val="solid"/>
          </a:ln>
        </p:spPr>
      </p:sp>
      <p:sp>
        <p:nvSpPr>
          <p:cNvPr id="37" name="Text 35"/>
          <p:cNvSpPr txBox="1"/>
          <p:nvPr/>
        </p:nvSpPr>
        <p:spPr>
          <a:xfrm>
            <a:off x="4745736" y="5248656"/>
            <a:ext cx="3200400" cy="256032"/>
          </a:xfrm>
          <a:prstGeom prst="rect">
            <a:avLst/>
          </a:prstGeom>
          <a:noFill/>
          <a:ln/>
        </p:spPr>
        <p:txBody>
          <a:bodyPr wrap="square" lIns="0" tIns="0" rIns="0" bIns="0" rtlCol="0" anchor="ctr"/>
          <a:lstStyle/>
          <a:p>
            <a:pPr indent="0" marL="0">
              <a:buNone/>
            </a:pPr>
            <a:r>
              <a:rPr lang="en-US" sz="1400" b="1" dirty="0">
                <a:solidFill>
                  <a:srgbClr val="22222A"/>
                </a:solidFill>
                <a:latin typeface="Calibri" pitchFamily="34" charset="0"/>
                <a:ea typeface="Calibri" pitchFamily="34" charset="-122"/>
                <a:cs typeface="Calibri" pitchFamily="34" charset="-120"/>
              </a:rPr>
              <a:t>source</a:t>
            </a:r>
            <a:pPr indent="0" marL="0">
              <a:buNone/>
            </a:pPr>
            <a:r>
              <a:rPr lang="en-US" sz="1200" b="1" dirty="0">
                <a:solidFill>
                  <a:srgbClr val="6F7480"/>
                </a:solidFill>
                <a:latin typeface="Calibri" pitchFamily="34" charset="0"/>
                <a:ea typeface="Calibri" pitchFamily="34" charset="-122"/>
                <a:cs typeface="Calibri" pitchFamily="34" charset="-120"/>
              </a:rPr>
              <a:t>   21</a:t>
            </a:r>
            <a:endParaRPr lang="en-US" sz="1400" dirty="0"/>
          </a:p>
        </p:txBody>
      </p:sp>
      <p:sp>
        <p:nvSpPr>
          <p:cNvPr id="38" name="Text 36"/>
          <p:cNvSpPr txBox="1"/>
          <p:nvPr/>
        </p:nvSpPr>
        <p:spPr>
          <a:xfrm>
            <a:off x="4745736" y="5522976"/>
            <a:ext cx="3200400" cy="502920"/>
          </a:xfrm>
          <a:prstGeom prst="rect">
            <a:avLst/>
          </a:prstGeom>
          <a:noFill/>
          <a:ln/>
        </p:spPr>
        <p:txBody>
          <a:bodyPr wrap="square" lIns="0" tIns="0" rIns="0" bIns="0" rtlCol="0" anchor="ctr"/>
          <a:lstStyle/>
          <a:p>
            <a:pPr indent="0" marL="0">
              <a:lnSpc>
                <a:spcPts val="1500"/>
              </a:lnSpc>
              <a:buNone/>
            </a:pPr>
            <a:r>
              <a:rPr lang="en-US" sz="1100" dirty="0">
                <a:solidFill>
                  <a:srgbClr val="6A6875"/>
                </a:solidFill>
                <a:latin typeface="Calibri" pitchFamily="34" charset="0"/>
                <a:ea typeface="Calibri" pitchFamily="34" charset="-122"/>
                <a:cs typeface="Calibri" pitchFamily="34" charset="-120"/>
              </a:rPr>
              <a:t>A book or paper referenced</a:t>
            </a:r>
            <a:endParaRPr lang="en-US" sz="1100" dirty="0"/>
          </a:p>
        </p:txBody>
      </p:sp>
      <p:sp>
        <p:nvSpPr>
          <p:cNvPr id="39" name="Text 37"/>
          <p:cNvSpPr txBox="1"/>
          <p:nvPr/>
        </p:nvSpPr>
        <p:spPr>
          <a:xfrm>
            <a:off x="658368" y="6217920"/>
            <a:ext cx="10874959" cy="365760"/>
          </a:xfrm>
          <a:prstGeom prst="rect">
            <a:avLst/>
          </a:prstGeom>
          <a:noFill/>
          <a:ln/>
        </p:spPr>
        <p:txBody>
          <a:bodyPr wrap="square" lIns="0" tIns="0" rIns="0" bIns="0" rtlCol="0" anchor="ctr"/>
          <a:lstStyle/>
          <a:p>
            <a:pPr indent="0" marL="0">
              <a:buNone/>
            </a:pPr>
            <a:r>
              <a:rPr lang="en-US" sz="1200" i="1" dirty="0">
                <a:solidFill>
                  <a:srgbClr val="807C8A"/>
                </a:solidFill>
                <a:latin typeface="Calibri" pitchFamily="34" charset="0"/>
                <a:ea typeface="Calibri" pitchFamily="34" charset="-122"/>
                <a:cs typeface="Calibri" pitchFamily="34" charset="-120"/>
              </a:rPr>
              <a:t>The four styles are not categories anyone is put into. They are lenses the same material is read through.</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807C8A"/>
                </a:solidFill>
                <a:latin typeface="Calibri" pitchFamily="34" charset="0"/>
                <a:ea typeface="Calibri" pitchFamily="34" charset="-122"/>
                <a:cs typeface="Calibri" pitchFamily="34" charset="-120"/>
              </a:rPr>
              <a:t>20</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7B4BD8"/>
                </a:solidFill>
                <a:latin typeface="Calibri" pitchFamily="34" charset="0"/>
                <a:ea typeface="Calibri" pitchFamily="34" charset="-122"/>
                <a:cs typeface="Calibri" pitchFamily="34" charset="-120"/>
              </a:rPr>
              <a:t>THE MECHANISM</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200" b="1" dirty="0">
                <a:solidFill>
                  <a:srgbClr val="22222A"/>
                </a:solidFill>
                <a:latin typeface="Cambria" pitchFamily="34" charset="0"/>
                <a:ea typeface="Cambria" pitchFamily="34" charset="-122"/>
                <a:cs typeface="Cambria" pitchFamily="34" charset="-120"/>
              </a:rPr>
              <a:t>Triggers and states</a:t>
            </a:r>
            <a:endParaRPr lang="en-US" sz="3200" dirty="0"/>
          </a:p>
        </p:txBody>
      </p:sp>
      <p:sp>
        <p:nvSpPr>
          <p:cNvPr id="5" name="Text 3"/>
          <p:cNvSpPr txBox="1"/>
          <p:nvPr/>
        </p:nvSpPr>
        <p:spPr>
          <a:xfrm>
            <a:off x="658368" y="1609344"/>
            <a:ext cx="9352465" cy="566928"/>
          </a:xfrm>
          <a:prstGeom prst="rect">
            <a:avLst/>
          </a:prstGeom>
          <a:noFill/>
          <a:ln/>
        </p:spPr>
        <p:txBody>
          <a:bodyPr wrap="square" lIns="0" tIns="0" rIns="0" bIns="0" rtlCol="0" anchor="ctr"/>
          <a:lstStyle/>
          <a:p>
            <a:pPr indent="0" marL="0">
              <a:lnSpc>
                <a:spcPts val="2100"/>
              </a:lnSpc>
              <a:buNone/>
            </a:pPr>
            <a:r>
              <a:rPr lang="en-US" sz="1450" dirty="0">
                <a:solidFill>
                  <a:srgbClr val="6A6875"/>
                </a:solidFill>
                <a:latin typeface="Calibri" pitchFamily="34" charset="0"/>
                <a:ea typeface="Calibri" pitchFamily="34" charset="-122"/>
                <a:cs typeface="Calibri" pitchFamily="34" charset="-120"/>
              </a:rPr>
              <a:t>What sets the system off, and what is running underneath when it does. Small in number and heavily connected — these are the load-bearing nodes.</a:t>
            </a:r>
            <a:endParaRPr lang="en-US" sz="1450" dirty="0"/>
          </a:p>
        </p:txBody>
      </p:sp>
      <p:sp>
        <p:nvSpPr>
          <p:cNvPr id="6" name="Shape 4"/>
          <p:cNvSpPr/>
          <p:nvPr/>
        </p:nvSpPr>
        <p:spPr>
          <a:xfrm>
            <a:off x="658368" y="2537460"/>
            <a:ext cx="173736" cy="173736"/>
          </a:xfrm>
          <a:prstGeom prst="ellipse">
            <a:avLst/>
          </a:prstGeom>
          <a:solidFill>
            <a:srgbClr val="F2643E"/>
          </a:solidFill>
          <a:ln w="12700">
            <a:solidFill>
              <a:srgbClr val="F2643E"/>
            </a:solidFill>
            <a:prstDash val="solid"/>
          </a:ln>
        </p:spPr>
      </p:sp>
      <p:sp>
        <p:nvSpPr>
          <p:cNvPr id="7" name="Text 5"/>
          <p:cNvSpPr txBox="1"/>
          <p:nvPr/>
        </p:nvSpPr>
        <p:spPr>
          <a:xfrm>
            <a:off x="978408" y="2487168"/>
            <a:ext cx="4892040" cy="237744"/>
          </a:xfrm>
          <a:prstGeom prst="rect">
            <a:avLst/>
          </a:prstGeom>
          <a:noFill/>
          <a:ln/>
        </p:spPr>
        <p:txBody>
          <a:bodyPr wrap="square" lIns="0" tIns="0" rIns="0" bIns="0" rtlCol="0" anchor="ctr"/>
          <a:lstStyle/>
          <a:p>
            <a:pPr indent="0" marL="0">
              <a:buNone/>
            </a:pPr>
            <a:r>
              <a:rPr lang="en-US" sz="1450" b="1" dirty="0">
                <a:solidFill>
                  <a:srgbClr val="22222A"/>
                </a:solidFill>
                <a:latin typeface="Calibri" pitchFamily="34" charset="0"/>
                <a:ea typeface="Calibri" pitchFamily="34" charset="-122"/>
                <a:cs typeface="Calibri" pitchFamily="34" charset="-120"/>
              </a:rPr>
              <a:t>Things Going Well</a:t>
            </a:r>
            <a:endParaRPr lang="en-US" sz="1450" dirty="0"/>
          </a:p>
        </p:txBody>
      </p:sp>
      <p:sp>
        <p:nvSpPr>
          <p:cNvPr id="8" name="Text 6"/>
          <p:cNvSpPr txBox="1"/>
          <p:nvPr/>
        </p:nvSpPr>
        <p:spPr>
          <a:xfrm>
            <a:off x="978408" y="2734056"/>
            <a:ext cx="4892040" cy="182880"/>
          </a:xfrm>
          <a:prstGeom prst="rect">
            <a:avLst/>
          </a:prstGeom>
          <a:noFill/>
          <a:ln/>
        </p:spPr>
        <p:txBody>
          <a:bodyPr wrap="square" lIns="0" tIns="0" rIns="0" bIns="0" rtlCol="0" anchor="ctr"/>
          <a:lstStyle/>
          <a:p>
            <a:pPr indent="0" marL="0">
              <a:buNone/>
            </a:pPr>
            <a:r>
              <a:rPr lang="en-US" sz="950" spc="30" kern="0" dirty="0">
                <a:solidFill>
                  <a:srgbClr val="807C8A"/>
                </a:solidFill>
                <a:latin typeface="Calibri" pitchFamily="34" charset="0"/>
                <a:ea typeface="Calibri" pitchFamily="34" charset="-122"/>
                <a:cs typeface="Calibri" pitchFamily="34" charset="-120"/>
              </a:rPr>
              <a:t>2 videos   ·   DA:alternating AP:alternating FA:core</a:t>
            </a:r>
            <a:endParaRPr lang="en-US" sz="950" dirty="0"/>
          </a:p>
        </p:txBody>
      </p:sp>
      <p:sp>
        <p:nvSpPr>
          <p:cNvPr id="9" name="Text 7"/>
          <p:cNvSpPr txBox="1"/>
          <p:nvPr/>
        </p:nvSpPr>
        <p:spPr>
          <a:xfrm>
            <a:off x="978408" y="2935224"/>
            <a:ext cx="4892040" cy="713232"/>
          </a:xfrm>
          <a:prstGeom prst="rect">
            <a:avLst/>
          </a:prstGeom>
          <a:noFill/>
          <a:ln/>
        </p:spPr>
        <p:txBody>
          <a:bodyPr wrap="square" lIns="0" tIns="0" rIns="0" bIns="0" rtlCol="0" anchor="ctr"/>
          <a:lstStyle/>
          <a:p>
            <a:pPr indent="0" marL="0">
              <a:lnSpc>
                <a:spcPts val="1550"/>
              </a:lnSpc>
              <a:buNone/>
            </a:pPr>
            <a:r>
              <a:rPr lang="en-US" sz="1150" dirty="0">
                <a:solidFill>
                  <a:srgbClr val="6A6875"/>
                </a:solidFill>
                <a:latin typeface="Calibri" pitchFamily="34" charset="0"/>
                <a:ea typeface="Calibri" pitchFamily="34" charset="-122"/>
                <a:cs typeface="Calibri" pitchFamily="34" charset="-120"/>
              </a:rPr>
              <a:t>The signature fearful-avoidant trigger, and the one that makes the style hardest to read from outside: activation peaks not during conflict but when the relationship becomes calm, open and loving.</a:t>
            </a:r>
            <a:endParaRPr lang="en-US" sz="1150" dirty="0"/>
          </a:p>
        </p:txBody>
      </p:sp>
      <p:sp>
        <p:nvSpPr>
          <p:cNvPr id="10" name="Shape 8"/>
          <p:cNvSpPr/>
          <p:nvPr/>
        </p:nvSpPr>
        <p:spPr>
          <a:xfrm>
            <a:off x="6327648" y="2537460"/>
            <a:ext cx="173736" cy="173736"/>
          </a:xfrm>
          <a:prstGeom prst="ellipse">
            <a:avLst/>
          </a:prstGeom>
          <a:solidFill>
            <a:srgbClr val="F2643E"/>
          </a:solidFill>
          <a:ln w="12700">
            <a:solidFill>
              <a:srgbClr val="F2643E"/>
            </a:solidFill>
            <a:prstDash val="solid"/>
          </a:ln>
        </p:spPr>
      </p:sp>
      <p:sp>
        <p:nvSpPr>
          <p:cNvPr id="11" name="Text 9"/>
          <p:cNvSpPr txBox="1"/>
          <p:nvPr/>
        </p:nvSpPr>
        <p:spPr>
          <a:xfrm>
            <a:off x="6647688" y="2487168"/>
            <a:ext cx="4892040" cy="237744"/>
          </a:xfrm>
          <a:prstGeom prst="rect">
            <a:avLst/>
          </a:prstGeom>
          <a:noFill/>
          <a:ln/>
        </p:spPr>
        <p:txBody>
          <a:bodyPr wrap="square" lIns="0" tIns="0" rIns="0" bIns="0" rtlCol="0" anchor="ctr"/>
          <a:lstStyle/>
          <a:p>
            <a:pPr indent="0" marL="0">
              <a:buNone/>
            </a:pPr>
            <a:r>
              <a:rPr lang="en-US" sz="1450" b="1" dirty="0">
                <a:solidFill>
                  <a:srgbClr val="22222A"/>
                </a:solidFill>
                <a:latin typeface="Calibri" pitchFamily="34" charset="0"/>
                <a:ea typeface="Calibri" pitchFamily="34" charset="-122"/>
                <a:cs typeface="Calibri" pitchFamily="34" charset="-120"/>
              </a:rPr>
              <a:t>Broken Promise</a:t>
            </a:r>
            <a:endParaRPr lang="en-US" sz="1450" dirty="0"/>
          </a:p>
        </p:txBody>
      </p:sp>
      <p:sp>
        <p:nvSpPr>
          <p:cNvPr id="12" name="Text 10"/>
          <p:cNvSpPr txBox="1"/>
          <p:nvPr/>
        </p:nvSpPr>
        <p:spPr>
          <a:xfrm>
            <a:off x="6647688" y="2734056"/>
            <a:ext cx="4892040" cy="182880"/>
          </a:xfrm>
          <a:prstGeom prst="rect">
            <a:avLst/>
          </a:prstGeom>
          <a:noFill/>
          <a:ln/>
        </p:spPr>
        <p:txBody>
          <a:bodyPr wrap="square" lIns="0" tIns="0" rIns="0" bIns="0" rtlCol="0" anchor="ctr"/>
          <a:lstStyle/>
          <a:p>
            <a:pPr indent="0" marL="0">
              <a:buNone/>
            </a:pPr>
            <a:r>
              <a:rPr lang="en-US" sz="950" spc="30" kern="0" dirty="0">
                <a:solidFill>
                  <a:srgbClr val="807C8A"/>
                </a:solidFill>
                <a:latin typeface="Calibri" pitchFamily="34" charset="0"/>
                <a:ea typeface="Calibri" pitchFamily="34" charset="-122"/>
                <a:cs typeface="Calibri" pitchFamily="34" charset="-120"/>
              </a:rPr>
              <a:t>2 videos   ·   DA:core AP:feared FA:alternating</a:t>
            </a:r>
            <a:endParaRPr lang="en-US" sz="950" dirty="0"/>
          </a:p>
        </p:txBody>
      </p:sp>
      <p:sp>
        <p:nvSpPr>
          <p:cNvPr id="13" name="Text 11"/>
          <p:cNvSpPr txBox="1"/>
          <p:nvPr/>
        </p:nvSpPr>
        <p:spPr>
          <a:xfrm>
            <a:off x="6647688" y="2935224"/>
            <a:ext cx="4892040" cy="713232"/>
          </a:xfrm>
          <a:prstGeom prst="rect">
            <a:avLst/>
          </a:prstGeom>
          <a:noFill/>
          <a:ln/>
        </p:spPr>
        <p:txBody>
          <a:bodyPr wrap="square" lIns="0" tIns="0" rIns="0" bIns="0" rtlCol="0" anchor="ctr"/>
          <a:lstStyle/>
          <a:p>
            <a:pPr indent="0" marL="0">
              <a:lnSpc>
                <a:spcPts val="1550"/>
              </a:lnSpc>
              <a:buNone/>
            </a:pPr>
            <a:r>
              <a:rPr lang="en-US" sz="1150" dirty="0">
                <a:solidFill>
                  <a:srgbClr val="6A6875"/>
                </a:solidFill>
                <a:latin typeface="Calibri" pitchFamily="34" charset="0"/>
                <a:ea typeface="Calibri" pitchFamily="34" charset="-122"/>
                <a:cs typeface="Calibri" pitchFamily="34" charset="-120"/>
              </a:rPr>
              <a:t>A concrete instance of hurt that does not get registered: someone says they will do something and does not.</a:t>
            </a:r>
            <a:endParaRPr lang="en-US" sz="1150" dirty="0"/>
          </a:p>
        </p:txBody>
      </p:sp>
      <p:sp>
        <p:nvSpPr>
          <p:cNvPr id="14" name="Shape 12"/>
          <p:cNvSpPr/>
          <p:nvPr/>
        </p:nvSpPr>
        <p:spPr>
          <a:xfrm>
            <a:off x="658368" y="4293108"/>
            <a:ext cx="173736" cy="173736"/>
          </a:xfrm>
          <a:prstGeom prst="ellipse">
            <a:avLst/>
          </a:prstGeom>
          <a:solidFill>
            <a:srgbClr val="EDA72C"/>
          </a:solidFill>
          <a:ln w="12700">
            <a:solidFill>
              <a:srgbClr val="EDA72C"/>
            </a:solidFill>
            <a:prstDash val="solid"/>
          </a:ln>
        </p:spPr>
      </p:sp>
      <p:sp>
        <p:nvSpPr>
          <p:cNvPr id="15" name="Text 13"/>
          <p:cNvSpPr txBox="1"/>
          <p:nvPr/>
        </p:nvSpPr>
        <p:spPr>
          <a:xfrm>
            <a:off x="978408" y="4242816"/>
            <a:ext cx="4892040" cy="237744"/>
          </a:xfrm>
          <a:prstGeom prst="rect">
            <a:avLst/>
          </a:prstGeom>
          <a:noFill/>
          <a:ln/>
        </p:spPr>
        <p:txBody>
          <a:bodyPr wrap="square" lIns="0" tIns="0" rIns="0" bIns="0" rtlCol="0" anchor="ctr"/>
          <a:lstStyle/>
          <a:p>
            <a:pPr indent="0" marL="0">
              <a:buNone/>
            </a:pPr>
            <a:r>
              <a:rPr lang="en-US" sz="1450" b="1" dirty="0">
                <a:solidFill>
                  <a:srgbClr val="22222A"/>
                </a:solidFill>
                <a:latin typeface="Calibri" pitchFamily="34" charset="0"/>
                <a:ea typeface="Calibri" pitchFamily="34" charset="-122"/>
                <a:cs typeface="Calibri" pitchFamily="34" charset="-120"/>
              </a:rPr>
              <a:t>Chronic Abandonment Fear</a:t>
            </a:r>
            <a:endParaRPr lang="en-US" sz="1450" dirty="0"/>
          </a:p>
        </p:txBody>
      </p:sp>
      <p:sp>
        <p:nvSpPr>
          <p:cNvPr id="16" name="Text 14"/>
          <p:cNvSpPr txBox="1"/>
          <p:nvPr/>
        </p:nvSpPr>
        <p:spPr>
          <a:xfrm>
            <a:off x="978408" y="4489704"/>
            <a:ext cx="4892040" cy="182880"/>
          </a:xfrm>
          <a:prstGeom prst="rect">
            <a:avLst/>
          </a:prstGeom>
          <a:noFill/>
          <a:ln/>
        </p:spPr>
        <p:txBody>
          <a:bodyPr wrap="square" lIns="0" tIns="0" rIns="0" bIns="0" rtlCol="0" anchor="ctr"/>
          <a:lstStyle/>
          <a:p>
            <a:pPr indent="0" marL="0">
              <a:buNone/>
            </a:pPr>
            <a:r>
              <a:rPr lang="en-US" sz="950" spc="30" kern="0" dirty="0">
                <a:solidFill>
                  <a:srgbClr val="807C8A"/>
                </a:solidFill>
                <a:latin typeface="Calibri" pitchFamily="34" charset="0"/>
                <a:ea typeface="Calibri" pitchFamily="34" charset="-122"/>
                <a:cs typeface="Calibri" pitchFamily="34" charset="-120"/>
              </a:rPr>
              <a:t>2 videos   ·   AP:core FA:alternating</a:t>
            </a:r>
            <a:endParaRPr lang="en-US" sz="950" dirty="0"/>
          </a:p>
        </p:txBody>
      </p:sp>
      <p:sp>
        <p:nvSpPr>
          <p:cNvPr id="17" name="Text 15"/>
          <p:cNvSpPr txBox="1"/>
          <p:nvPr/>
        </p:nvSpPr>
        <p:spPr>
          <a:xfrm>
            <a:off x="978408" y="4690872"/>
            <a:ext cx="4892040" cy="713232"/>
          </a:xfrm>
          <a:prstGeom prst="rect">
            <a:avLst/>
          </a:prstGeom>
          <a:noFill/>
          <a:ln/>
        </p:spPr>
        <p:txBody>
          <a:bodyPr wrap="square" lIns="0" tIns="0" rIns="0" bIns="0" rtlCol="0" anchor="ctr"/>
          <a:lstStyle/>
          <a:p>
            <a:pPr indent="0" marL="0">
              <a:lnSpc>
                <a:spcPts val="1550"/>
              </a:lnSpc>
              <a:buNone/>
            </a:pPr>
            <a:r>
              <a:rPr lang="en-US" sz="1150" dirty="0">
                <a:solidFill>
                  <a:srgbClr val="6A6875"/>
                </a:solidFill>
                <a:latin typeface="Calibri" pitchFamily="34" charset="0"/>
                <a:ea typeface="Calibri" pitchFamily="34" charset="-122"/>
                <a:cs typeface="Calibri" pitchFamily="34" charset="-120"/>
              </a:rPr>
              <a:t>A background dread of being left that stays conscious rather than surfacing only in crises.</a:t>
            </a:r>
            <a:endParaRPr lang="en-US" sz="1150" dirty="0"/>
          </a:p>
        </p:txBody>
      </p:sp>
      <p:sp>
        <p:nvSpPr>
          <p:cNvPr id="18" name="Shape 16"/>
          <p:cNvSpPr/>
          <p:nvPr/>
        </p:nvSpPr>
        <p:spPr>
          <a:xfrm>
            <a:off x="6327648" y="4293108"/>
            <a:ext cx="173736" cy="173736"/>
          </a:xfrm>
          <a:prstGeom prst="ellipse">
            <a:avLst/>
          </a:prstGeom>
          <a:solidFill>
            <a:srgbClr val="EDA72C"/>
          </a:solidFill>
          <a:ln w="12700">
            <a:solidFill>
              <a:srgbClr val="EDA72C"/>
            </a:solidFill>
            <a:prstDash val="solid"/>
          </a:ln>
        </p:spPr>
      </p:sp>
      <p:sp>
        <p:nvSpPr>
          <p:cNvPr id="19" name="Text 17"/>
          <p:cNvSpPr txBox="1"/>
          <p:nvPr/>
        </p:nvSpPr>
        <p:spPr>
          <a:xfrm>
            <a:off x="6647688" y="4242816"/>
            <a:ext cx="4892040" cy="237744"/>
          </a:xfrm>
          <a:prstGeom prst="rect">
            <a:avLst/>
          </a:prstGeom>
          <a:noFill/>
          <a:ln/>
        </p:spPr>
        <p:txBody>
          <a:bodyPr wrap="square" lIns="0" tIns="0" rIns="0" bIns="0" rtlCol="0" anchor="ctr"/>
          <a:lstStyle/>
          <a:p>
            <a:pPr indent="0" marL="0">
              <a:buNone/>
            </a:pPr>
            <a:r>
              <a:rPr lang="en-US" sz="1450" b="1" dirty="0">
                <a:solidFill>
                  <a:srgbClr val="22222A"/>
                </a:solidFill>
                <a:latin typeface="Calibri" pitchFamily="34" charset="0"/>
                <a:ea typeface="Calibri" pitchFamily="34" charset="-122"/>
                <a:cs typeface="Calibri" pitchFamily="34" charset="-120"/>
              </a:rPr>
              <a:t>Contempt</a:t>
            </a:r>
            <a:endParaRPr lang="en-US" sz="1450" dirty="0"/>
          </a:p>
        </p:txBody>
      </p:sp>
      <p:sp>
        <p:nvSpPr>
          <p:cNvPr id="20" name="Text 18"/>
          <p:cNvSpPr txBox="1"/>
          <p:nvPr/>
        </p:nvSpPr>
        <p:spPr>
          <a:xfrm>
            <a:off x="6647688" y="4489704"/>
            <a:ext cx="4892040" cy="182880"/>
          </a:xfrm>
          <a:prstGeom prst="rect">
            <a:avLst/>
          </a:prstGeom>
          <a:noFill/>
          <a:ln/>
        </p:spPr>
        <p:txBody>
          <a:bodyPr wrap="square" lIns="0" tIns="0" rIns="0" bIns="0" rtlCol="0" anchor="ctr"/>
          <a:lstStyle/>
          <a:p>
            <a:pPr indent="0" marL="0">
              <a:buNone/>
            </a:pPr>
            <a:r>
              <a:rPr lang="en-US" sz="950" spc="30" kern="0" dirty="0">
                <a:solidFill>
                  <a:srgbClr val="807C8A"/>
                </a:solidFill>
                <a:latin typeface="Calibri" pitchFamily="34" charset="0"/>
                <a:ea typeface="Calibri" pitchFamily="34" charset="-122"/>
                <a:cs typeface="Calibri" pitchFamily="34" charset="-120"/>
              </a:rPr>
              <a:t>3 videos   ·   DA:core AP:feared FA:alternating</a:t>
            </a:r>
            <a:endParaRPr lang="en-US" sz="950" dirty="0"/>
          </a:p>
        </p:txBody>
      </p:sp>
      <p:sp>
        <p:nvSpPr>
          <p:cNvPr id="21" name="Text 19"/>
          <p:cNvSpPr txBox="1"/>
          <p:nvPr/>
        </p:nvSpPr>
        <p:spPr>
          <a:xfrm>
            <a:off x="6647688" y="4690872"/>
            <a:ext cx="4892040" cy="713232"/>
          </a:xfrm>
          <a:prstGeom prst="rect">
            <a:avLst/>
          </a:prstGeom>
          <a:noFill/>
          <a:ln/>
        </p:spPr>
        <p:txBody>
          <a:bodyPr wrap="square" lIns="0" tIns="0" rIns="0" bIns="0" rtlCol="0" anchor="ctr"/>
          <a:lstStyle/>
          <a:p>
            <a:pPr indent="0" marL="0">
              <a:lnSpc>
                <a:spcPts val="1550"/>
              </a:lnSpc>
              <a:buNone/>
            </a:pPr>
            <a:r>
              <a:rPr lang="en-US" sz="1150" dirty="0">
                <a:solidFill>
                  <a:srgbClr val="6A6875"/>
                </a:solidFill>
                <a:latin typeface="Calibri" pitchFamily="34" charset="0"/>
                <a:ea typeface="Calibri" pitchFamily="34" charset="-122"/>
                <a:cs typeface="Calibri" pitchFamily="34" charset="-120"/>
              </a:rPr>
              <a:t>What arrives in place of the vulnerable feeling.</a:t>
            </a:r>
            <a:endParaRPr lang="en-US" sz="1150" dirty="0"/>
          </a:p>
        </p:txBody>
      </p:sp>
      <p:sp>
        <p:nvSpPr>
          <p:cNvPr id="22" name="Text 20"/>
          <p:cNvSpPr txBox="1"/>
          <p:nvPr/>
        </p:nvSpPr>
        <p:spPr>
          <a:xfrm>
            <a:off x="658368" y="6035040"/>
            <a:ext cx="10874959" cy="411480"/>
          </a:xfrm>
          <a:prstGeom prst="rect">
            <a:avLst/>
          </a:prstGeom>
          <a:noFill/>
          <a:ln/>
        </p:spPr>
        <p:txBody>
          <a:bodyPr wrap="square" lIns="0" tIns="0" rIns="0" bIns="0" rtlCol="0" anchor="ctr"/>
          <a:lstStyle/>
          <a:p>
            <a:pPr indent="0" marL="0">
              <a:lnSpc>
                <a:spcPts val="1600"/>
              </a:lnSpc>
              <a:buNone/>
            </a:pPr>
            <a:r>
              <a:rPr lang="en-US" sz="1150" i="1" dirty="0">
                <a:solidFill>
                  <a:srgbClr val="807C8A"/>
                </a:solidFill>
                <a:latin typeface="Calibri" pitchFamily="34" charset="0"/>
                <a:ea typeface="Calibri" pitchFamily="34" charset="-122"/>
                <a:cs typeface="Calibri" pitchFamily="34" charset="-120"/>
              </a:rPr>
              <a:t>Only 4 triggers and 29 states in the whole graph, against 259 concepts. The causal core is small; almost everything else hangs off it.</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807C8A"/>
                </a:solidFill>
                <a:latin typeface="Calibri" pitchFamily="34" charset="0"/>
                <a:ea typeface="Calibri" pitchFamily="34" charset="-122"/>
                <a:cs typeface="Calibri" pitchFamily="34" charset="-120"/>
              </a:rPr>
              <a:t>21</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7B4BD8"/>
                </a:solidFill>
                <a:latin typeface="Calibri" pitchFamily="34" charset="0"/>
                <a:ea typeface="Calibri" pitchFamily="34" charset="-122"/>
                <a:cs typeface="Calibri" pitchFamily="34" charset="-120"/>
              </a:rPr>
              <a:t>THE MECHANISM</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200" b="1" dirty="0">
                <a:solidFill>
                  <a:srgbClr val="22222A"/>
                </a:solidFill>
                <a:latin typeface="Cambria" pitchFamily="34" charset="0"/>
                <a:ea typeface="Cambria" pitchFamily="34" charset="-122"/>
                <a:cs typeface="Cambria" pitchFamily="34" charset="-120"/>
              </a:rPr>
              <a:t>Strategies and behaviours</a:t>
            </a:r>
            <a:endParaRPr lang="en-US" sz="3200" dirty="0"/>
          </a:p>
        </p:txBody>
      </p:sp>
      <p:sp>
        <p:nvSpPr>
          <p:cNvPr id="5" name="Text 3"/>
          <p:cNvSpPr txBox="1"/>
          <p:nvPr/>
        </p:nvSpPr>
        <p:spPr>
          <a:xfrm>
            <a:off x="658368" y="1609344"/>
            <a:ext cx="9352465" cy="566928"/>
          </a:xfrm>
          <a:prstGeom prst="rect">
            <a:avLst/>
          </a:prstGeom>
          <a:noFill/>
          <a:ln/>
        </p:spPr>
        <p:txBody>
          <a:bodyPr wrap="square" lIns="0" tIns="0" rIns="0" bIns="0" rtlCol="0" anchor="ctr"/>
          <a:lstStyle/>
          <a:p>
            <a:pPr indent="0" marL="0">
              <a:lnSpc>
                <a:spcPts val="2100"/>
              </a:lnSpc>
              <a:buNone/>
            </a:pPr>
            <a:r>
              <a:rPr lang="en-US" sz="1450" dirty="0">
                <a:solidFill>
                  <a:srgbClr val="6A6875"/>
                </a:solidFill>
                <a:latin typeface="Calibri" pitchFamily="34" charset="0"/>
                <a:ea typeface="Calibri" pitchFamily="34" charset="-122"/>
                <a:cs typeface="Calibri" pitchFamily="34" charset="-120"/>
              </a:rPr>
              <a:t>What the system does about the state, and what that looks like from the outside. The distinction matters: a strategy is not visible, a behaviour is.</a:t>
            </a:r>
            <a:endParaRPr lang="en-US" sz="1450" dirty="0"/>
          </a:p>
        </p:txBody>
      </p:sp>
      <p:sp>
        <p:nvSpPr>
          <p:cNvPr id="6" name="Shape 4"/>
          <p:cNvSpPr/>
          <p:nvPr/>
        </p:nvSpPr>
        <p:spPr>
          <a:xfrm>
            <a:off x="658368" y="2537460"/>
            <a:ext cx="173736" cy="173736"/>
          </a:xfrm>
          <a:prstGeom prst="ellipse">
            <a:avLst/>
          </a:prstGeom>
          <a:solidFill>
            <a:srgbClr val="E04F86"/>
          </a:solidFill>
          <a:ln w="12700">
            <a:solidFill>
              <a:srgbClr val="E04F86"/>
            </a:solidFill>
            <a:prstDash val="solid"/>
          </a:ln>
        </p:spPr>
      </p:sp>
      <p:sp>
        <p:nvSpPr>
          <p:cNvPr id="7" name="Text 5"/>
          <p:cNvSpPr txBox="1"/>
          <p:nvPr/>
        </p:nvSpPr>
        <p:spPr>
          <a:xfrm>
            <a:off x="978408" y="2487168"/>
            <a:ext cx="4892040" cy="237744"/>
          </a:xfrm>
          <a:prstGeom prst="rect">
            <a:avLst/>
          </a:prstGeom>
          <a:noFill/>
          <a:ln/>
        </p:spPr>
        <p:txBody>
          <a:bodyPr wrap="square" lIns="0" tIns="0" rIns="0" bIns="0" rtlCol="0" anchor="ctr"/>
          <a:lstStyle/>
          <a:p>
            <a:pPr indent="0" marL="0">
              <a:buNone/>
            </a:pPr>
            <a:r>
              <a:rPr lang="en-US" sz="1450" b="1" dirty="0">
                <a:solidFill>
                  <a:srgbClr val="22222A"/>
                </a:solidFill>
                <a:latin typeface="Calibri" pitchFamily="34" charset="0"/>
                <a:ea typeface="Calibri" pitchFamily="34" charset="-122"/>
                <a:cs typeface="Calibri" pitchFamily="34" charset="-120"/>
              </a:rPr>
              <a:t>Affect Suppression</a:t>
            </a:r>
            <a:endParaRPr lang="en-US" sz="1450" dirty="0"/>
          </a:p>
        </p:txBody>
      </p:sp>
      <p:sp>
        <p:nvSpPr>
          <p:cNvPr id="8" name="Text 6"/>
          <p:cNvSpPr txBox="1"/>
          <p:nvPr/>
        </p:nvSpPr>
        <p:spPr>
          <a:xfrm>
            <a:off x="978408" y="2734056"/>
            <a:ext cx="4892040" cy="182880"/>
          </a:xfrm>
          <a:prstGeom prst="rect">
            <a:avLst/>
          </a:prstGeom>
          <a:noFill/>
          <a:ln/>
        </p:spPr>
        <p:txBody>
          <a:bodyPr wrap="square" lIns="0" tIns="0" rIns="0" bIns="0" rtlCol="0" anchor="ctr"/>
          <a:lstStyle/>
          <a:p>
            <a:pPr indent="0" marL="0">
              <a:buNone/>
            </a:pPr>
            <a:r>
              <a:rPr lang="en-US" sz="950" spc="30" kern="0" dirty="0">
                <a:solidFill>
                  <a:srgbClr val="807C8A"/>
                </a:solidFill>
                <a:latin typeface="Calibri" pitchFamily="34" charset="0"/>
                <a:ea typeface="Calibri" pitchFamily="34" charset="-122"/>
                <a:cs typeface="Calibri" pitchFamily="34" charset="-120"/>
              </a:rPr>
              <a:t>5 videos   ·   DA:core AP:feared FA:alternating</a:t>
            </a:r>
            <a:endParaRPr lang="en-US" sz="950" dirty="0"/>
          </a:p>
        </p:txBody>
      </p:sp>
      <p:sp>
        <p:nvSpPr>
          <p:cNvPr id="9" name="Text 7"/>
          <p:cNvSpPr txBox="1"/>
          <p:nvPr/>
        </p:nvSpPr>
        <p:spPr>
          <a:xfrm>
            <a:off x="978408" y="2935224"/>
            <a:ext cx="4892040" cy="713232"/>
          </a:xfrm>
          <a:prstGeom prst="rect">
            <a:avLst/>
          </a:prstGeom>
          <a:noFill/>
          <a:ln/>
        </p:spPr>
        <p:txBody>
          <a:bodyPr wrap="square" lIns="0" tIns="0" rIns="0" bIns="0" rtlCol="0" anchor="ctr"/>
          <a:lstStyle/>
          <a:p>
            <a:pPr indent="0" marL="0">
              <a:lnSpc>
                <a:spcPts val="1550"/>
              </a:lnSpc>
              <a:buNone/>
            </a:pPr>
            <a:r>
              <a:rPr lang="en-US" sz="1150" dirty="0">
                <a:solidFill>
                  <a:srgbClr val="6A6875"/>
                </a:solidFill>
                <a:latin typeface="Calibri" pitchFamily="34" charset="0"/>
                <a:ea typeface="Calibri" pitchFamily="34" charset="-122"/>
                <a:cs typeface="Calibri" pitchFamily="34" charset="-120"/>
              </a:rPr>
              <a:t>The system does not merely hide hurt from other people — it withholds the experience from the person having it.</a:t>
            </a:r>
            <a:endParaRPr lang="en-US" sz="1150" dirty="0"/>
          </a:p>
        </p:txBody>
      </p:sp>
      <p:sp>
        <p:nvSpPr>
          <p:cNvPr id="10" name="Shape 8"/>
          <p:cNvSpPr/>
          <p:nvPr/>
        </p:nvSpPr>
        <p:spPr>
          <a:xfrm>
            <a:off x="6327648" y="2537460"/>
            <a:ext cx="173736" cy="173736"/>
          </a:xfrm>
          <a:prstGeom prst="ellipse">
            <a:avLst/>
          </a:prstGeom>
          <a:solidFill>
            <a:srgbClr val="E04F86"/>
          </a:solidFill>
          <a:ln w="12700">
            <a:solidFill>
              <a:srgbClr val="E04F86"/>
            </a:solidFill>
            <a:prstDash val="solid"/>
          </a:ln>
        </p:spPr>
      </p:sp>
      <p:sp>
        <p:nvSpPr>
          <p:cNvPr id="11" name="Text 9"/>
          <p:cNvSpPr txBox="1"/>
          <p:nvPr/>
        </p:nvSpPr>
        <p:spPr>
          <a:xfrm>
            <a:off x="6647688" y="2487168"/>
            <a:ext cx="4892040" cy="237744"/>
          </a:xfrm>
          <a:prstGeom prst="rect">
            <a:avLst/>
          </a:prstGeom>
          <a:noFill/>
          <a:ln/>
        </p:spPr>
        <p:txBody>
          <a:bodyPr wrap="square" lIns="0" tIns="0" rIns="0" bIns="0" rtlCol="0" anchor="ctr"/>
          <a:lstStyle/>
          <a:p>
            <a:pPr indent="0" marL="0">
              <a:buNone/>
            </a:pPr>
            <a:r>
              <a:rPr lang="en-US" sz="1450" b="1" dirty="0">
                <a:solidFill>
                  <a:srgbClr val="22222A"/>
                </a:solidFill>
                <a:latin typeface="Calibri" pitchFamily="34" charset="0"/>
                <a:ea typeface="Calibri" pitchFamily="34" charset="-122"/>
                <a:cs typeface="Calibri" pitchFamily="34" charset="-120"/>
              </a:rPr>
              <a:t>Hyperactivating Strategies</a:t>
            </a:r>
            <a:endParaRPr lang="en-US" sz="1450" dirty="0"/>
          </a:p>
        </p:txBody>
      </p:sp>
      <p:sp>
        <p:nvSpPr>
          <p:cNvPr id="12" name="Text 10"/>
          <p:cNvSpPr txBox="1"/>
          <p:nvPr/>
        </p:nvSpPr>
        <p:spPr>
          <a:xfrm>
            <a:off x="6647688" y="2734056"/>
            <a:ext cx="4892040" cy="182880"/>
          </a:xfrm>
          <a:prstGeom prst="rect">
            <a:avLst/>
          </a:prstGeom>
          <a:noFill/>
          <a:ln/>
        </p:spPr>
        <p:txBody>
          <a:bodyPr wrap="square" lIns="0" tIns="0" rIns="0" bIns="0" rtlCol="0" anchor="ctr"/>
          <a:lstStyle/>
          <a:p>
            <a:pPr indent="0" marL="0">
              <a:buNone/>
            </a:pPr>
            <a:r>
              <a:rPr lang="en-US" sz="950" spc="30" kern="0" dirty="0">
                <a:solidFill>
                  <a:srgbClr val="807C8A"/>
                </a:solidFill>
                <a:latin typeface="Calibri" pitchFamily="34" charset="0"/>
                <a:ea typeface="Calibri" pitchFamily="34" charset="-122"/>
                <a:cs typeface="Calibri" pitchFamily="34" charset="-120"/>
              </a:rPr>
              <a:t>6 videos   ·   AP:core FA:alternating</a:t>
            </a:r>
            <a:endParaRPr lang="en-US" sz="950" dirty="0"/>
          </a:p>
        </p:txBody>
      </p:sp>
      <p:sp>
        <p:nvSpPr>
          <p:cNvPr id="13" name="Text 11"/>
          <p:cNvSpPr txBox="1"/>
          <p:nvPr/>
        </p:nvSpPr>
        <p:spPr>
          <a:xfrm>
            <a:off x="6647688" y="2935224"/>
            <a:ext cx="4892040" cy="713232"/>
          </a:xfrm>
          <a:prstGeom prst="rect">
            <a:avLst/>
          </a:prstGeom>
          <a:noFill/>
          <a:ln/>
        </p:spPr>
        <p:txBody>
          <a:bodyPr wrap="square" lIns="0" tIns="0" rIns="0" bIns="0" rtlCol="0" anchor="ctr"/>
          <a:lstStyle/>
          <a:p>
            <a:pPr indent="0" marL="0">
              <a:lnSpc>
                <a:spcPts val="1550"/>
              </a:lnSpc>
              <a:buNone/>
            </a:pPr>
            <a:r>
              <a:rPr lang="en-US" sz="1150" dirty="0">
                <a:solidFill>
                  <a:srgbClr val="6A6875"/>
                </a:solidFill>
                <a:latin typeface="Calibri" pitchFamily="34" charset="0"/>
                <a:ea typeface="Calibri" pitchFamily="34" charset="-122"/>
                <a:cs typeface="Calibri" pitchFamily="34" charset="-120"/>
              </a:rPr>
              <a:t>The anxious counterpart. The same growing dependency that sends the avoidant system scanning for cost sends this one scanning for signs the bond is at risk, because what it cannot afford to lose is the co-regulation…</a:t>
            </a:r>
            <a:endParaRPr lang="en-US" sz="1150" dirty="0"/>
          </a:p>
        </p:txBody>
      </p:sp>
      <p:sp>
        <p:nvSpPr>
          <p:cNvPr id="14" name="Shape 12"/>
          <p:cNvSpPr/>
          <p:nvPr/>
        </p:nvSpPr>
        <p:spPr>
          <a:xfrm>
            <a:off x="658368" y="4293108"/>
            <a:ext cx="173736" cy="173736"/>
          </a:xfrm>
          <a:prstGeom prst="ellipse">
            <a:avLst/>
          </a:prstGeom>
          <a:solidFill>
            <a:srgbClr val="C56AD9"/>
          </a:solidFill>
          <a:ln w="12700">
            <a:solidFill>
              <a:srgbClr val="C56AD9"/>
            </a:solidFill>
            <a:prstDash val="solid"/>
          </a:ln>
        </p:spPr>
      </p:sp>
      <p:sp>
        <p:nvSpPr>
          <p:cNvPr id="15" name="Text 13"/>
          <p:cNvSpPr txBox="1"/>
          <p:nvPr/>
        </p:nvSpPr>
        <p:spPr>
          <a:xfrm>
            <a:off x="978408" y="4242816"/>
            <a:ext cx="4892040" cy="237744"/>
          </a:xfrm>
          <a:prstGeom prst="rect">
            <a:avLst/>
          </a:prstGeom>
          <a:noFill/>
          <a:ln/>
        </p:spPr>
        <p:txBody>
          <a:bodyPr wrap="square" lIns="0" tIns="0" rIns="0" bIns="0" rtlCol="0" anchor="ctr"/>
          <a:lstStyle/>
          <a:p>
            <a:pPr indent="0" marL="0">
              <a:buNone/>
            </a:pPr>
            <a:r>
              <a:rPr lang="en-US" sz="1450" b="1" dirty="0">
                <a:solidFill>
                  <a:srgbClr val="22222A"/>
                </a:solidFill>
                <a:latin typeface="Calibri" pitchFamily="34" charset="0"/>
                <a:ea typeface="Calibri" pitchFamily="34" charset="-122"/>
                <a:cs typeface="Calibri" pitchFamily="34" charset="-120"/>
              </a:rPr>
              <a:t>Emotional Withdrawal</a:t>
            </a:r>
            <a:endParaRPr lang="en-US" sz="1450" dirty="0"/>
          </a:p>
        </p:txBody>
      </p:sp>
      <p:sp>
        <p:nvSpPr>
          <p:cNvPr id="16" name="Text 14"/>
          <p:cNvSpPr txBox="1"/>
          <p:nvPr/>
        </p:nvSpPr>
        <p:spPr>
          <a:xfrm>
            <a:off x="978408" y="4489704"/>
            <a:ext cx="4892040" cy="182880"/>
          </a:xfrm>
          <a:prstGeom prst="rect">
            <a:avLst/>
          </a:prstGeom>
          <a:noFill/>
          <a:ln/>
        </p:spPr>
        <p:txBody>
          <a:bodyPr wrap="square" lIns="0" tIns="0" rIns="0" bIns="0" rtlCol="0" anchor="ctr"/>
          <a:lstStyle/>
          <a:p>
            <a:pPr indent="0" marL="0">
              <a:buNone/>
            </a:pPr>
            <a:r>
              <a:rPr lang="en-US" sz="950" spc="30" kern="0" dirty="0">
                <a:solidFill>
                  <a:srgbClr val="807C8A"/>
                </a:solidFill>
                <a:latin typeface="Calibri" pitchFamily="34" charset="0"/>
                <a:ea typeface="Calibri" pitchFamily="34" charset="-122"/>
                <a:cs typeface="Calibri" pitchFamily="34" charset="-120"/>
              </a:rPr>
              <a:t>3 videos   ·   DA:core AP:feared FA:alternating</a:t>
            </a:r>
            <a:endParaRPr lang="en-US" sz="950" dirty="0"/>
          </a:p>
        </p:txBody>
      </p:sp>
      <p:sp>
        <p:nvSpPr>
          <p:cNvPr id="17" name="Text 15"/>
          <p:cNvSpPr txBox="1"/>
          <p:nvPr/>
        </p:nvSpPr>
        <p:spPr>
          <a:xfrm>
            <a:off x="978408" y="4690872"/>
            <a:ext cx="4892040" cy="713232"/>
          </a:xfrm>
          <a:prstGeom prst="rect">
            <a:avLst/>
          </a:prstGeom>
          <a:noFill/>
          <a:ln/>
        </p:spPr>
        <p:txBody>
          <a:bodyPr wrap="square" lIns="0" tIns="0" rIns="0" bIns="0" rtlCol="0" anchor="ctr"/>
          <a:lstStyle/>
          <a:p>
            <a:pPr indent="0" marL="0">
              <a:lnSpc>
                <a:spcPts val="1550"/>
              </a:lnSpc>
              <a:buNone/>
            </a:pPr>
            <a:r>
              <a:rPr lang="en-US" sz="1150" dirty="0">
                <a:solidFill>
                  <a:srgbClr val="6A6875"/>
                </a:solidFill>
                <a:latin typeface="Calibri" pitchFamily="34" charset="0"/>
                <a:ea typeface="Calibri" pitchFamily="34" charset="-122"/>
                <a:cs typeface="Calibri" pitchFamily="34" charset="-120"/>
              </a:rPr>
              <a:t>The visible end of deactivation: less contact, less disclosure, less of oneself brought into the room.</a:t>
            </a:r>
            <a:endParaRPr lang="en-US" sz="1150" dirty="0"/>
          </a:p>
        </p:txBody>
      </p:sp>
      <p:sp>
        <p:nvSpPr>
          <p:cNvPr id="18" name="Shape 16"/>
          <p:cNvSpPr/>
          <p:nvPr/>
        </p:nvSpPr>
        <p:spPr>
          <a:xfrm>
            <a:off x="6327648" y="4293108"/>
            <a:ext cx="173736" cy="173736"/>
          </a:xfrm>
          <a:prstGeom prst="ellipse">
            <a:avLst/>
          </a:prstGeom>
          <a:solidFill>
            <a:srgbClr val="C56AD9"/>
          </a:solidFill>
          <a:ln w="12700">
            <a:solidFill>
              <a:srgbClr val="C56AD9"/>
            </a:solidFill>
            <a:prstDash val="solid"/>
          </a:ln>
        </p:spPr>
      </p:sp>
      <p:sp>
        <p:nvSpPr>
          <p:cNvPr id="19" name="Text 17"/>
          <p:cNvSpPr txBox="1"/>
          <p:nvPr/>
        </p:nvSpPr>
        <p:spPr>
          <a:xfrm>
            <a:off x="6647688" y="4242816"/>
            <a:ext cx="4892040" cy="237744"/>
          </a:xfrm>
          <a:prstGeom prst="rect">
            <a:avLst/>
          </a:prstGeom>
          <a:noFill/>
          <a:ln/>
        </p:spPr>
        <p:txBody>
          <a:bodyPr wrap="square" lIns="0" tIns="0" rIns="0" bIns="0" rtlCol="0" anchor="ctr"/>
          <a:lstStyle/>
          <a:p>
            <a:pPr indent="0" marL="0">
              <a:buNone/>
            </a:pPr>
            <a:r>
              <a:rPr lang="en-US" sz="1450" b="1" dirty="0">
                <a:solidFill>
                  <a:srgbClr val="22222A"/>
                </a:solidFill>
                <a:latin typeface="Calibri" pitchFamily="34" charset="0"/>
                <a:ea typeface="Calibri" pitchFamily="34" charset="-122"/>
                <a:cs typeface="Calibri" pitchFamily="34" charset="-120"/>
              </a:rPr>
              <a:t>Honest Expression Of Need</a:t>
            </a:r>
            <a:endParaRPr lang="en-US" sz="1450" dirty="0"/>
          </a:p>
        </p:txBody>
      </p:sp>
      <p:sp>
        <p:nvSpPr>
          <p:cNvPr id="20" name="Text 18"/>
          <p:cNvSpPr txBox="1"/>
          <p:nvPr/>
        </p:nvSpPr>
        <p:spPr>
          <a:xfrm>
            <a:off x="6647688" y="4489704"/>
            <a:ext cx="4892040" cy="182880"/>
          </a:xfrm>
          <a:prstGeom prst="rect">
            <a:avLst/>
          </a:prstGeom>
          <a:noFill/>
          <a:ln/>
        </p:spPr>
        <p:txBody>
          <a:bodyPr wrap="square" lIns="0" tIns="0" rIns="0" bIns="0" rtlCol="0" anchor="ctr"/>
          <a:lstStyle/>
          <a:p>
            <a:pPr indent="0" marL="0">
              <a:buNone/>
            </a:pPr>
            <a:r>
              <a:rPr lang="en-US" sz="950" spc="30" kern="0" dirty="0">
                <a:solidFill>
                  <a:srgbClr val="807C8A"/>
                </a:solidFill>
                <a:latin typeface="Calibri" pitchFamily="34" charset="0"/>
                <a:ea typeface="Calibri" pitchFamily="34" charset="-122"/>
                <a:cs typeface="Calibri" pitchFamily="34" charset="-120"/>
              </a:rPr>
              <a:t>2 videos   ·   S:secure-form</a:t>
            </a:r>
            <a:endParaRPr lang="en-US" sz="950" dirty="0"/>
          </a:p>
        </p:txBody>
      </p:sp>
      <p:sp>
        <p:nvSpPr>
          <p:cNvPr id="21" name="Text 19"/>
          <p:cNvSpPr txBox="1"/>
          <p:nvPr/>
        </p:nvSpPr>
        <p:spPr>
          <a:xfrm>
            <a:off x="6647688" y="4690872"/>
            <a:ext cx="4892040" cy="713232"/>
          </a:xfrm>
          <a:prstGeom prst="rect">
            <a:avLst/>
          </a:prstGeom>
          <a:noFill/>
          <a:ln/>
        </p:spPr>
        <p:txBody>
          <a:bodyPr wrap="square" lIns="0" tIns="0" rIns="0" bIns="0" rtlCol="0" anchor="ctr"/>
          <a:lstStyle/>
          <a:p>
            <a:pPr indent="0" marL="0">
              <a:lnSpc>
                <a:spcPts val="1550"/>
              </a:lnSpc>
              <a:buNone/>
            </a:pPr>
            <a:r>
              <a:rPr lang="en-US" sz="1150" dirty="0">
                <a:solidFill>
                  <a:srgbClr val="6A6875"/>
                </a:solidFill>
                <a:latin typeface="Calibri" pitchFamily="34" charset="0"/>
                <a:ea typeface="Calibri" pitchFamily="34" charset="-122"/>
                <a:cs typeface="Calibri" pitchFamily="34" charset="-120"/>
              </a:rPr>
              <a:t>Saying what you need plainly, which requires first being in contact with it and able to name it.</a:t>
            </a:r>
            <a:endParaRPr lang="en-US" sz="1150" dirty="0"/>
          </a:p>
        </p:txBody>
      </p:sp>
      <p:sp>
        <p:nvSpPr>
          <p:cNvPr id="22" name="Text 20"/>
          <p:cNvSpPr txBox="1"/>
          <p:nvPr/>
        </p:nvSpPr>
        <p:spPr>
          <a:xfrm>
            <a:off x="658368" y="6035040"/>
            <a:ext cx="10874959" cy="411480"/>
          </a:xfrm>
          <a:prstGeom prst="rect">
            <a:avLst/>
          </a:prstGeom>
          <a:noFill/>
          <a:ln/>
        </p:spPr>
        <p:txBody>
          <a:bodyPr wrap="square" lIns="0" tIns="0" rIns="0" bIns="0" rtlCol="0" anchor="ctr"/>
          <a:lstStyle/>
          <a:p>
            <a:pPr indent="0" marL="0">
              <a:lnSpc>
                <a:spcPts val="1600"/>
              </a:lnSpc>
              <a:buNone/>
            </a:pPr>
            <a:r>
              <a:rPr lang="en-US" sz="1150" i="1" dirty="0">
                <a:solidFill>
                  <a:srgbClr val="807C8A"/>
                </a:solidFill>
                <a:latin typeface="Calibri" pitchFamily="34" charset="0"/>
                <a:ea typeface="Calibri" pitchFamily="34" charset="-122"/>
                <a:cs typeface="Calibri" pitchFamily="34" charset="-120"/>
              </a:rPr>
              <a:t>The lens line under each title is what that node is for each style — core, feared, alternating, absent. The same strategy is a defining move for one style and the thing another organises itself against.</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807C8A"/>
                </a:solidFill>
                <a:latin typeface="Calibri" pitchFamily="34" charset="0"/>
                <a:ea typeface="Calibri" pitchFamily="34" charset="-122"/>
                <a:cs typeface="Calibri" pitchFamily="34" charset="-120"/>
              </a:rPr>
              <a:t>22</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7B4BD8"/>
                </a:solidFill>
                <a:latin typeface="Calibri" pitchFamily="34" charset="0"/>
                <a:ea typeface="Calibri" pitchFamily="34" charset="-122"/>
                <a:cs typeface="Calibri" pitchFamily="34" charset="-120"/>
              </a:rPr>
              <a:t>THE STRUCTURE</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200" b="1" dirty="0">
                <a:solidFill>
                  <a:srgbClr val="22222A"/>
                </a:solidFill>
                <a:latin typeface="Cambria" pitchFamily="34" charset="0"/>
                <a:ea typeface="Cambria" pitchFamily="34" charset="-122"/>
                <a:cs typeface="Cambria" pitchFamily="34" charset="-120"/>
              </a:rPr>
              <a:t>Beliefs and origins</a:t>
            </a:r>
            <a:endParaRPr lang="en-US" sz="3200" dirty="0"/>
          </a:p>
        </p:txBody>
      </p:sp>
      <p:sp>
        <p:nvSpPr>
          <p:cNvPr id="5" name="Text 3"/>
          <p:cNvSpPr txBox="1"/>
          <p:nvPr/>
        </p:nvSpPr>
        <p:spPr>
          <a:xfrm>
            <a:off x="658368" y="1609344"/>
            <a:ext cx="9352465" cy="566928"/>
          </a:xfrm>
          <a:prstGeom prst="rect">
            <a:avLst/>
          </a:prstGeom>
          <a:noFill/>
          <a:ln/>
        </p:spPr>
        <p:txBody>
          <a:bodyPr wrap="square" lIns="0" tIns="0" rIns="0" bIns="0" rtlCol="0" anchor="ctr"/>
          <a:lstStyle/>
          <a:p>
            <a:pPr indent="0" marL="0">
              <a:lnSpc>
                <a:spcPts val="2100"/>
              </a:lnSpc>
              <a:buNone/>
            </a:pPr>
            <a:r>
              <a:rPr lang="en-US" sz="1450" dirty="0">
                <a:solidFill>
                  <a:srgbClr val="6A6875"/>
                </a:solidFill>
                <a:latin typeface="Calibri" pitchFamily="34" charset="0"/>
                <a:ea typeface="Calibri" pitchFamily="34" charset="-122"/>
                <a:cs typeface="Calibri" pitchFamily="34" charset="-120"/>
              </a:rPr>
              <a:t>The conclusion that keeps a strategy running, and the developmental condition that made the conclusion reasonable at the time.</a:t>
            </a:r>
            <a:endParaRPr lang="en-US" sz="1450" dirty="0"/>
          </a:p>
        </p:txBody>
      </p:sp>
      <p:sp>
        <p:nvSpPr>
          <p:cNvPr id="6" name="Shape 4"/>
          <p:cNvSpPr/>
          <p:nvPr/>
        </p:nvSpPr>
        <p:spPr>
          <a:xfrm>
            <a:off x="658368" y="2537460"/>
            <a:ext cx="173736" cy="173736"/>
          </a:xfrm>
          <a:prstGeom prst="ellipse">
            <a:avLst/>
          </a:prstGeom>
          <a:solidFill>
            <a:srgbClr val="5B83E8"/>
          </a:solidFill>
          <a:ln w="12700">
            <a:solidFill>
              <a:srgbClr val="5B83E8"/>
            </a:solidFill>
            <a:prstDash val="solid"/>
          </a:ln>
        </p:spPr>
      </p:sp>
      <p:sp>
        <p:nvSpPr>
          <p:cNvPr id="7" name="Text 5"/>
          <p:cNvSpPr txBox="1"/>
          <p:nvPr/>
        </p:nvSpPr>
        <p:spPr>
          <a:xfrm>
            <a:off x="978408" y="2487168"/>
            <a:ext cx="4892040" cy="237744"/>
          </a:xfrm>
          <a:prstGeom prst="rect">
            <a:avLst/>
          </a:prstGeom>
          <a:noFill/>
          <a:ln/>
        </p:spPr>
        <p:txBody>
          <a:bodyPr wrap="square" lIns="0" tIns="0" rIns="0" bIns="0" rtlCol="0" anchor="ctr"/>
          <a:lstStyle/>
          <a:p>
            <a:pPr indent="0" marL="0">
              <a:buNone/>
            </a:pPr>
            <a:r>
              <a:rPr lang="en-US" sz="1450" b="1" dirty="0">
                <a:solidFill>
                  <a:srgbClr val="22222A"/>
                </a:solidFill>
                <a:latin typeface="Calibri" pitchFamily="34" charset="0"/>
                <a:ea typeface="Calibri" pitchFamily="34" charset="-122"/>
                <a:cs typeface="Calibri" pitchFamily="34" charset="-120"/>
              </a:rPr>
              <a:t>The Redemption Fantasy</a:t>
            </a:r>
            <a:endParaRPr lang="en-US" sz="1450" dirty="0"/>
          </a:p>
        </p:txBody>
      </p:sp>
      <p:sp>
        <p:nvSpPr>
          <p:cNvPr id="8" name="Text 6"/>
          <p:cNvSpPr txBox="1"/>
          <p:nvPr/>
        </p:nvSpPr>
        <p:spPr>
          <a:xfrm>
            <a:off x="978408" y="2734056"/>
            <a:ext cx="4892040" cy="182880"/>
          </a:xfrm>
          <a:prstGeom prst="rect">
            <a:avLst/>
          </a:prstGeom>
          <a:noFill/>
          <a:ln/>
        </p:spPr>
        <p:txBody>
          <a:bodyPr wrap="square" lIns="0" tIns="0" rIns="0" bIns="0" rtlCol="0" anchor="ctr"/>
          <a:lstStyle/>
          <a:p>
            <a:pPr indent="0" marL="0">
              <a:buNone/>
            </a:pPr>
            <a:r>
              <a:rPr lang="en-US" sz="950" spc="30" kern="0" dirty="0">
                <a:solidFill>
                  <a:srgbClr val="807C8A"/>
                </a:solidFill>
                <a:latin typeface="Calibri" pitchFamily="34" charset="0"/>
                <a:ea typeface="Calibri" pitchFamily="34" charset="-122"/>
                <a:cs typeface="Calibri" pitchFamily="34" charset="-120"/>
              </a:rPr>
              <a:t>3 videos   ·   AP:core FA:alternating</a:t>
            </a:r>
            <a:endParaRPr lang="en-US" sz="950" dirty="0"/>
          </a:p>
        </p:txBody>
      </p:sp>
      <p:sp>
        <p:nvSpPr>
          <p:cNvPr id="9" name="Text 7"/>
          <p:cNvSpPr txBox="1"/>
          <p:nvPr/>
        </p:nvSpPr>
        <p:spPr>
          <a:xfrm>
            <a:off x="978408" y="2935224"/>
            <a:ext cx="4892040" cy="713232"/>
          </a:xfrm>
          <a:prstGeom prst="rect">
            <a:avLst/>
          </a:prstGeom>
          <a:noFill/>
          <a:ln/>
        </p:spPr>
        <p:txBody>
          <a:bodyPr wrap="square" lIns="0" tIns="0" rIns="0" bIns="0" rtlCol="0" anchor="ctr"/>
          <a:lstStyle/>
          <a:p>
            <a:pPr indent="0" marL="0">
              <a:lnSpc>
                <a:spcPts val="1550"/>
              </a:lnSpc>
              <a:buNone/>
            </a:pPr>
            <a:r>
              <a:rPr lang="en-US" sz="1150" dirty="0">
                <a:solidFill>
                  <a:srgbClr val="6A6875"/>
                </a:solidFill>
                <a:latin typeface="Calibri" pitchFamily="34" charset="0"/>
                <a:ea typeface="Calibri" pitchFamily="34" charset="-122"/>
                <a:cs typeface="Calibri" pitchFamily="34" charset="-120"/>
              </a:rPr>
              <a:t>The wager underneath limerence: that things become permanently alright if this particular person can be got to care in this particular way.</a:t>
            </a:r>
            <a:endParaRPr lang="en-US" sz="1150" dirty="0"/>
          </a:p>
        </p:txBody>
      </p:sp>
      <p:sp>
        <p:nvSpPr>
          <p:cNvPr id="10" name="Shape 8"/>
          <p:cNvSpPr/>
          <p:nvPr/>
        </p:nvSpPr>
        <p:spPr>
          <a:xfrm>
            <a:off x="6327648" y="2537460"/>
            <a:ext cx="173736" cy="173736"/>
          </a:xfrm>
          <a:prstGeom prst="ellipse">
            <a:avLst/>
          </a:prstGeom>
          <a:solidFill>
            <a:srgbClr val="5B83E8"/>
          </a:solidFill>
          <a:ln w="12700">
            <a:solidFill>
              <a:srgbClr val="5B83E8"/>
            </a:solidFill>
            <a:prstDash val="solid"/>
          </a:ln>
        </p:spPr>
      </p:sp>
      <p:sp>
        <p:nvSpPr>
          <p:cNvPr id="11" name="Text 9"/>
          <p:cNvSpPr txBox="1"/>
          <p:nvPr/>
        </p:nvSpPr>
        <p:spPr>
          <a:xfrm>
            <a:off x="6647688" y="2487168"/>
            <a:ext cx="4892040" cy="237744"/>
          </a:xfrm>
          <a:prstGeom prst="rect">
            <a:avLst/>
          </a:prstGeom>
          <a:noFill/>
          <a:ln/>
        </p:spPr>
        <p:txBody>
          <a:bodyPr wrap="square" lIns="0" tIns="0" rIns="0" bIns="0" rtlCol="0" anchor="ctr"/>
          <a:lstStyle/>
          <a:p>
            <a:pPr indent="0" marL="0">
              <a:buNone/>
            </a:pPr>
            <a:r>
              <a:rPr lang="en-US" sz="1450" b="1" dirty="0">
                <a:solidFill>
                  <a:srgbClr val="22222A"/>
                </a:solidFill>
                <a:latin typeface="Calibri" pitchFamily="34" charset="0"/>
                <a:ea typeface="Calibri" pitchFamily="34" charset="-122"/>
                <a:cs typeface="Calibri" pitchFamily="34" charset="-120"/>
              </a:rPr>
              <a:t>Relationships Only Take</a:t>
            </a:r>
            <a:endParaRPr lang="en-US" sz="1450" dirty="0"/>
          </a:p>
        </p:txBody>
      </p:sp>
      <p:sp>
        <p:nvSpPr>
          <p:cNvPr id="12" name="Text 10"/>
          <p:cNvSpPr txBox="1"/>
          <p:nvPr/>
        </p:nvSpPr>
        <p:spPr>
          <a:xfrm>
            <a:off x="6647688" y="2734056"/>
            <a:ext cx="4892040" cy="182880"/>
          </a:xfrm>
          <a:prstGeom prst="rect">
            <a:avLst/>
          </a:prstGeom>
          <a:noFill/>
          <a:ln/>
        </p:spPr>
        <p:txBody>
          <a:bodyPr wrap="square" lIns="0" tIns="0" rIns="0" bIns="0" rtlCol="0" anchor="ctr"/>
          <a:lstStyle/>
          <a:p>
            <a:pPr indent="0" marL="0">
              <a:buNone/>
            </a:pPr>
            <a:r>
              <a:rPr lang="en-US" sz="950" spc="30" kern="0" dirty="0">
                <a:solidFill>
                  <a:srgbClr val="807C8A"/>
                </a:solidFill>
                <a:latin typeface="Calibri" pitchFamily="34" charset="0"/>
                <a:ea typeface="Calibri" pitchFamily="34" charset="-122"/>
                <a:cs typeface="Calibri" pitchFamily="34" charset="-120"/>
              </a:rPr>
              <a:t>3 videos   ·   DA:core FA:alternating</a:t>
            </a:r>
            <a:endParaRPr lang="en-US" sz="950" dirty="0"/>
          </a:p>
        </p:txBody>
      </p:sp>
      <p:sp>
        <p:nvSpPr>
          <p:cNvPr id="13" name="Text 11"/>
          <p:cNvSpPr txBox="1"/>
          <p:nvPr/>
        </p:nvSpPr>
        <p:spPr>
          <a:xfrm>
            <a:off x="6647688" y="2935224"/>
            <a:ext cx="4892040" cy="713232"/>
          </a:xfrm>
          <a:prstGeom prst="rect">
            <a:avLst/>
          </a:prstGeom>
          <a:noFill/>
          <a:ln/>
        </p:spPr>
        <p:txBody>
          <a:bodyPr wrap="square" lIns="0" tIns="0" rIns="0" bIns="0" rtlCol="0" anchor="ctr"/>
          <a:lstStyle/>
          <a:p>
            <a:pPr indent="0" marL="0">
              <a:lnSpc>
                <a:spcPts val="1550"/>
              </a:lnSpc>
              <a:buNone/>
            </a:pPr>
            <a:r>
              <a:rPr lang="en-US" sz="1150" dirty="0">
                <a:solidFill>
                  <a:srgbClr val="6A6875"/>
                </a:solidFill>
                <a:latin typeface="Calibri" pitchFamily="34" charset="0"/>
                <a:ea typeface="Calibri" pitchFamily="34" charset="-122"/>
                <a:cs typeface="Calibri" pitchFamily="34" charset="-120"/>
              </a:rPr>
              <a:t>The conclusion that follows from never bringing your own wants to a relationship: if you do not ask it for anything, it cannot give you anything, and the ledger will always read as loss.</a:t>
            </a:r>
            <a:endParaRPr lang="en-US" sz="1150" dirty="0"/>
          </a:p>
        </p:txBody>
      </p:sp>
      <p:sp>
        <p:nvSpPr>
          <p:cNvPr id="14" name="Shape 12"/>
          <p:cNvSpPr/>
          <p:nvPr/>
        </p:nvSpPr>
        <p:spPr>
          <a:xfrm>
            <a:off x="658368" y="4293108"/>
            <a:ext cx="173736" cy="173736"/>
          </a:xfrm>
          <a:prstGeom prst="ellipse">
            <a:avLst/>
          </a:prstGeom>
          <a:solidFill>
            <a:srgbClr val="3C5FA8"/>
          </a:solidFill>
          <a:ln w="12700">
            <a:solidFill>
              <a:srgbClr val="3C5FA8"/>
            </a:solidFill>
            <a:prstDash val="solid"/>
          </a:ln>
        </p:spPr>
      </p:sp>
      <p:sp>
        <p:nvSpPr>
          <p:cNvPr id="15" name="Text 13"/>
          <p:cNvSpPr txBox="1"/>
          <p:nvPr/>
        </p:nvSpPr>
        <p:spPr>
          <a:xfrm>
            <a:off x="978408" y="4242816"/>
            <a:ext cx="4892040" cy="237744"/>
          </a:xfrm>
          <a:prstGeom prst="rect">
            <a:avLst/>
          </a:prstGeom>
          <a:noFill/>
          <a:ln/>
        </p:spPr>
        <p:txBody>
          <a:bodyPr wrap="square" lIns="0" tIns="0" rIns="0" bIns="0" rtlCol="0" anchor="ctr"/>
          <a:lstStyle/>
          <a:p>
            <a:pPr indent="0" marL="0">
              <a:buNone/>
            </a:pPr>
            <a:r>
              <a:rPr lang="en-US" sz="1450" b="1" dirty="0">
                <a:solidFill>
                  <a:srgbClr val="22222A"/>
                </a:solidFill>
                <a:latin typeface="Calibri" pitchFamily="34" charset="0"/>
                <a:ea typeface="Calibri" pitchFamily="34" charset="-122"/>
                <a:cs typeface="Calibri" pitchFamily="34" charset="-120"/>
              </a:rPr>
              <a:t>Attachment-Seeking Met With Hostility</a:t>
            </a:r>
            <a:endParaRPr lang="en-US" sz="1450" dirty="0"/>
          </a:p>
        </p:txBody>
      </p:sp>
      <p:sp>
        <p:nvSpPr>
          <p:cNvPr id="16" name="Text 14"/>
          <p:cNvSpPr txBox="1"/>
          <p:nvPr/>
        </p:nvSpPr>
        <p:spPr>
          <a:xfrm>
            <a:off x="978408" y="4489704"/>
            <a:ext cx="4892040" cy="182880"/>
          </a:xfrm>
          <a:prstGeom prst="rect">
            <a:avLst/>
          </a:prstGeom>
          <a:noFill/>
          <a:ln/>
        </p:spPr>
        <p:txBody>
          <a:bodyPr wrap="square" lIns="0" tIns="0" rIns="0" bIns="0" rtlCol="0" anchor="ctr"/>
          <a:lstStyle/>
          <a:p>
            <a:pPr indent="0" marL="0">
              <a:buNone/>
            </a:pPr>
            <a:r>
              <a:rPr lang="en-US" sz="950" spc="30" kern="0" dirty="0">
                <a:solidFill>
                  <a:srgbClr val="807C8A"/>
                </a:solidFill>
                <a:latin typeface="Calibri" pitchFamily="34" charset="0"/>
                <a:ea typeface="Calibri" pitchFamily="34" charset="-122"/>
                <a:cs typeface="Calibri" pitchFamily="34" charset="-120"/>
              </a:rPr>
              <a:t>6 videos   ·   DA:core AP:feared FA:alternating</a:t>
            </a:r>
            <a:endParaRPr lang="en-US" sz="950" dirty="0"/>
          </a:p>
        </p:txBody>
      </p:sp>
      <p:sp>
        <p:nvSpPr>
          <p:cNvPr id="17" name="Text 15"/>
          <p:cNvSpPr txBox="1"/>
          <p:nvPr/>
        </p:nvSpPr>
        <p:spPr>
          <a:xfrm>
            <a:off x="978408" y="4690872"/>
            <a:ext cx="4892040" cy="713232"/>
          </a:xfrm>
          <a:prstGeom prst="rect">
            <a:avLst/>
          </a:prstGeom>
          <a:noFill/>
          <a:ln/>
        </p:spPr>
        <p:txBody>
          <a:bodyPr wrap="square" lIns="0" tIns="0" rIns="0" bIns="0" rtlCol="0" anchor="ctr"/>
          <a:lstStyle/>
          <a:p>
            <a:pPr indent="0" marL="0">
              <a:lnSpc>
                <a:spcPts val="1550"/>
              </a:lnSpc>
              <a:buNone/>
            </a:pPr>
            <a:r>
              <a:rPr lang="en-US" sz="1150" dirty="0">
                <a:solidFill>
                  <a:srgbClr val="6A6875"/>
                </a:solidFill>
                <a:latin typeface="Calibri" pitchFamily="34" charset="0"/>
                <a:ea typeface="Calibri" pitchFamily="34" charset="-122"/>
                <a:cs typeface="Calibri" pitchFamily="34" charset="-120"/>
              </a:rPr>
              <a:t>The developmental condition behind avoidant patterning: reaching toward a caregiver in vulnerability or need predictably produced withdrawal or hostility rather than attunement.</a:t>
            </a:r>
            <a:endParaRPr lang="en-US" sz="1150" dirty="0"/>
          </a:p>
        </p:txBody>
      </p:sp>
      <p:sp>
        <p:nvSpPr>
          <p:cNvPr id="18" name="Shape 16"/>
          <p:cNvSpPr/>
          <p:nvPr/>
        </p:nvSpPr>
        <p:spPr>
          <a:xfrm>
            <a:off x="6327648" y="4293108"/>
            <a:ext cx="173736" cy="173736"/>
          </a:xfrm>
          <a:prstGeom prst="ellipse">
            <a:avLst/>
          </a:prstGeom>
          <a:solidFill>
            <a:srgbClr val="3C5FA8"/>
          </a:solidFill>
          <a:ln w="12700">
            <a:solidFill>
              <a:srgbClr val="3C5FA8"/>
            </a:solidFill>
            <a:prstDash val="solid"/>
          </a:ln>
        </p:spPr>
      </p:sp>
      <p:sp>
        <p:nvSpPr>
          <p:cNvPr id="19" name="Text 17"/>
          <p:cNvSpPr txBox="1"/>
          <p:nvPr/>
        </p:nvSpPr>
        <p:spPr>
          <a:xfrm>
            <a:off x="6647688" y="4242816"/>
            <a:ext cx="4892040" cy="237744"/>
          </a:xfrm>
          <a:prstGeom prst="rect">
            <a:avLst/>
          </a:prstGeom>
          <a:noFill/>
          <a:ln/>
        </p:spPr>
        <p:txBody>
          <a:bodyPr wrap="square" lIns="0" tIns="0" rIns="0" bIns="0" rtlCol="0" anchor="ctr"/>
          <a:lstStyle/>
          <a:p>
            <a:pPr indent="0" marL="0">
              <a:buNone/>
            </a:pPr>
            <a:r>
              <a:rPr lang="en-US" sz="1450" b="1" dirty="0">
                <a:solidFill>
                  <a:srgbClr val="22222A"/>
                </a:solidFill>
                <a:latin typeface="Calibri" pitchFamily="34" charset="0"/>
                <a:ea typeface="Calibri" pitchFamily="34" charset="-122"/>
                <a:cs typeface="Calibri" pitchFamily="34" charset="-120"/>
              </a:rPr>
              <a:t>Inconsistent Responsiveness</a:t>
            </a:r>
            <a:endParaRPr lang="en-US" sz="1450" dirty="0"/>
          </a:p>
        </p:txBody>
      </p:sp>
      <p:sp>
        <p:nvSpPr>
          <p:cNvPr id="20" name="Text 18"/>
          <p:cNvSpPr txBox="1"/>
          <p:nvPr/>
        </p:nvSpPr>
        <p:spPr>
          <a:xfrm>
            <a:off x="6647688" y="4489704"/>
            <a:ext cx="4892040" cy="182880"/>
          </a:xfrm>
          <a:prstGeom prst="rect">
            <a:avLst/>
          </a:prstGeom>
          <a:noFill/>
          <a:ln/>
        </p:spPr>
        <p:txBody>
          <a:bodyPr wrap="square" lIns="0" tIns="0" rIns="0" bIns="0" rtlCol="0" anchor="ctr"/>
          <a:lstStyle/>
          <a:p>
            <a:pPr indent="0" marL="0">
              <a:buNone/>
            </a:pPr>
            <a:r>
              <a:rPr lang="en-US" sz="950" spc="30" kern="0" dirty="0">
                <a:solidFill>
                  <a:srgbClr val="807C8A"/>
                </a:solidFill>
                <a:latin typeface="Calibri" pitchFamily="34" charset="0"/>
                <a:ea typeface="Calibri" pitchFamily="34" charset="-122"/>
                <a:cs typeface="Calibri" pitchFamily="34" charset="-120"/>
              </a:rPr>
              <a:t>2 videos   ·   AP:core FA:alternating</a:t>
            </a:r>
            <a:endParaRPr lang="en-US" sz="950" dirty="0"/>
          </a:p>
        </p:txBody>
      </p:sp>
      <p:sp>
        <p:nvSpPr>
          <p:cNvPr id="21" name="Text 19"/>
          <p:cNvSpPr txBox="1"/>
          <p:nvPr/>
        </p:nvSpPr>
        <p:spPr>
          <a:xfrm>
            <a:off x="6647688" y="4690872"/>
            <a:ext cx="4892040" cy="713232"/>
          </a:xfrm>
          <a:prstGeom prst="rect">
            <a:avLst/>
          </a:prstGeom>
          <a:noFill/>
          <a:ln/>
        </p:spPr>
        <p:txBody>
          <a:bodyPr wrap="square" lIns="0" tIns="0" rIns="0" bIns="0" rtlCol="0" anchor="ctr"/>
          <a:lstStyle/>
          <a:p>
            <a:pPr indent="0" marL="0">
              <a:lnSpc>
                <a:spcPts val="1550"/>
              </a:lnSpc>
              <a:buNone/>
            </a:pPr>
            <a:r>
              <a:rPr lang="en-US" sz="1150" dirty="0">
                <a:solidFill>
                  <a:srgbClr val="6A6875"/>
                </a:solidFill>
                <a:latin typeface="Calibri" pitchFamily="34" charset="0"/>
                <a:ea typeface="Calibri" pitchFamily="34" charset="-122"/>
                <a:cs typeface="Calibri" pitchFamily="34" charset="-120"/>
              </a:rPr>
              <a:t>Care that arrived sometimes and not others.</a:t>
            </a:r>
            <a:endParaRPr lang="en-US" sz="1150" dirty="0"/>
          </a:p>
        </p:txBody>
      </p:sp>
      <p:sp>
        <p:nvSpPr>
          <p:cNvPr id="22" name="Text 20"/>
          <p:cNvSpPr txBox="1"/>
          <p:nvPr/>
        </p:nvSpPr>
        <p:spPr>
          <a:xfrm>
            <a:off x="658368" y="6035040"/>
            <a:ext cx="10874959" cy="411480"/>
          </a:xfrm>
          <a:prstGeom prst="rect">
            <a:avLst/>
          </a:prstGeom>
          <a:noFill/>
          <a:ln/>
        </p:spPr>
        <p:txBody>
          <a:bodyPr wrap="square" lIns="0" tIns="0" rIns="0" bIns="0" rtlCol="0" anchor="ctr"/>
          <a:lstStyle/>
          <a:p>
            <a:pPr indent="0" marL="0">
              <a:lnSpc>
                <a:spcPts val="1600"/>
              </a:lnSpc>
              <a:buNone/>
            </a:pPr>
            <a:r>
              <a:rPr lang="en-US" sz="1150" i="1" dirty="0">
                <a:solidFill>
                  <a:srgbClr val="807C8A"/>
                </a:solidFill>
                <a:latin typeface="Calibri" pitchFamily="34" charset="0"/>
                <a:ea typeface="Calibri" pitchFamily="34" charset="-122"/>
                <a:cs typeface="Calibri" pitchFamily="34" charset="-120"/>
              </a:rPr>
              <a:t>Only 13 origins. They are the most connected nodes in the graph — a single developmental condition sits underneath dozens of adult moves.</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807C8A"/>
                </a:solidFill>
                <a:latin typeface="Calibri" pitchFamily="34" charset="0"/>
                <a:ea typeface="Calibri" pitchFamily="34" charset="-122"/>
                <a:cs typeface="Calibri" pitchFamily="34" charset="-120"/>
              </a:rPr>
              <a:t>23</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7B4BD8"/>
                </a:solidFill>
                <a:latin typeface="Calibri" pitchFamily="34" charset="0"/>
                <a:ea typeface="Calibri" pitchFamily="34" charset="-122"/>
                <a:cs typeface="Calibri" pitchFamily="34" charset="-120"/>
              </a:rPr>
              <a:t>THE HEALING SIDE</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200" b="1" dirty="0">
                <a:solidFill>
                  <a:srgbClr val="22222A"/>
                </a:solidFill>
                <a:latin typeface="Cambria" pitchFamily="34" charset="0"/>
                <a:ea typeface="Cambria" pitchFamily="34" charset="-122"/>
                <a:cs typeface="Cambria" pitchFamily="34" charset="-120"/>
              </a:rPr>
              <a:t>Practices</a:t>
            </a:r>
            <a:endParaRPr lang="en-US" sz="3200" dirty="0"/>
          </a:p>
        </p:txBody>
      </p:sp>
      <p:sp>
        <p:nvSpPr>
          <p:cNvPr id="5" name="Text 3"/>
          <p:cNvSpPr txBox="1"/>
          <p:nvPr/>
        </p:nvSpPr>
        <p:spPr>
          <a:xfrm>
            <a:off x="658368" y="1609344"/>
            <a:ext cx="9352465" cy="566928"/>
          </a:xfrm>
          <a:prstGeom prst="rect">
            <a:avLst/>
          </a:prstGeom>
          <a:noFill/>
          <a:ln/>
        </p:spPr>
        <p:txBody>
          <a:bodyPr wrap="square" lIns="0" tIns="0" rIns="0" bIns="0" rtlCol="0" anchor="ctr"/>
          <a:lstStyle/>
          <a:p>
            <a:pPr indent="0" marL="0">
              <a:lnSpc>
                <a:spcPts val="2100"/>
              </a:lnSpc>
              <a:buNone/>
            </a:pPr>
            <a:r>
              <a:rPr lang="en-US" sz="1450" dirty="0">
                <a:solidFill>
                  <a:srgbClr val="6A6875"/>
                </a:solidFill>
                <a:latin typeface="Calibri" pitchFamily="34" charset="0"/>
                <a:ea typeface="Calibri" pitchFamily="34" charset="-122"/>
                <a:cs typeface="Calibri" pitchFamily="34" charset="-120"/>
              </a:rPr>
              <a:t>94 of them — the largest type after concepts. Not advice: things she describes someone actually doing, each linked to what it is supposed to unwind.</a:t>
            </a:r>
            <a:endParaRPr lang="en-US" sz="1450" dirty="0"/>
          </a:p>
        </p:txBody>
      </p:sp>
      <p:sp>
        <p:nvSpPr>
          <p:cNvPr id="6" name="Shape 4"/>
          <p:cNvSpPr/>
          <p:nvPr/>
        </p:nvSpPr>
        <p:spPr>
          <a:xfrm>
            <a:off x="658368" y="2537460"/>
            <a:ext cx="173736" cy="173736"/>
          </a:xfrm>
          <a:prstGeom prst="ellipse">
            <a:avLst/>
          </a:prstGeom>
          <a:solidFill>
            <a:srgbClr val="5BB84F"/>
          </a:solidFill>
          <a:ln w="12700">
            <a:solidFill>
              <a:srgbClr val="5BB84F"/>
            </a:solidFill>
            <a:prstDash val="solid"/>
          </a:ln>
        </p:spPr>
      </p:sp>
      <p:sp>
        <p:nvSpPr>
          <p:cNvPr id="7" name="Text 5"/>
          <p:cNvSpPr txBox="1"/>
          <p:nvPr/>
        </p:nvSpPr>
        <p:spPr>
          <a:xfrm>
            <a:off x="978408" y="2487168"/>
            <a:ext cx="4892040" cy="237744"/>
          </a:xfrm>
          <a:prstGeom prst="rect">
            <a:avLst/>
          </a:prstGeom>
          <a:noFill/>
          <a:ln/>
        </p:spPr>
        <p:txBody>
          <a:bodyPr wrap="square" lIns="0" tIns="0" rIns="0" bIns="0" rtlCol="0" anchor="ctr"/>
          <a:lstStyle/>
          <a:p>
            <a:pPr indent="0" marL="0">
              <a:buNone/>
            </a:pPr>
            <a:r>
              <a:rPr lang="en-US" sz="1450" b="1" dirty="0">
                <a:solidFill>
                  <a:srgbClr val="22222A"/>
                </a:solidFill>
                <a:latin typeface="Calibri" pitchFamily="34" charset="0"/>
                <a:ea typeface="Calibri" pitchFamily="34" charset="-122"/>
                <a:cs typeface="Calibri" pitchFamily="34" charset="-120"/>
              </a:rPr>
              <a:t>Deciding Not To Decide</a:t>
            </a:r>
            <a:endParaRPr lang="en-US" sz="1450" dirty="0"/>
          </a:p>
        </p:txBody>
      </p:sp>
      <p:sp>
        <p:nvSpPr>
          <p:cNvPr id="8" name="Text 6"/>
          <p:cNvSpPr txBox="1"/>
          <p:nvPr/>
        </p:nvSpPr>
        <p:spPr>
          <a:xfrm>
            <a:off x="978408" y="2734056"/>
            <a:ext cx="4892040" cy="182880"/>
          </a:xfrm>
          <a:prstGeom prst="rect">
            <a:avLst/>
          </a:prstGeom>
          <a:noFill/>
          <a:ln/>
        </p:spPr>
        <p:txBody>
          <a:bodyPr wrap="square" lIns="0" tIns="0" rIns="0" bIns="0" rtlCol="0" anchor="ctr"/>
          <a:lstStyle/>
          <a:p>
            <a:pPr indent="0" marL="0">
              <a:buNone/>
            </a:pPr>
            <a:r>
              <a:rPr lang="en-US" sz="950" spc="30" kern="0" dirty="0">
                <a:solidFill>
                  <a:srgbClr val="807C8A"/>
                </a:solidFill>
                <a:latin typeface="Calibri" pitchFamily="34" charset="0"/>
                <a:ea typeface="Calibri" pitchFamily="34" charset="-122"/>
                <a:cs typeface="Calibri" pitchFamily="34" charset="-120"/>
              </a:rPr>
              <a:t>4 videos   ·   DA:alternating AP:alternating FA:core</a:t>
            </a:r>
            <a:endParaRPr lang="en-US" sz="950" dirty="0"/>
          </a:p>
        </p:txBody>
      </p:sp>
      <p:sp>
        <p:nvSpPr>
          <p:cNvPr id="9" name="Text 7"/>
          <p:cNvSpPr txBox="1"/>
          <p:nvPr/>
        </p:nvSpPr>
        <p:spPr>
          <a:xfrm>
            <a:off x="978408" y="2935224"/>
            <a:ext cx="4892040" cy="713232"/>
          </a:xfrm>
          <a:prstGeom prst="rect">
            <a:avLst/>
          </a:prstGeom>
          <a:noFill/>
          <a:ln/>
        </p:spPr>
        <p:txBody>
          <a:bodyPr wrap="square" lIns="0" tIns="0" rIns="0" bIns="0" rtlCol="0" anchor="ctr"/>
          <a:lstStyle/>
          <a:p>
            <a:pPr indent="0" marL="0">
              <a:lnSpc>
                <a:spcPts val="1550"/>
              </a:lnSpc>
              <a:buNone/>
            </a:pPr>
            <a:r>
              <a:rPr lang="en-US" sz="1150" dirty="0">
                <a:solidFill>
                  <a:srgbClr val="6A6875"/>
                </a:solidFill>
                <a:latin typeface="Calibri" pitchFamily="34" charset="0"/>
                <a:ea typeface="Calibri" pitchFamily="34" charset="-122"/>
                <a:cs typeface="Calibri" pitchFamily="34" charset="-120"/>
              </a:rPr>
              <a:t>Recognise the activated state and rule yourself out of decisions while you are in it, on the reasoning that a genuinely important decision can survive a delay.</a:t>
            </a:r>
            <a:endParaRPr lang="en-US" sz="1150" dirty="0"/>
          </a:p>
        </p:txBody>
      </p:sp>
      <p:sp>
        <p:nvSpPr>
          <p:cNvPr id="10" name="Shape 8"/>
          <p:cNvSpPr/>
          <p:nvPr/>
        </p:nvSpPr>
        <p:spPr>
          <a:xfrm>
            <a:off x="6327648" y="2537460"/>
            <a:ext cx="173736" cy="173736"/>
          </a:xfrm>
          <a:prstGeom prst="ellipse">
            <a:avLst/>
          </a:prstGeom>
          <a:solidFill>
            <a:srgbClr val="5BB84F"/>
          </a:solidFill>
          <a:ln w="12700">
            <a:solidFill>
              <a:srgbClr val="5BB84F"/>
            </a:solidFill>
            <a:prstDash val="solid"/>
          </a:ln>
        </p:spPr>
      </p:sp>
      <p:sp>
        <p:nvSpPr>
          <p:cNvPr id="11" name="Text 9"/>
          <p:cNvSpPr txBox="1"/>
          <p:nvPr/>
        </p:nvSpPr>
        <p:spPr>
          <a:xfrm>
            <a:off x="6647688" y="2487168"/>
            <a:ext cx="4892040" cy="237744"/>
          </a:xfrm>
          <a:prstGeom prst="rect">
            <a:avLst/>
          </a:prstGeom>
          <a:noFill/>
          <a:ln/>
        </p:spPr>
        <p:txBody>
          <a:bodyPr wrap="square" lIns="0" tIns="0" rIns="0" bIns="0" rtlCol="0" anchor="ctr"/>
          <a:lstStyle/>
          <a:p>
            <a:pPr indent="0" marL="0">
              <a:buNone/>
            </a:pPr>
            <a:r>
              <a:rPr lang="en-US" sz="1450" b="1" dirty="0">
                <a:solidFill>
                  <a:srgbClr val="22222A"/>
                </a:solidFill>
                <a:latin typeface="Calibri" pitchFamily="34" charset="0"/>
                <a:ea typeface="Calibri" pitchFamily="34" charset="-122"/>
                <a:cs typeface="Calibri" pitchFamily="34" charset="-120"/>
              </a:rPr>
              <a:t>Taking Your Partner At Face Value</a:t>
            </a:r>
            <a:endParaRPr lang="en-US" sz="1450" dirty="0"/>
          </a:p>
        </p:txBody>
      </p:sp>
      <p:sp>
        <p:nvSpPr>
          <p:cNvPr id="12" name="Text 10"/>
          <p:cNvSpPr txBox="1"/>
          <p:nvPr/>
        </p:nvSpPr>
        <p:spPr>
          <a:xfrm>
            <a:off x="6647688" y="2734056"/>
            <a:ext cx="4892040" cy="182880"/>
          </a:xfrm>
          <a:prstGeom prst="rect">
            <a:avLst/>
          </a:prstGeom>
          <a:noFill/>
          <a:ln/>
        </p:spPr>
        <p:txBody>
          <a:bodyPr wrap="square" lIns="0" tIns="0" rIns="0" bIns="0" rtlCol="0" anchor="ctr"/>
          <a:lstStyle/>
          <a:p>
            <a:pPr indent="0" marL="0">
              <a:buNone/>
            </a:pPr>
            <a:r>
              <a:rPr lang="en-US" sz="950" spc="30" kern="0" dirty="0">
                <a:solidFill>
                  <a:srgbClr val="807C8A"/>
                </a:solidFill>
                <a:latin typeface="Calibri" pitchFamily="34" charset="0"/>
                <a:ea typeface="Calibri" pitchFamily="34" charset="-122"/>
                <a:cs typeface="Calibri" pitchFamily="34" charset="-120"/>
              </a:rPr>
              <a:t>3 videos   ·   DA:core AP:core FA:core S:secondary</a:t>
            </a:r>
            <a:endParaRPr lang="en-US" sz="950" dirty="0"/>
          </a:p>
        </p:txBody>
      </p:sp>
      <p:sp>
        <p:nvSpPr>
          <p:cNvPr id="13" name="Text 11"/>
          <p:cNvSpPr txBox="1"/>
          <p:nvPr/>
        </p:nvSpPr>
        <p:spPr>
          <a:xfrm>
            <a:off x="6647688" y="2935224"/>
            <a:ext cx="4892040" cy="713232"/>
          </a:xfrm>
          <a:prstGeom prst="rect">
            <a:avLst/>
          </a:prstGeom>
          <a:noFill/>
          <a:ln/>
        </p:spPr>
        <p:txBody>
          <a:bodyPr wrap="square" lIns="0" tIns="0" rIns="0" bIns="0" rtlCol="0" anchor="ctr"/>
          <a:lstStyle/>
          <a:p>
            <a:pPr indent="0" marL="0">
              <a:lnSpc>
                <a:spcPts val="1550"/>
              </a:lnSpc>
              <a:buNone/>
            </a:pPr>
            <a:r>
              <a:rPr lang="en-US" sz="1150" dirty="0">
                <a:solidFill>
                  <a:srgbClr val="6A6875"/>
                </a:solidFill>
                <a:latin typeface="Calibri" pitchFamily="34" charset="0"/>
                <a:ea typeface="Calibri" pitchFamily="34" charset="-122"/>
                <a:cs typeface="Calibri" pitchFamily="34" charset="-120"/>
              </a:rPr>
              <a:t>Presenting your own position without editing and receiving theirs without decoding it.</a:t>
            </a:r>
            <a:endParaRPr lang="en-US" sz="1150" dirty="0"/>
          </a:p>
        </p:txBody>
      </p:sp>
      <p:sp>
        <p:nvSpPr>
          <p:cNvPr id="14" name="Shape 12"/>
          <p:cNvSpPr/>
          <p:nvPr/>
        </p:nvSpPr>
        <p:spPr>
          <a:xfrm>
            <a:off x="658368" y="4293108"/>
            <a:ext cx="173736" cy="173736"/>
          </a:xfrm>
          <a:prstGeom prst="ellipse">
            <a:avLst/>
          </a:prstGeom>
          <a:solidFill>
            <a:srgbClr val="5BB84F"/>
          </a:solidFill>
          <a:ln w="12700">
            <a:solidFill>
              <a:srgbClr val="5BB84F"/>
            </a:solidFill>
            <a:prstDash val="solid"/>
          </a:ln>
        </p:spPr>
      </p:sp>
      <p:sp>
        <p:nvSpPr>
          <p:cNvPr id="15" name="Text 13"/>
          <p:cNvSpPr txBox="1"/>
          <p:nvPr/>
        </p:nvSpPr>
        <p:spPr>
          <a:xfrm>
            <a:off x="978408" y="4242816"/>
            <a:ext cx="4892040" cy="237744"/>
          </a:xfrm>
          <a:prstGeom prst="rect">
            <a:avLst/>
          </a:prstGeom>
          <a:noFill/>
          <a:ln/>
        </p:spPr>
        <p:txBody>
          <a:bodyPr wrap="square" lIns="0" tIns="0" rIns="0" bIns="0" rtlCol="0" anchor="ctr"/>
          <a:lstStyle/>
          <a:p>
            <a:pPr indent="0" marL="0">
              <a:buNone/>
            </a:pPr>
            <a:r>
              <a:rPr lang="en-US" sz="1450" b="1" dirty="0">
                <a:solidFill>
                  <a:srgbClr val="22222A"/>
                </a:solidFill>
                <a:latin typeface="Calibri" pitchFamily="34" charset="0"/>
                <a:ea typeface="Calibri" pitchFamily="34" charset="-122"/>
                <a:cs typeface="Calibri" pitchFamily="34" charset="-120"/>
              </a:rPr>
              <a:t>Tolerating Emotional Discomfort</a:t>
            </a:r>
            <a:endParaRPr lang="en-US" sz="1450" dirty="0"/>
          </a:p>
        </p:txBody>
      </p:sp>
      <p:sp>
        <p:nvSpPr>
          <p:cNvPr id="16" name="Text 14"/>
          <p:cNvSpPr txBox="1"/>
          <p:nvPr/>
        </p:nvSpPr>
        <p:spPr>
          <a:xfrm>
            <a:off x="978408" y="4489704"/>
            <a:ext cx="4892040" cy="182880"/>
          </a:xfrm>
          <a:prstGeom prst="rect">
            <a:avLst/>
          </a:prstGeom>
          <a:noFill/>
          <a:ln/>
        </p:spPr>
        <p:txBody>
          <a:bodyPr wrap="square" lIns="0" tIns="0" rIns="0" bIns="0" rtlCol="0" anchor="ctr"/>
          <a:lstStyle/>
          <a:p>
            <a:pPr indent="0" marL="0">
              <a:buNone/>
            </a:pPr>
            <a:r>
              <a:rPr lang="en-US" sz="950" spc="30" kern="0" dirty="0">
                <a:solidFill>
                  <a:srgbClr val="807C8A"/>
                </a:solidFill>
                <a:latin typeface="Calibri" pitchFamily="34" charset="0"/>
                <a:ea typeface="Calibri" pitchFamily="34" charset="-122"/>
                <a:cs typeface="Calibri" pitchFamily="34" charset="-120"/>
              </a:rPr>
              <a:t>3 videos   ·   DA:core AP:core FA:core S:secondary</a:t>
            </a:r>
            <a:endParaRPr lang="en-US" sz="950" dirty="0"/>
          </a:p>
        </p:txBody>
      </p:sp>
      <p:sp>
        <p:nvSpPr>
          <p:cNvPr id="17" name="Text 15"/>
          <p:cNvSpPr txBox="1"/>
          <p:nvPr/>
        </p:nvSpPr>
        <p:spPr>
          <a:xfrm>
            <a:off x="978408" y="4690872"/>
            <a:ext cx="4892040" cy="713232"/>
          </a:xfrm>
          <a:prstGeom prst="rect">
            <a:avLst/>
          </a:prstGeom>
          <a:noFill/>
          <a:ln/>
        </p:spPr>
        <p:txBody>
          <a:bodyPr wrap="square" lIns="0" tIns="0" rIns="0" bIns="0" rtlCol="0" anchor="ctr"/>
          <a:lstStyle/>
          <a:p>
            <a:pPr indent="0" marL="0">
              <a:lnSpc>
                <a:spcPts val="1550"/>
              </a:lnSpc>
              <a:buNone/>
            </a:pPr>
            <a:r>
              <a:rPr lang="en-US" sz="1150" dirty="0">
                <a:solidFill>
                  <a:srgbClr val="6A6875"/>
                </a:solidFill>
                <a:latin typeface="Calibri" pitchFamily="34" charset="0"/>
                <a:ea typeface="Calibri" pitchFamily="34" charset="-122"/>
                <a:cs typeface="Calibri" pitchFamily="34" charset="-120"/>
              </a:rPr>
              <a:t>She names this as the single capacity that most determines whether someone can sustain close relationships.</a:t>
            </a:r>
            <a:endParaRPr lang="en-US" sz="1150" dirty="0"/>
          </a:p>
        </p:txBody>
      </p:sp>
      <p:sp>
        <p:nvSpPr>
          <p:cNvPr id="18" name="Shape 16"/>
          <p:cNvSpPr/>
          <p:nvPr/>
        </p:nvSpPr>
        <p:spPr>
          <a:xfrm>
            <a:off x="6327648" y="4293108"/>
            <a:ext cx="173736" cy="173736"/>
          </a:xfrm>
          <a:prstGeom prst="ellipse">
            <a:avLst/>
          </a:prstGeom>
          <a:solidFill>
            <a:srgbClr val="5BB84F"/>
          </a:solidFill>
          <a:ln w="12700">
            <a:solidFill>
              <a:srgbClr val="5BB84F"/>
            </a:solidFill>
            <a:prstDash val="solid"/>
          </a:ln>
        </p:spPr>
      </p:sp>
      <p:sp>
        <p:nvSpPr>
          <p:cNvPr id="19" name="Text 17"/>
          <p:cNvSpPr txBox="1"/>
          <p:nvPr/>
        </p:nvSpPr>
        <p:spPr>
          <a:xfrm>
            <a:off x="6647688" y="4242816"/>
            <a:ext cx="4892040" cy="237744"/>
          </a:xfrm>
          <a:prstGeom prst="rect">
            <a:avLst/>
          </a:prstGeom>
          <a:noFill/>
          <a:ln/>
        </p:spPr>
        <p:txBody>
          <a:bodyPr wrap="square" lIns="0" tIns="0" rIns="0" bIns="0" rtlCol="0" anchor="ctr"/>
          <a:lstStyle/>
          <a:p>
            <a:pPr indent="0" marL="0">
              <a:buNone/>
            </a:pPr>
            <a:r>
              <a:rPr lang="en-US" sz="1450" b="1" dirty="0">
                <a:solidFill>
                  <a:srgbClr val="22222A"/>
                </a:solidFill>
                <a:latin typeface="Calibri" pitchFamily="34" charset="0"/>
                <a:ea typeface="Calibri" pitchFamily="34" charset="-122"/>
                <a:cs typeface="Calibri" pitchFamily="34" charset="-120"/>
              </a:rPr>
              <a:t>Naming The Feeling Accurately</a:t>
            </a:r>
            <a:endParaRPr lang="en-US" sz="1450" dirty="0"/>
          </a:p>
        </p:txBody>
      </p:sp>
      <p:sp>
        <p:nvSpPr>
          <p:cNvPr id="20" name="Text 18"/>
          <p:cNvSpPr txBox="1"/>
          <p:nvPr/>
        </p:nvSpPr>
        <p:spPr>
          <a:xfrm>
            <a:off x="6647688" y="4489704"/>
            <a:ext cx="4892040" cy="182880"/>
          </a:xfrm>
          <a:prstGeom prst="rect">
            <a:avLst/>
          </a:prstGeom>
          <a:noFill/>
          <a:ln/>
        </p:spPr>
        <p:txBody>
          <a:bodyPr wrap="square" lIns="0" tIns="0" rIns="0" bIns="0" rtlCol="0" anchor="ctr"/>
          <a:lstStyle/>
          <a:p>
            <a:pPr indent="0" marL="0">
              <a:buNone/>
            </a:pPr>
            <a:r>
              <a:rPr lang="en-US" sz="950" spc="30" kern="0" dirty="0">
                <a:solidFill>
                  <a:srgbClr val="807C8A"/>
                </a:solidFill>
                <a:latin typeface="Calibri" pitchFamily="34" charset="0"/>
                <a:ea typeface="Calibri" pitchFamily="34" charset="-122"/>
                <a:cs typeface="Calibri" pitchFamily="34" charset="-120"/>
              </a:rPr>
              <a:t>2 videos   ·   DA:core AP:core FA:core S:secondary</a:t>
            </a:r>
            <a:endParaRPr lang="en-US" sz="950" dirty="0"/>
          </a:p>
        </p:txBody>
      </p:sp>
      <p:sp>
        <p:nvSpPr>
          <p:cNvPr id="21" name="Text 19"/>
          <p:cNvSpPr txBox="1"/>
          <p:nvPr/>
        </p:nvSpPr>
        <p:spPr>
          <a:xfrm>
            <a:off x="6647688" y="4690872"/>
            <a:ext cx="4892040" cy="713232"/>
          </a:xfrm>
          <a:prstGeom prst="rect">
            <a:avLst/>
          </a:prstGeom>
          <a:noFill/>
          <a:ln/>
        </p:spPr>
        <p:txBody>
          <a:bodyPr wrap="square" lIns="0" tIns="0" rIns="0" bIns="0" rtlCol="0" anchor="ctr"/>
          <a:lstStyle/>
          <a:p>
            <a:pPr indent="0" marL="0">
              <a:lnSpc>
                <a:spcPts val="1550"/>
              </a:lnSpc>
              <a:buNone/>
            </a:pPr>
            <a:r>
              <a:rPr lang="en-US" sz="1150" dirty="0">
                <a:solidFill>
                  <a:srgbClr val="6A6875"/>
                </a:solidFill>
                <a:latin typeface="Calibri" pitchFamily="34" charset="0"/>
                <a:ea typeface="Calibri" pitchFamily="34" charset="-122"/>
                <a:cs typeface="Calibri" pitchFamily="34" charset="-120"/>
              </a:rPr>
              <a:t>Say what is actually there rather than a verdict about it.</a:t>
            </a:r>
            <a:endParaRPr lang="en-US" sz="1150" dirty="0"/>
          </a:p>
        </p:txBody>
      </p:sp>
      <p:sp>
        <p:nvSpPr>
          <p:cNvPr id="22" name="Text 20"/>
          <p:cNvSpPr txBox="1"/>
          <p:nvPr/>
        </p:nvSpPr>
        <p:spPr>
          <a:xfrm>
            <a:off x="658368" y="6035040"/>
            <a:ext cx="10874959" cy="411480"/>
          </a:xfrm>
          <a:prstGeom prst="rect">
            <a:avLst/>
          </a:prstGeom>
          <a:noFill/>
          <a:ln/>
        </p:spPr>
        <p:txBody>
          <a:bodyPr wrap="square" lIns="0" tIns="0" rIns="0" bIns="0" rtlCol="0" anchor="ctr"/>
          <a:lstStyle/>
          <a:p>
            <a:pPr indent="0" marL="0">
              <a:lnSpc>
                <a:spcPts val="1600"/>
              </a:lnSpc>
              <a:buNone/>
            </a:pPr>
            <a:r>
              <a:rPr lang="en-US" sz="1150" i="1" dirty="0">
                <a:solidFill>
                  <a:srgbClr val="807C8A"/>
                </a:solidFill>
                <a:latin typeface="Calibri" pitchFamily="34" charset="0"/>
                <a:ea typeface="Calibri" pitchFamily="34" charset="-122"/>
                <a:cs typeface="Calibri" pitchFamily="34" charset="-120"/>
              </a:rPr>
              <a:t>Every practice is joined to what it is meant to unwind by a healed_by or regulates edge, and some require another practice first — so the graph can say what has to come before what.</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807C8A"/>
                </a:solidFill>
                <a:latin typeface="Calibri" pitchFamily="34" charset="0"/>
                <a:ea typeface="Calibri" pitchFamily="34" charset="-122"/>
                <a:cs typeface="Calibri" pitchFamily="34" charset="-120"/>
              </a:rPr>
              <a:t>24</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7B4BD8"/>
                </a:solidFill>
                <a:latin typeface="Calibri" pitchFamily="34" charset="0"/>
                <a:ea typeface="Calibri" pitchFamily="34" charset="-122"/>
                <a:cs typeface="Calibri" pitchFamily="34" charset="-120"/>
              </a:rPr>
              <a:t>THE IDEAS</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200" b="1" dirty="0">
                <a:solidFill>
                  <a:srgbClr val="22222A"/>
                </a:solidFill>
                <a:latin typeface="Cambria" pitchFamily="34" charset="0"/>
                <a:ea typeface="Cambria" pitchFamily="34" charset="-122"/>
                <a:cs typeface="Cambria" pitchFamily="34" charset="-120"/>
              </a:rPr>
              <a:t>Concepts</a:t>
            </a:r>
            <a:endParaRPr lang="en-US" sz="3200" dirty="0"/>
          </a:p>
        </p:txBody>
      </p:sp>
      <p:sp>
        <p:nvSpPr>
          <p:cNvPr id="5" name="Text 3"/>
          <p:cNvSpPr txBox="1"/>
          <p:nvPr/>
        </p:nvSpPr>
        <p:spPr>
          <a:xfrm>
            <a:off x="658368" y="1609344"/>
            <a:ext cx="9352465" cy="566928"/>
          </a:xfrm>
          <a:prstGeom prst="rect">
            <a:avLst/>
          </a:prstGeom>
          <a:noFill/>
          <a:ln/>
        </p:spPr>
        <p:txBody>
          <a:bodyPr wrap="square" lIns="0" tIns="0" rIns="0" bIns="0" rtlCol="0" anchor="ctr"/>
          <a:lstStyle/>
          <a:p>
            <a:pPr indent="0" marL="0">
              <a:lnSpc>
                <a:spcPts val="2100"/>
              </a:lnSpc>
              <a:buNone/>
            </a:pPr>
            <a:r>
              <a:rPr lang="en-US" sz="1450" dirty="0">
                <a:solidFill>
                  <a:srgbClr val="6A6875"/>
                </a:solidFill>
                <a:latin typeface="Calibri" pitchFamily="34" charset="0"/>
                <a:ea typeface="Calibri" pitchFamily="34" charset="-122"/>
                <a:cs typeface="Calibri" pitchFamily="34" charset="-120"/>
              </a:rPr>
              <a:t>259 nodes, the bulk of the graph: her named ideas and framings, the ones the rest of the material hangs off.</a:t>
            </a:r>
            <a:endParaRPr lang="en-US" sz="1450" dirty="0"/>
          </a:p>
        </p:txBody>
      </p:sp>
      <p:sp>
        <p:nvSpPr>
          <p:cNvPr id="6" name="Shape 4"/>
          <p:cNvSpPr/>
          <p:nvPr/>
        </p:nvSpPr>
        <p:spPr>
          <a:xfrm>
            <a:off x="658368" y="2537460"/>
            <a:ext cx="173736" cy="173736"/>
          </a:xfrm>
          <a:prstGeom prst="ellipse">
            <a:avLst/>
          </a:prstGeom>
          <a:solidFill>
            <a:srgbClr val="2BB0A3"/>
          </a:solidFill>
          <a:ln w="12700">
            <a:solidFill>
              <a:srgbClr val="2BB0A3"/>
            </a:solidFill>
            <a:prstDash val="solid"/>
          </a:ln>
        </p:spPr>
      </p:sp>
      <p:sp>
        <p:nvSpPr>
          <p:cNvPr id="7" name="Text 5"/>
          <p:cNvSpPr txBox="1"/>
          <p:nvPr/>
        </p:nvSpPr>
        <p:spPr>
          <a:xfrm>
            <a:off x="978408" y="2487168"/>
            <a:ext cx="4892040" cy="237744"/>
          </a:xfrm>
          <a:prstGeom prst="rect">
            <a:avLst/>
          </a:prstGeom>
          <a:noFill/>
          <a:ln/>
        </p:spPr>
        <p:txBody>
          <a:bodyPr wrap="square" lIns="0" tIns="0" rIns="0" bIns="0" rtlCol="0" anchor="ctr"/>
          <a:lstStyle/>
          <a:p>
            <a:pPr indent="0" marL="0">
              <a:buNone/>
            </a:pPr>
            <a:r>
              <a:rPr lang="en-US" sz="1450" b="1" dirty="0">
                <a:solidFill>
                  <a:srgbClr val="22222A"/>
                </a:solidFill>
                <a:latin typeface="Calibri" pitchFamily="34" charset="0"/>
                <a:ea typeface="Calibri" pitchFamily="34" charset="-122"/>
                <a:cs typeface="Calibri" pitchFamily="34" charset="-120"/>
              </a:rPr>
              <a:t>Attunement</a:t>
            </a:r>
            <a:endParaRPr lang="en-US" sz="1450" dirty="0"/>
          </a:p>
        </p:txBody>
      </p:sp>
      <p:sp>
        <p:nvSpPr>
          <p:cNvPr id="8" name="Text 6"/>
          <p:cNvSpPr txBox="1"/>
          <p:nvPr/>
        </p:nvSpPr>
        <p:spPr>
          <a:xfrm>
            <a:off x="978408" y="2734056"/>
            <a:ext cx="4892040" cy="182880"/>
          </a:xfrm>
          <a:prstGeom prst="rect">
            <a:avLst/>
          </a:prstGeom>
          <a:noFill/>
          <a:ln/>
        </p:spPr>
        <p:txBody>
          <a:bodyPr wrap="square" lIns="0" tIns="0" rIns="0" bIns="0" rtlCol="0" anchor="ctr"/>
          <a:lstStyle/>
          <a:p>
            <a:pPr indent="0" marL="0">
              <a:buNone/>
            </a:pPr>
            <a:r>
              <a:rPr lang="en-US" sz="950" spc="30" kern="0" dirty="0">
                <a:solidFill>
                  <a:srgbClr val="807C8A"/>
                </a:solidFill>
                <a:latin typeface="Calibri" pitchFamily="34" charset="0"/>
                <a:ea typeface="Calibri" pitchFamily="34" charset="-122"/>
                <a:cs typeface="Calibri" pitchFamily="34" charset="-120"/>
              </a:rPr>
              <a:t>4 videos   ·   DA:core AP:core FA:core S:secondary</a:t>
            </a:r>
            <a:endParaRPr lang="en-US" sz="950" dirty="0"/>
          </a:p>
        </p:txBody>
      </p:sp>
      <p:sp>
        <p:nvSpPr>
          <p:cNvPr id="9" name="Text 7"/>
          <p:cNvSpPr txBox="1"/>
          <p:nvPr/>
        </p:nvSpPr>
        <p:spPr>
          <a:xfrm>
            <a:off x="978408" y="2935224"/>
            <a:ext cx="4892040" cy="713232"/>
          </a:xfrm>
          <a:prstGeom prst="rect">
            <a:avLst/>
          </a:prstGeom>
          <a:noFill/>
          <a:ln/>
        </p:spPr>
        <p:txBody>
          <a:bodyPr wrap="square" lIns="0" tIns="0" rIns="0" bIns="0" rtlCol="0" anchor="ctr"/>
          <a:lstStyle/>
          <a:p>
            <a:pPr indent="0" marL="0">
              <a:lnSpc>
                <a:spcPts val="1550"/>
              </a:lnSpc>
              <a:buNone/>
            </a:pPr>
            <a:r>
              <a:rPr lang="en-US" sz="1150" dirty="0">
                <a:solidFill>
                  <a:srgbClr val="6A6875"/>
                </a:solidFill>
                <a:latin typeface="Calibri" pitchFamily="34" charset="0"/>
                <a:ea typeface="Calibri" pitchFamily="34" charset="-122"/>
                <a:cs typeface="Calibri" pitchFamily="34" charset="-120"/>
              </a:rPr>
              <a:t>Reading another person's state, letting your own respond to it, and reflecting it back accurately before helping settle it.</a:t>
            </a:r>
            <a:endParaRPr lang="en-US" sz="1150" dirty="0"/>
          </a:p>
        </p:txBody>
      </p:sp>
      <p:sp>
        <p:nvSpPr>
          <p:cNvPr id="10" name="Shape 8"/>
          <p:cNvSpPr/>
          <p:nvPr/>
        </p:nvSpPr>
        <p:spPr>
          <a:xfrm>
            <a:off x="6327648" y="2537460"/>
            <a:ext cx="173736" cy="173736"/>
          </a:xfrm>
          <a:prstGeom prst="ellipse">
            <a:avLst/>
          </a:prstGeom>
          <a:solidFill>
            <a:srgbClr val="2BB0A3"/>
          </a:solidFill>
          <a:ln w="12700">
            <a:solidFill>
              <a:srgbClr val="2BB0A3"/>
            </a:solidFill>
            <a:prstDash val="solid"/>
          </a:ln>
        </p:spPr>
      </p:sp>
      <p:sp>
        <p:nvSpPr>
          <p:cNvPr id="11" name="Text 9"/>
          <p:cNvSpPr txBox="1"/>
          <p:nvPr/>
        </p:nvSpPr>
        <p:spPr>
          <a:xfrm>
            <a:off x="6647688" y="2487168"/>
            <a:ext cx="4892040" cy="237744"/>
          </a:xfrm>
          <a:prstGeom prst="rect">
            <a:avLst/>
          </a:prstGeom>
          <a:noFill/>
          <a:ln/>
        </p:spPr>
        <p:txBody>
          <a:bodyPr wrap="square" lIns="0" tIns="0" rIns="0" bIns="0" rtlCol="0" anchor="ctr"/>
          <a:lstStyle/>
          <a:p>
            <a:pPr indent="0" marL="0">
              <a:buNone/>
            </a:pPr>
            <a:r>
              <a:rPr lang="en-US" sz="1450" b="1" dirty="0">
                <a:solidFill>
                  <a:srgbClr val="22222A"/>
                </a:solidFill>
                <a:latin typeface="Calibri" pitchFamily="34" charset="0"/>
                <a:ea typeface="Calibri" pitchFamily="34" charset="-122"/>
                <a:cs typeface="Calibri" pitchFamily="34" charset="-120"/>
              </a:rPr>
              <a:t>The Conscious Competence Model</a:t>
            </a:r>
            <a:endParaRPr lang="en-US" sz="1450" dirty="0"/>
          </a:p>
        </p:txBody>
      </p:sp>
      <p:sp>
        <p:nvSpPr>
          <p:cNvPr id="12" name="Text 10"/>
          <p:cNvSpPr txBox="1"/>
          <p:nvPr/>
        </p:nvSpPr>
        <p:spPr>
          <a:xfrm>
            <a:off x="6647688" y="2734056"/>
            <a:ext cx="4892040" cy="182880"/>
          </a:xfrm>
          <a:prstGeom prst="rect">
            <a:avLst/>
          </a:prstGeom>
          <a:noFill/>
          <a:ln/>
        </p:spPr>
        <p:txBody>
          <a:bodyPr wrap="square" lIns="0" tIns="0" rIns="0" bIns="0" rtlCol="0" anchor="ctr"/>
          <a:lstStyle/>
          <a:p>
            <a:pPr indent="0" marL="0">
              <a:buNone/>
            </a:pPr>
            <a:r>
              <a:rPr lang="en-US" sz="950" spc="30" kern="0" dirty="0">
                <a:solidFill>
                  <a:srgbClr val="807C8A"/>
                </a:solidFill>
                <a:latin typeface="Calibri" pitchFamily="34" charset="0"/>
                <a:ea typeface="Calibri" pitchFamily="34" charset="-122"/>
                <a:cs typeface="Calibri" pitchFamily="34" charset="-120"/>
              </a:rPr>
              <a:t>4 videos   ·   DA:core AP:core FA:core S:secondary</a:t>
            </a:r>
            <a:endParaRPr lang="en-US" sz="950" dirty="0"/>
          </a:p>
        </p:txBody>
      </p:sp>
      <p:sp>
        <p:nvSpPr>
          <p:cNvPr id="13" name="Text 11"/>
          <p:cNvSpPr txBox="1"/>
          <p:nvPr/>
        </p:nvSpPr>
        <p:spPr>
          <a:xfrm>
            <a:off x="6647688" y="2935224"/>
            <a:ext cx="4892040" cy="713232"/>
          </a:xfrm>
          <a:prstGeom prst="rect">
            <a:avLst/>
          </a:prstGeom>
          <a:noFill/>
          <a:ln/>
        </p:spPr>
        <p:txBody>
          <a:bodyPr wrap="square" lIns="0" tIns="0" rIns="0" bIns="0" rtlCol="0" anchor="ctr"/>
          <a:lstStyle/>
          <a:p>
            <a:pPr indent="0" marL="0">
              <a:lnSpc>
                <a:spcPts val="1550"/>
              </a:lnSpc>
              <a:buNone/>
            </a:pPr>
            <a:r>
              <a:rPr lang="en-US" sz="1150" dirty="0">
                <a:solidFill>
                  <a:srgbClr val="6A6875"/>
                </a:solidFill>
                <a:latin typeface="Calibri" pitchFamily="34" charset="0"/>
                <a:ea typeface="Calibri" pitchFamily="34" charset="-122"/>
                <a:cs typeface="Calibri" pitchFamily="34" charset="-120"/>
              </a:rPr>
              <a:t>The four-stage frame she maps healing onto: running the pattern without seeing it, running it while seeing it, being able to do otherwise with deliberate effort, and finally doing otherwise without effort.</a:t>
            </a:r>
            <a:endParaRPr lang="en-US" sz="1150" dirty="0"/>
          </a:p>
        </p:txBody>
      </p:sp>
      <p:sp>
        <p:nvSpPr>
          <p:cNvPr id="14" name="Shape 12"/>
          <p:cNvSpPr/>
          <p:nvPr/>
        </p:nvSpPr>
        <p:spPr>
          <a:xfrm>
            <a:off x="658368" y="4293108"/>
            <a:ext cx="173736" cy="173736"/>
          </a:xfrm>
          <a:prstGeom prst="ellipse">
            <a:avLst/>
          </a:prstGeom>
          <a:solidFill>
            <a:srgbClr val="2BB0A3"/>
          </a:solidFill>
          <a:ln w="12700">
            <a:solidFill>
              <a:srgbClr val="2BB0A3"/>
            </a:solidFill>
            <a:prstDash val="solid"/>
          </a:ln>
        </p:spPr>
      </p:sp>
      <p:sp>
        <p:nvSpPr>
          <p:cNvPr id="15" name="Text 13"/>
          <p:cNvSpPr txBox="1"/>
          <p:nvPr/>
        </p:nvSpPr>
        <p:spPr>
          <a:xfrm>
            <a:off x="978408" y="4242816"/>
            <a:ext cx="4892040" cy="237744"/>
          </a:xfrm>
          <a:prstGeom prst="rect">
            <a:avLst/>
          </a:prstGeom>
          <a:noFill/>
          <a:ln/>
        </p:spPr>
        <p:txBody>
          <a:bodyPr wrap="square" lIns="0" tIns="0" rIns="0" bIns="0" rtlCol="0" anchor="ctr"/>
          <a:lstStyle/>
          <a:p>
            <a:pPr indent="0" marL="0">
              <a:buNone/>
            </a:pPr>
            <a:r>
              <a:rPr lang="en-US" sz="1450" b="1" dirty="0">
                <a:solidFill>
                  <a:srgbClr val="22222A"/>
                </a:solidFill>
                <a:latin typeface="Calibri" pitchFamily="34" charset="0"/>
                <a:ea typeface="Calibri" pitchFamily="34" charset="-122"/>
                <a:cs typeface="Calibri" pitchFamily="34" charset="-120"/>
              </a:rPr>
              <a:t>Co-Regulation</a:t>
            </a:r>
            <a:endParaRPr lang="en-US" sz="1450" dirty="0"/>
          </a:p>
        </p:txBody>
      </p:sp>
      <p:sp>
        <p:nvSpPr>
          <p:cNvPr id="16" name="Text 14"/>
          <p:cNvSpPr txBox="1"/>
          <p:nvPr/>
        </p:nvSpPr>
        <p:spPr>
          <a:xfrm>
            <a:off x="978408" y="4489704"/>
            <a:ext cx="4892040" cy="182880"/>
          </a:xfrm>
          <a:prstGeom prst="rect">
            <a:avLst/>
          </a:prstGeom>
          <a:noFill/>
          <a:ln/>
        </p:spPr>
        <p:txBody>
          <a:bodyPr wrap="square" lIns="0" tIns="0" rIns="0" bIns="0" rtlCol="0" anchor="ctr"/>
          <a:lstStyle/>
          <a:p>
            <a:pPr indent="0" marL="0">
              <a:buNone/>
            </a:pPr>
            <a:r>
              <a:rPr lang="en-US" sz="950" spc="30" kern="0" dirty="0">
                <a:solidFill>
                  <a:srgbClr val="807C8A"/>
                </a:solidFill>
                <a:latin typeface="Calibri" pitchFamily="34" charset="0"/>
                <a:ea typeface="Calibri" pitchFamily="34" charset="-122"/>
                <a:cs typeface="Calibri" pitchFamily="34" charset="-120"/>
              </a:rPr>
              <a:t>4 videos   ·   DA:core AP:core FA:core S:secondary</a:t>
            </a:r>
            <a:endParaRPr lang="en-US" sz="950" dirty="0"/>
          </a:p>
        </p:txBody>
      </p:sp>
      <p:sp>
        <p:nvSpPr>
          <p:cNvPr id="17" name="Text 15"/>
          <p:cNvSpPr txBox="1"/>
          <p:nvPr/>
        </p:nvSpPr>
        <p:spPr>
          <a:xfrm>
            <a:off x="978408" y="4690872"/>
            <a:ext cx="4892040" cy="713232"/>
          </a:xfrm>
          <a:prstGeom prst="rect">
            <a:avLst/>
          </a:prstGeom>
          <a:noFill/>
          <a:ln/>
        </p:spPr>
        <p:txBody>
          <a:bodyPr wrap="square" lIns="0" tIns="0" rIns="0" bIns="0" rtlCol="0" anchor="ctr"/>
          <a:lstStyle/>
          <a:p>
            <a:pPr indent="0" marL="0">
              <a:lnSpc>
                <a:spcPts val="1550"/>
              </a:lnSpc>
              <a:buNone/>
            </a:pPr>
            <a:r>
              <a:rPr lang="en-US" sz="1150" dirty="0">
                <a:solidFill>
                  <a:srgbClr val="6A6875"/>
                </a:solidFill>
                <a:latin typeface="Calibri" pitchFamily="34" charset="0"/>
                <a:ea typeface="Calibri" pitchFamily="34" charset="-122"/>
                <a:cs typeface="Calibri" pitchFamily="34" charset="-120"/>
              </a:rPr>
              <a:t>Two nervous systems settling each other. Mostly mundane — getting used to someone replying, to their presence in a week — rather than the dramatic comforting the word suggests, which is why becoming dependent on it goes…</a:t>
            </a:r>
            <a:endParaRPr lang="en-US" sz="1150" dirty="0"/>
          </a:p>
        </p:txBody>
      </p:sp>
      <p:sp>
        <p:nvSpPr>
          <p:cNvPr id="18" name="Shape 16"/>
          <p:cNvSpPr/>
          <p:nvPr/>
        </p:nvSpPr>
        <p:spPr>
          <a:xfrm>
            <a:off x="6327648" y="4293108"/>
            <a:ext cx="173736" cy="173736"/>
          </a:xfrm>
          <a:prstGeom prst="ellipse">
            <a:avLst/>
          </a:prstGeom>
          <a:solidFill>
            <a:srgbClr val="2BB0A3"/>
          </a:solidFill>
          <a:ln w="12700">
            <a:solidFill>
              <a:srgbClr val="2BB0A3"/>
            </a:solidFill>
            <a:prstDash val="solid"/>
          </a:ln>
        </p:spPr>
      </p:sp>
      <p:sp>
        <p:nvSpPr>
          <p:cNvPr id="19" name="Text 17"/>
          <p:cNvSpPr txBox="1"/>
          <p:nvPr/>
        </p:nvSpPr>
        <p:spPr>
          <a:xfrm>
            <a:off x="6647688" y="4242816"/>
            <a:ext cx="4892040" cy="237744"/>
          </a:xfrm>
          <a:prstGeom prst="rect">
            <a:avLst/>
          </a:prstGeom>
          <a:noFill/>
          <a:ln/>
        </p:spPr>
        <p:txBody>
          <a:bodyPr wrap="square" lIns="0" tIns="0" rIns="0" bIns="0" rtlCol="0" anchor="ctr"/>
          <a:lstStyle/>
          <a:p>
            <a:pPr indent="0" marL="0">
              <a:buNone/>
            </a:pPr>
            <a:r>
              <a:rPr lang="en-US" sz="1450" b="1" dirty="0">
                <a:solidFill>
                  <a:srgbClr val="22222A"/>
                </a:solidFill>
                <a:latin typeface="Calibri" pitchFamily="34" charset="0"/>
                <a:ea typeface="Calibri" pitchFamily="34" charset="-122"/>
                <a:cs typeface="Calibri" pitchFamily="34" charset="-120"/>
              </a:rPr>
              <a:t>Knowing The Mechanism</a:t>
            </a:r>
            <a:endParaRPr lang="en-US" sz="1450" dirty="0"/>
          </a:p>
        </p:txBody>
      </p:sp>
      <p:sp>
        <p:nvSpPr>
          <p:cNvPr id="20" name="Text 18"/>
          <p:cNvSpPr txBox="1"/>
          <p:nvPr/>
        </p:nvSpPr>
        <p:spPr>
          <a:xfrm>
            <a:off x="6647688" y="4489704"/>
            <a:ext cx="4892040" cy="182880"/>
          </a:xfrm>
          <a:prstGeom prst="rect">
            <a:avLst/>
          </a:prstGeom>
          <a:noFill/>
          <a:ln/>
        </p:spPr>
        <p:txBody>
          <a:bodyPr wrap="square" lIns="0" tIns="0" rIns="0" bIns="0" rtlCol="0" anchor="ctr"/>
          <a:lstStyle/>
          <a:p>
            <a:pPr indent="0" marL="0">
              <a:buNone/>
            </a:pPr>
            <a:r>
              <a:rPr lang="en-US" sz="950" spc="30" kern="0" dirty="0">
                <a:solidFill>
                  <a:srgbClr val="807C8A"/>
                </a:solidFill>
                <a:latin typeface="Calibri" pitchFamily="34" charset="0"/>
                <a:ea typeface="Calibri" pitchFamily="34" charset="-122"/>
                <a:cs typeface="Calibri" pitchFamily="34" charset="-120"/>
              </a:rPr>
              <a:t>3 videos   ·   DA:core AP:core FA:core S:secondary</a:t>
            </a:r>
            <a:endParaRPr lang="en-US" sz="950" dirty="0"/>
          </a:p>
        </p:txBody>
      </p:sp>
      <p:sp>
        <p:nvSpPr>
          <p:cNvPr id="21" name="Text 19"/>
          <p:cNvSpPr txBox="1"/>
          <p:nvPr/>
        </p:nvSpPr>
        <p:spPr>
          <a:xfrm>
            <a:off x="6647688" y="4690872"/>
            <a:ext cx="4892040" cy="713232"/>
          </a:xfrm>
          <a:prstGeom prst="rect">
            <a:avLst/>
          </a:prstGeom>
          <a:noFill/>
          <a:ln/>
        </p:spPr>
        <p:txBody>
          <a:bodyPr wrap="square" lIns="0" tIns="0" rIns="0" bIns="0" rtlCol="0" anchor="ctr"/>
          <a:lstStyle/>
          <a:p>
            <a:pPr indent="0" marL="0">
              <a:lnSpc>
                <a:spcPts val="1550"/>
              </a:lnSpc>
              <a:buNone/>
            </a:pPr>
            <a:r>
              <a:rPr lang="en-US" sz="1150" dirty="0">
                <a:solidFill>
                  <a:srgbClr val="6A6875"/>
                </a:solidFill>
                <a:latin typeface="Calibri" pitchFamily="34" charset="0"/>
                <a:ea typeface="Calibri" pitchFamily="34" charset="-122"/>
                <a:cs typeface="Calibri" pitchFamily="34" charset="-120"/>
              </a:rPr>
              <a:t>Her answer to why understanding the origin matters at all, given that understanding changes nothing by itself.</a:t>
            </a:r>
            <a:endParaRPr lang="en-US" sz="1150" dirty="0"/>
          </a:p>
        </p:txBody>
      </p:sp>
      <p:sp>
        <p:nvSpPr>
          <p:cNvPr id="22" name="Text 20"/>
          <p:cNvSpPr txBox="1"/>
          <p:nvPr/>
        </p:nvSpPr>
        <p:spPr>
          <a:xfrm>
            <a:off x="658368" y="6035040"/>
            <a:ext cx="10874959" cy="411480"/>
          </a:xfrm>
          <a:prstGeom prst="rect">
            <a:avLst/>
          </a:prstGeom>
          <a:noFill/>
          <a:ln/>
        </p:spPr>
        <p:txBody>
          <a:bodyPr wrap="square" lIns="0" tIns="0" rIns="0" bIns="0" rtlCol="0" anchor="ctr"/>
          <a:lstStyle/>
          <a:p>
            <a:pPr indent="0" marL="0">
              <a:lnSpc>
                <a:spcPts val="1600"/>
              </a:lnSpc>
              <a:buNone/>
            </a:pPr>
            <a:r>
              <a:rPr lang="en-US" sz="1150" i="1" dirty="0">
                <a:solidFill>
                  <a:srgbClr val="807C8A"/>
                </a:solidFill>
                <a:latin typeface="Calibri" pitchFamily="34" charset="0"/>
                <a:ea typeface="Calibri" pitchFamily="34" charset="-122"/>
                <a:cs typeface="Calibri" pitchFamily="34" charset="-120"/>
              </a:rPr>
              <a:t>Concepts are where her own vocabulary lives, and where a reader most often needs a definition rather than a diagram.</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807C8A"/>
                </a:solidFill>
                <a:latin typeface="Calibri" pitchFamily="34" charset="0"/>
                <a:ea typeface="Calibri" pitchFamily="34" charset="-122"/>
                <a:cs typeface="Calibri" pitchFamily="34" charset="-120"/>
              </a:rPr>
              <a:t>25</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7B4BD8"/>
                </a:solidFill>
                <a:latin typeface="Calibri" pitchFamily="34" charset="0"/>
                <a:ea typeface="Calibri" pitchFamily="34" charset="-122"/>
                <a:cs typeface="Calibri" pitchFamily="34" charset="-120"/>
              </a:rPr>
              <a:t>WHY A DIRECTED GRAPH</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200" b="1" dirty="0">
                <a:solidFill>
                  <a:srgbClr val="22222A"/>
                </a:solidFill>
                <a:latin typeface="Cambria" pitchFamily="34" charset="0"/>
                <a:ea typeface="Cambria" pitchFamily="34" charset="-122"/>
                <a:cs typeface="Cambria" pitchFamily="34" charset="-120"/>
              </a:rPr>
              <a:t>The loops are the point</a:t>
            </a:r>
            <a:endParaRPr lang="en-US" sz="3200" dirty="0"/>
          </a:p>
        </p:txBody>
      </p:sp>
      <p:sp>
        <p:nvSpPr>
          <p:cNvPr id="5" name="Text 3"/>
          <p:cNvSpPr txBox="1"/>
          <p:nvPr/>
        </p:nvSpPr>
        <p:spPr>
          <a:xfrm>
            <a:off x="658368" y="1609344"/>
            <a:ext cx="8917467" cy="640080"/>
          </a:xfrm>
          <a:prstGeom prst="rect">
            <a:avLst/>
          </a:prstGeom>
          <a:noFill/>
          <a:ln/>
        </p:spPr>
        <p:txBody>
          <a:bodyPr wrap="square" lIns="0" tIns="0" rIns="0" bIns="0" rtlCol="0" anchor="ctr"/>
          <a:lstStyle/>
          <a:p>
            <a:pPr indent="0" marL="0">
              <a:lnSpc>
                <a:spcPts val="2100"/>
              </a:lnSpc>
              <a:buNone/>
            </a:pPr>
            <a:r>
              <a:rPr lang="en-US" sz="1450" dirty="0">
                <a:solidFill>
                  <a:srgbClr val="6A6875"/>
                </a:solidFill>
                <a:latin typeface="Calibri" pitchFamily="34" charset="0"/>
                <a:ea typeface="Calibri" pitchFamily="34" charset="-122"/>
                <a:cs typeface="Calibri" pitchFamily="34" charset="-120"/>
              </a:rPr>
              <a:t>Cycles are searched for automatically across the causal edges. They are not errors — they are the pursue/withdraw loop, the shame spiral, the on-again-off-again cycle, found in the data rather than asserted.</a:t>
            </a:r>
            <a:endParaRPr lang="en-US" sz="1450" dirty="0"/>
          </a:p>
        </p:txBody>
      </p:sp>
      <p:sp>
        <p:nvSpPr>
          <p:cNvPr id="6" name="Shape 4"/>
          <p:cNvSpPr/>
          <p:nvPr/>
        </p:nvSpPr>
        <p:spPr>
          <a:xfrm>
            <a:off x="710032" y="2697480"/>
            <a:ext cx="2432304" cy="1051560"/>
          </a:xfrm>
          <a:prstGeom prst="roundRect">
            <a:avLst>
              <a:gd name="adj" fmla="val 6957"/>
            </a:avLst>
          </a:prstGeom>
          <a:solidFill>
            <a:srgbClr val="F7F5FA"/>
          </a:solidFill>
          <a:ln w="12700">
            <a:solidFill>
              <a:srgbClr val="7B4BD8"/>
            </a:solidFill>
            <a:prstDash val="solid"/>
          </a:ln>
        </p:spPr>
      </p:sp>
      <p:sp>
        <p:nvSpPr>
          <p:cNvPr id="7" name="Text 5"/>
          <p:cNvSpPr txBox="1"/>
          <p:nvPr/>
        </p:nvSpPr>
        <p:spPr>
          <a:xfrm>
            <a:off x="856336" y="2697480"/>
            <a:ext cx="2139696" cy="1051560"/>
          </a:xfrm>
          <a:prstGeom prst="rect">
            <a:avLst/>
          </a:prstGeom>
          <a:noFill/>
          <a:ln/>
        </p:spPr>
        <p:txBody>
          <a:bodyPr wrap="square" lIns="0" tIns="0" rIns="0" bIns="0" rtlCol="0" anchor="ctr"/>
          <a:lstStyle/>
          <a:p>
            <a:pPr algn="ctr" indent="0" marL="0">
              <a:lnSpc>
                <a:spcPts val="1600"/>
              </a:lnSpc>
              <a:buNone/>
            </a:pPr>
            <a:r>
              <a:rPr lang="en-US" sz="1200" b="1" dirty="0">
                <a:solidFill>
                  <a:srgbClr val="22222A"/>
                </a:solidFill>
                <a:latin typeface="Calibri" pitchFamily="34" charset="0"/>
                <a:ea typeface="Calibri" pitchFamily="34" charset="-122"/>
                <a:cs typeface="Calibri" pitchFamily="34" charset="-120"/>
              </a:rPr>
              <a:t>Looking Down On The Partner</a:t>
            </a:r>
            <a:endParaRPr lang="en-US" sz="1200" dirty="0"/>
          </a:p>
        </p:txBody>
      </p:sp>
      <p:sp>
        <p:nvSpPr>
          <p:cNvPr id="8" name="Shape 6"/>
          <p:cNvSpPr/>
          <p:nvPr/>
        </p:nvSpPr>
        <p:spPr>
          <a:xfrm>
            <a:off x="3197200" y="3223260"/>
            <a:ext cx="237744" cy="0"/>
          </a:xfrm>
          <a:prstGeom prst="line">
            <a:avLst/>
          </a:prstGeom>
          <a:noFill/>
          <a:ln w="19050">
            <a:solidFill>
              <a:srgbClr val="7B4BD8"/>
            </a:solidFill>
            <a:prstDash val="solid"/>
            <a:tailEnd type="triangle"/>
          </a:ln>
        </p:spPr>
      </p:sp>
      <p:sp>
        <p:nvSpPr>
          <p:cNvPr id="9" name="Shape 7"/>
          <p:cNvSpPr/>
          <p:nvPr/>
        </p:nvSpPr>
        <p:spPr>
          <a:xfrm>
            <a:off x="3489808" y="2697480"/>
            <a:ext cx="2432304" cy="1051560"/>
          </a:xfrm>
          <a:prstGeom prst="roundRect">
            <a:avLst>
              <a:gd name="adj" fmla="val 6957"/>
            </a:avLst>
          </a:prstGeom>
          <a:solidFill>
            <a:srgbClr val="F7F5FA"/>
          </a:solidFill>
          <a:ln w="12700">
            <a:solidFill>
              <a:srgbClr val="7B4BD8"/>
            </a:solidFill>
            <a:prstDash val="solid"/>
          </a:ln>
        </p:spPr>
      </p:sp>
      <p:sp>
        <p:nvSpPr>
          <p:cNvPr id="10" name="Text 8"/>
          <p:cNvSpPr txBox="1"/>
          <p:nvPr/>
        </p:nvSpPr>
        <p:spPr>
          <a:xfrm>
            <a:off x="3636112" y="2697480"/>
            <a:ext cx="2139696" cy="1051560"/>
          </a:xfrm>
          <a:prstGeom prst="rect">
            <a:avLst/>
          </a:prstGeom>
          <a:noFill/>
          <a:ln/>
        </p:spPr>
        <p:txBody>
          <a:bodyPr wrap="square" lIns="0" tIns="0" rIns="0" bIns="0" rtlCol="0" anchor="ctr"/>
          <a:lstStyle/>
          <a:p>
            <a:pPr algn="ctr" indent="0" marL="0">
              <a:lnSpc>
                <a:spcPts val="1600"/>
              </a:lnSpc>
              <a:buNone/>
            </a:pPr>
            <a:r>
              <a:rPr lang="en-US" sz="1200" b="1" dirty="0">
                <a:solidFill>
                  <a:srgbClr val="22222A"/>
                </a:solidFill>
                <a:latin typeface="Calibri" pitchFamily="34" charset="0"/>
                <a:ea typeface="Calibri" pitchFamily="34" charset="-122"/>
                <a:cs typeface="Calibri" pitchFamily="34" charset="-120"/>
              </a:rPr>
              <a:t>The Partner's Dysregulation</a:t>
            </a:r>
            <a:endParaRPr lang="en-US" sz="1200" dirty="0"/>
          </a:p>
        </p:txBody>
      </p:sp>
      <p:sp>
        <p:nvSpPr>
          <p:cNvPr id="11" name="Shape 9"/>
          <p:cNvSpPr/>
          <p:nvPr/>
        </p:nvSpPr>
        <p:spPr>
          <a:xfrm>
            <a:off x="5976976" y="3223260"/>
            <a:ext cx="237744" cy="0"/>
          </a:xfrm>
          <a:prstGeom prst="line">
            <a:avLst/>
          </a:prstGeom>
          <a:noFill/>
          <a:ln w="19050">
            <a:solidFill>
              <a:srgbClr val="7B4BD8"/>
            </a:solidFill>
            <a:prstDash val="solid"/>
            <a:tailEnd type="triangle"/>
          </a:ln>
        </p:spPr>
      </p:sp>
      <p:sp>
        <p:nvSpPr>
          <p:cNvPr id="12" name="Shape 10"/>
          <p:cNvSpPr/>
          <p:nvPr/>
        </p:nvSpPr>
        <p:spPr>
          <a:xfrm>
            <a:off x="6269584" y="2697480"/>
            <a:ext cx="2432304" cy="1051560"/>
          </a:xfrm>
          <a:prstGeom prst="roundRect">
            <a:avLst>
              <a:gd name="adj" fmla="val 6957"/>
            </a:avLst>
          </a:prstGeom>
          <a:solidFill>
            <a:srgbClr val="F7F5FA"/>
          </a:solidFill>
          <a:ln w="12700">
            <a:solidFill>
              <a:srgbClr val="7B4BD8"/>
            </a:solidFill>
            <a:prstDash val="solid"/>
          </a:ln>
        </p:spPr>
      </p:sp>
      <p:sp>
        <p:nvSpPr>
          <p:cNvPr id="13" name="Text 11"/>
          <p:cNvSpPr txBox="1"/>
          <p:nvPr/>
        </p:nvSpPr>
        <p:spPr>
          <a:xfrm>
            <a:off x="6415888" y="2697480"/>
            <a:ext cx="2139696" cy="1051560"/>
          </a:xfrm>
          <a:prstGeom prst="rect">
            <a:avLst/>
          </a:prstGeom>
          <a:noFill/>
          <a:ln/>
        </p:spPr>
        <p:txBody>
          <a:bodyPr wrap="square" lIns="0" tIns="0" rIns="0" bIns="0" rtlCol="0" anchor="ctr"/>
          <a:lstStyle/>
          <a:p>
            <a:pPr algn="ctr" indent="0" marL="0">
              <a:lnSpc>
                <a:spcPts val="1600"/>
              </a:lnSpc>
              <a:buNone/>
            </a:pPr>
            <a:r>
              <a:rPr lang="en-US" sz="1200" b="1" dirty="0">
                <a:solidFill>
                  <a:srgbClr val="22222A"/>
                </a:solidFill>
                <a:latin typeface="Calibri" pitchFamily="34" charset="0"/>
                <a:ea typeface="Calibri" pitchFamily="34" charset="-122"/>
                <a:cs typeface="Calibri" pitchFamily="34" charset="-120"/>
              </a:rPr>
              <a:t>Partner Stops Rising To The Occasion</a:t>
            </a:r>
            <a:endParaRPr lang="en-US" sz="1200" dirty="0"/>
          </a:p>
        </p:txBody>
      </p:sp>
      <p:sp>
        <p:nvSpPr>
          <p:cNvPr id="14" name="Shape 12"/>
          <p:cNvSpPr/>
          <p:nvPr/>
        </p:nvSpPr>
        <p:spPr>
          <a:xfrm>
            <a:off x="8756752" y="3223260"/>
            <a:ext cx="237744" cy="0"/>
          </a:xfrm>
          <a:prstGeom prst="line">
            <a:avLst/>
          </a:prstGeom>
          <a:noFill/>
          <a:ln w="19050">
            <a:solidFill>
              <a:srgbClr val="7B4BD8"/>
            </a:solidFill>
            <a:prstDash val="solid"/>
            <a:tailEnd type="triangle"/>
          </a:ln>
        </p:spPr>
      </p:sp>
      <p:sp>
        <p:nvSpPr>
          <p:cNvPr id="15" name="Shape 13"/>
          <p:cNvSpPr/>
          <p:nvPr/>
        </p:nvSpPr>
        <p:spPr>
          <a:xfrm>
            <a:off x="9049360" y="2697480"/>
            <a:ext cx="2432304" cy="1051560"/>
          </a:xfrm>
          <a:prstGeom prst="roundRect">
            <a:avLst>
              <a:gd name="adj" fmla="val 6957"/>
            </a:avLst>
          </a:prstGeom>
          <a:solidFill>
            <a:srgbClr val="F7F5FA"/>
          </a:solidFill>
          <a:ln w="12700">
            <a:solidFill>
              <a:srgbClr val="7B4BD8"/>
            </a:solidFill>
            <a:prstDash val="solid"/>
          </a:ln>
        </p:spPr>
      </p:sp>
      <p:sp>
        <p:nvSpPr>
          <p:cNvPr id="16" name="Text 14"/>
          <p:cNvSpPr txBox="1"/>
          <p:nvPr/>
        </p:nvSpPr>
        <p:spPr>
          <a:xfrm>
            <a:off x="9195664" y="2697480"/>
            <a:ext cx="2139696" cy="1051560"/>
          </a:xfrm>
          <a:prstGeom prst="rect">
            <a:avLst/>
          </a:prstGeom>
          <a:noFill/>
          <a:ln/>
        </p:spPr>
        <p:txBody>
          <a:bodyPr wrap="square" lIns="0" tIns="0" rIns="0" bIns="0" rtlCol="0" anchor="ctr"/>
          <a:lstStyle/>
          <a:p>
            <a:pPr algn="ctr" indent="0" marL="0">
              <a:lnSpc>
                <a:spcPts val="1600"/>
              </a:lnSpc>
              <a:buNone/>
            </a:pPr>
            <a:r>
              <a:rPr lang="en-US" sz="1200" b="1" dirty="0">
                <a:solidFill>
                  <a:srgbClr val="22222A"/>
                </a:solidFill>
                <a:latin typeface="Calibri" pitchFamily="34" charset="0"/>
                <a:ea typeface="Calibri" pitchFamily="34" charset="-122"/>
                <a:cs typeface="Calibri" pitchFamily="34" charset="-120"/>
              </a:rPr>
              <a:t>Unregistered Hurt</a:t>
            </a:r>
            <a:endParaRPr lang="en-US" sz="1200" dirty="0"/>
          </a:p>
        </p:txBody>
      </p:sp>
      <p:sp>
        <p:nvSpPr>
          <p:cNvPr id="17" name="Shape 15"/>
          <p:cNvSpPr/>
          <p:nvPr/>
        </p:nvSpPr>
        <p:spPr>
          <a:xfrm>
            <a:off x="11115904" y="3749040"/>
            <a:ext cx="0" cy="502920"/>
          </a:xfrm>
          <a:prstGeom prst="line">
            <a:avLst/>
          </a:prstGeom>
          <a:noFill/>
          <a:ln w="19050">
            <a:solidFill>
              <a:srgbClr val="7B4BD8"/>
            </a:solidFill>
            <a:prstDash val="solid"/>
          </a:ln>
        </p:spPr>
      </p:sp>
      <p:sp>
        <p:nvSpPr>
          <p:cNvPr id="18" name="Shape 16"/>
          <p:cNvSpPr/>
          <p:nvPr/>
        </p:nvSpPr>
        <p:spPr>
          <a:xfrm>
            <a:off x="1075792" y="4251960"/>
            <a:ext cx="10040112" cy="0"/>
          </a:xfrm>
          <a:prstGeom prst="line">
            <a:avLst/>
          </a:prstGeom>
          <a:noFill/>
          <a:ln w="19050">
            <a:solidFill>
              <a:srgbClr val="7B4BD8"/>
            </a:solidFill>
            <a:prstDash val="solid"/>
          </a:ln>
        </p:spPr>
      </p:sp>
      <p:sp>
        <p:nvSpPr>
          <p:cNvPr id="19" name="Shape 17"/>
          <p:cNvSpPr/>
          <p:nvPr/>
        </p:nvSpPr>
        <p:spPr>
          <a:xfrm>
            <a:off x="1075792" y="3749040"/>
            <a:ext cx="0" cy="502920"/>
          </a:xfrm>
          <a:prstGeom prst="line">
            <a:avLst/>
          </a:prstGeom>
          <a:noFill/>
          <a:ln w="19050">
            <a:solidFill>
              <a:srgbClr val="7B4BD8"/>
            </a:solidFill>
            <a:prstDash val="solid"/>
            <a:headEnd type="triangle"/>
          </a:ln>
        </p:spPr>
      </p:sp>
      <p:sp>
        <p:nvSpPr>
          <p:cNvPr id="20" name="Text 18"/>
          <p:cNvSpPr txBox="1"/>
          <p:nvPr/>
        </p:nvSpPr>
        <p:spPr>
          <a:xfrm>
            <a:off x="658368" y="4288536"/>
            <a:ext cx="10874959" cy="274320"/>
          </a:xfrm>
          <a:prstGeom prst="rect">
            <a:avLst/>
          </a:prstGeom>
          <a:noFill/>
          <a:ln/>
        </p:spPr>
        <p:txBody>
          <a:bodyPr wrap="square" lIns="0" tIns="0" rIns="0" bIns="0" rtlCol="0" anchor="ctr"/>
          <a:lstStyle/>
          <a:p>
            <a:pPr algn="ctr" indent="0" marL="0">
              <a:buNone/>
            </a:pPr>
            <a:r>
              <a:rPr lang="en-US" sz="1050" i="1" dirty="0">
                <a:solidFill>
                  <a:srgbClr val="7B4BD8"/>
                </a:solidFill>
                <a:latin typeface="Calibri" pitchFamily="34" charset="0"/>
                <a:ea typeface="Calibri" pitchFamily="34" charset="-122"/>
                <a:cs typeface="Calibri" pitchFamily="34" charset="-120"/>
              </a:rPr>
              <a:t>and round again</a:t>
            </a:r>
            <a:endParaRPr lang="en-US" sz="1050" dirty="0"/>
          </a:p>
        </p:txBody>
      </p:sp>
      <p:sp>
        <p:nvSpPr>
          <p:cNvPr id="21" name="Text 19"/>
          <p:cNvSpPr txBox="1"/>
          <p:nvPr/>
        </p:nvSpPr>
        <p:spPr>
          <a:xfrm>
            <a:off x="658368" y="4892040"/>
            <a:ext cx="10874959" cy="274320"/>
          </a:xfrm>
          <a:prstGeom prst="rect">
            <a:avLst/>
          </a:prstGeom>
          <a:noFill/>
          <a:ln/>
        </p:spPr>
        <p:txBody>
          <a:bodyPr wrap="square" lIns="0" tIns="0" rIns="0" bIns="0" rtlCol="0" anchor="ctr"/>
          <a:lstStyle/>
          <a:p>
            <a:pPr indent="0" marL="0">
              <a:buNone/>
            </a:pPr>
            <a:r>
              <a:rPr lang="en-US" sz="1250" b="1" dirty="0">
                <a:solidFill>
                  <a:srgbClr val="22222A"/>
                </a:solidFill>
                <a:latin typeface="Calibri" pitchFamily="34" charset="0"/>
                <a:ea typeface="Calibri" pitchFamily="34" charset="-122"/>
                <a:cs typeface="Calibri" pitchFamily="34" charset="-120"/>
              </a:rPr>
              <a:t>The other four found in the graph</a:t>
            </a:r>
            <a:endParaRPr lang="en-US" sz="1250" dirty="0"/>
          </a:p>
        </p:txBody>
      </p:sp>
      <p:sp>
        <p:nvSpPr>
          <p:cNvPr id="22" name="Text 20"/>
          <p:cNvSpPr txBox="1"/>
          <p:nvPr/>
        </p:nvSpPr>
        <p:spPr>
          <a:xfrm>
            <a:off x="658368" y="5248656"/>
            <a:ext cx="10874959" cy="274320"/>
          </a:xfrm>
          <a:prstGeom prst="rect">
            <a:avLst/>
          </a:prstGeom>
          <a:noFill/>
          <a:ln/>
        </p:spPr>
        <p:txBody>
          <a:bodyPr wrap="square" lIns="0" tIns="0" rIns="0" bIns="0" rtlCol="0" anchor="ctr"/>
          <a:lstStyle/>
          <a:p>
            <a:pPr indent="0" marL="0">
              <a:buNone/>
            </a:pPr>
            <a:r>
              <a:rPr lang="en-US" sz="1000" dirty="0">
                <a:solidFill>
                  <a:srgbClr val="807C8A"/>
                </a:solidFill>
                <a:latin typeface="Calibri" pitchFamily="34" charset="0"/>
                <a:ea typeface="Calibri" pitchFamily="34" charset="-122"/>
                <a:cs typeface="Calibri" pitchFamily="34" charset="-120"/>
              </a:rPr>
              <a:t>2 steps   </a:t>
            </a:r>
            <a:pPr indent="0" marL="0">
              <a:buNone/>
            </a:pPr>
            <a:r>
              <a:rPr lang="en-US" sz="1100" dirty="0">
                <a:solidFill>
                  <a:srgbClr val="6A6875"/>
                </a:solidFill>
                <a:latin typeface="Calibri" pitchFamily="34" charset="0"/>
                <a:ea typeface="Calibri" pitchFamily="34" charset="-122"/>
                <a:cs typeface="Calibri" pitchFamily="34" charset="-120"/>
              </a:rPr>
              <a:t>Minimizing What You Are Going Through  →  Self-Disgust At Your Own Need</a:t>
            </a:r>
            <a:endParaRPr lang="en-US" sz="1000" dirty="0"/>
          </a:p>
        </p:txBody>
      </p:sp>
      <p:sp>
        <p:nvSpPr>
          <p:cNvPr id="23" name="Text 21"/>
          <p:cNvSpPr txBox="1"/>
          <p:nvPr/>
        </p:nvSpPr>
        <p:spPr>
          <a:xfrm>
            <a:off x="658368" y="5541264"/>
            <a:ext cx="10874959" cy="274320"/>
          </a:xfrm>
          <a:prstGeom prst="rect">
            <a:avLst/>
          </a:prstGeom>
          <a:noFill/>
          <a:ln/>
        </p:spPr>
        <p:txBody>
          <a:bodyPr wrap="square" lIns="0" tIns="0" rIns="0" bIns="0" rtlCol="0" anchor="ctr"/>
          <a:lstStyle/>
          <a:p>
            <a:pPr indent="0" marL="0">
              <a:buNone/>
            </a:pPr>
            <a:r>
              <a:rPr lang="en-US" sz="1000" dirty="0">
                <a:solidFill>
                  <a:srgbClr val="807C8A"/>
                </a:solidFill>
                <a:latin typeface="Calibri" pitchFamily="34" charset="0"/>
                <a:ea typeface="Calibri" pitchFamily="34" charset="-122"/>
                <a:cs typeface="Calibri" pitchFamily="34" charset="-120"/>
              </a:rPr>
              <a:t>3 steps   </a:t>
            </a:r>
            <a:pPr indent="0" marL="0">
              <a:buNone/>
            </a:pPr>
            <a:r>
              <a:rPr lang="en-US" sz="1100" dirty="0">
                <a:solidFill>
                  <a:srgbClr val="6A6875"/>
                </a:solidFill>
                <a:latin typeface="Calibri" pitchFamily="34" charset="0"/>
                <a:ea typeface="Calibri" pitchFamily="34" charset="-122"/>
                <a:cs typeface="Calibri" pitchFamily="34" charset="-120"/>
              </a:rPr>
              <a:t>Scanning For Confirmation  →  Chronic Abandonment Fear  →  Monitoring The Bond</a:t>
            </a:r>
            <a:endParaRPr lang="en-US" sz="1000" dirty="0"/>
          </a:p>
        </p:txBody>
      </p:sp>
      <p:sp>
        <p:nvSpPr>
          <p:cNvPr id="24" name="Text 22"/>
          <p:cNvSpPr txBox="1"/>
          <p:nvPr/>
        </p:nvSpPr>
        <p:spPr>
          <a:xfrm>
            <a:off x="658368" y="5833872"/>
            <a:ext cx="10874959" cy="274320"/>
          </a:xfrm>
          <a:prstGeom prst="rect">
            <a:avLst/>
          </a:prstGeom>
          <a:noFill/>
          <a:ln/>
        </p:spPr>
        <p:txBody>
          <a:bodyPr wrap="square" lIns="0" tIns="0" rIns="0" bIns="0" rtlCol="0" anchor="ctr"/>
          <a:lstStyle/>
          <a:p>
            <a:pPr indent="0" marL="0">
              <a:buNone/>
            </a:pPr>
            <a:r>
              <a:rPr lang="en-US" sz="1000" dirty="0">
                <a:solidFill>
                  <a:srgbClr val="807C8A"/>
                </a:solidFill>
                <a:latin typeface="Calibri" pitchFamily="34" charset="0"/>
                <a:ea typeface="Calibri" pitchFamily="34" charset="-122"/>
                <a:cs typeface="Calibri" pitchFamily="34" charset="-120"/>
              </a:rPr>
              <a:t>6 steps   </a:t>
            </a:r>
            <a:pPr indent="0" marL="0">
              <a:buNone/>
            </a:pPr>
            <a:r>
              <a:rPr lang="en-US" sz="1100" dirty="0">
                <a:solidFill>
                  <a:srgbClr val="6A6875"/>
                </a:solidFill>
                <a:latin typeface="Calibri" pitchFamily="34" charset="0"/>
                <a:ea typeface="Calibri" pitchFamily="34" charset="-122"/>
                <a:cs typeface="Calibri" pitchFamily="34" charset="-120"/>
              </a:rPr>
              <a:t>Breaking It Off  →  Longing At A Safe Distance  →  Hyperactivating Strategies  →  Returning To The Relationship  →…</a:t>
            </a:r>
            <a:endParaRPr lang="en-US" sz="1000" dirty="0"/>
          </a:p>
        </p:txBody>
      </p:sp>
      <p:sp>
        <p:nvSpPr>
          <p:cNvPr id="25" name="Text 23"/>
          <p:cNvSpPr txBox="1"/>
          <p:nvPr/>
        </p:nvSpPr>
        <p:spPr>
          <a:xfrm>
            <a:off x="658368" y="6126480"/>
            <a:ext cx="10874959" cy="274320"/>
          </a:xfrm>
          <a:prstGeom prst="rect">
            <a:avLst/>
          </a:prstGeom>
          <a:noFill/>
          <a:ln/>
        </p:spPr>
        <p:txBody>
          <a:bodyPr wrap="square" lIns="0" tIns="0" rIns="0" bIns="0" rtlCol="0" anchor="ctr"/>
          <a:lstStyle/>
          <a:p>
            <a:pPr indent="0" marL="0">
              <a:buNone/>
            </a:pPr>
            <a:r>
              <a:rPr lang="en-US" sz="1000" dirty="0">
                <a:solidFill>
                  <a:srgbClr val="807C8A"/>
                </a:solidFill>
                <a:latin typeface="Calibri" pitchFamily="34" charset="0"/>
                <a:ea typeface="Calibri" pitchFamily="34" charset="-122"/>
                <a:cs typeface="Calibri" pitchFamily="34" charset="-120"/>
              </a:rPr>
              <a:t>6 steps   </a:t>
            </a:r>
            <a:pPr indent="0" marL="0">
              <a:buNone/>
            </a:pPr>
            <a:r>
              <a:rPr lang="en-US" sz="1100" dirty="0">
                <a:solidFill>
                  <a:srgbClr val="6A6875"/>
                </a:solidFill>
                <a:latin typeface="Calibri" pitchFamily="34" charset="0"/>
                <a:ea typeface="Calibri" pitchFamily="34" charset="-122"/>
                <a:cs typeface="Calibri" pitchFamily="34" charset="-120"/>
              </a:rPr>
              <a:t>Emotional Withdrawal  →  Longing At A Safe Distance  →  Hyperactivating Strategies  →  Returning To The Relationship…</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807C8A"/>
                </a:solidFill>
                <a:latin typeface="Calibri" pitchFamily="34" charset="0"/>
                <a:ea typeface="Calibri" pitchFamily="34" charset="-122"/>
                <a:cs typeface="Calibri" pitchFamily="34" charset="-120"/>
              </a:rPr>
              <a:t>26</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7B4BD8"/>
                </a:solidFill>
                <a:latin typeface="Calibri" pitchFamily="34" charset="0"/>
                <a:ea typeface="Calibri" pitchFamily="34" charset="-122"/>
                <a:cs typeface="Calibri" pitchFamily="34" charset="-120"/>
              </a:rPr>
              <a:t>A LOOP, UP CLOSE</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200" b="1" dirty="0">
                <a:solidFill>
                  <a:srgbClr val="22222A"/>
                </a:solidFill>
                <a:latin typeface="Cambria" pitchFamily="34" charset="0"/>
                <a:ea typeface="Cambria" pitchFamily="34" charset="-122"/>
                <a:cs typeface="Cambria" pitchFamily="34" charset="-120"/>
              </a:rPr>
              <a:t>Why it keeps running</a:t>
            </a:r>
            <a:endParaRPr lang="en-US" sz="3200" dirty="0"/>
          </a:p>
        </p:txBody>
      </p:sp>
      <p:pic>
        <p:nvPicPr>
          <p:cNvPr id="5" name="Image 0" descr="scripts/deck/assets/deck-loop.png">    </p:cNvPr>
          <p:cNvPicPr>
            <a:picLocks noChangeAspect="1"/>
          </p:cNvPicPr>
          <p:nvPr/>
        </p:nvPicPr>
        <p:blipFill>
          <a:blip r:embed="rId1"/>
          <a:stretch>
            <a:fillRect/>
          </a:stretch>
        </p:blipFill>
        <p:spPr>
          <a:xfrm>
            <a:off x="658368" y="1481328"/>
            <a:ext cx="6675120" cy="3145536"/>
          </a:xfrm>
          <a:prstGeom prst="rect">
            <a:avLst/>
          </a:prstGeom>
        </p:spPr>
      </p:pic>
      <p:sp>
        <p:nvSpPr>
          <p:cNvPr id="6" name="Text 3"/>
          <p:cNvSpPr txBox="1"/>
          <p:nvPr/>
        </p:nvSpPr>
        <p:spPr>
          <a:xfrm>
            <a:off x="658368" y="4617720"/>
            <a:ext cx="6675120" cy="731520"/>
          </a:xfrm>
          <a:prstGeom prst="rect">
            <a:avLst/>
          </a:prstGeom>
          <a:noFill/>
          <a:ln/>
        </p:spPr>
        <p:txBody>
          <a:bodyPr wrap="square" lIns="0" tIns="0" rIns="0" bIns="0" rtlCol="0" anchor="ctr"/>
          <a:lstStyle/>
          <a:p>
            <a:pPr indent="0" marL="0">
              <a:lnSpc>
                <a:spcPts val="1500"/>
              </a:lnSpc>
              <a:buNone/>
            </a:pPr>
            <a:r>
              <a:rPr lang="en-US" sz="1100" i="1" dirty="0">
                <a:solidFill>
                  <a:srgbClr val="807C8A"/>
                </a:solidFill>
                <a:latin typeface="Calibri" pitchFamily="34" charset="0"/>
                <a:ea typeface="Calibri" pitchFamily="34" charset="-122"/>
                <a:cs typeface="Calibri" pitchFamily="34" charset="-120"/>
              </a:rPr>
              <a:t>Breaking It Off  →  Longing At A Safe Distance  →  Hyperactivating Strategies  →  Returning To The Relationship  →  Approach-Avoidance Conflict  →  Preemptive Sabotage  →  and round again</a:t>
            </a:r>
            <a:endParaRPr lang="en-US" sz="1100" dirty="0"/>
          </a:p>
        </p:txBody>
      </p:sp>
      <p:sp>
        <p:nvSpPr>
          <p:cNvPr id="7" name="Text 4"/>
          <p:cNvSpPr txBox="1"/>
          <p:nvPr/>
        </p:nvSpPr>
        <p:spPr>
          <a:xfrm>
            <a:off x="658368" y="5440680"/>
            <a:ext cx="6675120" cy="548640"/>
          </a:xfrm>
          <a:prstGeom prst="rect">
            <a:avLst/>
          </a:prstGeom>
          <a:noFill/>
          <a:ln/>
        </p:spPr>
        <p:txBody>
          <a:bodyPr wrap="square" lIns="0" tIns="0" rIns="0" bIns="0" rtlCol="0" anchor="ctr"/>
          <a:lstStyle/>
          <a:p>
            <a:pPr indent="0" marL="0">
              <a:lnSpc>
                <a:spcPts val="1600"/>
              </a:lnSpc>
              <a:buNone/>
            </a:pPr>
            <a:r>
              <a:rPr lang="en-US" sz="1150" dirty="0">
                <a:solidFill>
                  <a:srgbClr val="6A6875"/>
                </a:solidFill>
                <a:latin typeface="Calibri" pitchFamily="34" charset="0"/>
                <a:ea typeface="Calibri" pitchFamily="34" charset="-122"/>
                <a:cs typeface="Calibri" pitchFamily="34" charset="-120"/>
              </a:rPr>
              <a:t>6 steps, alternating between the two people in it. The explorer draws a loop as a loop rather than as a list.</a:t>
            </a:r>
            <a:endParaRPr lang="en-US" sz="1150" dirty="0"/>
          </a:p>
        </p:txBody>
      </p:sp>
      <p:sp>
        <p:nvSpPr>
          <p:cNvPr id="8" name="Text 5"/>
          <p:cNvSpPr txBox="1"/>
          <p:nvPr/>
        </p:nvSpPr>
        <p:spPr>
          <a:xfrm>
            <a:off x="7589520" y="1481328"/>
            <a:ext cx="3943807" cy="310896"/>
          </a:xfrm>
          <a:prstGeom prst="rect">
            <a:avLst/>
          </a:prstGeom>
          <a:noFill/>
          <a:ln/>
        </p:spPr>
        <p:txBody>
          <a:bodyPr wrap="square" lIns="0" tIns="0" rIns="0" bIns="0" rtlCol="0" anchor="ctr"/>
          <a:lstStyle/>
          <a:p>
            <a:pPr indent="0" marL="0">
              <a:buNone/>
            </a:pPr>
            <a:r>
              <a:rPr lang="en-US" sz="1250" b="1" dirty="0">
                <a:solidFill>
                  <a:srgbClr val="22222A"/>
                </a:solidFill>
                <a:latin typeface="Calibri" pitchFamily="34" charset="0"/>
                <a:ea typeface="Calibri" pitchFamily="34" charset="-122"/>
                <a:cs typeface="Calibri" pitchFamily="34" charset="-120"/>
              </a:rPr>
              <a:t>Nobody wrote this loop down</a:t>
            </a:r>
            <a:endParaRPr lang="en-US" sz="1250" dirty="0"/>
          </a:p>
        </p:txBody>
      </p:sp>
      <p:sp>
        <p:nvSpPr>
          <p:cNvPr id="9" name="Text 6"/>
          <p:cNvSpPr txBox="1"/>
          <p:nvPr/>
        </p:nvSpPr>
        <p:spPr>
          <a:xfrm>
            <a:off x="7589520" y="1810512"/>
            <a:ext cx="3943807" cy="1188720"/>
          </a:xfrm>
          <a:prstGeom prst="rect">
            <a:avLst/>
          </a:prstGeom>
          <a:noFill/>
          <a:ln/>
        </p:spPr>
        <p:txBody>
          <a:bodyPr wrap="square" lIns="0" tIns="0" rIns="0" bIns="0" rtlCol="0" anchor="ctr"/>
          <a:lstStyle/>
          <a:p>
            <a:pPr indent="0" marL="0">
              <a:lnSpc>
                <a:spcPts val="1500"/>
              </a:lnSpc>
              <a:buNone/>
            </a:pPr>
            <a:r>
              <a:rPr lang="en-US" sz="1050" dirty="0">
                <a:solidFill>
                  <a:srgbClr val="6A6875"/>
                </a:solidFill>
                <a:latin typeface="Calibri" pitchFamily="34" charset="0"/>
                <a:ea typeface="Calibri" pitchFamily="34" charset="-122"/>
                <a:cs typeface="Calibri" pitchFamily="34" charset="-120"/>
              </a:rPr>
              <a:t>It was found by searching the causal edges for a closed chain. The notes were written one at a time, from different videos; the cycle is a property of what they say, not something asserted on a slide.</a:t>
            </a:r>
            <a:endParaRPr lang="en-US" sz="1050" dirty="0"/>
          </a:p>
        </p:txBody>
      </p:sp>
      <p:sp>
        <p:nvSpPr>
          <p:cNvPr id="10" name="Text 7"/>
          <p:cNvSpPr txBox="1"/>
          <p:nvPr/>
        </p:nvSpPr>
        <p:spPr>
          <a:xfrm>
            <a:off x="7589520" y="3054096"/>
            <a:ext cx="3943807" cy="310896"/>
          </a:xfrm>
          <a:prstGeom prst="rect">
            <a:avLst/>
          </a:prstGeom>
          <a:noFill/>
          <a:ln/>
        </p:spPr>
        <p:txBody>
          <a:bodyPr wrap="square" lIns="0" tIns="0" rIns="0" bIns="0" rtlCol="0" anchor="ctr"/>
          <a:lstStyle/>
          <a:p>
            <a:pPr indent="0" marL="0">
              <a:buNone/>
            </a:pPr>
            <a:r>
              <a:rPr lang="en-US" sz="1250" b="1" dirty="0">
                <a:solidFill>
                  <a:srgbClr val="22222A"/>
                </a:solidFill>
                <a:latin typeface="Calibri" pitchFamily="34" charset="0"/>
                <a:ea typeface="Calibri" pitchFamily="34" charset="-122"/>
                <a:cs typeface="Calibri" pitchFamily="34" charset="-120"/>
              </a:rPr>
              <a:t>Each step is somebody’s move</a:t>
            </a:r>
            <a:endParaRPr lang="en-US" sz="1250" dirty="0"/>
          </a:p>
        </p:txBody>
      </p:sp>
      <p:sp>
        <p:nvSpPr>
          <p:cNvPr id="11" name="Text 8"/>
          <p:cNvSpPr txBox="1"/>
          <p:nvPr/>
        </p:nvSpPr>
        <p:spPr>
          <a:xfrm>
            <a:off x="7589520" y="3383280"/>
            <a:ext cx="3943807" cy="1188720"/>
          </a:xfrm>
          <a:prstGeom prst="rect">
            <a:avLst/>
          </a:prstGeom>
          <a:noFill/>
          <a:ln/>
        </p:spPr>
        <p:txBody>
          <a:bodyPr wrap="square" lIns="0" tIns="0" rIns="0" bIns="0" rtlCol="0" anchor="ctr"/>
          <a:lstStyle/>
          <a:p>
            <a:pPr indent="0" marL="0">
              <a:lnSpc>
                <a:spcPts val="1500"/>
              </a:lnSpc>
              <a:buNone/>
            </a:pPr>
            <a:r>
              <a:rPr lang="en-US" sz="1050" dirty="0">
                <a:solidFill>
                  <a:srgbClr val="6A6875"/>
                </a:solidFill>
                <a:latin typeface="Calibri" pitchFamily="34" charset="0"/>
                <a:ea typeface="Calibri" pitchFamily="34" charset="-122"/>
                <a:cs typeface="Calibri" pitchFamily="34" charset="-120"/>
              </a:rPr>
              <a:t>The loop above alternates between the two people in it. That is what makes it survive good intentions: each person is responding reasonably to the step before.</a:t>
            </a:r>
            <a:endParaRPr lang="en-US" sz="1050" dirty="0"/>
          </a:p>
        </p:txBody>
      </p:sp>
      <p:sp>
        <p:nvSpPr>
          <p:cNvPr id="12" name="Text 9"/>
          <p:cNvSpPr txBox="1"/>
          <p:nvPr/>
        </p:nvSpPr>
        <p:spPr>
          <a:xfrm>
            <a:off x="7589520" y="4626864"/>
            <a:ext cx="3943807" cy="310896"/>
          </a:xfrm>
          <a:prstGeom prst="rect">
            <a:avLst/>
          </a:prstGeom>
          <a:noFill/>
          <a:ln/>
        </p:spPr>
        <p:txBody>
          <a:bodyPr wrap="square" lIns="0" tIns="0" rIns="0" bIns="0" rtlCol="0" anchor="ctr"/>
          <a:lstStyle/>
          <a:p>
            <a:pPr indent="0" marL="0">
              <a:buNone/>
            </a:pPr>
            <a:r>
              <a:rPr lang="en-US" sz="1250" b="1" dirty="0">
                <a:solidFill>
                  <a:srgbClr val="22222A"/>
                </a:solidFill>
                <a:latin typeface="Calibri" pitchFamily="34" charset="0"/>
                <a:ea typeface="Calibri" pitchFamily="34" charset="-122"/>
                <a:cs typeface="Calibri" pitchFamily="34" charset="-120"/>
              </a:rPr>
              <a:t>This is the thing to interrupt</a:t>
            </a:r>
            <a:endParaRPr lang="en-US" sz="1250" dirty="0"/>
          </a:p>
        </p:txBody>
      </p:sp>
      <p:sp>
        <p:nvSpPr>
          <p:cNvPr id="13" name="Text 10"/>
          <p:cNvSpPr txBox="1"/>
          <p:nvPr/>
        </p:nvSpPr>
        <p:spPr>
          <a:xfrm>
            <a:off x="7589520" y="4956048"/>
            <a:ext cx="3943807" cy="1188720"/>
          </a:xfrm>
          <a:prstGeom prst="rect">
            <a:avLst/>
          </a:prstGeom>
          <a:noFill/>
          <a:ln/>
        </p:spPr>
        <p:txBody>
          <a:bodyPr wrap="square" lIns="0" tIns="0" rIns="0" bIns="0" rtlCol="0" anchor="ctr"/>
          <a:lstStyle/>
          <a:p>
            <a:pPr indent="0" marL="0">
              <a:lnSpc>
                <a:spcPts val="1500"/>
              </a:lnSpc>
              <a:buNone/>
            </a:pPr>
            <a:r>
              <a:rPr lang="en-US" sz="1050" dirty="0">
                <a:solidFill>
                  <a:srgbClr val="6A6875"/>
                </a:solidFill>
                <a:latin typeface="Calibri" pitchFamily="34" charset="0"/>
                <a:ea typeface="Calibri" pitchFamily="34" charset="-122"/>
                <a:cs typeface="Calibri" pitchFamily="34" charset="-120"/>
              </a:rPr>
              <a:t>A pattern that closes on itself does not need new fuel. Asking where a loop can be broken is a better question than asking whose fault it is, and the healed_by edges answer it.</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807C8A"/>
                </a:solidFill>
                <a:latin typeface="Calibri" pitchFamily="34" charset="0"/>
                <a:ea typeface="Calibri" pitchFamily="34" charset="-122"/>
                <a:cs typeface="Calibri" pitchFamily="34" charset="-120"/>
              </a:rPr>
              <a:t>27</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7B4BD8"/>
                </a:solidFill>
                <a:latin typeface="Calibri" pitchFamily="34" charset="0"/>
                <a:ea typeface="Calibri" pitchFamily="34" charset="-122"/>
                <a:cs typeface="Calibri" pitchFamily="34" charset="-120"/>
              </a:rPr>
              <a:t>THE USEFUL ONE</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200" b="1" dirty="0">
                <a:solidFill>
                  <a:srgbClr val="22222A"/>
                </a:solidFill>
                <a:latin typeface="Cambria" pitchFamily="34" charset="0"/>
                <a:ea typeface="Cambria" pitchFamily="34" charset="-122"/>
                <a:cs typeface="Cambria" pitchFamily="34" charset="-120"/>
              </a:rPr>
              <a:t>Mirrors</a:t>
            </a:r>
            <a:endParaRPr lang="en-US" sz="3200" dirty="0"/>
          </a:p>
        </p:txBody>
      </p:sp>
      <p:sp>
        <p:nvSpPr>
          <p:cNvPr id="5" name="Text 3"/>
          <p:cNvSpPr txBox="1"/>
          <p:nvPr/>
        </p:nvSpPr>
        <p:spPr>
          <a:xfrm>
            <a:off x="658368" y="1609344"/>
            <a:ext cx="8699967" cy="685800"/>
          </a:xfrm>
          <a:prstGeom prst="rect">
            <a:avLst/>
          </a:prstGeom>
          <a:noFill/>
          <a:ln/>
        </p:spPr>
        <p:txBody>
          <a:bodyPr wrap="square" lIns="0" tIns="0" rIns="0" bIns="0" rtlCol="0" anchor="ctr"/>
          <a:lstStyle/>
          <a:p>
            <a:pPr indent="0" marL="0">
              <a:lnSpc>
                <a:spcPts val="2100"/>
              </a:lnSpc>
              <a:buNone/>
            </a:pPr>
            <a:r>
              <a:rPr lang="en-US" sz="1450" dirty="0">
                <a:solidFill>
                  <a:srgbClr val="6A6875"/>
                </a:solidFill>
                <a:latin typeface="Calibri" pitchFamily="34" charset="0"/>
                <a:ea typeface="Calibri" pitchFamily="34" charset="-122"/>
                <a:cs typeface="Calibri" pitchFamily="34" charset="-120"/>
              </a:rPr>
              <a:t>The predicate that pairs a move in one style with its counterpart in another. It is the most useful relationship in the graph when helping someone, because it describes a pattern without claiming anything about who is running it.</a:t>
            </a:r>
            <a:endParaRPr lang="en-US" sz="1450" dirty="0"/>
          </a:p>
        </p:txBody>
      </p:sp>
      <p:sp>
        <p:nvSpPr>
          <p:cNvPr id="6" name="Shape 4"/>
          <p:cNvSpPr/>
          <p:nvPr/>
        </p:nvSpPr>
        <p:spPr>
          <a:xfrm>
            <a:off x="658368" y="2651760"/>
            <a:ext cx="10874959" cy="1051560"/>
          </a:xfrm>
          <a:prstGeom prst="roundRect">
            <a:avLst>
              <a:gd name="adj" fmla="val 6957"/>
            </a:avLst>
          </a:prstGeom>
          <a:solidFill>
            <a:srgbClr val="F7F5FA"/>
          </a:solidFill>
          <a:ln w="9525">
            <a:solidFill>
              <a:srgbClr val="E5E2E8"/>
            </a:solidFill>
            <a:prstDash val="solid"/>
          </a:ln>
        </p:spPr>
      </p:sp>
      <p:sp>
        <p:nvSpPr>
          <p:cNvPr id="7" name="Shape 5"/>
          <p:cNvSpPr/>
          <p:nvPr/>
        </p:nvSpPr>
        <p:spPr>
          <a:xfrm>
            <a:off x="932688" y="2907792"/>
            <a:ext cx="164592" cy="164592"/>
          </a:xfrm>
          <a:prstGeom prst="ellipse">
            <a:avLst/>
          </a:prstGeom>
          <a:solidFill>
            <a:srgbClr val="E04F86"/>
          </a:solidFill>
          <a:ln w="12700">
            <a:solidFill>
              <a:srgbClr val="333333"/>
            </a:solidFill>
            <a:prstDash val="solid"/>
          </a:ln>
        </p:spPr>
      </p:sp>
      <p:sp>
        <p:nvSpPr>
          <p:cNvPr id="8" name="Text 6"/>
          <p:cNvSpPr txBox="1"/>
          <p:nvPr/>
        </p:nvSpPr>
        <p:spPr>
          <a:xfrm>
            <a:off x="1188720" y="2834640"/>
            <a:ext cx="3291840" cy="292608"/>
          </a:xfrm>
          <a:prstGeom prst="rect">
            <a:avLst/>
          </a:prstGeom>
          <a:noFill/>
          <a:ln/>
        </p:spPr>
        <p:txBody>
          <a:bodyPr wrap="square" lIns="0" tIns="0" rIns="0" bIns="0" rtlCol="0" anchor="ctr"/>
          <a:lstStyle/>
          <a:p>
            <a:pPr indent="0" marL="0">
              <a:buNone/>
            </a:pPr>
            <a:r>
              <a:rPr lang="en-US" sz="1300" b="1" dirty="0">
                <a:solidFill>
                  <a:srgbClr val="22222A"/>
                </a:solidFill>
                <a:latin typeface="Calibri" pitchFamily="34" charset="0"/>
                <a:ea typeface="Calibri" pitchFamily="34" charset="-122"/>
                <a:cs typeface="Calibri" pitchFamily="34" charset="-120"/>
              </a:rPr>
              <a:t>Affect Suppression</a:t>
            </a:r>
            <a:endParaRPr lang="en-US" sz="1300" dirty="0"/>
          </a:p>
        </p:txBody>
      </p:sp>
      <p:sp>
        <p:nvSpPr>
          <p:cNvPr id="9" name="Text 7"/>
          <p:cNvSpPr txBox="1"/>
          <p:nvPr/>
        </p:nvSpPr>
        <p:spPr>
          <a:xfrm>
            <a:off x="4544568" y="2834640"/>
            <a:ext cx="365760" cy="292608"/>
          </a:xfrm>
          <a:prstGeom prst="rect">
            <a:avLst/>
          </a:prstGeom>
          <a:noFill/>
          <a:ln/>
        </p:spPr>
        <p:txBody>
          <a:bodyPr wrap="square" lIns="0" tIns="0" rIns="0" bIns="0" rtlCol="0" anchor="ctr"/>
          <a:lstStyle/>
          <a:p>
            <a:pPr algn="ctr" indent="0" marL="0">
              <a:buNone/>
            </a:pPr>
            <a:r>
              <a:rPr lang="en-US" sz="1500" dirty="0">
                <a:solidFill>
                  <a:srgbClr val="7B4BD8"/>
                </a:solidFill>
                <a:latin typeface="Calibri" pitchFamily="34" charset="0"/>
                <a:ea typeface="Calibri" pitchFamily="34" charset="-122"/>
                <a:cs typeface="Calibri" pitchFamily="34" charset="-120"/>
              </a:rPr>
              <a:t>⟷</a:t>
            </a:r>
            <a:endParaRPr lang="en-US" sz="1500" dirty="0"/>
          </a:p>
        </p:txBody>
      </p:sp>
      <p:sp>
        <p:nvSpPr>
          <p:cNvPr id="10" name="Shape 8"/>
          <p:cNvSpPr/>
          <p:nvPr/>
        </p:nvSpPr>
        <p:spPr>
          <a:xfrm>
            <a:off x="5029200" y="2907792"/>
            <a:ext cx="164592" cy="164592"/>
          </a:xfrm>
          <a:prstGeom prst="ellipse">
            <a:avLst/>
          </a:prstGeom>
          <a:solidFill>
            <a:srgbClr val="E04F86"/>
          </a:solidFill>
          <a:ln w="12700">
            <a:solidFill>
              <a:srgbClr val="333333"/>
            </a:solidFill>
            <a:prstDash val="solid"/>
          </a:ln>
        </p:spPr>
      </p:sp>
      <p:sp>
        <p:nvSpPr>
          <p:cNvPr id="11" name="Text 9"/>
          <p:cNvSpPr txBox="1"/>
          <p:nvPr/>
        </p:nvSpPr>
        <p:spPr>
          <a:xfrm>
            <a:off x="5285232" y="2834640"/>
            <a:ext cx="3383280" cy="292608"/>
          </a:xfrm>
          <a:prstGeom prst="rect">
            <a:avLst/>
          </a:prstGeom>
          <a:noFill/>
          <a:ln/>
        </p:spPr>
        <p:txBody>
          <a:bodyPr wrap="square" lIns="0" tIns="0" rIns="0" bIns="0" rtlCol="0" anchor="ctr"/>
          <a:lstStyle/>
          <a:p>
            <a:pPr indent="0" marL="0">
              <a:buNone/>
            </a:pPr>
            <a:r>
              <a:rPr lang="en-US" sz="1300" b="1" dirty="0">
                <a:solidFill>
                  <a:srgbClr val="22222A"/>
                </a:solidFill>
                <a:latin typeface="Calibri" pitchFamily="34" charset="0"/>
                <a:ea typeface="Calibri" pitchFamily="34" charset="-122"/>
                <a:cs typeface="Calibri" pitchFamily="34" charset="-120"/>
              </a:rPr>
              <a:t>Amplifying The Signal</a:t>
            </a:r>
            <a:endParaRPr lang="en-US" sz="1300" dirty="0"/>
          </a:p>
        </p:txBody>
      </p:sp>
      <p:sp>
        <p:nvSpPr>
          <p:cNvPr id="12" name="Text 10"/>
          <p:cNvSpPr txBox="1"/>
          <p:nvPr/>
        </p:nvSpPr>
        <p:spPr>
          <a:xfrm>
            <a:off x="1188720" y="3182112"/>
            <a:ext cx="9960559" cy="457200"/>
          </a:xfrm>
          <a:prstGeom prst="rect">
            <a:avLst/>
          </a:prstGeom>
          <a:noFill/>
          <a:ln/>
        </p:spPr>
        <p:txBody>
          <a:bodyPr wrap="square" lIns="0" tIns="0" rIns="0" bIns="0" rtlCol="0" anchor="ctr"/>
          <a:lstStyle/>
          <a:p>
            <a:pPr indent="0" marL="0">
              <a:lnSpc>
                <a:spcPts val="1550"/>
              </a:lnSpc>
              <a:buNone/>
            </a:pPr>
            <a:r>
              <a:rPr lang="en-US" sz="1100" dirty="0">
                <a:solidFill>
                  <a:srgbClr val="6A6875"/>
                </a:solidFill>
                <a:latin typeface="Calibri" pitchFamily="34" charset="0"/>
                <a:ea typeface="Calibri" pitchFamily="34" charset="-122"/>
                <a:cs typeface="Calibri" pitchFamily="34" charset="-120"/>
              </a:rPr>
              <a:t>The avoidant move and the anxious move are the same move — turning the volume of a feeling down, or up, so that it does what is needed.</a:t>
            </a:r>
            <a:endParaRPr lang="en-US" sz="1100" dirty="0"/>
          </a:p>
        </p:txBody>
      </p:sp>
      <p:sp>
        <p:nvSpPr>
          <p:cNvPr id="13" name="Shape 11"/>
          <p:cNvSpPr/>
          <p:nvPr/>
        </p:nvSpPr>
        <p:spPr>
          <a:xfrm>
            <a:off x="658368" y="3840480"/>
            <a:ext cx="10874959" cy="1051560"/>
          </a:xfrm>
          <a:prstGeom prst="roundRect">
            <a:avLst>
              <a:gd name="adj" fmla="val 6957"/>
            </a:avLst>
          </a:prstGeom>
          <a:solidFill>
            <a:srgbClr val="F7F5FA"/>
          </a:solidFill>
          <a:ln w="9525">
            <a:solidFill>
              <a:srgbClr val="E5E2E8"/>
            </a:solidFill>
            <a:prstDash val="solid"/>
          </a:ln>
        </p:spPr>
      </p:sp>
      <p:sp>
        <p:nvSpPr>
          <p:cNvPr id="14" name="Shape 12"/>
          <p:cNvSpPr/>
          <p:nvPr/>
        </p:nvSpPr>
        <p:spPr>
          <a:xfrm>
            <a:off x="932688" y="4096512"/>
            <a:ext cx="164592" cy="164592"/>
          </a:xfrm>
          <a:prstGeom prst="ellipse">
            <a:avLst/>
          </a:prstGeom>
          <a:solidFill>
            <a:srgbClr val="E04F86"/>
          </a:solidFill>
          <a:ln w="12700">
            <a:solidFill>
              <a:srgbClr val="333333"/>
            </a:solidFill>
            <a:prstDash val="solid"/>
          </a:ln>
        </p:spPr>
      </p:sp>
      <p:sp>
        <p:nvSpPr>
          <p:cNvPr id="15" name="Text 13"/>
          <p:cNvSpPr txBox="1"/>
          <p:nvPr/>
        </p:nvSpPr>
        <p:spPr>
          <a:xfrm>
            <a:off x="1188720" y="4023360"/>
            <a:ext cx="3291840" cy="292608"/>
          </a:xfrm>
          <a:prstGeom prst="rect">
            <a:avLst/>
          </a:prstGeom>
          <a:noFill/>
          <a:ln/>
        </p:spPr>
        <p:txBody>
          <a:bodyPr wrap="square" lIns="0" tIns="0" rIns="0" bIns="0" rtlCol="0" anchor="ctr"/>
          <a:lstStyle/>
          <a:p>
            <a:pPr indent="0" marL="0">
              <a:buNone/>
            </a:pPr>
            <a:r>
              <a:rPr lang="en-US" sz="1300" b="1" dirty="0">
                <a:solidFill>
                  <a:srgbClr val="22222A"/>
                </a:solidFill>
                <a:latin typeface="Calibri" pitchFamily="34" charset="0"/>
                <a:ea typeface="Calibri" pitchFamily="34" charset="-122"/>
                <a:cs typeface="Calibri" pitchFamily="34" charset="-120"/>
              </a:rPr>
              <a:t>Deactivating Strategies</a:t>
            </a:r>
            <a:endParaRPr lang="en-US" sz="1300" dirty="0"/>
          </a:p>
        </p:txBody>
      </p:sp>
      <p:sp>
        <p:nvSpPr>
          <p:cNvPr id="16" name="Text 14"/>
          <p:cNvSpPr txBox="1"/>
          <p:nvPr/>
        </p:nvSpPr>
        <p:spPr>
          <a:xfrm>
            <a:off x="4544568" y="4023360"/>
            <a:ext cx="365760" cy="292608"/>
          </a:xfrm>
          <a:prstGeom prst="rect">
            <a:avLst/>
          </a:prstGeom>
          <a:noFill/>
          <a:ln/>
        </p:spPr>
        <p:txBody>
          <a:bodyPr wrap="square" lIns="0" tIns="0" rIns="0" bIns="0" rtlCol="0" anchor="ctr"/>
          <a:lstStyle/>
          <a:p>
            <a:pPr algn="ctr" indent="0" marL="0">
              <a:buNone/>
            </a:pPr>
            <a:r>
              <a:rPr lang="en-US" sz="1500" dirty="0">
                <a:solidFill>
                  <a:srgbClr val="7B4BD8"/>
                </a:solidFill>
                <a:latin typeface="Calibri" pitchFamily="34" charset="0"/>
                <a:ea typeface="Calibri" pitchFamily="34" charset="-122"/>
                <a:cs typeface="Calibri" pitchFamily="34" charset="-120"/>
              </a:rPr>
              <a:t>⟷</a:t>
            </a:r>
            <a:endParaRPr lang="en-US" sz="1500" dirty="0"/>
          </a:p>
        </p:txBody>
      </p:sp>
      <p:sp>
        <p:nvSpPr>
          <p:cNvPr id="17" name="Shape 15"/>
          <p:cNvSpPr/>
          <p:nvPr/>
        </p:nvSpPr>
        <p:spPr>
          <a:xfrm>
            <a:off x="5029200" y="4096512"/>
            <a:ext cx="164592" cy="164592"/>
          </a:xfrm>
          <a:prstGeom prst="ellipse">
            <a:avLst/>
          </a:prstGeom>
          <a:solidFill>
            <a:srgbClr val="E04F86"/>
          </a:solidFill>
          <a:ln w="12700">
            <a:solidFill>
              <a:srgbClr val="333333"/>
            </a:solidFill>
            <a:prstDash val="solid"/>
          </a:ln>
        </p:spPr>
      </p:sp>
      <p:sp>
        <p:nvSpPr>
          <p:cNvPr id="18" name="Text 16"/>
          <p:cNvSpPr txBox="1"/>
          <p:nvPr/>
        </p:nvSpPr>
        <p:spPr>
          <a:xfrm>
            <a:off x="5285232" y="4023360"/>
            <a:ext cx="3383280" cy="292608"/>
          </a:xfrm>
          <a:prstGeom prst="rect">
            <a:avLst/>
          </a:prstGeom>
          <a:noFill/>
          <a:ln/>
        </p:spPr>
        <p:txBody>
          <a:bodyPr wrap="square" lIns="0" tIns="0" rIns="0" bIns="0" rtlCol="0" anchor="ctr"/>
          <a:lstStyle/>
          <a:p>
            <a:pPr indent="0" marL="0">
              <a:buNone/>
            </a:pPr>
            <a:r>
              <a:rPr lang="en-US" sz="1300" b="1" dirty="0">
                <a:solidFill>
                  <a:srgbClr val="22222A"/>
                </a:solidFill>
                <a:latin typeface="Calibri" pitchFamily="34" charset="0"/>
                <a:ea typeface="Calibri" pitchFamily="34" charset="-122"/>
                <a:cs typeface="Calibri" pitchFamily="34" charset="-120"/>
              </a:rPr>
              <a:t>Hyperactivating Strategies</a:t>
            </a:r>
            <a:endParaRPr lang="en-US" sz="1300" dirty="0"/>
          </a:p>
        </p:txBody>
      </p:sp>
      <p:sp>
        <p:nvSpPr>
          <p:cNvPr id="19" name="Text 17"/>
          <p:cNvSpPr txBox="1"/>
          <p:nvPr/>
        </p:nvSpPr>
        <p:spPr>
          <a:xfrm>
            <a:off x="1188720" y="4370832"/>
            <a:ext cx="9960559" cy="457200"/>
          </a:xfrm>
          <a:prstGeom prst="rect">
            <a:avLst/>
          </a:prstGeom>
          <a:noFill/>
          <a:ln/>
        </p:spPr>
        <p:txBody>
          <a:bodyPr wrap="square" lIns="0" tIns="0" rIns="0" bIns="0" rtlCol="0" anchor="ctr"/>
          <a:lstStyle/>
          <a:p>
            <a:pPr indent="0" marL="0">
              <a:lnSpc>
                <a:spcPts val="1550"/>
              </a:lnSpc>
              <a:buNone/>
            </a:pPr>
            <a:r>
              <a:rPr lang="en-US" sz="1100" dirty="0">
                <a:solidFill>
                  <a:srgbClr val="6A6875"/>
                </a:solidFill>
                <a:latin typeface="Calibri" pitchFamily="34" charset="0"/>
                <a:ea typeface="Calibri" pitchFamily="34" charset="-122"/>
                <a:cs typeface="Calibri" pitchFamily="34" charset="-120"/>
              </a:rPr>
              <a:t>Both are responses to growing dependency. One scans for cost, the other for signs the bond is at risk.</a:t>
            </a:r>
            <a:endParaRPr lang="en-US" sz="1100" dirty="0"/>
          </a:p>
        </p:txBody>
      </p:sp>
      <p:sp>
        <p:nvSpPr>
          <p:cNvPr id="20" name="Shape 18"/>
          <p:cNvSpPr/>
          <p:nvPr/>
        </p:nvSpPr>
        <p:spPr>
          <a:xfrm>
            <a:off x="658368" y="5029200"/>
            <a:ext cx="10874959" cy="1051560"/>
          </a:xfrm>
          <a:prstGeom prst="roundRect">
            <a:avLst>
              <a:gd name="adj" fmla="val 6957"/>
            </a:avLst>
          </a:prstGeom>
          <a:solidFill>
            <a:srgbClr val="F7F5FA"/>
          </a:solidFill>
          <a:ln w="9525">
            <a:solidFill>
              <a:srgbClr val="E5E2E8"/>
            </a:solidFill>
            <a:prstDash val="solid"/>
          </a:ln>
        </p:spPr>
      </p:sp>
      <p:sp>
        <p:nvSpPr>
          <p:cNvPr id="21" name="Shape 19"/>
          <p:cNvSpPr/>
          <p:nvPr/>
        </p:nvSpPr>
        <p:spPr>
          <a:xfrm>
            <a:off x="932688" y="5285232"/>
            <a:ext cx="164592" cy="164592"/>
          </a:xfrm>
          <a:prstGeom prst="ellipse">
            <a:avLst/>
          </a:prstGeom>
          <a:solidFill>
            <a:srgbClr val="3C5FA8"/>
          </a:solidFill>
          <a:ln w="12700">
            <a:solidFill>
              <a:srgbClr val="333333"/>
            </a:solidFill>
            <a:prstDash val="solid"/>
          </a:ln>
        </p:spPr>
      </p:sp>
      <p:sp>
        <p:nvSpPr>
          <p:cNvPr id="22" name="Text 20"/>
          <p:cNvSpPr txBox="1"/>
          <p:nvPr/>
        </p:nvSpPr>
        <p:spPr>
          <a:xfrm>
            <a:off x="1188720" y="5212080"/>
            <a:ext cx="3291840" cy="292608"/>
          </a:xfrm>
          <a:prstGeom prst="rect">
            <a:avLst/>
          </a:prstGeom>
          <a:noFill/>
          <a:ln/>
        </p:spPr>
        <p:txBody>
          <a:bodyPr wrap="square" lIns="0" tIns="0" rIns="0" bIns="0" rtlCol="0" anchor="ctr"/>
          <a:lstStyle/>
          <a:p>
            <a:pPr indent="0" marL="0">
              <a:buNone/>
            </a:pPr>
            <a:r>
              <a:rPr lang="en-US" sz="1300" b="1" dirty="0">
                <a:solidFill>
                  <a:srgbClr val="22222A"/>
                </a:solidFill>
                <a:latin typeface="Calibri" pitchFamily="34" charset="0"/>
                <a:ea typeface="Calibri" pitchFamily="34" charset="-122"/>
                <a:cs typeface="Calibri" pitchFamily="34" charset="-120"/>
              </a:rPr>
              <a:t>Attachment-Seeking Met With Hostility</a:t>
            </a:r>
            <a:endParaRPr lang="en-US" sz="1300" dirty="0"/>
          </a:p>
        </p:txBody>
      </p:sp>
      <p:sp>
        <p:nvSpPr>
          <p:cNvPr id="23" name="Text 21"/>
          <p:cNvSpPr txBox="1"/>
          <p:nvPr/>
        </p:nvSpPr>
        <p:spPr>
          <a:xfrm>
            <a:off x="4544568" y="5212080"/>
            <a:ext cx="365760" cy="292608"/>
          </a:xfrm>
          <a:prstGeom prst="rect">
            <a:avLst/>
          </a:prstGeom>
          <a:noFill/>
          <a:ln/>
        </p:spPr>
        <p:txBody>
          <a:bodyPr wrap="square" lIns="0" tIns="0" rIns="0" bIns="0" rtlCol="0" anchor="ctr"/>
          <a:lstStyle/>
          <a:p>
            <a:pPr algn="ctr" indent="0" marL="0">
              <a:buNone/>
            </a:pPr>
            <a:r>
              <a:rPr lang="en-US" sz="1500" dirty="0">
                <a:solidFill>
                  <a:srgbClr val="7B4BD8"/>
                </a:solidFill>
                <a:latin typeface="Calibri" pitchFamily="34" charset="0"/>
                <a:ea typeface="Calibri" pitchFamily="34" charset="-122"/>
                <a:cs typeface="Calibri" pitchFamily="34" charset="-120"/>
              </a:rPr>
              <a:t>⟷</a:t>
            </a:r>
            <a:endParaRPr lang="en-US" sz="1500" dirty="0"/>
          </a:p>
        </p:txBody>
      </p:sp>
      <p:sp>
        <p:nvSpPr>
          <p:cNvPr id="24" name="Shape 22"/>
          <p:cNvSpPr/>
          <p:nvPr/>
        </p:nvSpPr>
        <p:spPr>
          <a:xfrm>
            <a:off x="5029200" y="5285232"/>
            <a:ext cx="164592" cy="164592"/>
          </a:xfrm>
          <a:prstGeom prst="ellipse">
            <a:avLst/>
          </a:prstGeom>
          <a:solidFill>
            <a:srgbClr val="3C5FA8"/>
          </a:solidFill>
          <a:ln w="12700">
            <a:solidFill>
              <a:srgbClr val="333333"/>
            </a:solidFill>
            <a:prstDash val="solid"/>
          </a:ln>
        </p:spPr>
      </p:sp>
      <p:sp>
        <p:nvSpPr>
          <p:cNvPr id="25" name="Text 23"/>
          <p:cNvSpPr txBox="1"/>
          <p:nvPr/>
        </p:nvSpPr>
        <p:spPr>
          <a:xfrm>
            <a:off x="5285232" y="5212080"/>
            <a:ext cx="3383280" cy="292608"/>
          </a:xfrm>
          <a:prstGeom prst="rect">
            <a:avLst/>
          </a:prstGeom>
          <a:noFill/>
          <a:ln/>
        </p:spPr>
        <p:txBody>
          <a:bodyPr wrap="square" lIns="0" tIns="0" rIns="0" bIns="0" rtlCol="0" anchor="ctr"/>
          <a:lstStyle/>
          <a:p>
            <a:pPr indent="0" marL="0">
              <a:buNone/>
            </a:pPr>
            <a:r>
              <a:rPr lang="en-US" sz="1300" b="1" dirty="0">
                <a:solidFill>
                  <a:srgbClr val="22222A"/>
                </a:solidFill>
                <a:latin typeface="Calibri" pitchFamily="34" charset="0"/>
                <a:ea typeface="Calibri" pitchFamily="34" charset="-122"/>
                <a:cs typeface="Calibri" pitchFamily="34" charset="-120"/>
              </a:rPr>
              <a:t>Inconsistent Responsiveness</a:t>
            </a:r>
            <a:endParaRPr lang="en-US" sz="1300" dirty="0"/>
          </a:p>
        </p:txBody>
      </p:sp>
      <p:sp>
        <p:nvSpPr>
          <p:cNvPr id="26" name="Text 24"/>
          <p:cNvSpPr txBox="1"/>
          <p:nvPr/>
        </p:nvSpPr>
        <p:spPr>
          <a:xfrm>
            <a:off x="1188720" y="5559552"/>
            <a:ext cx="9960559" cy="457200"/>
          </a:xfrm>
          <a:prstGeom prst="rect">
            <a:avLst/>
          </a:prstGeom>
          <a:noFill/>
          <a:ln/>
        </p:spPr>
        <p:txBody>
          <a:bodyPr wrap="square" lIns="0" tIns="0" rIns="0" bIns="0" rtlCol="0" anchor="ctr"/>
          <a:lstStyle/>
          <a:p>
            <a:pPr indent="0" marL="0">
              <a:lnSpc>
                <a:spcPts val="1550"/>
              </a:lnSpc>
              <a:buNone/>
            </a:pPr>
            <a:r>
              <a:rPr lang="en-US" sz="1100" dirty="0">
                <a:solidFill>
                  <a:srgbClr val="6A6875"/>
                </a:solidFill>
                <a:latin typeface="Calibri" pitchFamily="34" charset="0"/>
                <a:ea typeface="Calibri" pitchFamily="34" charset="-122"/>
                <a:cs typeface="Calibri" pitchFamily="34" charset="-120"/>
              </a:rPr>
              <a:t>Two developmental conditions that produce opposite adaptations from the same unmet need.</a:t>
            </a:r>
            <a:endParaRPr lang="en-US" sz="1100" dirty="0"/>
          </a:p>
        </p:txBody>
      </p:sp>
      <p:sp>
        <p:nvSpPr>
          <p:cNvPr id="27" name="Text 25"/>
          <p:cNvSpPr txBox="1"/>
          <p:nvPr/>
        </p:nvSpPr>
        <p:spPr>
          <a:xfrm>
            <a:off x="658368" y="6236208"/>
            <a:ext cx="10874959" cy="320040"/>
          </a:xfrm>
          <a:prstGeom prst="rect">
            <a:avLst/>
          </a:prstGeom>
          <a:noFill/>
          <a:ln/>
        </p:spPr>
        <p:txBody>
          <a:bodyPr wrap="square" lIns="0" tIns="0" rIns="0" bIns="0" rtlCol="0" anchor="ctr"/>
          <a:lstStyle/>
          <a:p>
            <a:pPr indent="0" marL="0">
              <a:buNone/>
            </a:pPr>
            <a:r>
              <a:rPr lang="en-US" sz="1200" i="1" dirty="0">
                <a:solidFill>
                  <a:srgbClr val="807C8A"/>
                </a:solidFill>
                <a:latin typeface="Calibri" pitchFamily="34" charset="0"/>
                <a:ea typeface="Calibri" pitchFamily="34" charset="-122"/>
                <a:cs typeface="Calibri" pitchFamily="34" charset="-120"/>
              </a:rPr>
              <a:t>374 mirror edges. None of them says who is which.</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807C8A"/>
                </a:solidFill>
                <a:latin typeface="Calibri" pitchFamily="34" charset="0"/>
                <a:ea typeface="Calibri" pitchFamily="34" charset="-122"/>
                <a:cs typeface="Calibri" pitchFamily="34" charset="-120"/>
              </a:rPr>
              <a:t>28</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7B4BD8"/>
                </a:solidFill>
                <a:latin typeface="Calibri" pitchFamily="34" charset="0"/>
                <a:ea typeface="Calibri" pitchFamily="34" charset="-122"/>
                <a:cs typeface="Calibri" pitchFamily="34" charset="-120"/>
              </a:rPr>
              <a:t>FOUR READINGS</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200" b="1" dirty="0">
                <a:solidFill>
                  <a:srgbClr val="22222A"/>
                </a:solidFill>
                <a:latin typeface="Cambria" pitchFamily="34" charset="0"/>
                <a:ea typeface="Cambria" pitchFamily="34" charset="-122"/>
                <a:cs typeface="Cambria" pitchFamily="34" charset="-120"/>
              </a:rPr>
              <a:t>The same node, through four lenses</a:t>
            </a:r>
            <a:endParaRPr lang="en-US" sz="3200" dirty="0"/>
          </a:p>
        </p:txBody>
      </p:sp>
      <p:sp>
        <p:nvSpPr>
          <p:cNvPr id="5" name="Text 3"/>
          <p:cNvSpPr txBox="1"/>
          <p:nvPr/>
        </p:nvSpPr>
        <p:spPr>
          <a:xfrm>
            <a:off x="658368" y="1609344"/>
            <a:ext cx="8917467" cy="548640"/>
          </a:xfrm>
          <a:prstGeom prst="rect">
            <a:avLst/>
          </a:prstGeom>
          <a:noFill/>
          <a:ln/>
        </p:spPr>
        <p:txBody>
          <a:bodyPr wrap="square" lIns="0" tIns="0" rIns="0" bIns="0" rtlCol="0" anchor="ctr"/>
          <a:lstStyle/>
          <a:p>
            <a:pPr indent="0" marL="0">
              <a:lnSpc>
                <a:spcPts val="2100"/>
              </a:lnSpc>
              <a:buNone/>
            </a:pPr>
            <a:r>
              <a:rPr lang="en-US" sz="1450" dirty="0">
                <a:solidFill>
                  <a:srgbClr val="6A6875"/>
                </a:solidFill>
                <a:latin typeface="Calibri" pitchFamily="34" charset="0"/>
                <a:ea typeface="Calibri" pitchFamily="34" charset="-122"/>
                <a:cs typeface="Calibri" pitchFamily="34" charset="-120"/>
              </a:rPr>
              <a:t>Every node records what it is for each style. Closeness is a threat through one lens and a promise that never arrives through another — same topology, different weight.</a:t>
            </a:r>
            <a:endParaRPr lang="en-US" sz="1450" dirty="0"/>
          </a:p>
        </p:txBody>
      </p:sp>
      <p:sp>
        <p:nvSpPr>
          <p:cNvPr id="6" name="Text 4"/>
          <p:cNvSpPr txBox="1"/>
          <p:nvPr/>
        </p:nvSpPr>
        <p:spPr>
          <a:xfrm>
            <a:off x="658368" y="2377440"/>
            <a:ext cx="5303520" cy="256032"/>
          </a:xfrm>
          <a:prstGeom prst="rect">
            <a:avLst/>
          </a:prstGeom>
          <a:noFill/>
          <a:ln/>
        </p:spPr>
        <p:txBody>
          <a:bodyPr wrap="square" lIns="0" tIns="0" rIns="0" bIns="0" rtlCol="0" anchor="ctr"/>
          <a:lstStyle/>
          <a:p>
            <a:pPr indent="0" marL="0">
              <a:buNone/>
            </a:pPr>
            <a:r>
              <a:rPr lang="en-US" sz="1300" b="1" dirty="0">
                <a:solidFill>
                  <a:srgbClr val="7B4BD8"/>
                </a:solidFill>
                <a:latin typeface="Courier New" pitchFamily="34" charset="0"/>
                <a:ea typeface="Courier New" pitchFamily="34" charset="-122"/>
                <a:cs typeface="Courier New" pitchFamily="34" charset="-120"/>
              </a:rPr>
              <a:t>core</a:t>
            </a:r>
            <a:endParaRPr lang="en-US" sz="1300" dirty="0"/>
          </a:p>
        </p:txBody>
      </p:sp>
      <p:sp>
        <p:nvSpPr>
          <p:cNvPr id="7" name="Text 5"/>
          <p:cNvSpPr txBox="1"/>
          <p:nvPr/>
        </p:nvSpPr>
        <p:spPr>
          <a:xfrm>
            <a:off x="658368" y="2651760"/>
            <a:ext cx="5303520" cy="658368"/>
          </a:xfrm>
          <a:prstGeom prst="rect">
            <a:avLst/>
          </a:prstGeom>
          <a:noFill/>
          <a:ln/>
        </p:spPr>
        <p:txBody>
          <a:bodyPr wrap="square" lIns="0" tIns="0" rIns="0" bIns="0" rtlCol="0" anchor="ctr"/>
          <a:lstStyle/>
          <a:p>
            <a:pPr indent="0" marL="0">
              <a:lnSpc>
                <a:spcPts val="1650"/>
              </a:lnSpc>
              <a:buNone/>
            </a:pPr>
            <a:r>
              <a:rPr lang="en-US" sz="1150" dirty="0">
                <a:solidFill>
                  <a:srgbClr val="6A6875"/>
                </a:solidFill>
                <a:latin typeface="Calibri" pitchFamily="34" charset="0"/>
                <a:ea typeface="Calibri" pitchFamily="34" charset="-122"/>
                <a:cs typeface="Calibri" pitchFamily="34" charset="-120"/>
              </a:rPr>
              <a:t>A defining move of that style — you would expect to find it running.</a:t>
            </a:r>
            <a:endParaRPr lang="en-US" sz="1150" dirty="0"/>
          </a:p>
        </p:txBody>
      </p:sp>
      <p:sp>
        <p:nvSpPr>
          <p:cNvPr id="8" name="Text 6"/>
          <p:cNvSpPr txBox="1"/>
          <p:nvPr/>
        </p:nvSpPr>
        <p:spPr>
          <a:xfrm>
            <a:off x="6327648" y="2377440"/>
            <a:ext cx="5303520" cy="256032"/>
          </a:xfrm>
          <a:prstGeom prst="rect">
            <a:avLst/>
          </a:prstGeom>
          <a:noFill/>
          <a:ln/>
        </p:spPr>
        <p:txBody>
          <a:bodyPr wrap="square" lIns="0" tIns="0" rIns="0" bIns="0" rtlCol="0" anchor="ctr"/>
          <a:lstStyle/>
          <a:p>
            <a:pPr indent="0" marL="0">
              <a:buNone/>
            </a:pPr>
            <a:r>
              <a:rPr lang="en-US" sz="1300" b="1" dirty="0">
                <a:solidFill>
                  <a:srgbClr val="7B4BD8"/>
                </a:solidFill>
                <a:latin typeface="Courier New" pitchFamily="34" charset="0"/>
                <a:ea typeface="Courier New" pitchFamily="34" charset="-122"/>
                <a:cs typeface="Courier New" pitchFamily="34" charset="-120"/>
              </a:rPr>
              <a:t>alternating</a:t>
            </a:r>
            <a:endParaRPr lang="en-US" sz="1300" dirty="0"/>
          </a:p>
        </p:txBody>
      </p:sp>
      <p:sp>
        <p:nvSpPr>
          <p:cNvPr id="9" name="Text 7"/>
          <p:cNvSpPr txBox="1"/>
          <p:nvPr/>
        </p:nvSpPr>
        <p:spPr>
          <a:xfrm>
            <a:off x="6327648" y="2651760"/>
            <a:ext cx="5303520" cy="658368"/>
          </a:xfrm>
          <a:prstGeom prst="rect">
            <a:avLst/>
          </a:prstGeom>
          <a:noFill/>
          <a:ln/>
        </p:spPr>
        <p:txBody>
          <a:bodyPr wrap="square" lIns="0" tIns="0" rIns="0" bIns="0" rtlCol="0" anchor="ctr"/>
          <a:lstStyle/>
          <a:p>
            <a:pPr indent="0" marL="0">
              <a:lnSpc>
                <a:spcPts val="1650"/>
              </a:lnSpc>
              <a:buNone/>
            </a:pPr>
            <a:r>
              <a:rPr lang="en-US" sz="1150" dirty="0">
                <a:solidFill>
                  <a:srgbClr val="6A6875"/>
                </a:solidFill>
                <a:latin typeface="Calibri" pitchFamily="34" charset="0"/>
                <a:ea typeface="Calibri" pitchFamily="34" charset="-122"/>
                <a:cs typeface="Calibri" pitchFamily="34" charset="-120"/>
              </a:rPr>
              <a:t>Present by oscillation rather than by default. This is how fearful-avoidant is carried in the graph: not a third style, but both, in turn.</a:t>
            </a:r>
            <a:endParaRPr lang="en-US" sz="1150" dirty="0"/>
          </a:p>
        </p:txBody>
      </p:sp>
      <p:sp>
        <p:nvSpPr>
          <p:cNvPr id="10" name="Text 8"/>
          <p:cNvSpPr txBox="1"/>
          <p:nvPr/>
        </p:nvSpPr>
        <p:spPr>
          <a:xfrm>
            <a:off x="658368" y="3383280"/>
            <a:ext cx="5303520" cy="256032"/>
          </a:xfrm>
          <a:prstGeom prst="rect">
            <a:avLst/>
          </a:prstGeom>
          <a:noFill/>
          <a:ln/>
        </p:spPr>
        <p:txBody>
          <a:bodyPr wrap="square" lIns="0" tIns="0" rIns="0" bIns="0" rtlCol="0" anchor="ctr"/>
          <a:lstStyle/>
          <a:p>
            <a:pPr indent="0" marL="0">
              <a:buNone/>
            </a:pPr>
            <a:r>
              <a:rPr lang="en-US" sz="1300" b="1" dirty="0">
                <a:solidFill>
                  <a:srgbClr val="7B4BD8"/>
                </a:solidFill>
                <a:latin typeface="Courier New" pitchFamily="34" charset="0"/>
                <a:ea typeface="Courier New" pitchFamily="34" charset="-122"/>
                <a:cs typeface="Courier New" pitchFamily="34" charset="-120"/>
              </a:rPr>
              <a:t>secondary</a:t>
            </a:r>
            <a:endParaRPr lang="en-US" sz="1300" dirty="0"/>
          </a:p>
        </p:txBody>
      </p:sp>
      <p:sp>
        <p:nvSpPr>
          <p:cNvPr id="11" name="Text 9"/>
          <p:cNvSpPr txBox="1"/>
          <p:nvPr/>
        </p:nvSpPr>
        <p:spPr>
          <a:xfrm>
            <a:off x="658368" y="3657600"/>
            <a:ext cx="5303520" cy="658368"/>
          </a:xfrm>
          <a:prstGeom prst="rect">
            <a:avLst/>
          </a:prstGeom>
          <a:noFill/>
          <a:ln/>
        </p:spPr>
        <p:txBody>
          <a:bodyPr wrap="square" lIns="0" tIns="0" rIns="0" bIns="0" rtlCol="0" anchor="ctr"/>
          <a:lstStyle/>
          <a:p>
            <a:pPr indent="0" marL="0">
              <a:lnSpc>
                <a:spcPts val="1650"/>
              </a:lnSpc>
              <a:buNone/>
            </a:pPr>
            <a:r>
              <a:rPr lang="en-US" sz="1150" dirty="0">
                <a:solidFill>
                  <a:srgbClr val="6A6875"/>
                </a:solidFill>
                <a:latin typeface="Calibri" pitchFamily="34" charset="0"/>
                <a:ea typeface="Calibri" pitchFamily="34" charset="-122"/>
                <a:cs typeface="Calibri" pitchFamily="34" charset="-120"/>
              </a:rPr>
              <a:t>Shows up, but is not what defines the pattern.</a:t>
            </a:r>
            <a:endParaRPr lang="en-US" sz="1150" dirty="0"/>
          </a:p>
        </p:txBody>
      </p:sp>
      <p:sp>
        <p:nvSpPr>
          <p:cNvPr id="12" name="Text 10"/>
          <p:cNvSpPr txBox="1"/>
          <p:nvPr/>
        </p:nvSpPr>
        <p:spPr>
          <a:xfrm>
            <a:off x="6327648" y="3383280"/>
            <a:ext cx="5303520" cy="256032"/>
          </a:xfrm>
          <a:prstGeom prst="rect">
            <a:avLst/>
          </a:prstGeom>
          <a:noFill/>
          <a:ln/>
        </p:spPr>
        <p:txBody>
          <a:bodyPr wrap="square" lIns="0" tIns="0" rIns="0" bIns="0" rtlCol="0" anchor="ctr"/>
          <a:lstStyle/>
          <a:p>
            <a:pPr indent="0" marL="0">
              <a:buNone/>
            </a:pPr>
            <a:r>
              <a:rPr lang="en-US" sz="1300" b="1" dirty="0">
                <a:solidFill>
                  <a:srgbClr val="7B4BD8"/>
                </a:solidFill>
                <a:latin typeface="Courier New" pitchFamily="34" charset="0"/>
                <a:ea typeface="Courier New" pitchFamily="34" charset="-122"/>
                <a:cs typeface="Courier New" pitchFamily="34" charset="-120"/>
              </a:rPr>
              <a:t>feared</a:t>
            </a:r>
            <a:endParaRPr lang="en-US" sz="1300" dirty="0"/>
          </a:p>
        </p:txBody>
      </p:sp>
      <p:sp>
        <p:nvSpPr>
          <p:cNvPr id="13" name="Text 11"/>
          <p:cNvSpPr txBox="1"/>
          <p:nvPr/>
        </p:nvSpPr>
        <p:spPr>
          <a:xfrm>
            <a:off x="6327648" y="3657600"/>
            <a:ext cx="5303520" cy="658368"/>
          </a:xfrm>
          <a:prstGeom prst="rect">
            <a:avLst/>
          </a:prstGeom>
          <a:noFill/>
          <a:ln/>
        </p:spPr>
        <p:txBody>
          <a:bodyPr wrap="square" lIns="0" tIns="0" rIns="0" bIns="0" rtlCol="0" anchor="ctr"/>
          <a:lstStyle/>
          <a:p>
            <a:pPr indent="0" marL="0">
              <a:lnSpc>
                <a:spcPts val="1650"/>
              </a:lnSpc>
              <a:buNone/>
            </a:pPr>
            <a:r>
              <a:rPr lang="en-US" sz="1150" dirty="0">
                <a:solidFill>
                  <a:srgbClr val="6A6875"/>
                </a:solidFill>
                <a:latin typeface="Calibri" pitchFamily="34" charset="0"/>
                <a:ea typeface="Calibri" pitchFamily="34" charset="-122"/>
                <a:cs typeface="Calibri" pitchFamily="34" charset="-120"/>
              </a:rPr>
              <a:t>The thing that style organises itself against.</a:t>
            </a:r>
            <a:endParaRPr lang="en-US" sz="1150" dirty="0"/>
          </a:p>
        </p:txBody>
      </p:sp>
      <p:sp>
        <p:nvSpPr>
          <p:cNvPr id="14" name="Text 12"/>
          <p:cNvSpPr txBox="1"/>
          <p:nvPr/>
        </p:nvSpPr>
        <p:spPr>
          <a:xfrm>
            <a:off x="658368" y="4389120"/>
            <a:ext cx="5303520" cy="256032"/>
          </a:xfrm>
          <a:prstGeom prst="rect">
            <a:avLst/>
          </a:prstGeom>
          <a:noFill/>
          <a:ln/>
        </p:spPr>
        <p:txBody>
          <a:bodyPr wrap="square" lIns="0" tIns="0" rIns="0" bIns="0" rtlCol="0" anchor="ctr"/>
          <a:lstStyle/>
          <a:p>
            <a:pPr indent="0" marL="0">
              <a:buNone/>
            </a:pPr>
            <a:r>
              <a:rPr lang="en-US" sz="1300" b="1" dirty="0">
                <a:solidFill>
                  <a:srgbClr val="7B4BD8"/>
                </a:solidFill>
                <a:latin typeface="Courier New" pitchFamily="34" charset="0"/>
                <a:ea typeface="Courier New" pitchFamily="34" charset="-122"/>
                <a:cs typeface="Courier New" pitchFamily="34" charset="-120"/>
              </a:rPr>
              <a:t>secure-form</a:t>
            </a:r>
            <a:endParaRPr lang="en-US" sz="1300" dirty="0"/>
          </a:p>
        </p:txBody>
      </p:sp>
      <p:sp>
        <p:nvSpPr>
          <p:cNvPr id="15" name="Text 13"/>
          <p:cNvSpPr txBox="1"/>
          <p:nvPr/>
        </p:nvSpPr>
        <p:spPr>
          <a:xfrm>
            <a:off x="658368" y="4663440"/>
            <a:ext cx="5303520" cy="658368"/>
          </a:xfrm>
          <a:prstGeom prst="rect">
            <a:avLst/>
          </a:prstGeom>
          <a:noFill/>
          <a:ln/>
        </p:spPr>
        <p:txBody>
          <a:bodyPr wrap="square" lIns="0" tIns="0" rIns="0" bIns="0" rtlCol="0" anchor="ctr"/>
          <a:lstStyle/>
          <a:p>
            <a:pPr indent="0" marL="0">
              <a:lnSpc>
                <a:spcPts val="1650"/>
              </a:lnSpc>
              <a:buNone/>
            </a:pPr>
            <a:r>
              <a:rPr lang="en-US" sz="1150" dirty="0">
                <a:solidFill>
                  <a:srgbClr val="6A6875"/>
                </a:solidFill>
                <a:latin typeface="Calibri" pitchFamily="34" charset="0"/>
                <a:ea typeface="Calibri" pitchFamily="34" charset="-122"/>
                <a:cs typeface="Calibri" pitchFamily="34" charset="-120"/>
              </a:rPr>
              <a:t>What this looks like when it is not a defence.</a:t>
            </a:r>
            <a:endParaRPr lang="en-US" sz="1150" dirty="0"/>
          </a:p>
        </p:txBody>
      </p:sp>
      <p:sp>
        <p:nvSpPr>
          <p:cNvPr id="16" name="Text 14"/>
          <p:cNvSpPr txBox="1"/>
          <p:nvPr/>
        </p:nvSpPr>
        <p:spPr>
          <a:xfrm>
            <a:off x="6327648" y="4389120"/>
            <a:ext cx="5303520" cy="256032"/>
          </a:xfrm>
          <a:prstGeom prst="rect">
            <a:avLst/>
          </a:prstGeom>
          <a:noFill/>
          <a:ln/>
        </p:spPr>
        <p:txBody>
          <a:bodyPr wrap="square" lIns="0" tIns="0" rIns="0" bIns="0" rtlCol="0" anchor="ctr"/>
          <a:lstStyle/>
          <a:p>
            <a:pPr indent="0" marL="0">
              <a:buNone/>
            </a:pPr>
            <a:r>
              <a:rPr lang="en-US" sz="1300" b="1" dirty="0">
                <a:solidFill>
                  <a:srgbClr val="7B4BD8"/>
                </a:solidFill>
                <a:latin typeface="Courier New" pitchFamily="34" charset="0"/>
                <a:ea typeface="Courier New" pitchFamily="34" charset="-122"/>
                <a:cs typeface="Courier New" pitchFamily="34" charset="-120"/>
              </a:rPr>
              <a:t>absent</a:t>
            </a:r>
            <a:endParaRPr lang="en-US" sz="1300" dirty="0"/>
          </a:p>
        </p:txBody>
      </p:sp>
      <p:sp>
        <p:nvSpPr>
          <p:cNvPr id="17" name="Text 15"/>
          <p:cNvSpPr txBox="1"/>
          <p:nvPr/>
        </p:nvSpPr>
        <p:spPr>
          <a:xfrm>
            <a:off x="6327648" y="4663440"/>
            <a:ext cx="5303520" cy="658368"/>
          </a:xfrm>
          <a:prstGeom prst="rect">
            <a:avLst/>
          </a:prstGeom>
          <a:noFill/>
          <a:ln/>
        </p:spPr>
        <p:txBody>
          <a:bodyPr wrap="square" lIns="0" tIns="0" rIns="0" bIns="0" rtlCol="0" anchor="ctr"/>
          <a:lstStyle/>
          <a:p>
            <a:pPr indent="0" marL="0">
              <a:lnSpc>
                <a:spcPts val="1650"/>
              </a:lnSpc>
              <a:buNone/>
            </a:pPr>
            <a:r>
              <a:rPr lang="en-US" sz="1150" dirty="0">
                <a:solidFill>
                  <a:srgbClr val="6A6875"/>
                </a:solidFill>
                <a:latin typeface="Calibri" pitchFamily="34" charset="0"/>
                <a:ea typeface="Calibri" pitchFamily="34" charset="-122"/>
                <a:cs typeface="Calibri" pitchFamily="34" charset="-120"/>
              </a:rPr>
              <a:t>Not part of that lens at all. Filtered out rather than greyed.</a:t>
            </a:r>
            <a:endParaRPr lang="en-US" sz="1150" dirty="0"/>
          </a:p>
        </p:txBody>
      </p:sp>
      <p:sp>
        <p:nvSpPr>
          <p:cNvPr id="18" name="Shape 16"/>
          <p:cNvSpPr/>
          <p:nvPr/>
        </p:nvSpPr>
        <p:spPr>
          <a:xfrm>
            <a:off x="658368" y="5394960"/>
            <a:ext cx="10874959" cy="896112"/>
          </a:xfrm>
          <a:prstGeom prst="roundRect">
            <a:avLst>
              <a:gd name="adj" fmla="val 8163"/>
            </a:avLst>
          </a:prstGeom>
          <a:solidFill>
            <a:srgbClr val="F7F5FA"/>
          </a:solidFill>
          <a:ln w="9525">
            <a:solidFill>
              <a:srgbClr val="E5E2E8"/>
            </a:solidFill>
            <a:prstDash val="solid"/>
          </a:ln>
        </p:spPr>
      </p:sp>
      <p:sp>
        <p:nvSpPr>
          <p:cNvPr id="19" name="Text 17"/>
          <p:cNvSpPr txBox="1"/>
          <p:nvPr/>
        </p:nvSpPr>
        <p:spPr>
          <a:xfrm>
            <a:off x="950976" y="5577840"/>
            <a:ext cx="10289743" cy="274320"/>
          </a:xfrm>
          <a:prstGeom prst="rect">
            <a:avLst/>
          </a:prstGeom>
          <a:noFill/>
          <a:ln/>
        </p:spPr>
        <p:txBody>
          <a:bodyPr wrap="square" lIns="0" tIns="0" rIns="0" bIns="0" rtlCol="0" anchor="ctr"/>
          <a:lstStyle/>
          <a:p>
            <a:pPr indent="0" marL="0">
              <a:buNone/>
            </a:pPr>
            <a:r>
              <a:rPr lang="en-US" sz="1300" b="1" dirty="0">
                <a:solidFill>
                  <a:srgbClr val="22222A"/>
                </a:solidFill>
                <a:latin typeface="Calibri" pitchFamily="34" charset="0"/>
                <a:ea typeface="Calibri" pitchFamily="34" charset="-122"/>
                <a:cs typeface="Calibri" pitchFamily="34" charset="-120"/>
              </a:rPr>
              <a:t>Affect Suppression</a:t>
            </a:r>
            <a:pPr indent="0" marL="0">
              <a:buNone/>
            </a:pPr>
            <a:r>
              <a:rPr lang="en-US" sz="1150" dirty="0">
                <a:solidFill>
                  <a:srgbClr val="6A6875"/>
                </a:solidFill>
                <a:latin typeface="Calibri" pitchFamily="34" charset="0"/>
                <a:ea typeface="Calibri" pitchFamily="34" charset="-122"/>
                <a:cs typeface="Calibri" pitchFamily="34" charset="-120"/>
              </a:rPr>
              <a:t>     dismissive-avoidant </a:t>
            </a:r>
            <a:pPr indent="0" marL="0">
              <a:buNone/>
            </a:pPr>
            <a:r>
              <a:rPr lang="en-US" sz="1150" b="1" dirty="0">
                <a:solidFill>
                  <a:srgbClr val="E04F86"/>
                </a:solidFill>
                <a:latin typeface="Calibri" pitchFamily="34" charset="0"/>
                <a:ea typeface="Calibri" pitchFamily="34" charset="-122"/>
                <a:cs typeface="Calibri" pitchFamily="34" charset="-120"/>
              </a:rPr>
              <a:t>core</a:t>
            </a:r>
            <a:pPr indent="0" marL="0">
              <a:buNone/>
            </a:pPr>
            <a:r>
              <a:rPr lang="en-US" sz="1150" dirty="0">
                <a:solidFill>
                  <a:srgbClr val="6A6875"/>
                </a:solidFill>
                <a:latin typeface="Calibri" pitchFamily="34" charset="0"/>
                <a:ea typeface="Calibri" pitchFamily="34" charset="-122"/>
                <a:cs typeface="Calibri" pitchFamily="34" charset="-120"/>
              </a:rPr>
              <a:t>     anxious-preoccupied </a:t>
            </a:r>
            <a:pPr indent="0" marL="0">
              <a:buNone/>
            </a:pPr>
            <a:r>
              <a:rPr lang="en-US" sz="1150" b="1" dirty="0">
                <a:solidFill>
                  <a:srgbClr val="EDA72C"/>
                </a:solidFill>
                <a:latin typeface="Calibri" pitchFamily="34" charset="0"/>
                <a:ea typeface="Calibri" pitchFamily="34" charset="-122"/>
                <a:cs typeface="Calibri" pitchFamily="34" charset="-120"/>
              </a:rPr>
              <a:t>feared</a:t>
            </a:r>
            <a:pPr indent="0" marL="0">
              <a:buNone/>
            </a:pPr>
            <a:r>
              <a:rPr lang="en-US" sz="1150" dirty="0">
                <a:solidFill>
                  <a:srgbClr val="6A6875"/>
                </a:solidFill>
                <a:latin typeface="Calibri" pitchFamily="34" charset="0"/>
                <a:ea typeface="Calibri" pitchFamily="34" charset="-122"/>
                <a:cs typeface="Calibri" pitchFamily="34" charset="-120"/>
              </a:rPr>
              <a:t>     fearful-avoidant </a:t>
            </a:r>
            <a:pPr indent="0" marL="0">
              <a:buNone/>
            </a:pPr>
            <a:r>
              <a:rPr lang="en-US" sz="1150" b="1" dirty="0">
                <a:solidFill>
                  <a:srgbClr val="5B83E8"/>
                </a:solidFill>
                <a:latin typeface="Calibri" pitchFamily="34" charset="0"/>
                <a:ea typeface="Calibri" pitchFamily="34" charset="-122"/>
                <a:cs typeface="Calibri" pitchFamily="34" charset="-120"/>
              </a:rPr>
              <a:t>alternating</a:t>
            </a:r>
            <a:pPr indent="0" marL="0">
              <a:buNone/>
            </a:pPr>
            <a:r>
              <a:rPr lang="en-US" sz="1150" dirty="0">
                <a:solidFill>
                  <a:srgbClr val="6A6875"/>
                </a:solidFill>
                <a:latin typeface="Calibri" pitchFamily="34" charset="0"/>
                <a:ea typeface="Calibri" pitchFamily="34" charset="-122"/>
                <a:cs typeface="Calibri" pitchFamily="34" charset="-120"/>
              </a:rPr>
              <a:t>     secure </a:t>
            </a:r>
            <a:pPr indent="0" marL="0">
              <a:buNone/>
            </a:pPr>
            <a:r>
              <a:rPr lang="en-US" sz="1150" dirty="0">
                <a:solidFill>
                  <a:srgbClr val="807C8A"/>
                </a:solidFill>
                <a:latin typeface="Calibri" pitchFamily="34" charset="0"/>
                <a:ea typeface="Calibri" pitchFamily="34" charset="-122"/>
                <a:cs typeface="Calibri" pitchFamily="34" charset="-120"/>
              </a:rPr>
              <a:t>absent</a:t>
            </a:r>
            <a:endParaRPr lang="en-US" sz="1300" dirty="0"/>
          </a:p>
        </p:txBody>
      </p:sp>
      <p:sp>
        <p:nvSpPr>
          <p:cNvPr id="20" name="Text 18"/>
          <p:cNvSpPr txBox="1"/>
          <p:nvPr/>
        </p:nvSpPr>
        <p:spPr>
          <a:xfrm>
            <a:off x="950976" y="5888736"/>
            <a:ext cx="10289743" cy="274320"/>
          </a:xfrm>
          <a:prstGeom prst="rect">
            <a:avLst/>
          </a:prstGeom>
          <a:noFill/>
          <a:ln/>
        </p:spPr>
        <p:txBody>
          <a:bodyPr wrap="square" lIns="0" tIns="0" rIns="0" bIns="0" rtlCol="0" anchor="ctr"/>
          <a:lstStyle/>
          <a:p>
            <a:pPr indent="0" marL="0">
              <a:buNone/>
            </a:pPr>
            <a:r>
              <a:rPr lang="en-US" sz="1100" i="1" dirty="0">
                <a:solidFill>
                  <a:srgbClr val="807C8A"/>
                </a:solidFill>
                <a:latin typeface="Calibri" pitchFamily="34" charset="0"/>
                <a:ea typeface="Calibri" pitchFamily="34" charset="-122"/>
                <a:cs typeface="Calibri" pitchFamily="34" charset="-120"/>
              </a:rPr>
              <a:t>One node. Four different things depending on who is reading it.</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807C8A"/>
                </a:solidFill>
                <a:latin typeface="Calibri" pitchFamily="34" charset="0"/>
                <a:ea typeface="Calibri" pitchFamily="34" charset="-122"/>
                <a:cs typeface="Calibri" pitchFamily="34" charset="-120"/>
              </a:rPr>
              <a:t>29</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7B4BD8"/>
                </a:solidFill>
                <a:latin typeface="Calibri" pitchFamily="34" charset="0"/>
                <a:ea typeface="Calibri" pitchFamily="34" charset="-122"/>
                <a:cs typeface="Calibri" pitchFamily="34" charset="-120"/>
              </a:rPr>
              <a:t>WHY BOTHER</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200" b="1" dirty="0">
                <a:solidFill>
                  <a:srgbClr val="22222A"/>
                </a:solidFill>
                <a:latin typeface="Cambria" pitchFamily="34" charset="0"/>
                <a:ea typeface="Cambria" pitchFamily="34" charset="-122"/>
                <a:cs typeface="Cambria" pitchFamily="34" charset="-120"/>
              </a:rPr>
              <a:t>A link graph says "related". This says how.</a:t>
            </a:r>
            <a:endParaRPr lang="en-US" sz="3200" dirty="0"/>
          </a:p>
        </p:txBody>
      </p:sp>
      <p:sp>
        <p:nvSpPr>
          <p:cNvPr id="5" name="Shape 3"/>
          <p:cNvSpPr/>
          <p:nvPr/>
        </p:nvSpPr>
        <p:spPr>
          <a:xfrm>
            <a:off x="658368" y="1572768"/>
            <a:ext cx="5212080" cy="2743200"/>
          </a:xfrm>
          <a:prstGeom prst="roundRect">
            <a:avLst>
              <a:gd name="adj" fmla="val 2667"/>
            </a:avLst>
          </a:prstGeom>
          <a:solidFill>
            <a:srgbClr val="F7F5FA"/>
          </a:solidFill>
          <a:ln w="9525">
            <a:solidFill>
              <a:srgbClr val="E5E2E8"/>
            </a:solidFill>
            <a:prstDash val="solid"/>
          </a:ln>
        </p:spPr>
      </p:sp>
      <p:sp>
        <p:nvSpPr>
          <p:cNvPr id="6" name="Text 4"/>
          <p:cNvSpPr txBox="1"/>
          <p:nvPr/>
        </p:nvSpPr>
        <p:spPr>
          <a:xfrm>
            <a:off x="950976" y="1810512"/>
            <a:ext cx="4754880" cy="274320"/>
          </a:xfrm>
          <a:prstGeom prst="rect">
            <a:avLst/>
          </a:prstGeom>
          <a:noFill/>
          <a:ln/>
        </p:spPr>
        <p:txBody>
          <a:bodyPr wrap="square" lIns="0" tIns="0" rIns="0" bIns="0" rtlCol="0" anchor="ctr"/>
          <a:lstStyle/>
          <a:p>
            <a:pPr indent="0" marL="0">
              <a:buNone/>
            </a:pPr>
            <a:r>
              <a:rPr lang="en-US" sz="1450" b="1" dirty="0">
                <a:solidFill>
                  <a:srgbClr val="6A6875"/>
                </a:solidFill>
                <a:latin typeface="Calibri" pitchFamily="34" charset="0"/>
                <a:ea typeface="Calibri" pitchFamily="34" charset="-122"/>
                <a:cs typeface="Calibri" pitchFamily="34" charset="-120"/>
              </a:rPr>
              <a:t>An ordinary link graph</a:t>
            </a:r>
            <a:endParaRPr lang="en-US" sz="1450" dirty="0"/>
          </a:p>
        </p:txBody>
      </p:sp>
      <p:sp>
        <p:nvSpPr>
          <p:cNvPr id="7" name="Text 5"/>
          <p:cNvSpPr txBox="1"/>
          <p:nvPr/>
        </p:nvSpPr>
        <p:spPr>
          <a:xfrm>
            <a:off x="950976" y="2240280"/>
            <a:ext cx="4754880" cy="310896"/>
          </a:xfrm>
          <a:prstGeom prst="rect">
            <a:avLst/>
          </a:prstGeom>
          <a:noFill/>
          <a:ln/>
        </p:spPr>
        <p:txBody>
          <a:bodyPr wrap="square" lIns="0" tIns="0" rIns="0" bIns="0" rtlCol="0" anchor="ctr"/>
          <a:lstStyle/>
          <a:p>
            <a:pPr indent="0" marL="0">
              <a:buNone/>
            </a:pPr>
            <a:r>
              <a:rPr lang="en-US" sz="1150" dirty="0">
                <a:solidFill>
                  <a:srgbClr val="6A6875"/>
                </a:solidFill>
                <a:latin typeface="Calibri" pitchFamily="34" charset="0"/>
                <a:ea typeface="Calibri" pitchFamily="34" charset="-122"/>
                <a:cs typeface="Calibri" pitchFamily="34" charset="-120"/>
              </a:rPr>
              <a:t>Affect Suppression — Contempt</a:t>
            </a:r>
            <a:endParaRPr lang="en-US" sz="1150" dirty="0"/>
          </a:p>
        </p:txBody>
      </p:sp>
      <p:sp>
        <p:nvSpPr>
          <p:cNvPr id="8" name="Text 6"/>
          <p:cNvSpPr txBox="1"/>
          <p:nvPr/>
        </p:nvSpPr>
        <p:spPr>
          <a:xfrm>
            <a:off x="950976" y="2642616"/>
            <a:ext cx="4754880" cy="310896"/>
          </a:xfrm>
          <a:prstGeom prst="rect">
            <a:avLst/>
          </a:prstGeom>
          <a:noFill/>
          <a:ln/>
        </p:spPr>
        <p:txBody>
          <a:bodyPr wrap="square" lIns="0" tIns="0" rIns="0" bIns="0" rtlCol="0" anchor="ctr"/>
          <a:lstStyle/>
          <a:p>
            <a:pPr indent="0" marL="0">
              <a:buNone/>
            </a:pPr>
            <a:r>
              <a:rPr lang="en-US" sz="1150" dirty="0">
                <a:solidFill>
                  <a:srgbClr val="6A6875"/>
                </a:solidFill>
                <a:latin typeface="Calibri" pitchFamily="34" charset="0"/>
                <a:ea typeface="Calibri" pitchFamily="34" charset="-122"/>
                <a:cs typeface="Calibri" pitchFamily="34" charset="-120"/>
              </a:rPr>
              <a:t>Affect Suppression — Unregistered Hurt</a:t>
            </a:r>
            <a:endParaRPr lang="en-US" sz="1150" dirty="0"/>
          </a:p>
        </p:txBody>
      </p:sp>
      <p:sp>
        <p:nvSpPr>
          <p:cNvPr id="9" name="Text 7"/>
          <p:cNvSpPr txBox="1"/>
          <p:nvPr/>
        </p:nvSpPr>
        <p:spPr>
          <a:xfrm>
            <a:off x="950976" y="3044952"/>
            <a:ext cx="4754880" cy="310896"/>
          </a:xfrm>
          <a:prstGeom prst="rect">
            <a:avLst/>
          </a:prstGeom>
          <a:noFill/>
          <a:ln/>
        </p:spPr>
        <p:txBody>
          <a:bodyPr wrap="square" lIns="0" tIns="0" rIns="0" bIns="0" rtlCol="0" anchor="ctr"/>
          <a:lstStyle/>
          <a:p>
            <a:pPr indent="0" marL="0">
              <a:buNone/>
            </a:pPr>
            <a:r>
              <a:rPr lang="en-US" sz="1150" dirty="0">
                <a:solidFill>
                  <a:srgbClr val="6A6875"/>
                </a:solidFill>
                <a:latin typeface="Calibri" pitchFamily="34" charset="0"/>
                <a:ea typeface="Calibri" pitchFamily="34" charset="-122"/>
                <a:cs typeface="Calibri" pitchFamily="34" charset="-120"/>
              </a:rPr>
              <a:t>Affect Suppression — Self-Regulation</a:t>
            </a:r>
            <a:endParaRPr lang="en-US" sz="1150" dirty="0"/>
          </a:p>
        </p:txBody>
      </p:sp>
      <p:sp>
        <p:nvSpPr>
          <p:cNvPr id="10" name="Text 8"/>
          <p:cNvSpPr txBox="1"/>
          <p:nvPr/>
        </p:nvSpPr>
        <p:spPr>
          <a:xfrm>
            <a:off x="950976" y="3447288"/>
            <a:ext cx="4754880" cy="310896"/>
          </a:xfrm>
          <a:prstGeom prst="rect">
            <a:avLst/>
          </a:prstGeom>
          <a:noFill/>
          <a:ln/>
        </p:spPr>
        <p:txBody>
          <a:bodyPr wrap="square" lIns="0" tIns="0" rIns="0" bIns="0" rtlCol="0" anchor="ctr"/>
          <a:lstStyle/>
          <a:p>
            <a:pPr indent="0" marL="0">
              <a:buNone/>
            </a:pPr>
            <a:r>
              <a:rPr lang="en-US" sz="1150" dirty="0">
                <a:solidFill>
                  <a:srgbClr val="6A6875"/>
                </a:solidFill>
                <a:latin typeface="Calibri" pitchFamily="34" charset="0"/>
                <a:ea typeface="Calibri" pitchFamily="34" charset="-122"/>
                <a:cs typeface="Calibri" pitchFamily="34" charset="-120"/>
              </a:rPr>
              <a:t>Affect Suppression — Amplifying The Signal</a:t>
            </a:r>
            <a:endParaRPr lang="en-US" sz="1150" dirty="0"/>
          </a:p>
        </p:txBody>
      </p:sp>
      <p:sp>
        <p:nvSpPr>
          <p:cNvPr id="11" name="Text 9"/>
          <p:cNvSpPr txBox="1"/>
          <p:nvPr/>
        </p:nvSpPr>
        <p:spPr>
          <a:xfrm>
            <a:off x="658368" y="4480560"/>
            <a:ext cx="5212080" cy="1005840"/>
          </a:xfrm>
          <a:prstGeom prst="rect">
            <a:avLst/>
          </a:prstGeom>
          <a:noFill/>
          <a:ln/>
        </p:spPr>
        <p:txBody>
          <a:bodyPr wrap="square" lIns="0" tIns="0" rIns="0" bIns="0" rtlCol="0" anchor="ctr"/>
          <a:lstStyle/>
          <a:p>
            <a:pPr indent="0" marL="0">
              <a:lnSpc>
                <a:spcPts val="1750"/>
              </a:lnSpc>
              <a:buNone/>
            </a:pPr>
            <a:r>
              <a:rPr lang="en-US" sz="1200" dirty="0">
                <a:solidFill>
                  <a:srgbClr val="6A6875"/>
                </a:solidFill>
                <a:latin typeface="Calibri" pitchFamily="34" charset="0"/>
                <a:ea typeface="Calibri" pitchFamily="34" charset="-122"/>
                <a:cs typeface="Calibri" pitchFamily="34" charset="-120"/>
              </a:rPr>
              <a:t>Four undifferentiated links. You cannot tell what any of them mean, so you cannot answer a question with them.</a:t>
            </a:r>
            <a:endParaRPr lang="en-US" sz="1200" dirty="0"/>
          </a:p>
        </p:txBody>
      </p:sp>
      <p:sp>
        <p:nvSpPr>
          <p:cNvPr id="12" name="Shape 10"/>
          <p:cNvSpPr/>
          <p:nvPr/>
        </p:nvSpPr>
        <p:spPr>
          <a:xfrm>
            <a:off x="6327648" y="1572768"/>
            <a:ext cx="5212080" cy="2743200"/>
          </a:xfrm>
          <a:prstGeom prst="roundRect">
            <a:avLst>
              <a:gd name="adj" fmla="val 2667"/>
            </a:avLst>
          </a:prstGeom>
          <a:solidFill>
            <a:srgbClr val="FFFFFF"/>
          </a:solidFill>
          <a:ln w="9525">
            <a:solidFill>
              <a:srgbClr val="E5E2E8"/>
            </a:solidFill>
            <a:prstDash val="solid"/>
          </a:ln>
        </p:spPr>
      </p:sp>
      <p:sp>
        <p:nvSpPr>
          <p:cNvPr id="13" name="Text 11"/>
          <p:cNvSpPr txBox="1"/>
          <p:nvPr/>
        </p:nvSpPr>
        <p:spPr>
          <a:xfrm>
            <a:off x="6620256" y="1810512"/>
            <a:ext cx="4754880" cy="274320"/>
          </a:xfrm>
          <a:prstGeom prst="rect">
            <a:avLst/>
          </a:prstGeom>
          <a:noFill/>
          <a:ln/>
        </p:spPr>
        <p:txBody>
          <a:bodyPr wrap="square" lIns="0" tIns="0" rIns="0" bIns="0" rtlCol="0" anchor="ctr"/>
          <a:lstStyle/>
          <a:p>
            <a:pPr indent="0" marL="0">
              <a:buNone/>
            </a:pPr>
            <a:r>
              <a:rPr lang="en-US" sz="1450" b="1" dirty="0">
                <a:solidFill>
                  <a:srgbClr val="7B4BD8"/>
                </a:solidFill>
                <a:latin typeface="Calibri" pitchFamily="34" charset="0"/>
                <a:ea typeface="Calibri" pitchFamily="34" charset="-122"/>
                <a:cs typeface="Calibri" pitchFamily="34" charset="-120"/>
              </a:rPr>
              <a:t>The same node, typed</a:t>
            </a:r>
            <a:endParaRPr lang="en-US" sz="1450" dirty="0"/>
          </a:p>
        </p:txBody>
      </p:sp>
      <p:sp>
        <p:nvSpPr>
          <p:cNvPr id="14" name="Text 12"/>
          <p:cNvSpPr txBox="1"/>
          <p:nvPr/>
        </p:nvSpPr>
        <p:spPr>
          <a:xfrm>
            <a:off x="6620256" y="2240280"/>
            <a:ext cx="4754880" cy="310896"/>
          </a:xfrm>
          <a:prstGeom prst="rect">
            <a:avLst/>
          </a:prstGeom>
          <a:noFill/>
          <a:ln/>
        </p:spPr>
        <p:txBody>
          <a:bodyPr wrap="square" lIns="0" tIns="0" rIns="0" bIns="0" rtlCol="0" anchor="ctr"/>
          <a:lstStyle/>
          <a:p>
            <a:pPr indent="0" marL="0">
              <a:buNone/>
            </a:pPr>
            <a:r>
              <a:rPr lang="en-US" sz="1000" b="1" dirty="0">
                <a:solidFill>
                  <a:srgbClr val="7B4BD8"/>
                </a:solidFill>
                <a:latin typeface="Courier New" pitchFamily="34" charset="0"/>
                <a:ea typeface="Courier New" pitchFamily="34" charset="-122"/>
                <a:cs typeface="Courier New" pitchFamily="34" charset="-120"/>
              </a:rPr>
              <a:t>manifests_as</a:t>
            </a:r>
            <a:pPr indent="0" marL="0">
              <a:buNone/>
            </a:pPr>
            <a:r>
              <a:rPr lang="en-US" sz="1150" dirty="0">
                <a:solidFill>
                  <a:srgbClr val="22222A"/>
                </a:solidFill>
                <a:latin typeface="Calibri" pitchFamily="34" charset="0"/>
                <a:ea typeface="Calibri" pitchFamily="34" charset="-122"/>
                <a:cs typeface="Calibri" pitchFamily="34" charset="-120"/>
              </a:rPr>
              <a:t>  Looking Down On The Partner</a:t>
            </a:r>
            <a:endParaRPr lang="en-US" sz="1000" dirty="0"/>
          </a:p>
        </p:txBody>
      </p:sp>
      <p:sp>
        <p:nvSpPr>
          <p:cNvPr id="15" name="Text 13"/>
          <p:cNvSpPr txBox="1"/>
          <p:nvPr/>
        </p:nvSpPr>
        <p:spPr>
          <a:xfrm>
            <a:off x="6620256" y="2642616"/>
            <a:ext cx="4754880" cy="310896"/>
          </a:xfrm>
          <a:prstGeom prst="rect">
            <a:avLst/>
          </a:prstGeom>
          <a:noFill/>
          <a:ln/>
        </p:spPr>
        <p:txBody>
          <a:bodyPr wrap="square" lIns="0" tIns="0" rIns="0" bIns="0" rtlCol="0" anchor="ctr"/>
          <a:lstStyle/>
          <a:p>
            <a:pPr indent="0" marL="0">
              <a:buNone/>
            </a:pPr>
            <a:r>
              <a:rPr lang="en-US" sz="1000" b="1" dirty="0">
                <a:solidFill>
                  <a:srgbClr val="7B4BD8"/>
                </a:solidFill>
                <a:latin typeface="Courier New" pitchFamily="34" charset="0"/>
                <a:ea typeface="Courier New" pitchFamily="34" charset="-122"/>
                <a:cs typeface="Courier New" pitchFamily="34" charset="-120"/>
              </a:rPr>
              <a:t>deactivates</a:t>
            </a:r>
            <a:pPr indent="0" marL="0">
              <a:buNone/>
            </a:pPr>
            <a:r>
              <a:rPr lang="en-US" sz="1150" dirty="0">
                <a:solidFill>
                  <a:srgbClr val="22222A"/>
                </a:solidFill>
                <a:latin typeface="Calibri" pitchFamily="34" charset="0"/>
                <a:ea typeface="Calibri" pitchFamily="34" charset="-122"/>
                <a:cs typeface="Calibri" pitchFamily="34" charset="-120"/>
              </a:rPr>
              <a:t>  Unregistered Hurt</a:t>
            </a:r>
            <a:endParaRPr lang="en-US" sz="1000" dirty="0"/>
          </a:p>
        </p:txBody>
      </p:sp>
      <p:sp>
        <p:nvSpPr>
          <p:cNvPr id="16" name="Text 14"/>
          <p:cNvSpPr txBox="1"/>
          <p:nvPr/>
        </p:nvSpPr>
        <p:spPr>
          <a:xfrm>
            <a:off x="6620256" y="3044952"/>
            <a:ext cx="4754880" cy="310896"/>
          </a:xfrm>
          <a:prstGeom prst="rect">
            <a:avLst/>
          </a:prstGeom>
          <a:noFill/>
          <a:ln/>
        </p:spPr>
        <p:txBody>
          <a:bodyPr wrap="square" lIns="0" tIns="0" rIns="0" bIns="0" rtlCol="0" anchor="ctr"/>
          <a:lstStyle/>
          <a:p>
            <a:pPr indent="0" marL="0">
              <a:buNone/>
            </a:pPr>
            <a:r>
              <a:rPr lang="en-US" sz="1000" b="1" dirty="0">
                <a:solidFill>
                  <a:srgbClr val="7B4BD8"/>
                </a:solidFill>
                <a:latin typeface="Courier New" pitchFamily="34" charset="0"/>
                <a:ea typeface="Courier New" pitchFamily="34" charset="-122"/>
                <a:cs typeface="Courier New" pitchFamily="34" charset="-120"/>
              </a:rPr>
              <a:t>mistaken_for</a:t>
            </a:r>
            <a:pPr indent="0" marL="0">
              <a:buNone/>
            </a:pPr>
            <a:r>
              <a:rPr lang="en-US" sz="1150" dirty="0">
                <a:solidFill>
                  <a:srgbClr val="22222A"/>
                </a:solidFill>
                <a:latin typeface="Calibri" pitchFamily="34" charset="0"/>
                <a:ea typeface="Calibri" pitchFamily="34" charset="-122"/>
                <a:cs typeface="Calibri" pitchFamily="34" charset="-120"/>
              </a:rPr>
              <a:t>  Self-Regulation</a:t>
            </a:r>
            <a:endParaRPr lang="en-US" sz="1000" dirty="0"/>
          </a:p>
        </p:txBody>
      </p:sp>
      <p:sp>
        <p:nvSpPr>
          <p:cNvPr id="17" name="Text 15"/>
          <p:cNvSpPr txBox="1"/>
          <p:nvPr/>
        </p:nvSpPr>
        <p:spPr>
          <a:xfrm>
            <a:off x="6620256" y="3447288"/>
            <a:ext cx="4754880" cy="310896"/>
          </a:xfrm>
          <a:prstGeom prst="rect">
            <a:avLst/>
          </a:prstGeom>
          <a:noFill/>
          <a:ln/>
        </p:spPr>
        <p:txBody>
          <a:bodyPr wrap="square" lIns="0" tIns="0" rIns="0" bIns="0" rtlCol="0" anchor="ctr"/>
          <a:lstStyle/>
          <a:p>
            <a:pPr indent="0" marL="0">
              <a:buNone/>
            </a:pPr>
            <a:r>
              <a:rPr lang="en-US" sz="1000" b="1" dirty="0">
                <a:solidFill>
                  <a:srgbClr val="7B4BD8"/>
                </a:solidFill>
                <a:latin typeface="Courier New" pitchFamily="34" charset="0"/>
                <a:ea typeface="Courier New" pitchFamily="34" charset="-122"/>
                <a:cs typeface="Courier New" pitchFamily="34" charset="-120"/>
              </a:rPr>
              <a:t>mirrors</a:t>
            </a:r>
            <a:pPr indent="0" marL="0">
              <a:buNone/>
            </a:pPr>
            <a:r>
              <a:rPr lang="en-US" sz="1150" dirty="0">
                <a:solidFill>
                  <a:srgbClr val="22222A"/>
                </a:solidFill>
                <a:latin typeface="Calibri" pitchFamily="34" charset="0"/>
                <a:ea typeface="Calibri" pitchFamily="34" charset="-122"/>
                <a:cs typeface="Calibri" pitchFamily="34" charset="-120"/>
              </a:rPr>
              <a:t>  Amplifying The Signal</a:t>
            </a:r>
            <a:endParaRPr lang="en-US" sz="1000" dirty="0"/>
          </a:p>
        </p:txBody>
      </p:sp>
      <p:sp>
        <p:nvSpPr>
          <p:cNvPr id="18" name="Text 16"/>
          <p:cNvSpPr txBox="1"/>
          <p:nvPr/>
        </p:nvSpPr>
        <p:spPr>
          <a:xfrm>
            <a:off x="6327648" y="4480560"/>
            <a:ext cx="5212080" cy="1005840"/>
          </a:xfrm>
          <a:prstGeom prst="rect">
            <a:avLst/>
          </a:prstGeom>
          <a:noFill/>
          <a:ln/>
        </p:spPr>
        <p:txBody>
          <a:bodyPr wrap="square" lIns="0" tIns="0" rIns="0" bIns="0" rtlCol="0" anchor="ctr"/>
          <a:lstStyle/>
          <a:p>
            <a:pPr indent="0" marL="0">
              <a:lnSpc>
                <a:spcPts val="1750"/>
              </a:lnSpc>
              <a:buNone/>
            </a:pPr>
            <a:r>
              <a:rPr lang="en-US" sz="1200" dirty="0">
                <a:solidFill>
                  <a:srgbClr val="6A6875"/>
                </a:solidFill>
                <a:latin typeface="Calibri" pitchFamily="34" charset="0"/>
                <a:ea typeface="Calibri" pitchFamily="34" charset="-122"/>
                <a:cs typeface="Calibri" pitchFamily="34" charset="-120"/>
              </a:rPr>
              <a:t>Now each link answers a different question: what it looks like from outside, what it shuts off, what it gets confused with, and what the anxious equivalent is.</a:t>
            </a:r>
            <a:endParaRPr lang="en-US" sz="1200" dirty="0"/>
          </a:p>
        </p:txBody>
      </p:sp>
      <p:sp>
        <p:nvSpPr>
          <p:cNvPr id="19" name="Text 17"/>
          <p:cNvSpPr txBox="1"/>
          <p:nvPr/>
        </p:nvSpPr>
        <p:spPr>
          <a:xfrm>
            <a:off x="658368" y="5806440"/>
            <a:ext cx="10874959" cy="365760"/>
          </a:xfrm>
          <a:prstGeom prst="rect">
            <a:avLst/>
          </a:prstGeom>
          <a:noFill/>
          <a:ln/>
        </p:spPr>
        <p:txBody>
          <a:bodyPr wrap="square" lIns="0" tIns="0" rIns="0" bIns="0" rtlCol="0" anchor="ctr"/>
          <a:lstStyle/>
          <a:p>
            <a:pPr indent="0" marL="0">
              <a:buNone/>
            </a:pPr>
            <a:r>
              <a:rPr lang="en-US" sz="1300" b="1" dirty="0">
                <a:solidFill>
                  <a:srgbClr val="22222A"/>
                </a:solidFill>
                <a:latin typeface="Calibri" pitchFamily="34" charset="0"/>
                <a:ea typeface="Calibri" pitchFamily="34" charset="-122"/>
                <a:cs typeface="Calibri" pitchFamily="34" charset="-120"/>
              </a:rPr>
              <a:t>This is also what makes the corpus usable by a model: it can walk a mechanism rather than pattern-match a topic.</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807C8A"/>
                </a:solidFill>
                <a:latin typeface="Calibri" pitchFamily="34" charset="0"/>
                <a:ea typeface="Calibri" pitchFamily="34" charset="-122"/>
                <a:cs typeface="Calibri" pitchFamily="34" charset="-120"/>
              </a:rPr>
              <a:t>30</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7B4BD8"/>
                </a:solidFill>
                <a:latin typeface="Calibri" pitchFamily="34" charset="0"/>
                <a:ea typeface="Calibri" pitchFamily="34" charset="-122"/>
                <a:cs typeface="Calibri" pitchFamily="34" charset="-120"/>
              </a:rPr>
              <a:t>THE OTHER DIRECTION</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200" b="1" dirty="0">
                <a:solidFill>
                  <a:srgbClr val="22222A"/>
                </a:solidFill>
                <a:latin typeface="Cambria" pitchFamily="34" charset="0"/>
                <a:ea typeface="Cambria" pitchFamily="34" charset="-122"/>
                <a:cs typeface="Cambria" pitchFamily="34" charset="-120"/>
              </a:rPr>
              <a:t>Signs of change</a:t>
            </a:r>
            <a:endParaRPr lang="en-US" sz="3200" dirty="0"/>
          </a:p>
        </p:txBody>
      </p:sp>
      <p:sp>
        <p:nvSpPr>
          <p:cNvPr id="5" name="Text 3"/>
          <p:cNvSpPr txBox="1"/>
          <p:nvPr/>
        </p:nvSpPr>
        <p:spPr>
          <a:xfrm>
            <a:off x="658368" y="1609344"/>
            <a:ext cx="9243715" cy="548640"/>
          </a:xfrm>
          <a:prstGeom prst="rect">
            <a:avLst/>
          </a:prstGeom>
          <a:noFill/>
          <a:ln/>
        </p:spPr>
        <p:txBody>
          <a:bodyPr wrap="square" lIns="0" tIns="0" rIns="0" bIns="0" rtlCol="0" anchor="ctr"/>
          <a:lstStyle/>
          <a:p>
            <a:pPr indent="0" marL="0">
              <a:lnSpc>
                <a:spcPts val="2100"/>
              </a:lnSpc>
              <a:buNone/>
            </a:pPr>
            <a:r>
              <a:rPr lang="en-US" sz="1450" dirty="0">
                <a:solidFill>
                  <a:srgbClr val="6A6875"/>
                </a:solidFill>
                <a:latin typeface="Calibri" pitchFamily="34" charset="0"/>
                <a:ea typeface="Calibri" pitchFamily="34" charset="-122"/>
                <a:cs typeface="Calibri" pitchFamily="34" charset="-120"/>
              </a:rPr>
              <a:t>Nodes can be flagged as markers: things that show up when something is working. A graph of only symptoms would be a graph of what is wrong with you, which is not what any of this is for.</a:t>
            </a:r>
            <a:endParaRPr lang="en-US" sz="1450" dirty="0"/>
          </a:p>
        </p:txBody>
      </p:sp>
      <p:sp>
        <p:nvSpPr>
          <p:cNvPr id="6" name="Shape 4"/>
          <p:cNvSpPr/>
          <p:nvPr/>
        </p:nvSpPr>
        <p:spPr>
          <a:xfrm>
            <a:off x="658368" y="2441448"/>
            <a:ext cx="173736" cy="173736"/>
          </a:xfrm>
          <a:prstGeom prst="ellipse">
            <a:avLst/>
          </a:prstGeom>
          <a:solidFill>
            <a:srgbClr val="FFFFFF"/>
          </a:solidFill>
          <a:ln w="19050">
            <a:solidFill>
              <a:srgbClr val="5BB84F"/>
            </a:solidFill>
            <a:prstDash val="solid"/>
          </a:ln>
        </p:spPr>
      </p:sp>
      <p:sp>
        <p:nvSpPr>
          <p:cNvPr id="7" name="Text 5"/>
          <p:cNvSpPr txBox="1"/>
          <p:nvPr/>
        </p:nvSpPr>
        <p:spPr>
          <a:xfrm>
            <a:off x="969264" y="2395728"/>
            <a:ext cx="3749040" cy="274320"/>
          </a:xfrm>
          <a:prstGeom prst="rect">
            <a:avLst/>
          </a:prstGeom>
          <a:noFill/>
          <a:ln/>
        </p:spPr>
        <p:txBody>
          <a:bodyPr wrap="square" lIns="0" tIns="0" rIns="0" bIns="0" rtlCol="0" anchor="ctr"/>
          <a:lstStyle/>
          <a:p>
            <a:pPr indent="0" marL="0">
              <a:lnSpc>
                <a:spcPts val="1600"/>
              </a:lnSpc>
              <a:buNone/>
            </a:pPr>
            <a:r>
              <a:rPr lang="en-US" sz="1300" b="1" dirty="0">
                <a:solidFill>
                  <a:srgbClr val="22222A"/>
                </a:solidFill>
                <a:latin typeface="Calibri" pitchFamily="34" charset="0"/>
                <a:ea typeface="Calibri" pitchFamily="34" charset="-122"/>
                <a:cs typeface="Calibri" pitchFamily="34" charset="-120"/>
              </a:rPr>
              <a:t>Talking It Out Directly</a:t>
            </a:r>
            <a:endParaRPr lang="en-US" sz="1300" dirty="0"/>
          </a:p>
        </p:txBody>
      </p:sp>
      <p:sp>
        <p:nvSpPr>
          <p:cNvPr id="8" name="Text 6"/>
          <p:cNvSpPr txBox="1"/>
          <p:nvPr/>
        </p:nvSpPr>
        <p:spPr>
          <a:xfrm>
            <a:off x="4892040" y="2395728"/>
            <a:ext cx="6641287" cy="713232"/>
          </a:xfrm>
          <a:prstGeom prst="rect">
            <a:avLst/>
          </a:prstGeom>
          <a:noFill/>
          <a:ln/>
        </p:spPr>
        <p:txBody>
          <a:bodyPr wrap="square" lIns="0" tIns="0" rIns="0" bIns="0" rtlCol="0" anchor="ctr"/>
          <a:lstStyle/>
          <a:p>
            <a:pPr indent="0" marL="0">
              <a:lnSpc>
                <a:spcPts val="1600"/>
              </a:lnSpc>
              <a:buNone/>
            </a:pPr>
            <a:r>
              <a:rPr lang="en-US" sz="1150" dirty="0">
                <a:solidFill>
                  <a:srgbClr val="6A6875"/>
                </a:solidFill>
                <a:latin typeface="Calibri" pitchFamily="34" charset="0"/>
                <a:ea typeface="Calibri" pitchFamily="34" charset="-122"/>
                <a:cs typeface="Calibri" pitchFamily="34" charset="-120"/>
              </a:rPr>
              <a:t>The drama triangle is what you do when a need cannot be stated outright.</a:t>
            </a:r>
            <a:endParaRPr lang="en-US" sz="1150" dirty="0"/>
          </a:p>
        </p:txBody>
      </p:sp>
      <p:sp>
        <p:nvSpPr>
          <p:cNvPr id="9" name="Shape 7"/>
          <p:cNvSpPr/>
          <p:nvPr/>
        </p:nvSpPr>
        <p:spPr>
          <a:xfrm>
            <a:off x="658368" y="3227832"/>
            <a:ext cx="173736" cy="173736"/>
          </a:xfrm>
          <a:prstGeom prst="ellipse">
            <a:avLst/>
          </a:prstGeom>
          <a:solidFill>
            <a:srgbClr val="FFFFFF"/>
          </a:solidFill>
          <a:ln w="19050">
            <a:solidFill>
              <a:srgbClr val="5BB84F"/>
            </a:solidFill>
            <a:prstDash val="solid"/>
          </a:ln>
        </p:spPr>
      </p:sp>
      <p:sp>
        <p:nvSpPr>
          <p:cNvPr id="10" name="Text 8"/>
          <p:cNvSpPr txBox="1"/>
          <p:nvPr/>
        </p:nvSpPr>
        <p:spPr>
          <a:xfrm>
            <a:off x="969264" y="3182112"/>
            <a:ext cx="3749040" cy="274320"/>
          </a:xfrm>
          <a:prstGeom prst="rect">
            <a:avLst/>
          </a:prstGeom>
          <a:noFill/>
          <a:ln/>
        </p:spPr>
        <p:txBody>
          <a:bodyPr wrap="square" lIns="0" tIns="0" rIns="0" bIns="0" rtlCol="0" anchor="ctr"/>
          <a:lstStyle/>
          <a:p>
            <a:pPr indent="0" marL="0">
              <a:lnSpc>
                <a:spcPts val="1600"/>
              </a:lnSpc>
              <a:buNone/>
            </a:pPr>
            <a:r>
              <a:rPr lang="en-US" sz="1300" b="1" dirty="0">
                <a:solidFill>
                  <a:srgbClr val="22222A"/>
                </a:solidFill>
                <a:latin typeface="Calibri" pitchFamily="34" charset="0"/>
                <a:ea typeface="Calibri" pitchFamily="34" charset="-122"/>
                <a:cs typeface="Calibri" pitchFamily="34" charset="-120"/>
              </a:rPr>
              <a:t>Consciously Adapting To Each Relationship</a:t>
            </a:r>
            <a:endParaRPr lang="en-US" sz="1300" dirty="0"/>
          </a:p>
        </p:txBody>
      </p:sp>
      <p:sp>
        <p:nvSpPr>
          <p:cNvPr id="11" name="Text 9"/>
          <p:cNvSpPr txBox="1"/>
          <p:nvPr/>
        </p:nvSpPr>
        <p:spPr>
          <a:xfrm>
            <a:off x="4892040" y="3182112"/>
            <a:ext cx="6641287" cy="713232"/>
          </a:xfrm>
          <a:prstGeom prst="rect">
            <a:avLst/>
          </a:prstGeom>
          <a:noFill/>
          <a:ln/>
        </p:spPr>
        <p:txBody>
          <a:bodyPr wrap="square" lIns="0" tIns="0" rIns="0" bIns="0" rtlCol="0" anchor="ctr"/>
          <a:lstStyle/>
          <a:p>
            <a:pPr indent="0" marL="0">
              <a:lnSpc>
                <a:spcPts val="1600"/>
              </a:lnSpc>
              <a:buNone/>
            </a:pPr>
            <a:r>
              <a:rPr lang="en-US" sz="1150" dirty="0">
                <a:solidFill>
                  <a:srgbClr val="6A6875"/>
                </a:solidFill>
                <a:latin typeface="Calibri" pitchFamily="34" charset="0"/>
                <a:ea typeface="Calibri" pitchFamily="34" charset="-122"/>
                <a:cs typeface="Calibri" pitchFamily="34" charset="-120"/>
              </a:rPr>
              <a:t>Feeling avoidant around some people and anxious around others is not evidence of fearful-avoidance — most people pull back a little from a surplus of anxious energy and lean in a little toward…</a:t>
            </a:r>
            <a:endParaRPr lang="en-US" sz="1150" dirty="0"/>
          </a:p>
        </p:txBody>
      </p:sp>
      <p:sp>
        <p:nvSpPr>
          <p:cNvPr id="12" name="Shape 10"/>
          <p:cNvSpPr/>
          <p:nvPr/>
        </p:nvSpPr>
        <p:spPr>
          <a:xfrm>
            <a:off x="658368" y="4014216"/>
            <a:ext cx="173736" cy="173736"/>
          </a:xfrm>
          <a:prstGeom prst="ellipse">
            <a:avLst/>
          </a:prstGeom>
          <a:solidFill>
            <a:srgbClr val="FFFFFF"/>
          </a:solidFill>
          <a:ln w="19050">
            <a:solidFill>
              <a:srgbClr val="5BB84F"/>
            </a:solidFill>
            <a:prstDash val="solid"/>
          </a:ln>
        </p:spPr>
      </p:sp>
      <p:sp>
        <p:nvSpPr>
          <p:cNvPr id="13" name="Text 11"/>
          <p:cNvSpPr txBox="1"/>
          <p:nvPr/>
        </p:nvSpPr>
        <p:spPr>
          <a:xfrm>
            <a:off x="969264" y="3968496"/>
            <a:ext cx="3749040" cy="274320"/>
          </a:xfrm>
          <a:prstGeom prst="rect">
            <a:avLst/>
          </a:prstGeom>
          <a:noFill/>
          <a:ln/>
        </p:spPr>
        <p:txBody>
          <a:bodyPr wrap="square" lIns="0" tIns="0" rIns="0" bIns="0" rtlCol="0" anchor="ctr"/>
          <a:lstStyle/>
          <a:p>
            <a:pPr indent="0" marL="0">
              <a:lnSpc>
                <a:spcPts val="1600"/>
              </a:lnSpc>
              <a:buNone/>
            </a:pPr>
            <a:r>
              <a:rPr lang="en-US" sz="1300" b="1" dirty="0">
                <a:solidFill>
                  <a:srgbClr val="22222A"/>
                </a:solidFill>
                <a:latin typeface="Calibri" pitchFamily="34" charset="0"/>
                <a:ea typeface="Calibri" pitchFamily="34" charset="-122"/>
                <a:cs typeface="Calibri" pitchFamily="34" charset="-120"/>
              </a:rPr>
              <a:t>Healthy Dependency</a:t>
            </a:r>
            <a:endParaRPr lang="en-US" sz="1300" dirty="0"/>
          </a:p>
        </p:txBody>
      </p:sp>
      <p:sp>
        <p:nvSpPr>
          <p:cNvPr id="14" name="Text 12"/>
          <p:cNvSpPr txBox="1"/>
          <p:nvPr/>
        </p:nvSpPr>
        <p:spPr>
          <a:xfrm>
            <a:off x="4892040" y="3968496"/>
            <a:ext cx="6641287" cy="713232"/>
          </a:xfrm>
          <a:prstGeom prst="rect">
            <a:avLst/>
          </a:prstGeom>
          <a:noFill/>
          <a:ln/>
        </p:spPr>
        <p:txBody>
          <a:bodyPr wrap="square" lIns="0" tIns="0" rIns="0" bIns="0" rtlCol="0" anchor="ctr"/>
          <a:lstStyle/>
          <a:p>
            <a:pPr indent="0" marL="0">
              <a:lnSpc>
                <a:spcPts val="1600"/>
              </a:lnSpc>
              <a:buNone/>
            </a:pPr>
            <a:r>
              <a:rPr lang="en-US" sz="1150" dirty="0">
                <a:solidFill>
                  <a:srgbClr val="6A6875"/>
                </a:solidFill>
                <a:latin typeface="Calibri" pitchFamily="34" charset="0"/>
                <a:ea typeface="Calibri" pitchFamily="34" charset="-122"/>
                <a:cs typeface="Calibri" pitchFamily="34" charset="-120"/>
              </a:rPr>
              <a:t>Total dependency is a problem; so is refusing to rely on anyone for anything.</a:t>
            </a:r>
            <a:endParaRPr lang="en-US" sz="1150" dirty="0"/>
          </a:p>
        </p:txBody>
      </p:sp>
      <p:sp>
        <p:nvSpPr>
          <p:cNvPr id="15" name="Shape 13"/>
          <p:cNvSpPr/>
          <p:nvPr/>
        </p:nvSpPr>
        <p:spPr>
          <a:xfrm>
            <a:off x="658368" y="4800600"/>
            <a:ext cx="173736" cy="173736"/>
          </a:xfrm>
          <a:prstGeom prst="ellipse">
            <a:avLst/>
          </a:prstGeom>
          <a:solidFill>
            <a:srgbClr val="FFFFFF"/>
          </a:solidFill>
          <a:ln w="19050">
            <a:solidFill>
              <a:srgbClr val="5BB84F"/>
            </a:solidFill>
            <a:prstDash val="solid"/>
          </a:ln>
        </p:spPr>
      </p:sp>
      <p:sp>
        <p:nvSpPr>
          <p:cNvPr id="16" name="Text 14"/>
          <p:cNvSpPr txBox="1"/>
          <p:nvPr/>
        </p:nvSpPr>
        <p:spPr>
          <a:xfrm>
            <a:off x="969264" y="4754880"/>
            <a:ext cx="3749040" cy="274320"/>
          </a:xfrm>
          <a:prstGeom prst="rect">
            <a:avLst/>
          </a:prstGeom>
          <a:noFill/>
          <a:ln/>
        </p:spPr>
        <p:txBody>
          <a:bodyPr wrap="square" lIns="0" tIns="0" rIns="0" bIns="0" rtlCol="0" anchor="ctr"/>
          <a:lstStyle/>
          <a:p>
            <a:pPr indent="0" marL="0">
              <a:lnSpc>
                <a:spcPts val="1600"/>
              </a:lnSpc>
              <a:buNone/>
            </a:pPr>
            <a:r>
              <a:rPr lang="en-US" sz="1300" b="1" dirty="0">
                <a:solidFill>
                  <a:srgbClr val="22222A"/>
                </a:solidFill>
                <a:latin typeface="Calibri" pitchFamily="34" charset="0"/>
                <a:ea typeface="Calibri" pitchFamily="34" charset="-122"/>
                <a:cs typeface="Calibri" pitchFamily="34" charset="-120"/>
              </a:rPr>
              <a:t>Meaningful Goals And Collaboration</a:t>
            </a:r>
            <a:endParaRPr lang="en-US" sz="1300" dirty="0"/>
          </a:p>
        </p:txBody>
      </p:sp>
      <p:sp>
        <p:nvSpPr>
          <p:cNvPr id="17" name="Text 15"/>
          <p:cNvSpPr txBox="1"/>
          <p:nvPr/>
        </p:nvSpPr>
        <p:spPr>
          <a:xfrm>
            <a:off x="4892040" y="4754880"/>
            <a:ext cx="6641287" cy="713232"/>
          </a:xfrm>
          <a:prstGeom prst="rect">
            <a:avLst/>
          </a:prstGeom>
          <a:noFill/>
          <a:ln/>
        </p:spPr>
        <p:txBody>
          <a:bodyPr wrap="square" lIns="0" tIns="0" rIns="0" bIns="0" rtlCol="0" anchor="ctr"/>
          <a:lstStyle/>
          <a:p>
            <a:pPr indent="0" marL="0">
              <a:lnSpc>
                <a:spcPts val="1600"/>
              </a:lnSpc>
              <a:buNone/>
            </a:pPr>
            <a:r>
              <a:rPr lang="en-US" sz="1150" dirty="0">
                <a:solidFill>
                  <a:srgbClr val="6A6875"/>
                </a:solidFill>
                <a:latin typeface="Calibri" pitchFamily="34" charset="0"/>
                <a:ea typeface="Calibri" pitchFamily="34" charset="-122"/>
                <a:cs typeface="Calibri" pitchFamily="34" charset="-120"/>
              </a:rPr>
              <a:t>Setting a goal that means something needs both faculties: the emotional one that knows what speaks to you, and the practical one that knows what makes sense.</a:t>
            </a:r>
            <a:endParaRPr lang="en-US" sz="1150" dirty="0"/>
          </a:p>
        </p:txBody>
      </p:sp>
      <p:sp>
        <p:nvSpPr>
          <p:cNvPr id="18" name="Shape 16"/>
          <p:cNvSpPr/>
          <p:nvPr/>
        </p:nvSpPr>
        <p:spPr>
          <a:xfrm>
            <a:off x="658368" y="5586984"/>
            <a:ext cx="173736" cy="173736"/>
          </a:xfrm>
          <a:prstGeom prst="ellipse">
            <a:avLst/>
          </a:prstGeom>
          <a:solidFill>
            <a:srgbClr val="FFFFFF"/>
          </a:solidFill>
          <a:ln w="19050">
            <a:solidFill>
              <a:srgbClr val="5BB84F"/>
            </a:solidFill>
            <a:prstDash val="solid"/>
          </a:ln>
        </p:spPr>
      </p:sp>
      <p:sp>
        <p:nvSpPr>
          <p:cNvPr id="19" name="Text 17"/>
          <p:cNvSpPr txBox="1"/>
          <p:nvPr/>
        </p:nvSpPr>
        <p:spPr>
          <a:xfrm>
            <a:off x="969264" y="5541264"/>
            <a:ext cx="3749040" cy="274320"/>
          </a:xfrm>
          <a:prstGeom prst="rect">
            <a:avLst/>
          </a:prstGeom>
          <a:noFill/>
          <a:ln/>
        </p:spPr>
        <p:txBody>
          <a:bodyPr wrap="square" lIns="0" tIns="0" rIns="0" bIns="0" rtlCol="0" anchor="ctr"/>
          <a:lstStyle/>
          <a:p>
            <a:pPr indent="0" marL="0">
              <a:lnSpc>
                <a:spcPts val="1600"/>
              </a:lnSpc>
              <a:buNone/>
            </a:pPr>
            <a:r>
              <a:rPr lang="en-US" sz="1300" b="1" dirty="0">
                <a:solidFill>
                  <a:srgbClr val="22222A"/>
                </a:solidFill>
                <a:latin typeface="Calibri" pitchFamily="34" charset="0"/>
                <a:ea typeface="Calibri" pitchFamily="34" charset="-122"/>
                <a:cs typeface="Calibri" pitchFamily="34" charset="-120"/>
              </a:rPr>
              <a:t>Not Taking Moods Personally</a:t>
            </a:r>
            <a:endParaRPr lang="en-US" sz="1300" dirty="0"/>
          </a:p>
        </p:txBody>
      </p:sp>
      <p:sp>
        <p:nvSpPr>
          <p:cNvPr id="20" name="Text 18"/>
          <p:cNvSpPr txBox="1"/>
          <p:nvPr/>
        </p:nvSpPr>
        <p:spPr>
          <a:xfrm>
            <a:off x="4892040" y="5541264"/>
            <a:ext cx="6641287" cy="713232"/>
          </a:xfrm>
          <a:prstGeom prst="rect">
            <a:avLst/>
          </a:prstGeom>
          <a:noFill/>
          <a:ln/>
        </p:spPr>
        <p:txBody>
          <a:bodyPr wrap="square" lIns="0" tIns="0" rIns="0" bIns="0" rtlCol="0" anchor="ctr"/>
          <a:lstStyle/>
          <a:p>
            <a:pPr indent="0" marL="0">
              <a:lnSpc>
                <a:spcPts val="1600"/>
              </a:lnSpc>
              <a:buNone/>
            </a:pPr>
            <a:r>
              <a:rPr lang="en-US" sz="1150" dirty="0">
                <a:solidFill>
                  <a:srgbClr val="6A6875"/>
                </a:solidFill>
                <a:latin typeface="Calibri" pitchFamily="34" charset="0"/>
                <a:ea typeface="Calibri" pitchFamily="34" charset="-122"/>
                <a:cs typeface="Calibri" pitchFamily="34" charset="-120"/>
              </a:rPr>
              <a:t>There are two ways to take a mood personally: reading it as rejection, or being irritated that someone is displaying what you have learned to suppress.</a:t>
            </a:r>
            <a:endParaRPr lang="en-US" sz="1150" dirty="0"/>
          </a:p>
        </p:txBody>
      </p:sp>
      <p:sp>
        <p:nvSpPr>
          <p:cNvPr id="21" name="Text 19"/>
          <p:cNvSpPr txBox="1"/>
          <p:nvPr/>
        </p:nvSpPr>
        <p:spPr>
          <a:xfrm>
            <a:off x="658368" y="6263640"/>
            <a:ext cx="10874959" cy="274320"/>
          </a:xfrm>
          <a:prstGeom prst="rect">
            <a:avLst/>
          </a:prstGeom>
          <a:noFill/>
          <a:ln/>
        </p:spPr>
        <p:txBody>
          <a:bodyPr wrap="square" lIns="0" tIns="0" rIns="0" bIns="0" rtlCol="0" anchor="ctr"/>
          <a:lstStyle/>
          <a:p>
            <a:pPr indent="0" marL="0">
              <a:buNone/>
            </a:pPr>
            <a:r>
              <a:rPr lang="en-US" sz="1100" i="1" dirty="0">
                <a:solidFill>
                  <a:srgbClr val="807C8A"/>
                </a:solidFill>
                <a:latin typeface="Calibri" pitchFamily="34" charset="0"/>
                <a:ea typeface="Calibri" pitchFamily="34" charset="-122"/>
                <a:cs typeface="Calibri" pitchFamily="34" charset="-120"/>
              </a:rPr>
              <a:t>The hollow ring is how the explorer draws them, too.</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6161C"/>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52505C"/>
                </a:solidFill>
                <a:latin typeface="Calibri" pitchFamily="34" charset="0"/>
                <a:ea typeface="Calibri" pitchFamily="34" charset="-122"/>
                <a:cs typeface="Calibri" pitchFamily="34" charset="-120"/>
              </a:rPr>
              <a:t>31</a:t>
            </a:r>
            <a:endParaRPr lang="en-US" sz="900" dirty="0"/>
          </a:p>
        </p:txBody>
      </p:sp>
      <p:sp>
        <p:nvSpPr>
          <p:cNvPr id="3" name="Text 1"/>
          <p:cNvSpPr txBox="1"/>
          <p:nvPr/>
        </p:nvSpPr>
        <p:spPr>
          <a:xfrm>
            <a:off x="658368" y="1371600"/>
            <a:ext cx="731520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Where it goes next</a:t>
            </a:r>
            <a:endParaRPr lang="en-US" sz="3800" dirty="0"/>
          </a:p>
        </p:txBody>
      </p:sp>
      <p:sp>
        <p:nvSpPr>
          <p:cNvPr id="4" name="Text 2"/>
          <p:cNvSpPr txBox="1"/>
          <p:nvPr/>
        </p:nvSpPr>
        <p:spPr>
          <a:xfrm>
            <a:off x="658368" y="2331720"/>
            <a:ext cx="3429000" cy="548640"/>
          </a:xfrm>
          <a:prstGeom prst="rect">
            <a:avLst/>
          </a:prstGeom>
          <a:noFill/>
          <a:ln/>
        </p:spPr>
        <p:txBody>
          <a:bodyPr wrap="square" lIns="0" tIns="0" rIns="0" bIns="0" rtlCol="0" anchor="ctr"/>
          <a:lstStyle/>
          <a:p>
            <a:pPr indent="0" marL="0">
              <a:lnSpc>
                <a:spcPts val="2000"/>
              </a:lnSpc>
              <a:buNone/>
            </a:pPr>
            <a:r>
              <a:rPr lang="en-US" sz="1500" b="1" dirty="0">
                <a:solidFill>
                  <a:srgbClr val="FFFFFF"/>
                </a:solidFill>
                <a:latin typeface="Calibri" pitchFamily="34" charset="0"/>
                <a:ea typeface="Calibri" pitchFamily="34" charset="-122"/>
                <a:cs typeface="Calibri" pitchFamily="34" charset="-120"/>
              </a:rPr>
              <a:t>Extend beyond one voice</a:t>
            </a:r>
            <a:endParaRPr lang="en-US" sz="1500" dirty="0"/>
          </a:p>
        </p:txBody>
      </p:sp>
      <p:sp>
        <p:nvSpPr>
          <p:cNvPr id="5" name="Text 3"/>
          <p:cNvSpPr txBox="1"/>
          <p:nvPr/>
        </p:nvSpPr>
        <p:spPr>
          <a:xfrm>
            <a:off x="658368" y="2971800"/>
            <a:ext cx="3429000" cy="1280160"/>
          </a:xfrm>
          <a:prstGeom prst="rect">
            <a:avLst/>
          </a:prstGeom>
          <a:noFill/>
          <a:ln/>
        </p:spPr>
        <p:txBody>
          <a:bodyPr wrap="square" lIns="0" tIns="0" rIns="0" bIns="0" rtlCol="0" anchor="ctr"/>
          <a:lstStyle/>
          <a:p>
            <a:pPr indent="0" marL="0">
              <a:lnSpc>
                <a:spcPts val="1650"/>
              </a:lnSpc>
              <a:buNone/>
            </a:pPr>
            <a:r>
              <a:rPr lang="en-US" sz="1150" dirty="0">
                <a:solidFill>
                  <a:srgbClr val="918D9D"/>
                </a:solidFill>
                <a:latin typeface="Calibri" pitchFamily="34" charset="0"/>
                <a:ea typeface="Calibri" pitchFamily="34" charset="-122"/>
                <a:cs typeface="Calibri" pitchFamily="34" charset="-120"/>
              </a:rPr>
              <a:t>The schema already carries an attribution field and a source type. Adding a second corpus is a matter of mining, not redesign.</a:t>
            </a:r>
            <a:endParaRPr lang="en-US" sz="1150" dirty="0"/>
          </a:p>
        </p:txBody>
      </p:sp>
      <p:sp>
        <p:nvSpPr>
          <p:cNvPr id="6" name="Text 4"/>
          <p:cNvSpPr txBox="1"/>
          <p:nvPr/>
        </p:nvSpPr>
        <p:spPr>
          <a:xfrm>
            <a:off x="4453128" y="2331720"/>
            <a:ext cx="3429000" cy="548640"/>
          </a:xfrm>
          <a:prstGeom prst="rect">
            <a:avLst/>
          </a:prstGeom>
          <a:noFill/>
          <a:ln/>
        </p:spPr>
        <p:txBody>
          <a:bodyPr wrap="square" lIns="0" tIns="0" rIns="0" bIns="0" rtlCol="0" anchor="ctr"/>
          <a:lstStyle/>
          <a:p>
            <a:pPr indent="0" marL="0">
              <a:lnSpc>
                <a:spcPts val="2000"/>
              </a:lnSpc>
              <a:buNone/>
            </a:pPr>
            <a:r>
              <a:rPr lang="en-US" sz="1500" b="1" dirty="0">
                <a:solidFill>
                  <a:srgbClr val="FFFFFF"/>
                </a:solidFill>
                <a:latin typeface="Calibri" pitchFamily="34" charset="0"/>
                <a:ea typeface="Calibri" pitchFamily="34" charset="-122"/>
                <a:cs typeface="Calibri" pitchFamily="34" charset="-120"/>
              </a:rPr>
              <a:t>Verify the literature nodes</a:t>
            </a:r>
            <a:endParaRPr lang="en-US" sz="1500" dirty="0"/>
          </a:p>
        </p:txBody>
      </p:sp>
      <p:sp>
        <p:nvSpPr>
          <p:cNvPr id="7" name="Text 5"/>
          <p:cNvSpPr txBox="1"/>
          <p:nvPr/>
        </p:nvSpPr>
        <p:spPr>
          <a:xfrm>
            <a:off x="4453128" y="2971800"/>
            <a:ext cx="3429000" cy="1280160"/>
          </a:xfrm>
          <a:prstGeom prst="rect">
            <a:avLst/>
          </a:prstGeom>
          <a:noFill/>
          <a:ln/>
        </p:spPr>
        <p:txBody>
          <a:bodyPr wrap="square" lIns="0" tIns="0" rIns="0" bIns="0" rtlCol="0" anchor="ctr"/>
          <a:lstStyle/>
          <a:p>
            <a:pPr indent="0" marL="0">
              <a:lnSpc>
                <a:spcPts val="1650"/>
              </a:lnSpc>
              <a:buNone/>
            </a:pPr>
            <a:r>
              <a:rPr lang="en-US" sz="1150" dirty="0">
                <a:solidFill>
                  <a:srgbClr val="918D9D"/>
                </a:solidFill>
                <a:latin typeface="Calibri" pitchFamily="34" charset="0"/>
                <a:ea typeface="Calibri" pitchFamily="34" charset="-122"/>
                <a:cs typeface="Calibri" pitchFamily="34" charset="-120"/>
              </a:rPr>
              <a:t>Check the 103 nodes marked "literature" against the primary sources, and record the result separately from where the idea came from.</a:t>
            </a:r>
            <a:endParaRPr lang="en-US" sz="1150" dirty="0"/>
          </a:p>
        </p:txBody>
      </p:sp>
      <p:sp>
        <p:nvSpPr>
          <p:cNvPr id="8" name="Text 6"/>
          <p:cNvSpPr txBox="1"/>
          <p:nvPr/>
        </p:nvSpPr>
        <p:spPr>
          <a:xfrm>
            <a:off x="8247888" y="2331720"/>
            <a:ext cx="3429000" cy="548640"/>
          </a:xfrm>
          <a:prstGeom prst="rect">
            <a:avLst/>
          </a:prstGeom>
          <a:noFill/>
          <a:ln/>
        </p:spPr>
        <p:txBody>
          <a:bodyPr wrap="square" lIns="0" tIns="0" rIns="0" bIns="0" rtlCol="0" anchor="ctr"/>
          <a:lstStyle/>
          <a:p>
            <a:pPr indent="0" marL="0">
              <a:lnSpc>
                <a:spcPts val="2000"/>
              </a:lnSpc>
              <a:buNone/>
            </a:pPr>
            <a:r>
              <a:rPr lang="en-US" sz="1500" b="1" dirty="0">
                <a:solidFill>
                  <a:srgbClr val="FFFFFF"/>
                </a:solidFill>
                <a:latin typeface="Calibri" pitchFamily="34" charset="0"/>
                <a:ea typeface="Calibri" pitchFamily="34" charset="-122"/>
                <a:cs typeface="Calibri" pitchFamily="34" charset="-120"/>
              </a:rPr>
              <a:t>Sharpen the assistant side</a:t>
            </a:r>
            <a:endParaRPr lang="en-US" sz="1500" dirty="0"/>
          </a:p>
        </p:txBody>
      </p:sp>
      <p:sp>
        <p:nvSpPr>
          <p:cNvPr id="9" name="Text 7"/>
          <p:cNvSpPr txBox="1"/>
          <p:nvPr/>
        </p:nvSpPr>
        <p:spPr>
          <a:xfrm>
            <a:off x="8247888" y="2971800"/>
            <a:ext cx="3429000" cy="1280160"/>
          </a:xfrm>
          <a:prstGeom prst="rect">
            <a:avLst/>
          </a:prstGeom>
          <a:noFill/>
          <a:ln/>
        </p:spPr>
        <p:txBody>
          <a:bodyPr wrap="square" lIns="0" tIns="0" rIns="0" bIns="0" rtlCol="0" anchor="ctr"/>
          <a:lstStyle/>
          <a:p>
            <a:pPr indent="0" marL="0">
              <a:lnSpc>
                <a:spcPts val="1650"/>
              </a:lnSpc>
              <a:buNone/>
            </a:pPr>
            <a:r>
              <a:rPr lang="en-US" sz="1150" dirty="0">
                <a:solidFill>
                  <a:srgbClr val="918D9D"/>
                </a:solidFill>
                <a:latin typeface="Calibri" pitchFamily="34" charset="0"/>
                <a:ea typeface="Calibri" pitchFamily="34" charset="-122"/>
                <a:cs typeface="Calibri" pitchFamily="34" charset="-120"/>
              </a:rPr>
              <a:t>The kit gives a model the data and the rules. What it does not yet give is worked examples of using them well.</a:t>
            </a:r>
            <a:endParaRPr lang="en-US" sz="1150" dirty="0"/>
          </a:p>
        </p:txBody>
      </p:sp>
      <p:sp>
        <p:nvSpPr>
          <p:cNvPr id="10" name="Text 8"/>
          <p:cNvSpPr txBox="1"/>
          <p:nvPr/>
        </p:nvSpPr>
        <p:spPr>
          <a:xfrm>
            <a:off x="658368" y="5029200"/>
            <a:ext cx="7772400" cy="320040"/>
          </a:xfrm>
          <a:prstGeom prst="rect">
            <a:avLst/>
          </a:prstGeom>
          <a:noFill/>
          <a:ln/>
        </p:spPr>
        <p:txBody>
          <a:bodyPr wrap="square" lIns="0" tIns="0" rIns="0" bIns="0" rtlCol="0" anchor="ctr"/>
          <a:lstStyle/>
          <a:p>
            <a:pPr indent="0" marL="0">
              <a:buNone/>
            </a:pPr>
            <a:r>
              <a:rPr lang="en-US" sz="1500" dirty="0">
                <a:solidFill>
                  <a:srgbClr val="FFFFFF"/>
                </a:solidFill>
                <a:latin typeface="Cambria" pitchFamily="34" charset="0"/>
                <a:ea typeface="Cambria" pitchFamily="34" charset="-122"/>
                <a:cs typeface="Cambria" pitchFamily="34" charset="-120"/>
              </a:rPr>
              <a:t>All credit for the ideas belongs to Heidi Priebe.</a:t>
            </a:r>
            <a:endParaRPr lang="en-US" sz="1500" dirty="0"/>
          </a:p>
        </p:txBody>
      </p:sp>
      <p:sp>
        <p:nvSpPr>
          <p:cNvPr id="11" name="Text 9"/>
          <p:cNvSpPr txBox="1"/>
          <p:nvPr/>
        </p:nvSpPr>
        <p:spPr>
          <a:xfrm>
            <a:off x="658368" y="5376672"/>
            <a:ext cx="7772400" cy="292608"/>
          </a:xfrm>
          <a:prstGeom prst="rect">
            <a:avLst/>
          </a:prstGeom>
          <a:noFill/>
          <a:ln/>
        </p:spPr>
        <p:txBody>
          <a:bodyPr wrap="square" lIns="0" tIns="0" rIns="0" bIns="0" rtlCol="0" anchor="ctr"/>
          <a:lstStyle/>
          <a:p>
            <a:pPr indent="0" marL="0">
              <a:buNone/>
            </a:pPr>
            <a:r>
              <a:rPr lang="en-US" sz="1250" dirty="0">
                <a:solidFill>
                  <a:srgbClr val="9E86E8"/>
                </a:solidFill>
                <a:latin typeface="Calibri" pitchFamily="34" charset="0"/>
                <a:ea typeface="Calibri" pitchFamily="34" charset="-122"/>
                <a:cs typeface="Calibri" pitchFamily="34" charset="-120"/>
              </a:rPr>
              <a:t>youtube.com/@heidipriebe1</a:t>
            </a:r>
            <a:endParaRPr lang="en-US" sz="1250" dirty="0"/>
          </a:p>
        </p:txBody>
      </p:sp>
      <p:sp>
        <p:nvSpPr>
          <p:cNvPr id="12" name="Text 10"/>
          <p:cNvSpPr txBox="1"/>
          <p:nvPr/>
        </p:nvSpPr>
        <p:spPr>
          <a:xfrm>
            <a:off x="658368" y="5897880"/>
            <a:ext cx="8686800" cy="320040"/>
          </a:xfrm>
          <a:prstGeom prst="rect">
            <a:avLst/>
          </a:prstGeom>
          <a:noFill/>
          <a:ln/>
        </p:spPr>
        <p:txBody>
          <a:bodyPr wrap="square" lIns="0" tIns="0" rIns="0" bIns="0" rtlCol="0" anchor="ctr"/>
          <a:lstStyle/>
          <a:p>
            <a:pPr indent="0" marL="0">
              <a:buNone/>
            </a:pPr>
            <a:r>
              <a:rPr lang="en-US" sz="1150" dirty="0">
                <a:solidFill>
                  <a:srgbClr val="76727F"/>
                </a:solidFill>
                <a:latin typeface="Calibri" pitchFamily="34" charset="0"/>
                <a:ea typeface="Calibri" pitchFamily="34" charset="-122"/>
                <a:cs typeface="Calibri" pitchFamily="34" charset="-120"/>
              </a:rPr>
              <a:t>The site and the material the assistant reads are one static build from one set of notes.</a:t>
            </a:r>
            <a:endParaRPr lang="en-US" sz="1150" dirty="0"/>
          </a:p>
        </p:txBody>
      </p:sp>
      <p:sp>
        <p:nvSpPr>
          <p:cNvPr id="13" name="Shape 11"/>
          <p:cNvSpPr/>
          <p:nvPr/>
        </p:nvSpPr>
        <p:spPr>
          <a:xfrm>
            <a:off x="658368" y="6355080"/>
            <a:ext cx="182880" cy="182880"/>
          </a:xfrm>
          <a:prstGeom prst="ellipse">
            <a:avLst/>
          </a:prstGeom>
          <a:solidFill>
            <a:srgbClr val="F2643E"/>
          </a:solidFill>
          <a:ln w="12700">
            <a:solidFill>
              <a:srgbClr val="333333"/>
            </a:solidFill>
            <a:prstDash val="solid"/>
          </a:ln>
        </p:spPr>
      </p:sp>
      <p:sp>
        <p:nvSpPr>
          <p:cNvPr id="14" name="Shape 12"/>
          <p:cNvSpPr/>
          <p:nvPr/>
        </p:nvSpPr>
        <p:spPr>
          <a:xfrm>
            <a:off x="987552" y="6355080"/>
            <a:ext cx="182880" cy="182880"/>
          </a:xfrm>
          <a:prstGeom prst="ellipse">
            <a:avLst/>
          </a:prstGeom>
          <a:solidFill>
            <a:srgbClr val="EDA72C"/>
          </a:solidFill>
          <a:ln w="12700">
            <a:solidFill>
              <a:srgbClr val="333333"/>
            </a:solidFill>
            <a:prstDash val="solid"/>
          </a:ln>
        </p:spPr>
      </p:sp>
      <p:sp>
        <p:nvSpPr>
          <p:cNvPr id="15" name="Shape 13"/>
          <p:cNvSpPr/>
          <p:nvPr/>
        </p:nvSpPr>
        <p:spPr>
          <a:xfrm>
            <a:off x="1316736" y="6355080"/>
            <a:ext cx="182880" cy="182880"/>
          </a:xfrm>
          <a:prstGeom prst="ellipse">
            <a:avLst/>
          </a:prstGeom>
          <a:solidFill>
            <a:srgbClr val="E04F86"/>
          </a:solidFill>
          <a:ln w="12700">
            <a:solidFill>
              <a:srgbClr val="333333"/>
            </a:solidFill>
            <a:prstDash val="solid"/>
          </a:ln>
        </p:spPr>
      </p:sp>
      <p:sp>
        <p:nvSpPr>
          <p:cNvPr id="16" name="Shape 14"/>
          <p:cNvSpPr/>
          <p:nvPr/>
        </p:nvSpPr>
        <p:spPr>
          <a:xfrm>
            <a:off x="1645920" y="6355080"/>
            <a:ext cx="182880" cy="182880"/>
          </a:xfrm>
          <a:prstGeom prst="ellipse">
            <a:avLst/>
          </a:prstGeom>
          <a:solidFill>
            <a:srgbClr val="C56AD9"/>
          </a:solidFill>
          <a:ln w="12700">
            <a:solidFill>
              <a:srgbClr val="333333"/>
            </a:solidFill>
            <a:prstDash val="solid"/>
          </a:ln>
        </p:spPr>
      </p:sp>
      <p:sp>
        <p:nvSpPr>
          <p:cNvPr id="17" name="Shape 15"/>
          <p:cNvSpPr/>
          <p:nvPr/>
        </p:nvSpPr>
        <p:spPr>
          <a:xfrm>
            <a:off x="1975104" y="6355080"/>
            <a:ext cx="182880" cy="182880"/>
          </a:xfrm>
          <a:prstGeom prst="ellipse">
            <a:avLst/>
          </a:prstGeom>
          <a:solidFill>
            <a:srgbClr val="5B83E8"/>
          </a:solidFill>
          <a:ln w="12700">
            <a:solidFill>
              <a:srgbClr val="333333"/>
            </a:solidFill>
            <a:prstDash val="solid"/>
          </a:ln>
        </p:spPr>
      </p:sp>
      <p:sp>
        <p:nvSpPr>
          <p:cNvPr id="18" name="Shape 16"/>
          <p:cNvSpPr/>
          <p:nvPr/>
        </p:nvSpPr>
        <p:spPr>
          <a:xfrm>
            <a:off x="2304288" y="6355080"/>
            <a:ext cx="182880" cy="182880"/>
          </a:xfrm>
          <a:prstGeom prst="ellipse">
            <a:avLst/>
          </a:prstGeom>
          <a:solidFill>
            <a:srgbClr val="3C5FA8"/>
          </a:solidFill>
          <a:ln w="12700">
            <a:solidFill>
              <a:srgbClr val="333333"/>
            </a:solidFill>
            <a:prstDash val="solid"/>
          </a:ln>
        </p:spPr>
      </p:sp>
      <p:sp>
        <p:nvSpPr>
          <p:cNvPr id="19" name="Shape 17"/>
          <p:cNvSpPr/>
          <p:nvPr/>
        </p:nvSpPr>
        <p:spPr>
          <a:xfrm>
            <a:off x="2633472" y="6355080"/>
            <a:ext cx="182880" cy="182880"/>
          </a:xfrm>
          <a:prstGeom prst="ellipse">
            <a:avLst/>
          </a:prstGeom>
          <a:solidFill>
            <a:srgbClr val="5BB84F"/>
          </a:solidFill>
          <a:ln w="12700">
            <a:solidFill>
              <a:srgbClr val="333333"/>
            </a:solidFill>
            <a:prstDash val="solid"/>
          </a:ln>
        </p:spPr>
      </p:sp>
      <p:sp>
        <p:nvSpPr>
          <p:cNvPr id="20" name="Shape 18"/>
          <p:cNvSpPr/>
          <p:nvPr/>
        </p:nvSpPr>
        <p:spPr>
          <a:xfrm>
            <a:off x="2962656" y="6355080"/>
            <a:ext cx="182880" cy="182880"/>
          </a:xfrm>
          <a:prstGeom prst="ellipse">
            <a:avLst/>
          </a:prstGeom>
          <a:solidFill>
            <a:srgbClr val="2BB0A3"/>
          </a:solidFill>
          <a:ln w="12700">
            <a:solidFill>
              <a:srgbClr val="333333"/>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2026-09-18T18:44:55Z</dcterms:created>
  <dcterms:modified xsi:type="dcterms:W3CDTF">2026-09-18T18:44:55Z</dcterms:modified>
</cp:coreProperties>
</file>