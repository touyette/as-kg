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A"/>
                </a:solidFill>
                <a:latin typeface="Arial"/>
              </a:defRPr>
            </a:pPr>
            <a:r>
              <a:rPr sz="1300" b="0" i="0" u="none" strike="noStrike">
                <a:solidFill>
                  <a:srgbClr val="22222A"/>
                </a:solidFill>
                <a:latin typeface="Arial"/>
              </a:rPr>
              <a:t>536 idea nodes by attribution</a:t>
            </a:r>
          </a:p>
        </c:rich>
      </c:tx>
      <c:layout/>
      <c:overlay val="0"/>
    </c:title>
    <c:autoTitleDeleted val="0"/>
    <c:plotArea>
      <c:layout/>
      <c:doughnutChart>
        <c:varyColors val="1"/>
        <c:ser>
          <c:idx val="0"/>
          <c:order val="0"/>
          <c:tx>
            <c:strRef>
              <c:f>Sheet1!$B$1</c:f>
              <c:strCache>
                <c:ptCount val="1"/>
                <c:pt idx="0">
                  <c:v>Attribution</c:v>
                </c:pt>
              </c:strCache>
            </c:strRef>
          </c:tx>
          <c:spPr>
            <a:solidFill>
              <a:schemeClr val="accent1"/>
            </a:solidFill>
            <a:ln w="9525" cap="flat">
              <a:solidFill>
                <a:srgbClr val="F9F9F9"/>
              </a:solidFill>
              <a:prstDash val="solid"/>
              <a:round/>
            </a:ln>
            <a:effectLst/>
          </c:spPr>
          <c:dPt>
            <c:idx val="0"/>
            <c:bubble3D val="0"/>
            <c:spPr>
              <a:solidFill>
                <a:srgbClr val="7B4BD8"/>
              </a:solidFill>
              <a:effectLst/>
            </c:spPr>
          </c:dPt>
          <c:dPt>
            <c:idx val="1"/>
            <c:bubble3D val="0"/>
            <c:spPr>
              <a:solidFill>
                <a:srgbClr val="5B83E8"/>
              </a:solidFill>
              <a:effectLst/>
            </c:spPr>
          </c:dPt>
          <c:dPt>
            <c:idx val="2"/>
            <c:bubble3D val="0"/>
            <c:spPr>
              <a:solidFill>
                <a:srgbClr val="2BB0A3"/>
              </a:solidFill>
              <a:effectLst/>
            </c:spPr>
          </c:dPt>
          <c:dLbls>
            <c:dLbl>
              <c:idx val="0"/>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Priebe’s own framing</c:v>
                </c:pt>
                <c:pt idx="1">
                  <c:v>Standard literature</c:v>
                </c:pt>
                <c:pt idx="2">
                  <c:v>Synthesis drawn here</c:v>
                </c:pt>
              </c:strCache>
            </c:strRef>
          </c:cat>
          <c:val>
            <c:numRef>
              <c:f>Sheet1!$B$2:$B$4</c:f>
              <c:numCache>
                <c:ptCount val="3"/>
                <c:pt idx="0">
                  <c:v>402</c:v>
                </c:pt>
                <c:pt idx="1">
                  <c:v>101</c:v>
                </c:pt>
                <c:pt idx="2">
                  <c:v>33</c:v>
                </c:pt>
              </c:numCache>
            </c:numRef>
          </c:val>
        </c:ser>
        <c:firstSliceAng val="0"/>
        <c:holeSize val="55"/>
      </c:doughnutChart>
      <c:spPr>
        <a:noFill/>
        <a:ln>
          <a:noFill/>
        </a:ln>
        <a:effectLst/>
      </c:spPr>
    </c:plotArea>
    <c:legend>
      <c:legendPos val="b"/>
      <c:overlay val="0"/>
      <c:txPr>
        <a:bodyPr/>
        <a:lstStyle/>
        <a:p>
          <a:pPr>
            <a:defRPr sz="1100">
              <a:solidFill>
                <a:srgbClr val="22222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derivative index of Heidi Priebe’s work. All credit for the ideas is hers. Nothing here reproduces her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to lead with: the site is a by-product. The deliverable is a cited, rule-bound corpus an assistant can work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1</a:t>
            </a:r>
            <a:endParaRPr lang="en-US" sz="900" dirty="0"/>
          </a:p>
        </p:txBody>
      </p:sp>
      <p:sp>
        <p:nvSpPr>
          <p:cNvPr id="3" name="Text 1"/>
          <p:cNvSpPr txBox="1"/>
          <p:nvPr/>
        </p:nvSpPr>
        <p:spPr>
          <a:xfrm>
            <a:off x="658368" y="1417320"/>
            <a:ext cx="6766560" cy="2286000"/>
          </a:xfrm>
          <a:prstGeom prst="rect">
            <a:avLst/>
          </a:prstGeom>
          <a:noFill/>
          <a:ln/>
        </p:spPr>
        <p:txBody>
          <a:bodyPr wrap="square" lIns="0" tIns="0" rIns="0" bIns="0" rtlCol="0" anchor="ctr"/>
          <a:lstStyle/>
          <a:p>
            <a:pPr indent="0" marL="0">
              <a:lnSpc>
                <a:spcPts val="5800"/>
              </a:lnSpc>
              <a:buNone/>
            </a:pPr>
            <a:r>
              <a:rPr lang="en-US" sz="5400" b="1" dirty="0">
                <a:solidFill>
                  <a:srgbClr val="FFFFFF"/>
                </a:solidFill>
                <a:latin typeface="Cambria" pitchFamily="34" charset="0"/>
                <a:ea typeface="Cambria" pitchFamily="34" charset="-122"/>
                <a:cs typeface="Cambria" pitchFamily="34" charset="-120"/>
              </a:rPr>
              <a:t>Attachment,</a:t>
            </a:r>
            <a:endParaRPr lang="en-US" sz="5400" dirty="0"/>
          </a:p>
          <a:p>
            <a:pPr indent="0" marL="0">
              <a:lnSpc>
                <a:spcPts val="5800"/>
              </a:lnSpc>
              <a:buNone/>
            </a:pPr>
            <a:r>
              <a:rPr lang="en-US" sz="5400" b="1" dirty="0">
                <a:solidFill>
                  <a:srgbClr val="FFFFFF"/>
                </a:solidFill>
                <a:latin typeface="Cambria" pitchFamily="34" charset="0"/>
                <a:ea typeface="Cambria" pitchFamily="34" charset="-122"/>
                <a:cs typeface="Cambria" pitchFamily="34" charset="-120"/>
              </a:rPr>
              <a:t>as a graph</a:t>
            </a:r>
            <a:endParaRPr lang="en-US" sz="5400" dirty="0"/>
          </a:p>
        </p:txBody>
      </p:sp>
      <p:sp>
        <p:nvSpPr>
          <p:cNvPr id="4" name="Text 2"/>
          <p:cNvSpPr txBox="1"/>
          <p:nvPr/>
        </p:nvSpPr>
        <p:spPr>
          <a:xfrm>
            <a:off x="658368" y="3886200"/>
            <a:ext cx="6035040" cy="914400"/>
          </a:xfrm>
          <a:prstGeom prst="rect">
            <a:avLst/>
          </a:prstGeom>
          <a:noFill/>
          <a:ln/>
        </p:spPr>
        <p:txBody>
          <a:bodyPr wrap="square" lIns="0" tIns="0" rIns="0" bIns="0" rtlCol="0" anchor="ctr"/>
          <a:lstStyle/>
          <a:p>
            <a:pPr indent="0" marL="0">
              <a:lnSpc>
                <a:spcPts val="2300"/>
              </a:lnSpc>
              <a:buNone/>
            </a:pPr>
            <a:r>
              <a:rPr lang="en-US" sz="1500" dirty="0">
                <a:solidFill>
                  <a:srgbClr val="B9B5C4"/>
                </a:solidFill>
                <a:latin typeface="Calibri" pitchFamily="34" charset="0"/>
                <a:ea typeface="Calibri" pitchFamily="34" charset="-122"/>
                <a:cs typeface="Calibri" pitchFamily="34" charset="-120"/>
              </a:rPr>
              <a:t>A knowledge graph of Heidi Priebe’s work on attachment theory — and the tooling that lets an AI teach from it instead of from memory.</a:t>
            </a:r>
            <a:endParaRPr lang="en-US" sz="1500" dirty="0"/>
          </a:p>
        </p:txBody>
      </p:sp>
      <p:sp>
        <p:nvSpPr>
          <p:cNvPr id="5" name="Shape 3"/>
          <p:cNvSpPr/>
          <p:nvPr/>
        </p:nvSpPr>
        <p:spPr>
          <a:xfrm>
            <a:off x="658368" y="5074920"/>
            <a:ext cx="182880" cy="182880"/>
          </a:xfrm>
          <a:prstGeom prst="ellipse">
            <a:avLst/>
          </a:prstGeom>
          <a:solidFill>
            <a:srgbClr val="E04F86"/>
          </a:solidFill>
          <a:ln w="12700">
            <a:solidFill>
              <a:srgbClr val="333333"/>
            </a:solidFill>
            <a:prstDash val="solid"/>
          </a:ln>
        </p:spPr>
      </p:sp>
      <p:sp>
        <p:nvSpPr>
          <p:cNvPr id="6" name="Shape 4"/>
          <p:cNvSpPr/>
          <p:nvPr/>
        </p:nvSpPr>
        <p:spPr>
          <a:xfrm>
            <a:off x="969264" y="5074920"/>
            <a:ext cx="182880" cy="182880"/>
          </a:xfrm>
          <a:prstGeom prst="ellipse">
            <a:avLst/>
          </a:prstGeom>
          <a:solidFill>
            <a:srgbClr val="EDA72C"/>
          </a:solidFill>
          <a:ln w="12700">
            <a:solidFill>
              <a:srgbClr val="333333"/>
            </a:solidFill>
            <a:prstDash val="solid"/>
          </a:ln>
        </p:spPr>
      </p:sp>
      <p:sp>
        <p:nvSpPr>
          <p:cNvPr id="7" name="Shape 5"/>
          <p:cNvSpPr/>
          <p:nvPr/>
        </p:nvSpPr>
        <p:spPr>
          <a:xfrm>
            <a:off x="1280160" y="5074920"/>
            <a:ext cx="182880" cy="182880"/>
          </a:xfrm>
          <a:prstGeom prst="ellipse">
            <a:avLst/>
          </a:prstGeom>
          <a:solidFill>
            <a:srgbClr val="5B83E8"/>
          </a:solidFill>
          <a:ln w="12700">
            <a:solidFill>
              <a:srgbClr val="333333"/>
            </a:solidFill>
            <a:prstDash val="solid"/>
          </a:ln>
        </p:spPr>
      </p:sp>
      <p:sp>
        <p:nvSpPr>
          <p:cNvPr id="8" name="Shape 6"/>
          <p:cNvSpPr/>
          <p:nvPr/>
        </p:nvSpPr>
        <p:spPr>
          <a:xfrm>
            <a:off x="1591056" y="5074920"/>
            <a:ext cx="182880" cy="182880"/>
          </a:xfrm>
          <a:prstGeom prst="ellipse">
            <a:avLst/>
          </a:prstGeom>
          <a:solidFill>
            <a:srgbClr val="5BB84F"/>
          </a:solidFill>
          <a:ln w="12700">
            <a:solidFill>
              <a:srgbClr val="333333"/>
            </a:solidFill>
            <a:prstDash val="solid"/>
          </a:ln>
        </p:spPr>
      </p:sp>
      <p:sp>
        <p:nvSpPr>
          <p:cNvPr id="9" name="Shape 7"/>
          <p:cNvSpPr/>
          <p:nvPr/>
        </p:nvSpPr>
        <p:spPr>
          <a:xfrm>
            <a:off x="1901952" y="5074920"/>
            <a:ext cx="182880" cy="182880"/>
          </a:xfrm>
          <a:prstGeom prst="ellipse">
            <a:avLst/>
          </a:prstGeom>
          <a:solidFill>
            <a:srgbClr val="2BB0A3"/>
          </a:solidFill>
          <a:ln w="12700">
            <a:solidFill>
              <a:srgbClr val="333333"/>
            </a:solidFill>
            <a:prstDash val="solid"/>
          </a:ln>
        </p:spPr>
      </p:sp>
      <p:sp>
        <p:nvSpPr>
          <p:cNvPr id="10" name="Shape 8"/>
          <p:cNvSpPr/>
          <p:nvPr/>
        </p:nvSpPr>
        <p:spPr>
          <a:xfrm>
            <a:off x="2212848" y="5074920"/>
            <a:ext cx="182880" cy="182880"/>
          </a:xfrm>
          <a:prstGeom prst="ellipse">
            <a:avLst/>
          </a:prstGeom>
          <a:solidFill>
            <a:srgbClr val="3C5FA8"/>
          </a:solidFill>
          <a:ln w="12700">
            <a:solidFill>
              <a:srgbClr val="333333"/>
            </a:solidFill>
            <a:prstDash val="solid"/>
          </a:ln>
        </p:spPr>
      </p:sp>
      <p:sp>
        <p:nvSpPr>
          <p:cNvPr id="11" name="Shape 9"/>
          <p:cNvSpPr/>
          <p:nvPr/>
        </p:nvSpPr>
        <p:spPr>
          <a:xfrm>
            <a:off x="2523744" y="5074920"/>
            <a:ext cx="182880" cy="182880"/>
          </a:xfrm>
          <a:prstGeom prst="ellipse">
            <a:avLst/>
          </a:prstGeom>
          <a:solidFill>
            <a:srgbClr val="F2643E"/>
          </a:solidFill>
          <a:ln w="12700">
            <a:solidFill>
              <a:srgbClr val="333333"/>
            </a:solidFill>
            <a:prstDash val="solid"/>
          </a:ln>
        </p:spPr>
      </p:sp>
      <p:sp>
        <p:nvSpPr>
          <p:cNvPr id="12" name="Shape 10"/>
          <p:cNvSpPr/>
          <p:nvPr/>
        </p:nvSpPr>
        <p:spPr>
          <a:xfrm>
            <a:off x="2834640" y="5074920"/>
            <a:ext cx="182880" cy="182880"/>
          </a:xfrm>
          <a:prstGeom prst="ellipse">
            <a:avLst/>
          </a:prstGeom>
          <a:solidFill>
            <a:srgbClr val="C56AD9"/>
          </a:solidFill>
          <a:ln w="12700">
            <a:solidFill>
              <a:srgbClr val="333333"/>
            </a:solidFill>
            <a:prstDash val="solid"/>
          </a:ln>
        </p:spPr>
      </p:sp>
      <p:sp>
        <p:nvSpPr>
          <p:cNvPr id="13" name="Text 11"/>
          <p:cNvSpPr txBox="1"/>
          <p:nvPr/>
        </p:nvSpPr>
        <p:spPr>
          <a:xfrm>
            <a:off x="7818120" y="160020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54</a:t>
            </a:r>
            <a:endParaRPr lang="en-US" sz="3400" dirty="0"/>
          </a:p>
        </p:txBody>
      </p:sp>
      <p:sp>
        <p:nvSpPr>
          <p:cNvPr id="14" name="Text 12"/>
          <p:cNvSpPr txBox="1"/>
          <p:nvPr/>
        </p:nvSpPr>
        <p:spPr>
          <a:xfrm>
            <a:off x="9326880" y="174650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videos mined</a:t>
            </a:r>
            <a:endParaRPr lang="en-US" sz="1250" dirty="0"/>
          </a:p>
        </p:txBody>
      </p:sp>
      <p:sp>
        <p:nvSpPr>
          <p:cNvPr id="15" name="Text 13"/>
          <p:cNvSpPr txBox="1"/>
          <p:nvPr/>
        </p:nvSpPr>
        <p:spPr>
          <a:xfrm>
            <a:off x="7818120" y="256032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590</a:t>
            </a:r>
            <a:endParaRPr lang="en-US" sz="3400" dirty="0"/>
          </a:p>
        </p:txBody>
      </p:sp>
      <p:sp>
        <p:nvSpPr>
          <p:cNvPr id="16" name="Text 14"/>
          <p:cNvSpPr txBox="1"/>
          <p:nvPr/>
        </p:nvSpPr>
        <p:spPr>
          <a:xfrm>
            <a:off x="9326880" y="270662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nodes</a:t>
            </a:r>
            <a:endParaRPr lang="en-US" sz="1250" dirty="0"/>
          </a:p>
        </p:txBody>
      </p:sp>
      <p:sp>
        <p:nvSpPr>
          <p:cNvPr id="17" name="Text 15"/>
          <p:cNvSpPr txBox="1"/>
          <p:nvPr/>
        </p:nvSpPr>
        <p:spPr>
          <a:xfrm>
            <a:off x="7818120" y="352044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2290</a:t>
            </a:r>
            <a:endParaRPr lang="en-US" sz="3400" dirty="0"/>
          </a:p>
        </p:txBody>
      </p:sp>
      <p:sp>
        <p:nvSpPr>
          <p:cNvPr id="18" name="Text 16"/>
          <p:cNvSpPr txBox="1"/>
          <p:nvPr/>
        </p:nvSpPr>
        <p:spPr>
          <a:xfrm>
            <a:off x="9326880" y="366674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typed edges</a:t>
            </a:r>
            <a:endParaRPr lang="en-US" sz="1250" dirty="0"/>
          </a:p>
        </p:txBody>
      </p:sp>
      <p:sp>
        <p:nvSpPr>
          <p:cNvPr id="19" name="Text 17"/>
          <p:cNvSpPr txBox="1"/>
          <p:nvPr/>
        </p:nvSpPr>
        <p:spPr>
          <a:xfrm>
            <a:off x="7818120" y="448056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20" name="Text 18"/>
          <p:cNvSpPr txBox="1"/>
          <p:nvPr/>
        </p:nvSpPr>
        <p:spPr>
          <a:xfrm>
            <a:off x="9326880" y="462686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loops found</a:t>
            </a:r>
            <a:endParaRPr lang="en-US" sz="1250" dirty="0"/>
          </a:p>
        </p:txBody>
      </p:sp>
      <p:sp>
        <p:nvSpPr>
          <p:cNvPr id="21" name="Text 19"/>
          <p:cNvSpPr txBox="1"/>
          <p:nvPr/>
        </p:nvSpPr>
        <p:spPr>
          <a:xfrm>
            <a:off x="658368" y="5943600"/>
            <a:ext cx="10874959" cy="274320"/>
          </a:xfrm>
          <a:prstGeom prst="rect">
            <a:avLst/>
          </a:prstGeom>
          <a:noFill/>
          <a:ln/>
        </p:spPr>
        <p:txBody>
          <a:bodyPr wrap="square" lIns="0" tIns="0" rIns="0" bIns="0" rtlCol="0" anchor="ctr"/>
          <a:lstStyle/>
          <a:p>
            <a:pPr indent="0" marL="0">
              <a:buNone/>
            </a:pPr>
            <a:r>
              <a:rPr lang="en-US" sz="1100" dirty="0">
                <a:solidFill>
                  <a:srgbClr val="76727F"/>
                </a:solidFill>
                <a:latin typeface="Calibri" pitchFamily="34" charset="0"/>
                <a:ea typeface="Calibri" pitchFamily="34" charset="-122"/>
                <a:cs typeface="Calibri" pitchFamily="34" charset="-120"/>
              </a:rPr>
              <a:t>An extended readme  ·  what it is, how it was built, and what it is for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PROBLEM</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Good material, wrong shape</a:t>
            </a:r>
            <a:endParaRPr lang="en-US" sz="3200" dirty="0"/>
          </a:p>
        </p:txBody>
      </p:sp>
      <p:sp>
        <p:nvSpPr>
          <p:cNvPr id="5" name="Text 3"/>
          <p:cNvSpPr txBox="1"/>
          <p:nvPr/>
        </p:nvSpPr>
        <p:spPr>
          <a:xfrm>
            <a:off x="658368" y="1609344"/>
            <a:ext cx="5943600" cy="137160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Priebe’s attachment work is roughly forty hours of video across 54 uploads. The ideas are densely cross-referenced — a strategy in one video is the mirror of a strategy in another, and a practice in a third is the thing that unwinds both. But video is linear and unaddressable.</a:t>
            </a:r>
            <a:endParaRPr lang="en-US" sz="1450" dirty="0"/>
          </a:p>
        </p:txBody>
      </p:sp>
      <p:sp>
        <p:nvSpPr>
          <p:cNvPr id="6" name="Text 4"/>
          <p:cNvSpPr txBox="1"/>
          <p:nvPr/>
        </p:nvSpPr>
        <p:spPr>
          <a:xfrm>
            <a:off x="658368" y="3200400"/>
            <a:ext cx="5943600" cy="457200"/>
          </a:xfrm>
          <a:prstGeom prst="rect">
            <a:avLst/>
          </a:prstGeom>
          <a:noFill/>
          <a:ln/>
        </p:spPr>
        <p:txBody>
          <a:bodyPr wrap="square" lIns="0" tIns="0" rIns="0" bIns="0" rtlCol="0" anchor="ctr"/>
          <a:lstStyle/>
          <a:p>
            <a:pPr indent="0" marL="0">
              <a:buNone/>
            </a:pPr>
            <a:r>
              <a:rPr lang="en-US" sz="2000" b="1" dirty="0">
                <a:solidFill>
                  <a:srgbClr val="7B4BD8"/>
                </a:solidFill>
                <a:latin typeface="Cambria" pitchFamily="34" charset="0"/>
                <a:ea typeface="Cambria" pitchFamily="34" charset="-122"/>
                <a:cs typeface="Cambria" pitchFamily="34" charset="-120"/>
              </a:rPr>
              <a:t>You cannot ask a video what connects to what.</a:t>
            </a:r>
            <a:endParaRPr lang="en-US" sz="2000" dirty="0"/>
          </a:p>
        </p:txBody>
      </p:sp>
      <p:sp>
        <p:nvSpPr>
          <p:cNvPr id="7" name="Text 5"/>
          <p:cNvSpPr txBox="1"/>
          <p:nvPr/>
        </p:nvSpPr>
        <p:spPr>
          <a:xfrm>
            <a:off x="658368" y="3794760"/>
            <a:ext cx="5943600" cy="1554480"/>
          </a:xfrm>
          <a:prstGeom prst="rect">
            <a:avLst/>
          </a:prstGeom>
          <a:noFill/>
          <a:ln/>
        </p:spPr>
        <p:txBody>
          <a:bodyPr wrap="square" lIns="0" tIns="0" rIns="0" bIns="0" rtlCol="0" anchor="ctr"/>
          <a:lstStyle/>
          <a:p>
            <a:pPr indent="0" marL="0">
              <a:lnSpc>
                <a:spcPts val="2000"/>
              </a:lnSpc>
              <a:buNone/>
            </a:pPr>
            <a:r>
              <a:rPr lang="en-US" sz="1350" dirty="0">
                <a:solidFill>
                  <a:srgbClr val="6A6875"/>
                </a:solidFill>
                <a:latin typeface="Calibri" pitchFamily="34" charset="0"/>
                <a:ea typeface="Calibri" pitchFamily="34" charset="-122"/>
                <a:cs typeface="Calibri" pitchFamily="34" charset="-120"/>
              </a:rPr>
              <a:t>You cannot ask it which move in the avoidant pattern is the same move as one in the anxious pattern, or what she said heals a given belief, or where a claim came from. Recognising yourself in the material requires holding all of it in your head at once — which is exactly what someone in the middle of a difficult relationship cannot do.</a:t>
            </a:r>
            <a:endParaRPr lang="en-US" sz="1350" dirty="0"/>
          </a:p>
        </p:txBody>
      </p:sp>
      <p:sp>
        <p:nvSpPr>
          <p:cNvPr id="8" name="Shape 6"/>
          <p:cNvSpPr/>
          <p:nvPr/>
        </p:nvSpPr>
        <p:spPr>
          <a:xfrm>
            <a:off x="7040880" y="1371600"/>
            <a:ext cx="4480560" cy="4160520"/>
          </a:xfrm>
          <a:prstGeom prst="roundRect">
            <a:avLst>
              <a:gd name="adj" fmla="val 1758"/>
            </a:avLst>
          </a:prstGeom>
          <a:solidFill>
            <a:srgbClr val="F7F5FA"/>
          </a:solidFill>
          <a:ln w="9525">
            <a:solidFill>
              <a:srgbClr val="E5E2E8"/>
            </a:solidFill>
            <a:prstDash val="solid"/>
          </a:ln>
        </p:spPr>
      </p:sp>
      <p:sp>
        <p:nvSpPr>
          <p:cNvPr id="9" name="Text 7"/>
          <p:cNvSpPr txBox="1"/>
          <p:nvPr/>
        </p:nvSpPr>
        <p:spPr>
          <a:xfrm>
            <a:off x="7360920" y="1627632"/>
            <a:ext cx="3840480"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What the graph adds</a:t>
            </a:r>
            <a:endParaRPr lang="en-US" sz="1500" dirty="0"/>
          </a:p>
        </p:txBody>
      </p:sp>
      <p:sp>
        <p:nvSpPr>
          <p:cNvPr id="10" name="Shape 8"/>
          <p:cNvSpPr/>
          <p:nvPr/>
        </p:nvSpPr>
        <p:spPr>
          <a:xfrm>
            <a:off x="7360920" y="2148840"/>
            <a:ext cx="137160" cy="137160"/>
          </a:xfrm>
          <a:prstGeom prst="ellipse">
            <a:avLst/>
          </a:prstGeom>
          <a:solidFill>
            <a:srgbClr val="7B4BD8"/>
          </a:solidFill>
          <a:ln w="12700">
            <a:solidFill>
              <a:srgbClr val="333333"/>
            </a:solidFill>
            <a:prstDash val="solid"/>
          </a:ln>
        </p:spPr>
      </p:sp>
      <p:sp>
        <p:nvSpPr>
          <p:cNvPr id="11" name="Text 9"/>
          <p:cNvSpPr txBox="1"/>
          <p:nvPr/>
        </p:nvSpPr>
        <p:spPr>
          <a:xfrm>
            <a:off x="7626096" y="2103120"/>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An address for every idea</a:t>
            </a:r>
            <a:endParaRPr lang="en-US" sz="1250" dirty="0"/>
          </a:p>
        </p:txBody>
      </p:sp>
      <p:sp>
        <p:nvSpPr>
          <p:cNvPr id="12" name="Text 10"/>
          <p:cNvSpPr txBox="1"/>
          <p:nvPr/>
        </p:nvSpPr>
        <p:spPr>
          <a:xfrm>
            <a:off x="7626096" y="2350008"/>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Each claim is a node with a stable id, a one-line gloss and a page.</a:t>
            </a:r>
            <a:endParaRPr lang="en-US" sz="1050" dirty="0"/>
          </a:p>
        </p:txBody>
      </p:sp>
      <p:sp>
        <p:nvSpPr>
          <p:cNvPr id="13" name="Shape 11"/>
          <p:cNvSpPr/>
          <p:nvPr/>
        </p:nvSpPr>
        <p:spPr>
          <a:xfrm>
            <a:off x="7360920" y="3008376"/>
            <a:ext cx="137160" cy="137160"/>
          </a:xfrm>
          <a:prstGeom prst="ellipse">
            <a:avLst/>
          </a:prstGeom>
          <a:solidFill>
            <a:srgbClr val="7B4BD8"/>
          </a:solidFill>
          <a:ln w="12700">
            <a:solidFill>
              <a:srgbClr val="333333"/>
            </a:solidFill>
            <a:prstDash val="solid"/>
          </a:ln>
        </p:spPr>
      </p:sp>
      <p:sp>
        <p:nvSpPr>
          <p:cNvPr id="14" name="Text 12"/>
          <p:cNvSpPr txBox="1"/>
          <p:nvPr/>
        </p:nvSpPr>
        <p:spPr>
          <a:xfrm>
            <a:off x="7626096" y="2962656"/>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 named relationship</a:t>
            </a:r>
            <a:endParaRPr lang="en-US" sz="1250" dirty="0"/>
          </a:p>
        </p:txBody>
      </p:sp>
      <p:sp>
        <p:nvSpPr>
          <p:cNvPr id="15" name="Text 13"/>
          <p:cNvSpPr txBox="1"/>
          <p:nvPr/>
        </p:nvSpPr>
        <p:spPr>
          <a:xfrm>
            <a:off x="7626096" y="3209544"/>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Not "these are related" but triggers, defends_against, mirrors, healed_by.</a:t>
            </a:r>
            <a:endParaRPr lang="en-US" sz="1050" dirty="0"/>
          </a:p>
        </p:txBody>
      </p:sp>
      <p:sp>
        <p:nvSpPr>
          <p:cNvPr id="16" name="Shape 14"/>
          <p:cNvSpPr/>
          <p:nvPr/>
        </p:nvSpPr>
        <p:spPr>
          <a:xfrm>
            <a:off x="7360920" y="3867912"/>
            <a:ext cx="137160" cy="137160"/>
          </a:xfrm>
          <a:prstGeom prst="ellipse">
            <a:avLst/>
          </a:prstGeom>
          <a:solidFill>
            <a:srgbClr val="7B4BD8"/>
          </a:solidFill>
          <a:ln w="12700">
            <a:solidFill>
              <a:srgbClr val="333333"/>
            </a:solidFill>
            <a:prstDash val="solid"/>
          </a:ln>
        </p:spPr>
      </p:sp>
      <p:sp>
        <p:nvSpPr>
          <p:cNvPr id="17" name="Text 15"/>
          <p:cNvSpPr txBox="1"/>
          <p:nvPr/>
        </p:nvSpPr>
        <p:spPr>
          <a:xfrm>
            <a:off x="7626096" y="3822192"/>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 receipt on every edge</a:t>
            </a:r>
            <a:endParaRPr lang="en-US" sz="1250" dirty="0"/>
          </a:p>
        </p:txBody>
      </p:sp>
      <p:sp>
        <p:nvSpPr>
          <p:cNvPr id="18" name="Text 16"/>
          <p:cNvSpPr txBox="1"/>
          <p:nvPr/>
        </p:nvSpPr>
        <p:spPr>
          <a:xfrm>
            <a:off x="7626096" y="4069080"/>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The video and the second where she says it. 2,290 of them.</a:t>
            </a:r>
            <a:endParaRPr lang="en-US" sz="1050" dirty="0"/>
          </a:p>
        </p:txBody>
      </p:sp>
      <p:sp>
        <p:nvSpPr>
          <p:cNvPr id="19" name="Shape 17"/>
          <p:cNvSpPr/>
          <p:nvPr/>
        </p:nvSpPr>
        <p:spPr>
          <a:xfrm>
            <a:off x="7360920" y="4727448"/>
            <a:ext cx="137160" cy="137160"/>
          </a:xfrm>
          <a:prstGeom prst="ellipse">
            <a:avLst/>
          </a:prstGeom>
          <a:solidFill>
            <a:srgbClr val="7B4BD8"/>
          </a:solidFill>
          <a:ln w="12700">
            <a:solidFill>
              <a:srgbClr val="333333"/>
            </a:solidFill>
            <a:prstDash val="solid"/>
          </a:ln>
        </p:spPr>
      </p:sp>
      <p:sp>
        <p:nvSpPr>
          <p:cNvPr id="20" name="Text 18"/>
          <p:cNvSpPr txBox="1"/>
          <p:nvPr/>
        </p:nvSpPr>
        <p:spPr>
          <a:xfrm>
            <a:off x="7626096" y="4681728"/>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 machine to read it</a:t>
            </a:r>
            <a:endParaRPr lang="en-US" sz="1250" dirty="0"/>
          </a:p>
        </p:txBody>
      </p:sp>
      <p:sp>
        <p:nvSpPr>
          <p:cNvPr id="21" name="Text 19"/>
          <p:cNvSpPr txBox="1"/>
          <p:nvPr/>
        </p:nvSpPr>
        <p:spPr>
          <a:xfrm>
            <a:off x="7626096" y="4928616"/>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One JSON file an assistant can traverse, with rules it has to follow.</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3</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9E86E8"/>
                </a:solidFill>
                <a:latin typeface="Calibri" pitchFamily="34" charset="0"/>
                <a:ea typeface="Calibri" pitchFamily="34" charset="-122"/>
                <a:cs typeface="Calibri" pitchFamily="34" charset="-120"/>
              </a:rPr>
              <a:t>WHAT IT IS FOR</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point is not the website</a:t>
            </a:r>
            <a:endParaRPr lang="en-US" sz="3600" dirty="0"/>
          </a:p>
        </p:txBody>
      </p:sp>
      <p:sp>
        <p:nvSpPr>
          <p:cNvPr id="5" name="Text 3"/>
          <p:cNvSpPr txBox="1"/>
          <p:nvPr/>
        </p:nvSpPr>
        <p:spPr>
          <a:xfrm>
            <a:off x="658368" y="1783080"/>
            <a:ext cx="7863840" cy="1005840"/>
          </a:xfrm>
          <a:prstGeom prst="rect">
            <a:avLst/>
          </a:prstGeom>
          <a:noFill/>
          <a:ln/>
        </p:spPr>
        <p:txBody>
          <a:bodyPr wrap="square" lIns="0" tIns="0" rIns="0" bIns="0" rtlCol="0" anchor="ctr"/>
          <a:lstStyle/>
          <a:p>
            <a:pPr indent="0" marL="0">
              <a:lnSpc>
                <a:spcPts val="2900"/>
              </a:lnSpc>
              <a:buNone/>
            </a:pPr>
            <a:r>
              <a:rPr lang="en-US" sz="1900" dirty="0">
                <a:solidFill>
                  <a:srgbClr val="D6D2DE"/>
                </a:solidFill>
                <a:latin typeface="Calibri" pitchFamily="34" charset="0"/>
                <a:ea typeface="Calibri" pitchFamily="34" charset="-122"/>
                <a:cs typeface="Calibri" pitchFamily="34" charset="-120"/>
              </a:rPr>
              <a:t>The graph exists so that an assistant can teach the pattern — accurately, with receipts, and inside constraints it cannot talk its way out of.</a:t>
            </a:r>
            <a:endParaRPr lang="en-US" sz="1900" dirty="0"/>
          </a:p>
        </p:txBody>
      </p:sp>
      <p:sp>
        <p:nvSpPr>
          <p:cNvPr id="6" name="Shape 4"/>
          <p:cNvSpPr/>
          <p:nvPr/>
        </p:nvSpPr>
        <p:spPr>
          <a:xfrm>
            <a:off x="658368" y="3063240"/>
            <a:ext cx="5303520" cy="1463040"/>
          </a:xfrm>
          <a:prstGeom prst="roundRect">
            <a:avLst>
              <a:gd name="adj" fmla="val 5000"/>
            </a:avLst>
          </a:prstGeom>
          <a:solidFill>
            <a:srgbClr val="20202A"/>
          </a:solidFill>
          <a:ln w="9525">
            <a:solidFill>
              <a:srgbClr val="30303C"/>
            </a:solidFill>
            <a:prstDash val="solid"/>
          </a:ln>
        </p:spPr>
      </p:sp>
      <p:sp>
        <p:nvSpPr>
          <p:cNvPr id="7" name="Text 5"/>
          <p:cNvSpPr txBox="1"/>
          <p:nvPr/>
        </p:nvSpPr>
        <p:spPr>
          <a:xfrm>
            <a:off x="932688" y="324612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Works from the corpus, not from memory</a:t>
            </a:r>
            <a:endParaRPr lang="en-US" sz="1350" dirty="0"/>
          </a:p>
        </p:txBody>
      </p:sp>
      <p:sp>
        <p:nvSpPr>
          <p:cNvPr id="8" name="Text 6"/>
          <p:cNvSpPr txBox="1"/>
          <p:nvPr/>
        </p:nvSpPr>
        <p:spPr>
          <a:xfrm>
            <a:off x="932688" y="355701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Every claim traces to a video and a timestamp, so the answer is hers and checkable — not a plausible average of everything a model has read about attachment.</a:t>
            </a:r>
            <a:endParaRPr lang="en-US" sz="1050" dirty="0"/>
          </a:p>
        </p:txBody>
      </p:sp>
      <p:sp>
        <p:nvSpPr>
          <p:cNvPr id="9" name="Shape 7"/>
          <p:cNvSpPr/>
          <p:nvPr/>
        </p:nvSpPr>
        <p:spPr>
          <a:xfrm>
            <a:off x="6281928" y="3063240"/>
            <a:ext cx="5303520" cy="1463040"/>
          </a:xfrm>
          <a:prstGeom prst="roundRect">
            <a:avLst>
              <a:gd name="adj" fmla="val 5000"/>
            </a:avLst>
          </a:prstGeom>
          <a:solidFill>
            <a:srgbClr val="20202A"/>
          </a:solidFill>
          <a:ln w="9525">
            <a:solidFill>
              <a:srgbClr val="30303C"/>
            </a:solidFill>
            <a:prstDash val="solid"/>
          </a:ln>
        </p:spPr>
      </p:sp>
      <p:sp>
        <p:nvSpPr>
          <p:cNvPr id="10" name="Text 8"/>
          <p:cNvSpPr txBox="1"/>
          <p:nvPr/>
        </p:nvSpPr>
        <p:spPr>
          <a:xfrm>
            <a:off x="6556248" y="324612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Refuses what it cannot trace</a:t>
            </a:r>
            <a:endParaRPr lang="en-US" sz="1350" dirty="0"/>
          </a:p>
        </p:txBody>
      </p:sp>
      <p:sp>
        <p:nvSpPr>
          <p:cNvPr id="11" name="Text 9"/>
          <p:cNvSpPr txBox="1"/>
          <p:nvPr/>
        </p:nvSpPr>
        <p:spPr>
          <a:xfrm>
            <a:off x="6556248" y="355701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Cite it or do not say it. Anything untraceable is flagged as inference or left out.</a:t>
            </a:r>
            <a:endParaRPr lang="en-US" sz="1050" dirty="0"/>
          </a:p>
        </p:txBody>
      </p:sp>
      <p:sp>
        <p:nvSpPr>
          <p:cNvPr id="12" name="Shape 10"/>
          <p:cNvSpPr/>
          <p:nvPr/>
        </p:nvSpPr>
        <p:spPr>
          <a:xfrm>
            <a:off x="658368" y="4754880"/>
            <a:ext cx="5303520" cy="1463040"/>
          </a:xfrm>
          <a:prstGeom prst="roundRect">
            <a:avLst>
              <a:gd name="adj" fmla="val 5000"/>
            </a:avLst>
          </a:prstGeom>
          <a:solidFill>
            <a:srgbClr val="20202A"/>
          </a:solidFill>
          <a:ln w="9525">
            <a:solidFill>
              <a:srgbClr val="30303C"/>
            </a:solidFill>
            <a:prstDash val="solid"/>
          </a:ln>
        </p:spPr>
      </p:sp>
      <p:sp>
        <p:nvSpPr>
          <p:cNvPr id="13" name="Text 11"/>
          <p:cNvSpPr txBox="1"/>
          <p:nvPr/>
        </p:nvSpPr>
        <p:spPr>
          <a:xfrm>
            <a:off x="932688" y="493776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Screens before it reframes</a:t>
            </a:r>
            <a:endParaRPr lang="en-US" sz="1350" dirty="0"/>
          </a:p>
        </p:txBody>
      </p:sp>
      <p:sp>
        <p:nvSpPr>
          <p:cNvPr id="14" name="Text 12"/>
          <p:cNvSpPr txBox="1"/>
          <p:nvPr/>
        </p:nvSpPr>
        <p:spPr>
          <a:xfrm>
            <a:off x="932688" y="524865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Attachment patterns amplify real signals; they do not manufacture them. The safety gate comes first, and it is enforced in code rather than trusted to good intentions.</a:t>
            </a:r>
            <a:endParaRPr lang="en-US" sz="1050" dirty="0"/>
          </a:p>
        </p:txBody>
      </p:sp>
      <p:sp>
        <p:nvSpPr>
          <p:cNvPr id="15" name="Shape 13"/>
          <p:cNvSpPr/>
          <p:nvPr/>
        </p:nvSpPr>
        <p:spPr>
          <a:xfrm>
            <a:off x="6281928" y="4754880"/>
            <a:ext cx="5303520" cy="1463040"/>
          </a:xfrm>
          <a:prstGeom prst="roundRect">
            <a:avLst>
              <a:gd name="adj" fmla="val 5000"/>
            </a:avLst>
          </a:prstGeom>
          <a:solidFill>
            <a:srgbClr val="20202A"/>
          </a:solidFill>
          <a:ln w="9525">
            <a:solidFill>
              <a:srgbClr val="30303C"/>
            </a:solidFill>
            <a:prstDash val="solid"/>
          </a:ln>
        </p:spPr>
      </p:sp>
      <p:sp>
        <p:nvSpPr>
          <p:cNvPr id="16" name="Text 14"/>
          <p:cNvSpPr txBox="1"/>
          <p:nvPr/>
        </p:nvSpPr>
        <p:spPr>
          <a:xfrm>
            <a:off x="6556248" y="493776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Never hands anyone a label</a:t>
            </a:r>
            <a:endParaRPr lang="en-US" sz="1350" dirty="0"/>
          </a:p>
        </p:txBody>
      </p:sp>
      <p:sp>
        <p:nvSpPr>
          <p:cNvPr id="17" name="Text 15"/>
          <p:cNvSpPr txBox="1"/>
          <p:nvPr/>
        </p:nvSpPr>
        <p:spPr>
          <a:xfrm>
            <a:off x="6556248" y="524865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No style is assigned, no partner is diagnosed, nothing is scored. Recognition, not classification.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4</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WHAT HAS BEEN BUILT</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One graph, three surfaces</a:t>
            </a:r>
            <a:endParaRPr lang="en-US" sz="3200" dirty="0"/>
          </a:p>
        </p:txBody>
      </p:sp>
      <p:sp>
        <p:nvSpPr>
          <p:cNvPr id="5" name="Shape 3"/>
          <p:cNvSpPr/>
          <p:nvPr/>
        </p:nvSpPr>
        <p:spPr>
          <a:xfrm>
            <a:off x="658368" y="1481328"/>
            <a:ext cx="3423818" cy="2240280"/>
          </a:xfrm>
          <a:prstGeom prst="roundRect">
            <a:avLst>
              <a:gd name="adj" fmla="val 3265"/>
            </a:avLst>
          </a:prstGeom>
          <a:solidFill>
            <a:srgbClr val="F7F5FA"/>
          </a:solidFill>
          <a:ln w="9525">
            <a:solidFill>
              <a:srgbClr val="E5E2E8"/>
            </a:solidFill>
            <a:prstDash val="solid"/>
          </a:ln>
        </p:spPr>
      </p:sp>
      <p:sp>
        <p:nvSpPr>
          <p:cNvPr id="6" name="Shape 4"/>
          <p:cNvSpPr/>
          <p:nvPr/>
        </p:nvSpPr>
        <p:spPr>
          <a:xfrm>
            <a:off x="914400" y="1737360"/>
            <a:ext cx="201168" cy="201168"/>
          </a:xfrm>
          <a:prstGeom prst="ellipse">
            <a:avLst/>
          </a:prstGeom>
          <a:solidFill>
            <a:srgbClr val="2BB0A3"/>
          </a:solidFill>
          <a:ln w="12700">
            <a:solidFill>
              <a:srgbClr val="333333"/>
            </a:solidFill>
            <a:prstDash val="solid"/>
          </a:ln>
        </p:spPr>
      </p:sp>
      <p:sp>
        <p:nvSpPr>
          <p:cNvPr id="7" name="Text 5"/>
          <p:cNvSpPr txBox="1"/>
          <p:nvPr/>
        </p:nvSpPr>
        <p:spPr>
          <a:xfrm>
            <a:off x="1225296" y="1700784"/>
            <a:ext cx="2600858" cy="274320"/>
          </a:xfrm>
          <a:prstGeom prst="rect">
            <a:avLst/>
          </a:prstGeom>
          <a:noFill/>
          <a:ln/>
        </p:spPr>
        <p:txBody>
          <a:bodyPr wrap="square" lIns="0" tIns="0" rIns="0" bIns="0" rtlCol="0" anchor="ctr"/>
          <a:lstStyle/>
          <a:p>
            <a:pPr indent="0" marL="0">
              <a:buNone/>
            </a:pPr>
            <a:r>
              <a:rPr lang="en-US" sz="1600" b="1" dirty="0">
                <a:solidFill>
                  <a:srgbClr val="22222A"/>
                </a:solidFill>
                <a:latin typeface="Calibri" pitchFamily="34" charset="0"/>
                <a:ea typeface="Calibri" pitchFamily="34" charset="-122"/>
                <a:cs typeface="Calibri" pitchFamily="34" charset="-120"/>
              </a:rPr>
              <a:t>The site</a:t>
            </a:r>
            <a:endParaRPr lang="en-US" sz="1600" dirty="0"/>
          </a:p>
        </p:txBody>
      </p:sp>
      <p:sp>
        <p:nvSpPr>
          <p:cNvPr id="8" name="Text 6"/>
          <p:cNvSpPr txBox="1"/>
          <p:nvPr/>
        </p:nvSpPr>
        <p:spPr>
          <a:xfrm>
            <a:off x="914400" y="2084832"/>
            <a:ext cx="2911754" cy="228600"/>
          </a:xfrm>
          <a:prstGeom prst="rect">
            <a:avLst/>
          </a:prstGeom>
          <a:noFill/>
          <a:ln/>
        </p:spPr>
        <p:txBody>
          <a:bodyPr wrap="square" lIns="0" tIns="0" rIns="0" bIns="0" rtlCol="0" anchor="ctr"/>
          <a:lstStyle/>
          <a:p>
            <a:pPr indent="0" marL="0">
              <a:buNone/>
            </a:pPr>
            <a:r>
              <a:rPr lang="en-US" sz="1000" b="1" dirty="0">
                <a:solidFill>
                  <a:srgbClr val="2BB0A3"/>
                </a:solidFill>
                <a:latin typeface="Courier New" pitchFamily="34" charset="0"/>
                <a:ea typeface="Courier New" pitchFamily="34" charset="-122"/>
                <a:cs typeface="Courier New" pitchFamily="34" charset="-120"/>
              </a:rPr>
              <a:t>typed-graph</a:t>
            </a:r>
            <a:endParaRPr lang="en-US" sz="1000" dirty="0"/>
          </a:p>
        </p:txBody>
      </p:sp>
      <p:sp>
        <p:nvSpPr>
          <p:cNvPr id="9" name="Text 7"/>
          <p:cNvSpPr txBox="1"/>
          <p:nvPr/>
        </p:nvSpPr>
        <p:spPr>
          <a:xfrm>
            <a:off x="914400" y="2377440"/>
            <a:ext cx="2911754" cy="118872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590 note pages plus an explorer that opens on one idea and its neighbourhood, rather than drawing a 590-node hairball nobody can read.</a:t>
            </a:r>
            <a:endParaRPr lang="en-US" sz="1100" dirty="0"/>
          </a:p>
        </p:txBody>
      </p:sp>
      <p:sp>
        <p:nvSpPr>
          <p:cNvPr id="10" name="Shape 8"/>
          <p:cNvSpPr/>
          <p:nvPr/>
        </p:nvSpPr>
        <p:spPr>
          <a:xfrm>
            <a:off x="4274014" y="1481328"/>
            <a:ext cx="3423818" cy="2240280"/>
          </a:xfrm>
          <a:prstGeom prst="roundRect">
            <a:avLst>
              <a:gd name="adj" fmla="val 3265"/>
            </a:avLst>
          </a:prstGeom>
          <a:solidFill>
            <a:srgbClr val="F7F5FA"/>
          </a:solidFill>
          <a:ln w="9525">
            <a:solidFill>
              <a:srgbClr val="E5E2E8"/>
            </a:solidFill>
            <a:prstDash val="solid"/>
          </a:ln>
        </p:spPr>
      </p:sp>
      <p:sp>
        <p:nvSpPr>
          <p:cNvPr id="11" name="Shape 9"/>
          <p:cNvSpPr/>
          <p:nvPr/>
        </p:nvSpPr>
        <p:spPr>
          <a:xfrm>
            <a:off x="4530046" y="1737360"/>
            <a:ext cx="201168" cy="201168"/>
          </a:xfrm>
          <a:prstGeom prst="ellipse">
            <a:avLst/>
          </a:prstGeom>
          <a:solidFill>
            <a:srgbClr val="5BB84F"/>
          </a:solidFill>
          <a:ln w="12700">
            <a:solidFill>
              <a:srgbClr val="333333"/>
            </a:solidFill>
            <a:prstDash val="solid"/>
          </a:ln>
        </p:spPr>
      </p:sp>
      <p:sp>
        <p:nvSpPr>
          <p:cNvPr id="12" name="Text 10"/>
          <p:cNvSpPr txBox="1"/>
          <p:nvPr/>
        </p:nvSpPr>
        <p:spPr>
          <a:xfrm>
            <a:off x="4840942" y="1700784"/>
            <a:ext cx="2600858" cy="274320"/>
          </a:xfrm>
          <a:prstGeom prst="rect">
            <a:avLst/>
          </a:prstGeom>
          <a:noFill/>
          <a:ln/>
        </p:spPr>
        <p:txBody>
          <a:bodyPr wrap="square" lIns="0" tIns="0" rIns="0" bIns="0" rtlCol="0" anchor="ctr"/>
          <a:lstStyle/>
          <a:p>
            <a:pPr indent="0" marL="0">
              <a:buNone/>
            </a:pPr>
            <a:r>
              <a:rPr lang="en-US" sz="1600" b="1" dirty="0">
                <a:solidFill>
                  <a:srgbClr val="22222A"/>
                </a:solidFill>
                <a:latin typeface="Calibri" pitchFamily="34" charset="0"/>
                <a:ea typeface="Calibri" pitchFamily="34" charset="-122"/>
                <a:cs typeface="Calibri" pitchFamily="34" charset="-120"/>
              </a:rPr>
              <a:t>The toolbox</a:t>
            </a:r>
            <a:endParaRPr lang="en-US" sz="1600" dirty="0"/>
          </a:p>
        </p:txBody>
      </p:sp>
      <p:sp>
        <p:nvSpPr>
          <p:cNvPr id="13" name="Text 11"/>
          <p:cNvSpPr txBox="1"/>
          <p:nvPr/>
        </p:nvSpPr>
        <p:spPr>
          <a:xfrm>
            <a:off x="4530046" y="2084832"/>
            <a:ext cx="2911754" cy="228600"/>
          </a:xfrm>
          <a:prstGeom prst="rect">
            <a:avLst/>
          </a:prstGeom>
          <a:noFill/>
          <a:ln/>
        </p:spPr>
        <p:txBody>
          <a:bodyPr wrap="square" lIns="0" tIns="0" rIns="0" bIns="0" rtlCol="0" anchor="ctr"/>
          <a:lstStyle/>
          <a:p>
            <a:pPr indent="0" marL="0">
              <a:buNone/>
            </a:pPr>
            <a:r>
              <a:rPr lang="en-US" sz="1000" b="1" dirty="0">
                <a:solidFill>
                  <a:srgbClr val="5BB84F"/>
                </a:solidFill>
                <a:latin typeface="Courier New" pitchFamily="34" charset="0"/>
                <a:ea typeface="Courier New" pitchFamily="34" charset="-122"/>
                <a:cs typeface="Courier New" pitchFamily="34" charset="-120"/>
              </a:rPr>
              <a:t>12 flows</a:t>
            </a:r>
            <a:endParaRPr lang="en-US" sz="1000" dirty="0"/>
          </a:p>
        </p:txBody>
      </p:sp>
      <p:sp>
        <p:nvSpPr>
          <p:cNvPr id="14" name="Text 12"/>
          <p:cNvSpPr txBox="1"/>
          <p:nvPr/>
        </p:nvSpPr>
        <p:spPr>
          <a:xfrm>
            <a:off x="4530046" y="2377440"/>
            <a:ext cx="2911754" cy="118872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Short question sequences for when something is happening right now. Each opens with a safety gate and stops rather than reframing something that is actually going wrong.</a:t>
            </a:r>
            <a:endParaRPr lang="en-US" sz="1100" dirty="0"/>
          </a:p>
        </p:txBody>
      </p:sp>
      <p:sp>
        <p:nvSpPr>
          <p:cNvPr id="15" name="Shape 13"/>
          <p:cNvSpPr/>
          <p:nvPr/>
        </p:nvSpPr>
        <p:spPr>
          <a:xfrm>
            <a:off x="7889660" y="1481328"/>
            <a:ext cx="3423818" cy="2240280"/>
          </a:xfrm>
          <a:prstGeom prst="roundRect">
            <a:avLst>
              <a:gd name="adj" fmla="val 3265"/>
            </a:avLst>
          </a:prstGeom>
          <a:solidFill>
            <a:srgbClr val="F7F5FA"/>
          </a:solidFill>
          <a:ln w="9525">
            <a:solidFill>
              <a:srgbClr val="E5E2E8"/>
            </a:solidFill>
            <a:prstDash val="solid"/>
          </a:ln>
        </p:spPr>
      </p:sp>
      <p:sp>
        <p:nvSpPr>
          <p:cNvPr id="16" name="Shape 14"/>
          <p:cNvSpPr/>
          <p:nvPr/>
        </p:nvSpPr>
        <p:spPr>
          <a:xfrm>
            <a:off x="8145692" y="1737360"/>
            <a:ext cx="201168" cy="201168"/>
          </a:xfrm>
          <a:prstGeom prst="ellipse">
            <a:avLst/>
          </a:prstGeom>
          <a:solidFill>
            <a:srgbClr val="E04F86"/>
          </a:solidFill>
          <a:ln w="12700">
            <a:solidFill>
              <a:srgbClr val="333333"/>
            </a:solidFill>
            <a:prstDash val="solid"/>
          </a:ln>
        </p:spPr>
      </p:sp>
      <p:sp>
        <p:nvSpPr>
          <p:cNvPr id="17" name="Text 15"/>
          <p:cNvSpPr txBox="1"/>
          <p:nvPr/>
        </p:nvSpPr>
        <p:spPr>
          <a:xfrm>
            <a:off x="8456588" y="1700784"/>
            <a:ext cx="2600858" cy="274320"/>
          </a:xfrm>
          <a:prstGeom prst="rect">
            <a:avLst/>
          </a:prstGeom>
          <a:noFill/>
          <a:ln/>
        </p:spPr>
        <p:txBody>
          <a:bodyPr wrap="square" lIns="0" tIns="0" rIns="0" bIns="0" rtlCol="0" anchor="ctr"/>
          <a:lstStyle/>
          <a:p>
            <a:pPr indent="0" marL="0">
              <a:buNone/>
            </a:pPr>
            <a:r>
              <a:rPr lang="en-US" sz="1600" b="1" dirty="0">
                <a:solidFill>
                  <a:srgbClr val="22222A"/>
                </a:solidFill>
                <a:latin typeface="Calibri" pitchFamily="34" charset="0"/>
                <a:ea typeface="Calibri" pitchFamily="34" charset="-122"/>
                <a:cs typeface="Calibri" pitchFamily="34" charset="-120"/>
              </a:rPr>
              <a:t>The agent kit</a:t>
            </a:r>
            <a:endParaRPr lang="en-US" sz="1600" dirty="0"/>
          </a:p>
        </p:txBody>
      </p:sp>
      <p:sp>
        <p:nvSpPr>
          <p:cNvPr id="18" name="Text 16"/>
          <p:cNvSpPr txBox="1"/>
          <p:nvPr/>
        </p:nvSpPr>
        <p:spPr>
          <a:xfrm>
            <a:off x="8145692" y="2084832"/>
            <a:ext cx="2911754" cy="228600"/>
          </a:xfrm>
          <a:prstGeom prst="rect">
            <a:avLst/>
          </a:prstGeom>
          <a:noFill/>
          <a:ln/>
        </p:spPr>
        <p:txBody>
          <a:bodyPr wrap="square" lIns="0" tIns="0" rIns="0" bIns="0" rtlCol="0" anchor="ctr"/>
          <a:lstStyle/>
          <a:p>
            <a:pPr indent="0" marL="0">
              <a:buNone/>
            </a:pPr>
            <a:r>
              <a:rPr lang="en-US" sz="1000" b="1" dirty="0">
                <a:solidFill>
                  <a:srgbClr val="E04F86"/>
                </a:solidFill>
                <a:latin typeface="Courier New" pitchFamily="34" charset="0"/>
                <a:ea typeface="Courier New" pitchFamily="34" charset="-122"/>
                <a:cs typeface="Courier New" pitchFamily="34" charset="-120"/>
              </a:rPr>
              <a:t>graph.json</a:t>
            </a:r>
            <a:endParaRPr lang="en-US" sz="1000" dirty="0"/>
          </a:p>
        </p:txBody>
      </p:sp>
      <p:sp>
        <p:nvSpPr>
          <p:cNvPr id="19" name="Text 17"/>
          <p:cNvSpPr txBox="1"/>
          <p:nvPr/>
        </p:nvSpPr>
        <p:spPr>
          <a:xfrm>
            <a:off x="8145692" y="2377440"/>
            <a:ext cx="2911754" cy="118872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The machine-readable surface: the whole graph, the schema, the operating rules and the flows, plus a URL format for showing someone the nodes being talked about.</a:t>
            </a:r>
            <a:endParaRPr lang="en-US" sz="1100" dirty="0"/>
          </a:p>
        </p:txBody>
      </p:sp>
      <p:pic>
        <p:nvPicPr>
          <p:cNvPr id="20" name="Image 0" descr="/mnt/user-data/outputs/deck-explore.png">    </p:cNvPr>
          <p:cNvPicPr>
            <a:picLocks noChangeAspect="1"/>
          </p:cNvPicPr>
          <p:nvPr/>
        </p:nvPicPr>
        <p:blipFill>
          <a:blip r:embed="rId1"/>
          <a:stretch>
            <a:fillRect/>
          </a:stretch>
        </p:blipFill>
        <p:spPr>
          <a:xfrm>
            <a:off x="658368" y="3968496"/>
            <a:ext cx="4206240" cy="2459736"/>
          </a:xfrm>
          <a:prstGeom prst="rect">
            <a:avLst/>
          </a:prstGeom>
        </p:spPr>
      </p:pic>
      <p:sp>
        <p:nvSpPr>
          <p:cNvPr id="21" name="Text 18"/>
          <p:cNvSpPr txBox="1"/>
          <p:nvPr/>
        </p:nvSpPr>
        <p:spPr>
          <a:xfrm>
            <a:off x="5166360" y="4041648"/>
            <a:ext cx="6366967" cy="1920240"/>
          </a:xfrm>
          <a:prstGeom prst="rect">
            <a:avLst/>
          </a:prstGeom>
          <a:noFill/>
          <a:ln/>
        </p:spPr>
        <p:txBody>
          <a:bodyPr wrap="square" lIns="0" tIns="0" rIns="0" bIns="0" rtlCol="0" anchor="ctr"/>
          <a:lstStyle/>
          <a:p>
            <a:pPr indent="0" marL="0">
              <a:lnSpc>
                <a:spcPts val="1900"/>
              </a:lnSpc>
              <a:buNone/>
            </a:pPr>
            <a:r>
              <a:rPr lang="en-US" sz="1250" dirty="0">
                <a:solidFill>
                  <a:srgbClr val="6A6875"/>
                </a:solidFill>
                <a:latin typeface="Calibri" pitchFamily="34" charset="0"/>
                <a:ea typeface="Calibri" pitchFamily="34" charset="-122"/>
                <a:cs typeface="Calibri" pitchFamily="34" charset="-120"/>
              </a:rPr>
              <a:t>The explorer, open on one strategy. Colour is the kind of node; the arrows are the sixteen relationship types, coloured by family. Neighbours are one click away, and the whole state of the view lives in the URL — which is what lets an assistant hand you a picture of what it just said.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5</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MATERIAL</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Fifty-four videos, and a receipt on every claim</a:t>
            </a:r>
            <a:endParaRPr lang="en-US" sz="3200" dirty="0"/>
          </a:p>
        </p:txBody>
      </p:sp>
      <p:sp>
        <p:nvSpPr>
          <p:cNvPr id="5" name="Text 3"/>
          <p:cNvSpPr txBox="1"/>
          <p:nvPr/>
        </p:nvSpPr>
        <p:spPr>
          <a:xfrm>
            <a:off x="65836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54</a:t>
            </a:r>
            <a:endParaRPr lang="en-US" sz="3600" dirty="0"/>
          </a:p>
        </p:txBody>
      </p:sp>
      <p:sp>
        <p:nvSpPr>
          <p:cNvPr id="6" name="Text 4"/>
          <p:cNvSpPr txBox="1"/>
          <p:nvPr/>
        </p:nvSpPr>
        <p:spPr>
          <a:xfrm>
            <a:off x="65836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videos mined,</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none reproduced</a:t>
            </a:r>
            <a:endParaRPr lang="en-US" sz="1050" dirty="0"/>
          </a:p>
        </p:txBody>
      </p:sp>
      <p:sp>
        <p:nvSpPr>
          <p:cNvPr id="7" name="Text 5"/>
          <p:cNvSpPr txBox="1"/>
          <p:nvPr/>
        </p:nvSpPr>
        <p:spPr>
          <a:xfrm>
            <a:off x="276148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590</a:t>
            </a:r>
            <a:endParaRPr lang="en-US" sz="3600" dirty="0"/>
          </a:p>
        </p:txBody>
      </p:sp>
      <p:sp>
        <p:nvSpPr>
          <p:cNvPr id="8" name="Text 6"/>
          <p:cNvSpPr txBox="1"/>
          <p:nvPr/>
        </p:nvSpPr>
        <p:spPr>
          <a:xfrm>
            <a:off x="276148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nodes, each with</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a page and an id</a:t>
            </a:r>
            <a:endParaRPr lang="en-US" sz="1050" dirty="0"/>
          </a:p>
        </p:txBody>
      </p:sp>
      <p:sp>
        <p:nvSpPr>
          <p:cNvPr id="9" name="Text 7"/>
          <p:cNvSpPr txBox="1"/>
          <p:nvPr/>
        </p:nvSpPr>
        <p:spPr>
          <a:xfrm>
            <a:off x="486460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2290</a:t>
            </a:r>
            <a:endParaRPr lang="en-US" sz="3600" dirty="0"/>
          </a:p>
        </p:txBody>
      </p:sp>
      <p:sp>
        <p:nvSpPr>
          <p:cNvPr id="10" name="Text 8"/>
          <p:cNvSpPr txBox="1"/>
          <p:nvPr/>
        </p:nvSpPr>
        <p:spPr>
          <a:xfrm>
            <a:off x="486460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typed edges between</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them</a:t>
            </a:r>
            <a:endParaRPr lang="en-US" sz="1050" dirty="0"/>
          </a:p>
        </p:txBody>
      </p:sp>
      <p:sp>
        <p:nvSpPr>
          <p:cNvPr id="11" name="Text 9"/>
          <p:cNvSpPr txBox="1"/>
          <p:nvPr/>
        </p:nvSpPr>
        <p:spPr>
          <a:xfrm>
            <a:off x="696772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542</a:t>
            </a:r>
            <a:endParaRPr lang="en-US" sz="3600" dirty="0"/>
          </a:p>
        </p:txBody>
      </p:sp>
      <p:sp>
        <p:nvSpPr>
          <p:cNvPr id="12" name="Text 10"/>
          <p:cNvSpPr txBox="1"/>
          <p:nvPr/>
        </p:nvSpPr>
        <p:spPr>
          <a:xfrm>
            <a:off x="696772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edges carrying a video</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and a second</a:t>
            </a:r>
            <a:endParaRPr lang="en-US" sz="1050" dirty="0"/>
          </a:p>
        </p:txBody>
      </p:sp>
      <p:sp>
        <p:nvSpPr>
          <p:cNvPr id="13" name="Text 11"/>
          <p:cNvSpPr txBox="1"/>
          <p:nvPr/>
        </p:nvSpPr>
        <p:spPr>
          <a:xfrm>
            <a:off x="658368" y="3200400"/>
            <a:ext cx="5120640"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Where each idea comes from</a:t>
            </a:r>
            <a:endParaRPr lang="en-US" sz="1500" dirty="0"/>
          </a:p>
        </p:txBody>
      </p:sp>
      <p:sp>
        <p:nvSpPr>
          <p:cNvPr id="14" name="Text 12"/>
          <p:cNvSpPr txBox="1"/>
          <p:nvPr/>
        </p:nvSpPr>
        <p:spPr>
          <a:xfrm>
            <a:off x="658368" y="3566160"/>
            <a:ext cx="5120640" cy="128016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Every node records whether the idea is standard attachment literature, Priebe’s own framing, or a connection drawn here. It is a provenance label, not a confidence score — a Priebe-only graph faithfully recording her claim is doing its job.</a:t>
            </a:r>
            <a:endParaRPr lang="en-US" sz="1250" dirty="0"/>
          </a:p>
        </p:txBody>
      </p:sp>
      <p:sp>
        <p:nvSpPr>
          <p:cNvPr id="15" name="Text 13"/>
          <p:cNvSpPr txBox="1"/>
          <p:nvPr/>
        </p:nvSpPr>
        <p:spPr>
          <a:xfrm>
            <a:off x="658368" y="4983480"/>
            <a:ext cx="5120640" cy="109728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The transcripts themselves are working input only. They are gitignored, never committed and never published, and no note reproduces her words — every note paraphrases and links back to the moment.</a:t>
            </a:r>
            <a:endParaRPr lang="en-US" sz="1250" dirty="0"/>
          </a:p>
        </p:txBody>
      </p:sp>
      <p:graphicFrame>
        <p:nvGraphicFramePr>
          <p:cNvPr id="16" name="Chart 0" descr=""/>
          <p:cNvGraphicFramePr/>
          <p:nvPr/>
        </p:nvGraphicFramePr>
        <p:xfrm>
          <a:off x="6309360" y="2651760"/>
          <a:ext cx="5394960" cy="35661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6</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ANATOMY</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What one node holds</a:t>
            </a:r>
            <a:endParaRPr lang="en-US" sz="3200" dirty="0"/>
          </a:p>
        </p:txBody>
      </p:sp>
      <p:sp>
        <p:nvSpPr>
          <p:cNvPr id="5" name="Shape 3"/>
          <p:cNvSpPr/>
          <p:nvPr/>
        </p:nvSpPr>
        <p:spPr>
          <a:xfrm>
            <a:off x="658368" y="1417320"/>
            <a:ext cx="5577840" cy="4480560"/>
          </a:xfrm>
          <a:prstGeom prst="roundRect">
            <a:avLst>
              <a:gd name="adj" fmla="val 1633"/>
            </a:avLst>
          </a:prstGeom>
          <a:solidFill>
            <a:srgbClr val="FFFFFF"/>
          </a:solidFill>
          <a:ln w="9525">
            <a:solidFill>
              <a:srgbClr val="E5E2E8"/>
            </a:solidFill>
            <a:prstDash val="solid"/>
          </a:ln>
        </p:spPr>
      </p:sp>
      <p:sp>
        <p:nvSpPr>
          <p:cNvPr id="6" name="Shape 4"/>
          <p:cNvSpPr/>
          <p:nvPr/>
        </p:nvSpPr>
        <p:spPr>
          <a:xfrm>
            <a:off x="978408" y="1737360"/>
            <a:ext cx="219456" cy="219456"/>
          </a:xfrm>
          <a:prstGeom prst="ellipse">
            <a:avLst/>
          </a:prstGeom>
          <a:solidFill>
            <a:srgbClr val="E04F86"/>
          </a:solidFill>
          <a:ln w="12700">
            <a:solidFill>
              <a:srgbClr val="333333"/>
            </a:solidFill>
            <a:prstDash val="solid"/>
          </a:ln>
        </p:spPr>
      </p:sp>
      <p:sp>
        <p:nvSpPr>
          <p:cNvPr id="7" name="Text 5"/>
          <p:cNvSpPr txBox="1"/>
          <p:nvPr/>
        </p:nvSpPr>
        <p:spPr>
          <a:xfrm>
            <a:off x="1316736" y="1682496"/>
            <a:ext cx="4663440" cy="329184"/>
          </a:xfrm>
          <a:prstGeom prst="rect">
            <a:avLst/>
          </a:prstGeom>
          <a:noFill/>
          <a:ln/>
        </p:spPr>
        <p:txBody>
          <a:bodyPr wrap="square" lIns="0" tIns="0" rIns="0" bIns="0" rtlCol="0" anchor="ctr"/>
          <a:lstStyle/>
          <a:p>
            <a:pPr indent="0" marL="0">
              <a:buNone/>
            </a:pPr>
            <a:r>
              <a:rPr lang="en-US" sz="1900" b="1" dirty="0">
                <a:solidFill>
                  <a:srgbClr val="22222A"/>
                </a:solidFill>
                <a:latin typeface="Cambria" pitchFamily="34" charset="0"/>
                <a:ea typeface="Cambria" pitchFamily="34" charset="-122"/>
                <a:cs typeface="Cambria" pitchFamily="34" charset="-120"/>
              </a:rPr>
              <a:t>Hyperactivating Strategies</a:t>
            </a:r>
            <a:endParaRPr lang="en-US" sz="1900" dirty="0"/>
          </a:p>
        </p:txBody>
      </p:sp>
      <p:sp>
        <p:nvSpPr>
          <p:cNvPr id="8" name="Text 6"/>
          <p:cNvSpPr txBox="1"/>
          <p:nvPr/>
        </p:nvSpPr>
        <p:spPr>
          <a:xfrm>
            <a:off x="978408" y="2103120"/>
            <a:ext cx="4937760" cy="237744"/>
          </a:xfrm>
          <a:prstGeom prst="rect">
            <a:avLst/>
          </a:prstGeom>
          <a:noFill/>
          <a:ln/>
        </p:spPr>
        <p:txBody>
          <a:bodyPr wrap="square" lIns="0" tIns="0" rIns="0" bIns="0" rtlCol="0" anchor="ctr"/>
          <a:lstStyle/>
          <a:p>
            <a:pPr indent="0" marL="0">
              <a:buNone/>
            </a:pPr>
            <a:r>
              <a:rPr lang="en-US" sz="1050" dirty="0">
                <a:solidFill>
                  <a:srgbClr val="807C8A"/>
                </a:solidFill>
                <a:latin typeface="Calibri" pitchFamily="34" charset="0"/>
                <a:ea typeface="Calibri" pitchFamily="34" charset="-122"/>
                <a:cs typeface="Calibri" pitchFamily="34" charset="-120"/>
              </a:rPr>
              <a:t>strategy   ·   literature   ·   6 videos   ·   10 neighbours</a:t>
            </a:r>
            <a:endParaRPr lang="en-US" sz="1050" dirty="0"/>
          </a:p>
        </p:txBody>
      </p:sp>
      <p:sp>
        <p:nvSpPr>
          <p:cNvPr id="9" name="Text 7"/>
          <p:cNvSpPr txBox="1"/>
          <p:nvPr/>
        </p:nvSpPr>
        <p:spPr>
          <a:xfrm>
            <a:off x="978408" y="2432304"/>
            <a:ext cx="4937760" cy="1005840"/>
          </a:xfrm>
          <a:prstGeom prst="rect">
            <a:avLst/>
          </a:prstGeom>
          <a:noFill/>
          <a:ln/>
        </p:spPr>
        <p:txBody>
          <a:bodyPr wrap="square" lIns="0" tIns="0" rIns="0" bIns="0" rtlCol="0" anchor="ctr"/>
          <a:lstStyle/>
          <a:p>
            <a:pPr indent="0" marL="0">
              <a:lnSpc>
                <a:spcPts val="1700"/>
              </a:lnSpc>
              <a:buNone/>
            </a:pPr>
            <a:r>
              <a:rPr lang="en-US" sz="1200" dirty="0">
                <a:solidFill>
                  <a:srgbClr val="6A6875"/>
                </a:solidFill>
                <a:latin typeface="Calibri" pitchFamily="34" charset="0"/>
                <a:ea typeface="Calibri" pitchFamily="34" charset="-122"/>
                <a:cs typeface="Calibri" pitchFamily="34" charset="-120"/>
              </a:rPr>
              <a:t>The anxious counterpart. The same growing dependency that sends the avoidant system scanning for cost sends this one scanning for signs the bond is at risk, because what it cannot afford to lose is the…</a:t>
            </a:r>
            <a:endParaRPr lang="en-US" sz="1200" dirty="0"/>
          </a:p>
        </p:txBody>
      </p:sp>
      <p:sp>
        <p:nvSpPr>
          <p:cNvPr id="10" name="Text 8"/>
          <p:cNvSpPr txBox="1"/>
          <p:nvPr/>
        </p:nvSpPr>
        <p:spPr>
          <a:xfrm>
            <a:off x="978408" y="3520440"/>
            <a:ext cx="4937760" cy="201168"/>
          </a:xfrm>
          <a:prstGeom prst="rect">
            <a:avLst/>
          </a:prstGeom>
          <a:noFill/>
          <a:ln/>
        </p:spPr>
        <p:txBody>
          <a:bodyPr wrap="square" lIns="0" tIns="0" rIns="0" bIns="0" rtlCol="0" anchor="ctr"/>
          <a:lstStyle/>
          <a:p>
            <a:pPr indent="0" marL="0">
              <a:buNone/>
            </a:pPr>
            <a:r>
              <a:rPr lang="en-US" sz="900" b="1" spc="120" kern="0" dirty="0">
                <a:solidFill>
                  <a:srgbClr val="807C8A"/>
                </a:solidFill>
                <a:latin typeface="Calibri" pitchFamily="34" charset="0"/>
                <a:ea typeface="Calibri" pitchFamily="34" charset="-122"/>
                <a:cs typeface="Calibri" pitchFamily="34" charset="-120"/>
              </a:rPr>
              <a:t>ALSO KNOWN AS</a:t>
            </a:r>
            <a:endParaRPr lang="en-US" sz="900" dirty="0"/>
          </a:p>
        </p:txBody>
      </p:sp>
      <p:sp>
        <p:nvSpPr>
          <p:cNvPr id="11" name="Text 9"/>
          <p:cNvSpPr txBox="1"/>
          <p:nvPr/>
        </p:nvSpPr>
        <p:spPr>
          <a:xfrm>
            <a:off x="978408" y="3739896"/>
            <a:ext cx="4937760" cy="274320"/>
          </a:xfrm>
          <a:prstGeom prst="rect">
            <a:avLst/>
          </a:prstGeom>
          <a:noFill/>
          <a:ln/>
        </p:spPr>
        <p:txBody>
          <a:bodyPr wrap="square" lIns="0" tIns="0" rIns="0" bIns="0" rtlCol="0" anchor="ctr"/>
          <a:lstStyle/>
          <a:p>
            <a:pPr indent="0" marL="0">
              <a:buNone/>
            </a:pPr>
            <a:r>
              <a:rPr lang="en-US" sz="1100" dirty="0">
                <a:solidFill>
                  <a:srgbClr val="22222A"/>
                </a:solidFill>
                <a:latin typeface="Calibri" pitchFamily="34" charset="0"/>
                <a:ea typeface="Calibri" pitchFamily="34" charset="-122"/>
                <a:cs typeface="Calibri" pitchFamily="34" charset="-120"/>
              </a:rPr>
              <a:t>hyperactivation  ·  protest behaviour  ·  protest behavior  ·  escalating</a:t>
            </a:r>
            <a:endParaRPr lang="en-US" sz="1100" dirty="0"/>
          </a:p>
        </p:txBody>
      </p:sp>
      <p:sp>
        <p:nvSpPr>
          <p:cNvPr id="12" name="Text 10"/>
          <p:cNvSpPr txBox="1"/>
          <p:nvPr/>
        </p:nvSpPr>
        <p:spPr>
          <a:xfrm>
            <a:off x="978408" y="4169664"/>
            <a:ext cx="4937760" cy="201168"/>
          </a:xfrm>
          <a:prstGeom prst="rect">
            <a:avLst/>
          </a:prstGeom>
          <a:noFill/>
          <a:ln/>
        </p:spPr>
        <p:txBody>
          <a:bodyPr wrap="square" lIns="0" tIns="0" rIns="0" bIns="0" rtlCol="0" anchor="ctr"/>
          <a:lstStyle/>
          <a:p>
            <a:pPr indent="0" marL="0">
              <a:buNone/>
            </a:pPr>
            <a:r>
              <a:rPr lang="en-US" sz="900" b="1" spc="120" kern="0" dirty="0">
                <a:solidFill>
                  <a:srgbClr val="807C8A"/>
                </a:solidFill>
                <a:latin typeface="Calibri" pitchFamily="34" charset="0"/>
                <a:ea typeface="Calibri" pitchFamily="34" charset="-122"/>
                <a:cs typeface="Calibri" pitchFamily="34" charset="-120"/>
              </a:rPr>
              <a:t>RELATIONSHIPS</a:t>
            </a:r>
            <a:endParaRPr lang="en-US" sz="900" dirty="0"/>
          </a:p>
        </p:txBody>
      </p:sp>
      <p:sp>
        <p:nvSpPr>
          <p:cNvPr id="13" name="Text 11"/>
          <p:cNvSpPr txBox="1"/>
          <p:nvPr/>
        </p:nvSpPr>
        <p:spPr>
          <a:xfrm>
            <a:off x="978408" y="4407408"/>
            <a:ext cx="4937760" cy="256032"/>
          </a:xfrm>
          <a:prstGeom prst="rect">
            <a:avLst/>
          </a:prstGeom>
          <a:noFill/>
          <a:ln/>
        </p:spPr>
        <p:txBody>
          <a:bodyPr wrap="square" lIns="0" tIns="0" rIns="0" bIns="0" rtlCol="0" anchor="ctr"/>
          <a:lstStyle/>
          <a:p>
            <a:pPr indent="0" marL="0">
              <a:buNone/>
            </a:pPr>
            <a:r>
              <a:rPr lang="en-US" sz="1000" b="1" dirty="0">
                <a:solidFill>
                  <a:srgbClr val="5B83E8"/>
                </a:solidFill>
                <a:latin typeface="Courier New" pitchFamily="34" charset="0"/>
                <a:ea typeface="Courier New" pitchFamily="34" charset="-122"/>
                <a:cs typeface="Courier New" pitchFamily="34" charset="-120"/>
              </a:rPr>
              <a:t>characterizes</a:t>
            </a:r>
            <a:pPr indent="0" marL="0">
              <a:buNone/>
            </a:pPr>
            <a:r>
              <a:rPr lang="en-US" sz="1100" dirty="0">
                <a:solidFill>
                  <a:srgbClr val="22222A"/>
                </a:solidFill>
                <a:latin typeface="Calibri" pitchFamily="34" charset="0"/>
                <a:ea typeface="Calibri" pitchFamily="34" charset="-122"/>
                <a:cs typeface="Calibri" pitchFamily="34" charset="-120"/>
              </a:rPr>
              <a:t>  Anxious-Preoccupied @365s</a:t>
            </a:r>
            <a:endParaRPr lang="en-US" sz="1000" dirty="0"/>
          </a:p>
        </p:txBody>
      </p:sp>
      <p:sp>
        <p:nvSpPr>
          <p:cNvPr id="14" name="Text 12"/>
          <p:cNvSpPr txBox="1"/>
          <p:nvPr/>
        </p:nvSpPr>
        <p:spPr>
          <a:xfrm>
            <a:off x="978408" y="4690872"/>
            <a:ext cx="4937760" cy="256032"/>
          </a:xfrm>
          <a:prstGeom prst="rect">
            <a:avLst/>
          </a:prstGeom>
          <a:noFill/>
          <a:ln/>
        </p:spPr>
        <p:txBody>
          <a:bodyPr wrap="square" lIns="0" tIns="0" rIns="0" bIns="0" rtlCol="0" anchor="ctr"/>
          <a:lstStyle/>
          <a:p>
            <a:pPr indent="0" marL="0">
              <a:buNone/>
            </a:pPr>
            <a:r>
              <a:rPr lang="en-US" sz="1000" b="1" dirty="0">
                <a:solidFill>
                  <a:srgbClr val="5B83E8"/>
                </a:solidFill>
                <a:latin typeface="Courier New" pitchFamily="34" charset="0"/>
                <a:ea typeface="Courier New" pitchFamily="34" charset="-122"/>
                <a:cs typeface="Courier New" pitchFamily="34" charset="-120"/>
              </a:rPr>
              <a:t>mirrors</a:t>
            </a:r>
            <a:pPr indent="0" marL="0">
              <a:buNone/>
            </a:pPr>
            <a:r>
              <a:rPr lang="en-US" sz="1100" dirty="0">
                <a:solidFill>
                  <a:srgbClr val="22222A"/>
                </a:solidFill>
                <a:latin typeface="Calibri" pitchFamily="34" charset="0"/>
                <a:ea typeface="Calibri" pitchFamily="34" charset="-122"/>
                <a:cs typeface="Calibri" pitchFamily="34" charset="-120"/>
              </a:rPr>
              <a:t>  Deactivating Strategies @365s</a:t>
            </a:r>
            <a:endParaRPr lang="en-US" sz="1000" dirty="0"/>
          </a:p>
        </p:txBody>
      </p:sp>
      <p:sp>
        <p:nvSpPr>
          <p:cNvPr id="15" name="Text 13"/>
          <p:cNvSpPr txBox="1"/>
          <p:nvPr/>
        </p:nvSpPr>
        <p:spPr>
          <a:xfrm>
            <a:off x="978408" y="4974336"/>
            <a:ext cx="4937760" cy="256032"/>
          </a:xfrm>
          <a:prstGeom prst="rect">
            <a:avLst/>
          </a:prstGeom>
          <a:noFill/>
          <a:ln/>
        </p:spPr>
        <p:txBody>
          <a:bodyPr wrap="square" lIns="0" tIns="0" rIns="0" bIns="0" rtlCol="0" anchor="ctr"/>
          <a:lstStyle/>
          <a:p>
            <a:pPr indent="0" marL="0">
              <a:buNone/>
            </a:pPr>
            <a:r>
              <a:rPr lang="en-US" sz="1000" b="1" dirty="0">
                <a:solidFill>
                  <a:srgbClr val="EDA72C"/>
                </a:solidFill>
                <a:latin typeface="Courier New" pitchFamily="34" charset="0"/>
                <a:ea typeface="Courier New" pitchFamily="34" charset="-122"/>
                <a:cs typeface="Courier New" pitchFamily="34" charset="-120"/>
              </a:rPr>
              <a:t>originates_in</a:t>
            </a:r>
            <a:pPr indent="0" marL="0">
              <a:buNone/>
            </a:pPr>
            <a:r>
              <a:rPr lang="en-US" sz="1100" dirty="0">
                <a:solidFill>
                  <a:srgbClr val="22222A"/>
                </a:solidFill>
                <a:latin typeface="Calibri" pitchFamily="34" charset="0"/>
                <a:ea typeface="Calibri" pitchFamily="34" charset="-122"/>
                <a:cs typeface="Calibri" pitchFamily="34" charset="-120"/>
              </a:rPr>
              <a:t>  Inconsistent Responsiveness @67s</a:t>
            </a:r>
            <a:endParaRPr lang="en-US" sz="1000" dirty="0"/>
          </a:p>
        </p:txBody>
      </p:sp>
      <p:sp>
        <p:nvSpPr>
          <p:cNvPr id="16" name="Text 14"/>
          <p:cNvSpPr txBox="1"/>
          <p:nvPr/>
        </p:nvSpPr>
        <p:spPr>
          <a:xfrm>
            <a:off x="978408" y="5257800"/>
            <a:ext cx="4937760" cy="256032"/>
          </a:xfrm>
          <a:prstGeom prst="rect">
            <a:avLst/>
          </a:prstGeom>
          <a:noFill/>
          <a:ln/>
        </p:spPr>
        <p:txBody>
          <a:bodyPr wrap="square" lIns="0" tIns="0" rIns="0" bIns="0" rtlCol="0" anchor="ctr"/>
          <a:lstStyle/>
          <a:p>
            <a:pPr indent="0" marL="0">
              <a:buNone/>
            </a:pPr>
            <a:r>
              <a:rPr lang="en-US" sz="1000" b="1" dirty="0">
                <a:solidFill>
                  <a:srgbClr val="EDA72C"/>
                </a:solidFill>
                <a:latin typeface="Courier New" pitchFamily="34" charset="0"/>
                <a:ea typeface="Courier New" pitchFamily="34" charset="-122"/>
                <a:cs typeface="Courier New" pitchFamily="34" charset="-120"/>
              </a:rPr>
              <a:t>manifests_as</a:t>
            </a:r>
            <a:pPr indent="0" marL="0">
              <a:buNone/>
            </a:pPr>
            <a:r>
              <a:rPr lang="en-US" sz="1100" dirty="0">
                <a:solidFill>
                  <a:srgbClr val="22222A"/>
                </a:solidFill>
                <a:latin typeface="Calibri" pitchFamily="34" charset="0"/>
                <a:ea typeface="Calibri" pitchFamily="34" charset="-122"/>
                <a:cs typeface="Calibri" pitchFamily="34" charset="-120"/>
              </a:rPr>
              <a:t>  Escalating Anger @430s</a:t>
            </a:r>
            <a:endParaRPr lang="en-US" sz="1000" dirty="0"/>
          </a:p>
        </p:txBody>
      </p:sp>
      <p:sp>
        <p:nvSpPr>
          <p:cNvPr id="17" name="Text 15"/>
          <p:cNvSpPr txBox="1"/>
          <p:nvPr/>
        </p:nvSpPr>
        <p:spPr>
          <a:xfrm>
            <a:off x="978408" y="5541264"/>
            <a:ext cx="4937760" cy="256032"/>
          </a:xfrm>
          <a:prstGeom prst="rect">
            <a:avLst/>
          </a:prstGeom>
          <a:noFill/>
          <a:ln/>
        </p:spPr>
        <p:txBody>
          <a:bodyPr wrap="square" lIns="0" tIns="0" rIns="0" bIns="0" rtlCol="0" anchor="ctr"/>
          <a:lstStyle/>
          <a:p>
            <a:pPr indent="0" marL="0">
              <a:buNone/>
            </a:pPr>
            <a:r>
              <a:rPr lang="en-US" sz="1000" b="1" dirty="0">
                <a:solidFill>
                  <a:srgbClr val="EDA72C"/>
                </a:solidFill>
                <a:latin typeface="Courier New" pitchFamily="34" charset="0"/>
                <a:ea typeface="Courier New" pitchFamily="34" charset="-122"/>
                <a:cs typeface="Courier New" pitchFamily="34" charset="-120"/>
              </a:rPr>
              <a:t>manifests_as</a:t>
            </a:r>
            <a:pPr indent="0" marL="0">
              <a:buNone/>
            </a:pPr>
            <a:r>
              <a:rPr lang="en-US" sz="1100" dirty="0">
                <a:solidFill>
                  <a:srgbClr val="22222A"/>
                </a:solidFill>
                <a:latin typeface="Calibri" pitchFamily="34" charset="0"/>
                <a:ea typeface="Calibri" pitchFamily="34" charset="-122"/>
                <a:cs typeface="Calibri" pitchFamily="34" charset="-120"/>
              </a:rPr>
              <a:t>  Returning To The Relationship @502s</a:t>
            </a:r>
            <a:endParaRPr lang="en-US" sz="1000" dirty="0"/>
          </a:p>
        </p:txBody>
      </p:sp>
      <p:sp>
        <p:nvSpPr>
          <p:cNvPr id="18" name="Text 16"/>
          <p:cNvSpPr txBox="1"/>
          <p:nvPr/>
        </p:nvSpPr>
        <p:spPr>
          <a:xfrm>
            <a:off x="6583680" y="1572768"/>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A stable id</a:t>
            </a:r>
            <a:endParaRPr lang="en-US" sz="1350" dirty="0"/>
          </a:p>
        </p:txBody>
      </p:sp>
      <p:sp>
        <p:nvSpPr>
          <p:cNvPr id="19" name="Text 17"/>
          <p:cNvSpPr txBox="1"/>
          <p:nvPr/>
        </p:nvSpPr>
        <p:spPr>
          <a:xfrm>
            <a:off x="6583680" y="1847088"/>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strategies/hyperactivating-strategies — the same string names it in the JSON, in a URL and on the site.</a:t>
            </a:r>
            <a:endParaRPr lang="en-US" sz="1150" dirty="0"/>
          </a:p>
        </p:txBody>
      </p:sp>
      <p:sp>
        <p:nvSpPr>
          <p:cNvPr id="20" name="Text 18"/>
          <p:cNvSpPr txBox="1"/>
          <p:nvPr/>
        </p:nvSpPr>
        <p:spPr>
          <a:xfrm>
            <a:off x="6583680" y="2706624"/>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Aliases</a:t>
            </a:r>
            <a:endParaRPr lang="en-US" sz="1350" dirty="0"/>
          </a:p>
        </p:txBody>
      </p:sp>
      <p:sp>
        <p:nvSpPr>
          <p:cNvPr id="21" name="Text 19"/>
          <p:cNvSpPr txBox="1"/>
          <p:nvPr/>
        </p:nvSpPr>
        <p:spPr>
          <a:xfrm>
            <a:off x="6583680" y="2980944"/>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So a search for "protest behaviour" or "chasing connection" lands on it, and so an assistant can resolve a name it was given loosely.</a:t>
            </a:r>
            <a:endParaRPr lang="en-US" sz="1150" dirty="0"/>
          </a:p>
        </p:txBody>
      </p:sp>
      <p:sp>
        <p:nvSpPr>
          <p:cNvPr id="22" name="Text 20"/>
          <p:cNvSpPr txBox="1"/>
          <p:nvPr/>
        </p:nvSpPr>
        <p:spPr>
          <a:xfrm>
            <a:off x="6583680" y="3840480"/>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A lens per style</a:t>
            </a:r>
            <a:endParaRPr lang="en-US" sz="1350" dirty="0"/>
          </a:p>
        </p:txBody>
      </p:sp>
      <p:sp>
        <p:nvSpPr>
          <p:cNvPr id="23" name="Text 21"/>
          <p:cNvSpPr txBox="1"/>
          <p:nvPr/>
        </p:nvSpPr>
        <p:spPr>
          <a:xfrm>
            <a:off x="6583680" y="4114800"/>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core for anxious-preoccupied, alternating for fearful-avoidant, absent for the other two. The same topology reads differently through each.</a:t>
            </a:r>
            <a:endParaRPr lang="en-US" sz="1150" dirty="0"/>
          </a:p>
        </p:txBody>
      </p:sp>
      <p:sp>
        <p:nvSpPr>
          <p:cNvPr id="24" name="Text 22"/>
          <p:cNvSpPr txBox="1"/>
          <p:nvPr/>
        </p:nvSpPr>
        <p:spPr>
          <a:xfrm>
            <a:off x="6583680" y="4974336"/>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Typed, cited edges</a:t>
            </a:r>
            <a:endParaRPr lang="en-US" sz="1350" dirty="0"/>
          </a:p>
        </p:txBody>
      </p:sp>
      <p:sp>
        <p:nvSpPr>
          <p:cNvPr id="25" name="Text 23"/>
          <p:cNvSpPr txBox="1"/>
          <p:nvPr/>
        </p:nvSpPr>
        <p:spPr>
          <a:xfrm>
            <a:off x="6583680" y="5248656"/>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Not "see also". mirrors → Deactivating Strategies, at 6:05 of a named video.</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7</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VOCABULARY</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Eleven kinds of node</a:t>
            </a:r>
            <a:endParaRPr lang="en-US" sz="3200" dirty="0"/>
          </a:p>
        </p:txBody>
      </p:sp>
      <p:sp>
        <p:nvSpPr>
          <p:cNvPr id="5" name="Text 3"/>
          <p:cNvSpPr txBox="1"/>
          <p:nvPr/>
        </p:nvSpPr>
        <p:spPr>
          <a:xfrm>
            <a:off x="658368" y="1609344"/>
            <a:ext cx="8482468" cy="36576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A closed list. Nothing gets written into the graph that does not fit it, and the validator refuses anything that does not.</a:t>
            </a:r>
            <a:endParaRPr lang="en-US" sz="1450" dirty="0"/>
          </a:p>
        </p:txBody>
      </p:sp>
      <p:sp>
        <p:nvSpPr>
          <p:cNvPr id="6" name="Shape 4"/>
          <p:cNvSpPr/>
          <p:nvPr/>
        </p:nvSpPr>
        <p:spPr>
          <a:xfrm>
            <a:off x="658368" y="2340864"/>
            <a:ext cx="182880" cy="182880"/>
          </a:xfrm>
          <a:prstGeom prst="ellipse">
            <a:avLst/>
          </a:prstGeom>
          <a:solidFill>
            <a:srgbClr val="F2643E"/>
          </a:solidFill>
          <a:ln w="12700">
            <a:solidFill>
              <a:srgbClr val="333333"/>
            </a:solidFill>
            <a:prstDash val="solid"/>
          </a:ln>
        </p:spPr>
      </p:sp>
      <p:sp>
        <p:nvSpPr>
          <p:cNvPr id="7" name="Text 5"/>
          <p:cNvSpPr txBox="1"/>
          <p:nvPr/>
        </p:nvSpPr>
        <p:spPr>
          <a:xfrm>
            <a:off x="950976" y="2286000"/>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trigger</a:t>
            </a:r>
            <a:pPr indent="0" marL="0">
              <a:buNone/>
            </a:pPr>
            <a:r>
              <a:rPr lang="en-US" sz="1200" b="1" dirty="0">
                <a:solidFill>
                  <a:srgbClr val="F2643E"/>
                </a:solidFill>
                <a:latin typeface="Calibri" pitchFamily="34" charset="0"/>
                <a:ea typeface="Calibri" pitchFamily="34" charset="-122"/>
                <a:cs typeface="Calibri" pitchFamily="34" charset="-120"/>
              </a:rPr>
              <a:t>   4</a:t>
            </a:r>
            <a:endParaRPr lang="en-US" sz="1400" dirty="0"/>
          </a:p>
        </p:txBody>
      </p:sp>
      <p:sp>
        <p:nvSpPr>
          <p:cNvPr id="8" name="Text 6"/>
          <p:cNvSpPr txBox="1"/>
          <p:nvPr/>
        </p:nvSpPr>
        <p:spPr>
          <a:xfrm>
            <a:off x="950976" y="2560320"/>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sets the system off</a:t>
            </a:r>
            <a:endParaRPr lang="en-US" sz="1100" dirty="0"/>
          </a:p>
        </p:txBody>
      </p:sp>
      <p:sp>
        <p:nvSpPr>
          <p:cNvPr id="9" name="Shape 7"/>
          <p:cNvSpPr/>
          <p:nvPr/>
        </p:nvSpPr>
        <p:spPr>
          <a:xfrm>
            <a:off x="4453128" y="2340864"/>
            <a:ext cx="182880" cy="182880"/>
          </a:xfrm>
          <a:prstGeom prst="ellipse">
            <a:avLst/>
          </a:prstGeom>
          <a:solidFill>
            <a:srgbClr val="EDA72C"/>
          </a:solidFill>
          <a:ln w="12700">
            <a:solidFill>
              <a:srgbClr val="333333"/>
            </a:solidFill>
            <a:prstDash val="solid"/>
          </a:ln>
        </p:spPr>
      </p:sp>
      <p:sp>
        <p:nvSpPr>
          <p:cNvPr id="10" name="Text 8"/>
          <p:cNvSpPr txBox="1"/>
          <p:nvPr/>
        </p:nvSpPr>
        <p:spPr>
          <a:xfrm>
            <a:off x="4745736" y="2286000"/>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state</a:t>
            </a:r>
            <a:pPr indent="0" marL="0">
              <a:buNone/>
            </a:pPr>
            <a:r>
              <a:rPr lang="en-US" sz="1200" b="1" dirty="0">
                <a:solidFill>
                  <a:srgbClr val="EDA72C"/>
                </a:solidFill>
                <a:latin typeface="Calibri" pitchFamily="34" charset="0"/>
                <a:ea typeface="Calibri" pitchFamily="34" charset="-122"/>
                <a:cs typeface="Calibri" pitchFamily="34" charset="-120"/>
              </a:rPr>
              <a:t>   26</a:t>
            </a:r>
            <a:endParaRPr lang="en-US" sz="1400" dirty="0"/>
          </a:p>
        </p:txBody>
      </p:sp>
      <p:sp>
        <p:nvSpPr>
          <p:cNvPr id="11" name="Text 9"/>
          <p:cNvSpPr txBox="1"/>
          <p:nvPr/>
        </p:nvSpPr>
        <p:spPr>
          <a:xfrm>
            <a:off x="4745736" y="2560320"/>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is felt underneath</a:t>
            </a:r>
            <a:endParaRPr lang="en-US" sz="1100" dirty="0"/>
          </a:p>
        </p:txBody>
      </p:sp>
      <p:sp>
        <p:nvSpPr>
          <p:cNvPr id="12" name="Shape 10"/>
          <p:cNvSpPr/>
          <p:nvPr/>
        </p:nvSpPr>
        <p:spPr>
          <a:xfrm>
            <a:off x="8247888" y="2340864"/>
            <a:ext cx="182880" cy="182880"/>
          </a:xfrm>
          <a:prstGeom prst="ellipse">
            <a:avLst/>
          </a:prstGeom>
          <a:solidFill>
            <a:srgbClr val="E04F86"/>
          </a:solidFill>
          <a:ln w="12700">
            <a:solidFill>
              <a:srgbClr val="333333"/>
            </a:solidFill>
            <a:prstDash val="solid"/>
          </a:ln>
        </p:spPr>
      </p:sp>
      <p:sp>
        <p:nvSpPr>
          <p:cNvPr id="13" name="Text 11"/>
          <p:cNvSpPr txBox="1"/>
          <p:nvPr/>
        </p:nvSpPr>
        <p:spPr>
          <a:xfrm>
            <a:off x="8540496" y="2286000"/>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strategy</a:t>
            </a:r>
            <a:pPr indent="0" marL="0">
              <a:buNone/>
            </a:pPr>
            <a:r>
              <a:rPr lang="en-US" sz="1200" b="1" dirty="0">
                <a:solidFill>
                  <a:srgbClr val="E04F86"/>
                </a:solidFill>
                <a:latin typeface="Calibri" pitchFamily="34" charset="0"/>
                <a:ea typeface="Calibri" pitchFamily="34" charset="-122"/>
                <a:cs typeface="Calibri" pitchFamily="34" charset="-120"/>
              </a:rPr>
              <a:t>   21</a:t>
            </a:r>
            <a:endParaRPr lang="en-US" sz="1400" dirty="0"/>
          </a:p>
        </p:txBody>
      </p:sp>
      <p:sp>
        <p:nvSpPr>
          <p:cNvPr id="14" name="Text 12"/>
          <p:cNvSpPr txBox="1"/>
          <p:nvPr/>
        </p:nvSpPr>
        <p:spPr>
          <a:xfrm>
            <a:off x="8540496" y="2560320"/>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the system does about it</a:t>
            </a:r>
            <a:endParaRPr lang="en-US" sz="1100" dirty="0"/>
          </a:p>
        </p:txBody>
      </p:sp>
      <p:sp>
        <p:nvSpPr>
          <p:cNvPr id="15" name="Shape 13"/>
          <p:cNvSpPr/>
          <p:nvPr/>
        </p:nvSpPr>
        <p:spPr>
          <a:xfrm>
            <a:off x="658368" y="3328416"/>
            <a:ext cx="182880" cy="182880"/>
          </a:xfrm>
          <a:prstGeom prst="ellipse">
            <a:avLst/>
          </a:prstGeom>
          <a:solidFill>
            <a:srgbClr val="C56AD9"/>
          </a:solidFill>
          <a:ln w="12700">
            <a:solidFill>
              <a:srgbClr val="333333"/>
            </a:solidFill>
            <a:prstDash val="solid"/>
          </a:ln>
        </p:spPr>
      </p:sp>
      <p:sp>
        <p:nvSpPr>
          <p:cNvPr id="16" name="Text 14"/>
          <p:cNvSpPr txBox="1"/>
          <p:nvPr/>
        </p:nvSpPr>
        <p:spPr>
          <a:xfrm>
            <a:off x="950976" y="3273552"/>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behavior</a:t>
            </a:r>
            <a:pPr indent="0" marL="0">
              <a:buNone/>
            </a:pPr>
            <a:r>
              <a:rPr lang="en-US" sz="1200" b="1" dirty="0">
                <a:solidFill>
                  <a:srgbClr val="C56AD9"/>
                </a:solidFill>
                <a:latin typeface="Calibri" pitchFamily="34" charset="0"/>
                <a:ea typeface="Calibri" pitchFamily="34" charset="-122"/>
                <a:cs typeface="Calibri" pitchFamily="34" charset="-120"/>
              </a:rPr>
              <a:t>   51</a:t>
            </a:r>
            <a:endParaRPr lang="en-US" sz="1400" dirty="0"/>
          </a:p>
        </p:txBody>
      </p:sp>
      <p:sp>
        <p:nvSpPr>
          <p:cNvPr id="17" name="Text 15"/>
          <p:cNvSpPr txBox="1"/>
          <p:nvPr/>
        </p:nvSpPr>
        <p:spPr>
          <a:xfrm>
            <a:off x="950976" y="3547872"/>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that looks like from outside</a:t>
            </a:r>
            <a:endParaRPr lang="en-US" sz="1100" dirty="0"/>
          </a:p>
        </p:txBody>
      </p:sp>
      <p:sp>
        <p:nvSpPr>
          <p:cNvPr id="18" name="Shape 16"/>
          <p:cNvSpPr/>
          <p:nvPr/>
        </p:nvSpPr>
        <p:spPr>
          <a:xfrm>
            <a:off x="4453128" y="3328416"/>
            <a:ext cx="182880" cy="182880"/>
          </a:xfrm>
          <a:prstGeom prst="ellipse">
            <a:avLst/>
          </a:prstGeom>
          <a:solidFill>
            <a:srgbClr val="5B83E8"/>
          </a:solidFill>
          <a:ln w="12700">
            <a:solidFill>
              <a:srgbClr val="333333"/>
            </a:solidFill>
            <a:prstDash val="solid"/>
          </a:ln>
        </p:spPr>
      </p:sp>
      <p:sp>
        <p:nvSpPr>
          <p:cNvPr id="19" name="Text 17"/>
          <p:cNvSpPr txBox="1"/>
          <p:nvPr/>
        </p:nvSpPr>
        <p:spPr>
          <a:xfrm>
            <a:off x="4745736" y="3273552"/>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belief</a:t>
            </a:r>
            <a:pPr indent="0" marL="0">
              <a:buNone/>
            </a:pPr>
            <a:r>
              <a:rPr lang="en-US" sz="1200" b="1" dirty="0">
                <a:solidFill>
                  <a:srgbClr val="5B83E8"/>
                </a:solidFill>
                <a:latin typeface="Calibri" pitchFamily="34" charset="0"/>
                <a:ea typeface="Calibri" pitchFamily="34" charset="-122"/>
                <a:cs typeface="Calibri" pitchFamily="34" charset="-120"/>
              </a:rPr>
              <a:t>   58</a:t>
            </a:r>
            <a:endParaRPr lang="en-US" sz="1400" dirty="0"/>
          </a:p>
        </p:txBody>
      </p:sp>
      <p:sp>
        <p:nvSpPr>
          <p:cNvPr id="20" name="Text 18"/>
          <p:cNvSpPr txBox="1"/>
          <p:nvPr/>
        </p:nvSpPr>
        <p:spPr>
          <a:xfrm>
            <a:off x="4745736" y="3547872"/>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The conclusion that keeps it running</a:t>
            </a:r>
            <a:endParaRPr lang="en-US" sz="1100" dirty="0"/>
          </a:p>
        </p:txBody>
      </p:sp>
      <p:sp>
        <p:nvSpPr>
          <p:cNvPr id="21" name="Shape 19"/>
          <p:cNvSpPr/>
          <p:nvPr/>
        </p:nvSpPr>
        <p:spPr>
          <a:xfrm>
            <a:off x="8247888" y="3328416"/>
            <a:ext cx="182880" cy="182880"/>
          </a:xfrm>
          <a:prstGeom prst="ellipse">
            <a:avLst/>
          </a:prstGeom>
          <a:solidFill>
            <a:srgbClr val="3C5FA8"/>
          </a:solidFill>
          <a:ln w="12700">
            <a:solidFill>
              <a:srgbClr val="333333"/>
            </a:solidFill>
            <a:prstDash val="solid"/>
          </a:ln>
        </p:spPr>
      </p:sp>
      <p:sp>
        <p:nvSpPr>
          <p:cNvPr id="22" name="Text 20"/>
          <p:cNvSpPr txBox="1"/>
          <p:nvPr/>
        </p:nvSpPr>
        <p:spPr>
          <a:xfrm>
            <a:off x="8540496" y="3273552"/>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origin</a:t>
            </a:r>
            <a:pPr indent="0" marL="0">
              <a:buNone/>
            </a:pPr>
            <a:r>
              <a:rPr lang="en-US" sz="1200" b="1" dirty="0">
                <a:solidFill>
                  <a:srgbClr val="3C5FA8"/>
                </a:solidFill>
                <a:latin typeface="Calibri" pitchFamily="34" charset="0"/>
                <a:ea typeface="Calibri" pitchFamily="34" charset="-122"/>
                <a:cs typeface="Calibri" pitchFamily="34" charset="-120"/>
              </a:rPr>
              <a:t>   13</a:t>
            </a:r>
            <a:endParaRPr lang="en-US" sz="1400" dirty="0"/>
          </a:p>
        </p:txBody>
      </p:sp>
      <p:sp>
        <p:nvSpPr>
          <p:cNvPr id="23" name="Text 21"/>
          <p:cNvSpPr txBox="1"/>
          <p:nvPr/>
        </p:nvSpPr>
        <p:spPr>
          <a:xfrm>
            <a:off x="8540496" y="3547872"/>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The developmental condition behind it</a:t>
            </a:r>
            <a:endParaRPr lang="en-US" sz="1100" dirty="0"/>
          </a:p>
        </p:txBody>
      </p:sp>
      <p:sp>
        <p:nvSpPr>
          <p:cNvPr id="24" name="Shape 22"/>
          <p:cNvSpPr/>
          <p:nvPr/>
        </p:nvSpPr>
        <p:spPr>
          <a:xfrm>
            <a:off x="658368" y="4315968"/>
            <a:ext cx="182880" cy="182880"/>
          </a:xfrm>
          <a:prstGeom prst="ellipse">
            <a:avLst/>
          </a:prstGeom>
          <a:solidFill>
            <a:srgbClr val="7A5CF0"/>
          </a:solidFill>
          <a:ln w="12700">
            <a:solidFill>
              <a:srgbClr val="333333"/>
            </a:solidFill>
            <a:prstDash val="solid"/>
          </a:ln>
        </p:spPr>
      </p:sp>
      <p:sp>
        <p:nvSpPr>
          <p:cNvPr id="25" name="Text 23"/>
          <p:cNvSpPr txBox="1"/>
          <p:nvPr/>
        </p:nvSpPr>
        <p:spPr>
          <a:xfrm>
            <a:off x="950976" y="4261104"/>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style</a:t>
            </a:r>
            <a:pPr indent="0" marL="0">
              <a:buNone/>
            </a:pPr>
            <a:r>
              <a:rPr lang="en-US" sz="1200" b="1" dirty="0">
                <a:solidFill>
                  <a:srgbClr val="7A5CF0"/>
                </a:solidFill>
                <a:latin typeface="Calibri" pitchFamily="34" charset="0"/>
                <a:ea typeface="Calibri" pitchFamily="34" charset="-122"/>
                <a:cs typeface="Calibri" pitchFamily="34" charset="-120"/>
              </a:rPr>
              <a:t>   4</a:t>
            </a:r>
            <a:endParaRPr lang="en-US" sz="1400" dirty="0"/>
          </a:p>
        </p:txBody>
      </p:sp>
      <p:sp>
        <p:nvSpPr>
          <p:cNvPr id="26" name="Text 24"/>
          <p:cNvSpPr txBox="1"/>
          <p:nvPr/>
        </p:nvSpPr>
        <p:spPr>
          <a:xfrm>
            <a:off x="950976" y="4535424"/>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The four attachment patterns</a:t>
            </a:r>
            <a:endParaRPr lang="en-US" sz="1100" dirty="0"/>
          </a:p>
        </p:txBody>
      </p:sp>
      <p:sp>
        <p:nvSpPr>
          <p:cNvPr id="27" name="Shape 25"/>
          <p:cNvSpPr/>
          <p:nvPr/>
        </p:nvSpPr>
        <p:spPr>
          <a:xfrm>
            <a:off x="4453128" y="4315968"/>
            <a:ext cx="182880" cy="182880"/>
          </a:xfrm>
          <a:prstGeom prst="ellipse">
            <a:avLst/>
          </a:prstGeom>
          <a:solidFill>
            <a:srgbClr val="2BB0A3"/>
          </a:solidFill>
          <a:ln w="12700">
            <a:solidFill>
              <a:srgbClr val="333333"/>
            </a:solidFill>
            <a:prstDash val="solid"/>
          </a:ln>
        </p:spPr>
      </p:sp>
      <p:sp>
        <p:nvSpPr>
          <p:cNvPr id="28" name="Text 26"/>
          <p:cNvSpPr txBox="1"/>
          <p:nvPr/>
        </p:nvSpPr>
        <p:spPr>
          <a:xfrm>
            <a:off x="4745736" y="4261104"/>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concept</a:t>
            </a:r>
            <a:pPr indent="0" marL="0">
              <a:buNone/>
            </a:pPr>
            <a:r>
              <a:rPr lang="en-US" sz="1200" b="1" dirty="0">
                <a:solidFill>
                  <a:srgbClr val="2BB0A3"/>
                </a:solidFill>
                <a:latin typeface="Calibri" pitchFamily="34" charset="0"/>
                <a:ea typeface="Calibri" pitchFamily="34" charset="-122"/>
                <a:cs typeface="Calibri" pitchFamily="34" charset="-120"/>
              </a:rPr>
              <a:t>   245</a:t>
            </a:r>
            <a:endParaRPr lang="en-US" sz="1400" dirty="0"/>
          </a:p>
        </p:txBody>
      </p:sp>
      <p:sp>
        <p:nvSpPr>
          <p:cNvPr id="29" name="Text 27"/>
          <p:cNvSpPr txBox="1"/>
          <p:nvPr/>
        </p:nvSpPr>
        <p:spPr>
          <a:xfrm>
            <a:off x="4745736" y="4535424"/>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A named idea in her framework</a:t>
            </a:r>
            <a:endParaRPr lang="en-US" sz="1100" dirty="0"/>
          </a:p>
        </p:txBody>
      </p:sp>
      <p:sp>
        <p:nvSpPr>
          <p:cNvPr id="30" name="Shape 28"/>
          <p:cNvSpPr/>
          <p:nvPr/>
        </p:nvSpPr>
        <p:spPr>
          <a:xfrm>
            <a:off x="8247888" y="4315968"/>
            <a:ext cx="182880" cy="182880"/>
          </a:xfrm>
          <a:prstGeom prst="ellipse">
            <a:avLst/>
          </a:prstGeom>
          <a:solidFill>
            <a:srgbClr val="5BB84F"/>
          </a:solidFill>
          <a:ln w="12700">
            <a:solidFill>
              <a:srgbClr val="333333"/>
            </a:solidFill>
            <a:prstDash val="solid"/>
          </a:ln>
        </p:spPr>
      </p:sp>
      <p:sp>
        <p:nvSpPr>
          <p:cNvPr id="31" name="Text 29"/>
          <p:cNvSpPr txBox="1"/>
          <p:nvPr/>
        </p:nvSpPr>
        <p:spPr>
          <a:xfrm>
            <a:off x="8540496" y="4261104"/>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practice</a:t>
            </a:r>
            <a:pPr indent="0" marL="0">
              <a:buNone/>
            </a:pPr>
            <a:r>
              <a:rPr lang="en-US" sz="1200" b="1" dirty="0">
                <a:solidFill>
                  <a:srgbClr val="5BB84F"/>
                </a:solidFill>
                <a:latin typeface="Calibri" pitchFamily="34" charset="0"/>
                <a:ea typeface="Calibri" pitchFamily="34" charset="-122"/>
                <a:cs typeface="Calibri" pitchFamily="34" charset="-120"/>
              </a:rPr>
              <a:t>   93</a:t>
            </a:r>
            <a:endParaRPr lang="en-US" sz="1400" dirty="0"/>
          </a:p>
        </p:txBody>
      </p:sp>
      <p:sp>
        <p:nvSpPr>
          <p:cNvPr id="32" name="Text 30"/>
          <p:cNvSpPr txBox="1"/>
          <p:nvPr/>
        </p:nvSpPr>
        <p:spPr>
          <a:xfrm>
            <a:off x="8540496" y="4535424"/>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Something you can actually do</a:t>
            </a:r>
            <a:endParaRPr lang="en-US" sz="1100" dirty="0"/>
          </a:p>
        </p:txBody>
      </p:sp>
      <p:sp>
        <p:nvSpPr>
          <p:cNvPr id="33" name="Shape 31"/>
          <p:cNvSpPr/>
          <p:nvPr/>
        </p:nvSpPr>
        <p:spPr>
          <a:xfrm>
            <a:off x="658368" y="5303520"/>
            <a:ext cx="182880" cy="182880"/>
          </a:xfrm>
          <a:prstGeom prst="ellipse">
            <a:avLst/>
          </a:prstGeom>
          <a:solidFill>
            <a:srgbClr val="8B8B96"/>
          </a:solidFill>
          <a:ln w="12700">
            <a:solidFill>
              <a:srgbClr val="333333"/>
            </a:solidFill>
            <a:prstDash val="solid"/>
          </a:ln>
        </p:spPr>
      </p:sp>
      <p:sp>
        <p:nvSpPr>
          <p:cNvPr id="34" name="Text 32"/>
          <p:cNvSpPr txBox="1"/>
          <p:nvPr/>
        </p:nvSpPr>
        <p:spPr>
          <a:xfrm>
            <a:off x="950976" y="5248656"/>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video</a:t>
            </a:r>
            <a:pPr indent="0" marL="0">
              <a:buNone/>
            </a:pPr>
            <a:r>
              <a:rPr lang="en-US" sz="1200" b="1" dirty="0">
                <a:solidFill>
                  <a:srgbClr val="8B8B96"/>
                </a:solidFill>
                <a:latin typeface="Calibri" pitchFamily="34" charset="0"/>
                <a:ea typeface="Calibri" pitchFamily="34" charset="-122"/>
                <a:cs typeface="Calibri" pitchFamily="34" charset="-120"/>
              </a:rPr>
              <a:t>   54</a:t>
            </a:r>
            <a:endParaRPr lang="en-US" sz="1400" dirty="0"/>
          </a:p>
        </p:txBody>
      </p:sp>
      <p:sp>
        <p:nvSpPr>
          <p:cNvPr id="35" name="Text 33"/>
          <p:cNvSpPr txBox="1"/>
          <p:nvPr/>
        </p:nvSpPr>
        <p:spPr>
          <a:xfrm>
            <a:off x="950976" y="5522976"/>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A source upload</a:t>
            </a:r>
            <a:endParaRPr lang="en-US" sz="1100" dirty="0"/>
          </a:p>
        </p:txBody>
      </p:sp>
      <p:sp>
        <p:nvSpPr>
          <p:cNvPr id="36" name="Shape 34"/>
          <p:cNvSpPr/>
          <p:nvPr/>
        </p:nvSpPr>
        <p:spPr>
          <a:xfrm>
            <a:off x="4453128" y="5303520"/>
            <a:ext cx="182880" cy="182880"/>
          </a:xfrm>
          <a:prstGeom prst="ellipse">
            <a:avLst/>
          </a:prstGeom>
          <a:solidFill>
            <a:srgbClr val="6F7480"/>
          </a:solidFill>
          <a:ln w="12700">
            <a:solidFill>
              <a:srgbClr val="333333"/>
            </a:solidFill>
            <a:prstDash val="solid"/>
          </a:ln>
        </p:spPr>
      </p:sp>
      <p:sp>
        <p:nvSpPr>
          <p:cNvPr id="37" name="Text 35"/>
          <p:cNvSpPr txBox="1"/>
          <p:nvPr/>
        </p:nvSpPr>
        <p:spPr>
          <a:xfrm>
            <a:off x="4745736" y="5248656"/>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source</a:t>
            </a:r>
            <a:pPr indent="0" marL="0">
              <a:buNone/>
            </a:pPr>
            <a:r>
              <a:rPr lang="en-US" sz="1200" b="1" dirty="0">
                <a:solidFill>
                  <a:srgbClr val="6F7480"/>
                </a:solidFill>
                <a:latin typeface="Calibri" pitchFamily="34" charset="0"/>
                <a:ea typeface="Calibri" pitchFamily="34" charset="-122"/>
                <a:cs typeface="Calibri" pitchFamily="34" charset="-120"/>
              </a:rPr>
              <a:t>   21</a:t>
            </a:r>
            <a:endParaRPr lang="en-US" sz="1400" dirty="0"/>
          </a:p>
        </p:txBody>
      </p:sp>
      <p:sp>
        <p:nvSpPr>
          <p:cNvPr id="38" name="Text 36"/>
          <p:cNvSpPr txBox="1"/>
          <p:nvPr/>
        </p:nvSpPr>
        <p:spPr>
          <a:xfrm>
            <a:off x="4745736" y="5522976"/>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A book or paper referenced</a:t>
            </a:r>
            <a:endParaRPr lang="en-US" sz="1100" dirty="0"/>
          </a:p>
        </p:txBody>
      </p:sp>
      <p:sp>
        <p:nvSpPr>
          <p:cNvPr id="39" name="Text 37"/>
          <p:cNvSpPr txBox="1"/>
          <p:nvPr/>
        </p:nvSpPr>
        <p:spPr>
          <a:xfrm>
            <a:off x="658368" y="6217920"/>
            <a:ext cx="10874959" cy="365760"/>
          </a:xfrm>
          <a:prstGeom prst="rect">
            <a:avLst/>
          </a:prstGeom>
          <a:noFill/>
          <a:ln/>
        </p:spPr>
        <p:txBody>
          <a:bodyPr wrap="square" lIns="0" tIns="0" rIns="0" bIns="0" rtlCol="0" anchor="ctr"/>
          <a:lstStyle/>
          <a:p>
            <a:pPr indent="0" marL="0">
              <a:buNone/>
            </a:pPr>
            <a:r>
              <a:rPr lang="en-US" sz="1200" i="1" dirty="0">
                <a:solidFill>
                  <a:srgbClr val="807C8A"/>
                </a:solidFill>
                <a:latin typeface="Calibri" pitchFamily="34" charset="0"/>
                <a:ea typeface="Calibri" pitchFamily="34" charset="-122"/>
                <a:cs typeface="Calibri" pitchFamily="34" charset="-120"/>
              </a:rPr>
              <a:t>The four styles are not categories anyone is put into. They are lenses the same material is read through.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8</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GRAMMAR</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Sixteen relationships, in five families</a:t>
            </a:r>
            <a:endParaRPr lang="en-US" sz="3200" dirty="0"/>
          </a:p>
        </p:txBody>
      </p:sp>
      <p:sp>
        <p:nvSpPr>
          <p:cNvPr id="5" name="Text 3"/>
          <p:cNvSpPr txBox="1"/>
          <p:nvPr/>
        </p:nvSpPr>
        <p:spPr>
          <a:xfrm>
            <a:off x="658368" y="1609344"/>
            <a:ext cx="8482468" cy="36576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Direction is enforced at authoring time, so it can be relied on downstream: A triggers B means A fires B, never the reverse.</a:t>
            </a:r>
            <a:endParaRPr lang="en-US" sz="1450" dirty="0"/>
          </a:p>
        </p:txBody>
      </p:sp>
      <p:sp>
        <p:nvSpPr>
          <p:cNvPr id="6" name="Shape 4"/>
          <p:cNvSpPr/>
          <p:nvPr/>
        </p:nvSpPr>
        <p:spPr>
          <a:xfrm>
            <a:off x="658368" y="2432304"/>
            <a:ext cx="164592" cy="164592"/>
          </a:xfrm>
          <a:prstGeom prst="ellipse">
            <a:avLst/>
          </a:prstGeom>
          <a:solidFill>
            <a:srgbClr val="EDA72C"/>
          </a:solidFill>
          <a:ln w="12700">
            <a:solidFill>
              <a:srgbClr val="333333"/>
            </a:solidFill>
            <a:prstDash val="solid"/>
          </a:ln>
        </p:spPr>
      </p:sp>
      <p:sp>
        <p:nvSpPr>
          <p:cNvPr id="7" name="Text 5"/>
          <p:cNvSpPr txBox="1"/>
          <p:nvPr/>
        </p:nvSpPr>
        <p:spPr>
          <a:xfrm>
            <a:off x="932688" y="2359152"/>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activation</a:t>
            </a:r>
            <a:pPr indent="0" marL="0">
              <a:buNone/>
            </a:pPr>
            <a:r>
              <a:rPr lang="en-US" sz="1150" dirty="0">
                <a:solidFill>
                  <a:srgbClr val="807C8A"/>
                </a:solidFill>
                <a:latin typeface="Calibri" pitchFamily="34" charset="0"/>
                <a:ea typeface="Calibri" pitchFamily="34" charset="-122"/>
                <a:cs typeface="Calibri" pitchFamily="34" charset="-120"/>
              </a:rPr>
              <a:t>   what fires what</a:t>
            </a:r>
            <a:endParaRPr lang="en-US" sz="1350" dirty="0"/>
          </a:p>
        </p:txBody>
      </p:sp>
      <p:sp>
        <p:nvSpPr>
          <p:cNvPr id="8" name="Shape 6"/>
          <p:cNvSpPr/>
          <p:nvPr/>
        </p:nvSpPr>
        <p:spPr>
          <a:xfrm>
            <a:off x="3950208" y="2340864"/>
            <a:ext cx="1426464" cy="329184"/>
          </a:xfrm>
          <a:prstGeom prst="roundRect">
            <a:avLst>
              <a:gd name="adj" fmla="val 16667"/>
            </a:avLst>
          </a:prstGeom>
          <a:solidFill>
            <a:srgbClr val="F7F5FA"/>
          </a:solidFill>
          <a:ln w="9525">
            <a:solidFill>
              <a:srgbClr val="E5E2E8"/>
            </a:solidFill>
            <a:prstDash val="solid"/>
          </a:ln>
        </p:spPr>
      </p:sp>
      <p:sp>
        <p:nvSpPr>
          <p:cNvPr id="9" name="Text 7"/>
          <p:cNvSpPr txBox="1"/>
          <p:nvPr/>
        </p:nvSpPr>
        <p:spPr>
          <a:xfrm>
            <a:off x="3950208" y="2340864"/>
            <a:ext cx="1426464" cy="329184"/>
          </a:xfrm>
          <a:prstGeom prst="rect">
            <a:avLst/>
          </a:prstGeom>
          <a:noFill/>
          <a:ln/>
        </p:spPr>
        <p:txBody>
          <a:bodyPr wrap="square" lIns="0" tIns="0" rIns="0" bIns="0" rtlCol="0" anchor="ctr"/>
          <a:lstStyle/>
          <a:p>
            <a:pPr algn="ctr" indent="0" marL="0">
              <a:buNone/>
            </a:pPr>
            <a:r>
              <a:rPr lang="en-US" sz="950" b="1" dirty="0">
                <a:solidFill>
                  <a:srgbClr val="EDA72C"/>
                </a:solidFill>
                <a:latin typeface="Courier New" pitchFamily="34" charset="0"/>
                <a:ea typeface="Courier New" pitchFamily="34" charset="-122"/>
                <a:cs typeface="Courier New" pitchFamily="34" charset="-120"/>
              </a:rPr>
              <a:t>triggers</a:t>
            </a:r>
            <a:endParaRPr lang="en-US" sz="950" dirty="0"/>
          </a:p>
        </p:txBody>
      </p:sp>
      <p:sp>
        <p:nvSpPr>
          <p:cNvPr id="10" name="Text 8"/>
          <p:cNvSpPr txBox="1"/>
          <p:nvPr/>
        </p:nvSpPr>
        <p:spPr>
          <a:xfrm>
            <a:off x="3950208" y="2688336"/>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35</a:t>
            </a:r>
            <a:endParaRPr lang="en-US" sz="900" dirty="0"/>
          </a:p>
        </p:txBody>
      </p:sp>
      <p:sp>
        <p:nvSpPr>
          <p:cNvPr id="11" name="Shape 9"/>
          <p:cNvSpPr/>
          <p:nvPr/>
        </p:nvSpPr>
        <p:spPr>
          <a:xfrm>
            <a:off x="5486400" y="2340864"/>
            <a:ext cx="1426464" cy="329184"/>
          </a:xfrm>
          <a:prstGeom prst="roundRect">
            <a:avLst>
              <a:gd name="adj" fmla="val 16667"/>
            </a:avLst>
          </a:prstGeom>
          <a:solidFill>
            <a:srgbClr val="F7F5FA"/>
          </a:solidFill>
          <a:ln w="9525">
            <a:solidFill>
              <a:srgbClr val="E5E2E8"/>
            </a:solidFill>
            <a:prstDash val="solid"/>
          </a:ln>
        </p:spPr>
      </p:sp>
      <p:sp>
        <p:nvSpPr>
          <p:cNvPr id="12" name="Text 10"/>
          <p:cNvSpPr txBox="1"/>
          <p:nvPr/>
        </p:nvSpPr>
        <p:spPr>
          <a:xfrm>
            <a:off x="5486400" y="2340864"/>
            <a:ext cx="1426464" cy="329184"/>
          </a:xfrm>
          <a:prstGeom prst="rect">
            <a:avLst/>
          </a:prstGeom>
          <a:noFill/>
          <a:ln/>
        </p:spPr>
        <p:txBody>
          <a:bodyPr wrap="square" lIns="0" tIns="0" rIns="0" bIns="0" rtlCol="0" anchor="ctr"/>
          <a:lstStyle/>
          <a:p>
            <a:pPr algn="ctr" indent="0" marL="0">
              <a:buNone/>
            </a:pPr>
            <a:r>
              <a:rPr lang="en-US" sz="950" b="1" dirty="0">
                <a:solidFill>
                  <a:srgbClr val="EDA72C"/>
                </a:solidFill>
                <a:latin typeface="Courier New" pitchFamily="34" charset="0"/>
                <a:ea typeface="Courier New" pitchFamily="34" charset="-122"/>
                <a:cs typeface="Courier New" pitchFamily="34" charset="-120"/>
              </a:rPr>
              <a:t>deactivates</a:t>
            </a:r>
            <a:endParaRPr lang="en-US" sz="950" dirty="0"/>
          </a:p>
        </p:txBody>
      </p:sp>
      <p:sp>
        <p:nvSpPr>
          <p:cNvPr id="13" name="Text 11"/>
          <p:cNvSpPr txBox="1"/>
          <p:nvPr/>
        </p:nvSpPr>
        <p:spPr>
          <a:xfrm>
            <a:off x="5486400" y="2688336"/>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a:t>
            </a:r>
            <a:endParaRPr lang="en-US" sz="900" dirty="0"/>
          </a:p>
        </p:txBody>
      </p:sp>
      <p:sp>
        <p:nvSpPr>
          <p:cNvPr id="14" name="Shape 12"/>
          <p:cNvSpPr/>
          <p:nvPr/>
        </p:nvSpPr>
        <p:spPr>
          <a:xfrm>
            <a:off x="7022592" y="2340864"/>
            <a:ext cx="1426464" cy="329184"/>
          </a:xfrm>
          <a:prstGeom prst="roundRect">
            <a:avLst>
              <a:gd name="adj" fmla="val 16667"/>
            </a:avLst>
          </a:prstGeom>
          <a:solidFill>
            <a:srgbClr val="F7F5FA"/>
          </a:solidFill>
          <a:ln w="9525">
            <a:solidFill>
              <a:srgbClr val="E5E2E8"/>
            </a:solidFill>
            <a:prstDash val="solid"/>
          </a:ln>
        </p:spPr>
      </p:sp>
      <p:sp>
        <p:nvSpPr>
          <p:cNvPr id="15" name="Text 13"/>
          <p:cNvSpPr txBox="1"/>
          <p:nvPr/>
        </p:nvSpPr>
        <p:spPr>
          <a:xfrm>
            <a:off x="7022592" y="2340864"/>
            <a:ext cx="1426464" cy="329184"/>
          </a:xfrm>
          <a:prstGeom prst="rect">
            <a:avLst/>
          </a:prstGeom>
          <a:noFill/>
          <a:ln/>
        </p:spPr>
        <p:txBody>
          <a:bodyPr wrap="square" lIns="0" tIns="0" rIns="0" bIns="0" rtlCol="0" anchor="ctr"/>
          <a:lstStyle/>
          <a:p>
            <a:pPr algn="ctr" indent="0" marL="0">
              <a:buNone/>
            </a:pPr>
            <a:r>
              <a:rPr lang="en-US" sz="950" b="1" dirty="0">
                <a:solidFill>
                  <a:srgbClr val="EDA72C"/>
                </a:solidFill>
                <a:latin typeface="Courier New" pitchFamily="34" charset="0"/>
                <a:ea typeface="Courier New" pitchFamily="34" charset="-122"/>
                <a:cs typeface="Courier New" pitchFamily="34" charset="-120"/>
              </a:rPr>
              <a:t>regulates</a:t>
            </a:r>
            <a:endParaRPr lang="en-US" sz="950" dirty="0"/>
          </a:p>
        </p:txBody>
      </p:sp>
      <p:sp>
        <p:nvSpPr>
          <p:cNvPr id="16" name="Text 14"/>
          <p:cNvSpPr txBox="1"/>
          <p:nvPr/>
        </p:nvSpPr>
        <p:spPr>
          <a:xfrm>
            <a:off x="7022592" y="2688336"/>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77</a:t>
            </a:r>
            <a:endParaRPr lang="en-US" sz="900" dirty="0"/>
          </a:p>
        </p:txBody>
      </p:sp>
      <p:sp>
        <p:nvSpPr>
          <p:cNvPr id="17" name="Shape 15"/>
          <p:cNvSpPr/>
          <p:nvPr/>
        </p:nvSpPr>
        <p:spPr>
          <a:xfrm>
            <a:off x="658368" y="3145536"/>
            <a:ext cx="164592" cy="164592"/>
          </a:xfrm>
          <a:prstGeom prst="ellipse">
            <a:avLst/>
          </a:prstGeom>
          <a:solidFill>
            <a:srgbClr val="E04F86"/>
          </a:solidFill>
          <a:ln w="12700">
            <a:solidFill>
              <a:srgbClr val="333333"/>
            </a:solidFill>
            <a:prstDash val="solid"/>
          </a:ln>
        </p:spPr>
      </p:sp>
      <p:sp>
        <p:nvSpPr>
          <p:cNvPr id="18" name="Text 16"/>
          <p:cNvSpPr txBox="1"/>
          <p:nvPr/>
        </p:nvSpPr>
        <p:spPr>
          <a:xfrm>
            <a:off x="932688" y="3072384"/>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defense</a:t>
            </a:r>
            <a:pPr indent="0" marL="0">
              <a:buNone/>
            </a:pPr>
            <a:r>
              <a:rPr lang="en-US" sz="1150" dirty="0">
                <a:solidFill>
                  <a:srgbClr val="807C8A"/>
                </a:solidFill>
                <a:latin typeface="Calibri" pitchFamily="34" charset="0"/>
                <a:ea typeface="Calibri" pitchFamily="34" charset="-122"/>
                <a:cs typeface="Calibri" pitchFamily="34" charset="-120"/>
              </a:rPr>
              <a:t>   how the pattern is built</a:t>
            </a:r>
            <a:endParaRPr lang="en-US" sz="1350" dirty="0"/>
          </a:p>
        </p:txBody>
      </p:sp>
      <p:sp>
        <p:nvSpPr>
          <p:cNvPr id="19" name="Shape 17"/>
          <p:cNvSpPr/>
          <p:nvPr/>
        </p:nvSpPr>
        <p:spPr>
          <a:xfrm>
            <a:off x="3950208" y="3054096"/>
            <a:ext cx="1426464" cy="329184"/>
          </a:xfrm>
          <a:prstGeom prst="roundRect">
            <a:avLst>
              <a:gd name="adj" fmla="val 16667"/>
            </a:avLst>
          </a:prstGeom>
          <a:solidFill>
            <a:srgbClr val="F7F5FA"/>
          </a:solidFill>
          <a:ln w="9525">
            <a:solidFill>
              <a:srgbClr val="E5E2E8"/>
            </a:solidFill>
            <a:prstDash val="solid"/>
          </a:ln>
        </p:spPr>
      </p:sp>
      <p:sp>
        <p:nvSpPr>
          <p:cNvPr id="20" name="Text 18"/>
          <p:cNvSpPr txBox="1"/>
          <p:nvPr/>
        </p:nvSpPr>
        <p:spPr>
          <a:xfrm>
            <a:off x="3950208"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defends_against</a:t>
            </a:r>
            <a:endParaRPr lang="en-US" sz="950" dirty="0"/>
          </a:p>
        </p:txBody>
      </p:sp>
      <p:sp>
        <p:nvSpPr>
          <p:cNvPr id="21" name="Text 19"/>
          <p:cNvSpPr txBox="1"/>
          <p:nvPr/>
        </p:nvSpPr>
        <p:spPr>
          <a:xfrm>
            <a:off x="3950208"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14</a:t>
            </a:r>
            <a:endParaRPr lang="en-US" sz="900" dirty="0"/>
          </a:p>
        </p:txBody>
      </p:sp>
      <p:sp>
        <p:nvSpPr>
          <p:cNvPr id="22" name="Shape 20"/>
          <p:cNvSpPr/>
          <p:nvPr/>
        </p:nvSpPr>
        <p:spPr>
          <a:xfrm>
            <a:off x="5486400" y="3054096"/>
            <a:ext cx="1426464" cy="329184"/>
          </a:xfrm>
          <a:prstGeom prst="roundRect">
            <a:avLst>
              <a:gd name="adj" fmla="val 16667"/>
            </a:avLst>
          </a:prstGeom>
          <a:solidFill>
            <a:srgbClr val="F7F5FA"/>
          </a:solidFill>
          <a:ln w="9525">
            <a:solidFill>
              <a:srgbClr val="E5E2E8"/>
            </a:solidFill>
            <a:prstDash val="solid"/>
          </a:ln>
        </p:spPr>
      </p:sp>
      <p:sp>
        <p:nvSpPr>
          <p:cNvPr id="23" name="Text 21"/>
          <p:cNvSpPr txBox="1"/>
          <p:nvPr/>
        </p:nvSpPr>
        <p:spPr>
          <a:xfrm>
            <a:off x="5486400"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manifests_as</a:t>
            </a:r>
            <a:endParaRPr lang="en-US" sz="950" dirty="0"/>
          </a:p>
        </p:txBody>
      </p:sp>
      <p:sp>
        <p:nvSpPr>
          <p:cNvPr id="24" name="Text 22"/>
          <p:cNvSpPr txBox="1"/>
          <p:nvPr/>
        </p:nvSpPr>
        <p:spPr>
          <a:xfrm>
            <a:off x="5486400"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32</a:t>
            </a:r>
            <a:endParaRPr lang="en-US" sz="900" dirty="0"/>
          </a:p>
        </p:txBody>
      </p:sp>
      <p:sp>
        <p:nvSpPr>
          <p:cNvPr id="25" name="Shape 23"/>
          <p:cNvSpPr/>
          <p:nvPr/>
        </p:nvSpPr>
        <p:spPr>
          <a:xfrm>
            <a:off x="7022592" y="3054096"/>
            <a:ext cx="1426464" cy="329184"/>
          </a:xfrm>
          <a:prstGeom prst="roundRect">
            <a:avLst>
              <a:gd name="adj" fmla="val 16667"/>
            </a:avLst>
          </a:prstGeom>
          <a:solidFill>
            <a:srgbClr val="F7F5FA"/>
          </a:solidFill>
          <a:ln w="9525">
            <a:solidFill>
              <a:srgbClr val="E5E2E8"/>
            </a:solidFill>
            <a:prstDash val="solid"/>
          </a:ln>
        </p:spPr>
      </p:sp>
      <p:sp>
        <p:nvSpPr>
          <p:cNvPr id="26" name="Text 24"/>
          <p:cNvSpPr txBox="1"/>
          <p:nvPr/>
        </p:nvSpPr>
        <p:spPr>
          <a:xfrm>
            <a:off x="7022592"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sustains</a:t>
            </a:r>
            <a:endParaRPr lang="en-US" sz="950" dirty="0"/>
          </a:p>
        </p:txBody>
      </p:sp>
      <p:sp>
        <p:nvSpPr>
          <p:cNvPr id="27" name="Text 25"/>
          <p:cNvSpPr txBox="1"/>
          <p:nvPr/>
        </p:nvSpPr>
        <p:spPr>
          <a:xfrm>
            <a:off x="7022592"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53</a:t>
            </a:r>
            <a:endParaRPr lang="en-US" sz="900" dirty="0"/>
          </a:p>
        </p:txBody>
      </p:sp>
      <p:sp>
        <p:nvSpPr>
          <p:cNvPr id="28" name="Shape 26"/>
          <p:cNvSpPr/>
          <p:nvPr/>
        </p:nvSpPr>
        <p:spPr>
          <a:xfrm>
            <a:off x="8558784" y="3054096"/>
            <a:ext cx="1426464" cy="329184"/>
          </a:xfrm>
          <a:prstGeom prst="roundRect">
            <a:avLst>
              <a:gd name="adj" fmla="val 16667"/>
            </a:avLst>
          </a:prstGeom>
          <a:solidFill>
            <a:srgbClr val="F7F5FA"/>
          </a:solidFill>
          <a:ln w="9525">
            <a:solidFill>
              <a:srgbClr val="E5E2E8"/>
            </a:solidFill>
            <a:prstDash val="solid"/>
          </a:ln>
        </p:spPr>
      </p:sp>
      <p:sp>
        <p:nvSpPr>
          <p:cNvPr id="29" name="Text 27"/>
          <p:cNvSpPr txBox="1"/>
          <p:nvPr/>
        </p:nvSpPr>
        <p:spPr>
          <a:xfrm>
            <a:off x="8558784"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originates_in</a:t>
            </a:r>
            <a:endParaRPr lang="en-US" sz="950" dirty="0"/>
          </a:p>
        </p:txBody>
      </p:sp>
      <p:sp>
        <p:nvSpPr>
          <p:cNvPr id="30" name="Text 28"/>
          <p:cNvSpPr txBox="1"/>
          <p:nvPr/>
        </p:nvSpPr>
        <p:spPr>
          <a:xfrm>
            <a:off x="8558784"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48</a:t>
            </a:r>
            <a:endParaRPr lang="en-US" sz="900" dirty="0"/>
          </a:p>
        </p:txBody>
      </p:sp>
      <p:sp>
        <p:nvSpPr>
          <p:cNvPr id="31" name="Shape 29"/>
          <p:cNvSpPr/>
          <p:nvPr/>
        </p:nvSpPr>
        <p:spPr>
          <a:xfrm>
            <a:off x="658368" y="3858768"/>
            <a:ext cx="164592" cy="164592"/>
          </a:xfrm>
          <a:prstGeom prst="ellipse">
            <a:avLst/>
          </a:prstGeom>
          <a:solidFill>
            <a:srgbClr val="5B83E8"/>
          </a:solidFill>
          <a:ln w="12700">
            <a:solidFill>
              <a:srgbClr val="333333"/>
            </a:solidFill>
            <a:prstDash val="solid"/>
          </a:ln>
        </p:spPr>
      </p:sp>
      <p:sp>
        <p:nvSpPr>
          <p:cNvPr id="32" name="Text 30"/>
          <p:cNvSpPr txBox="1"/>
          <p:nvPr/>
        </p:nvSpPr>
        <p:spPr>
          <a:xfrm>
            <a:off x="932688" y="3785616"/>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identity</a:t>
            </a:r>
            <a:pPr indent="0" marL="0">
              <a:buNone/>
            </a:pPr>
            <a:r>
              <a:rPr lang="en-US" sz="1150" dirty="0">
                <a:solidFill>
                  <a:srgbClr val="807C8A"/>
                </a:solidFill>
                <a:latin typeface="Calibri" pitchFamily="34" charset="0"/>
                <a:ea typeface="Calibri" pitchFamily="34" charset="-122"/>
                <a:cs typeface="Calibri" pitchFamily="34" charset="-120"/>
              </a:rPr>
              <a:t>   how things compare</a:t>
            </a:r>
            <a:endParaRPr lang="en-US" sz="1350" dirty="0"/>
          </a:p>
        </p:txBody>
      </p:sp>
      <p:sp>
        <p:nvSpPr>
          <p:cNvPr id="33" name="Shape 31"/>
          <p:cNvSpPr/>
          <p:nvPr/>
        </p:nvSpPr>
        <p:spPr>
          <a:xfrm>
            <a:off x="3950208" y="3767328"/>
            <a:ext cx="1426464" cy="329184"/>
          </a:xfrm>
          <a:prstGeom prst="roundRect">
            <a:avLst>
              <a:gd name="adj" fmla="val 16667"/>
            </a:avLst>
          </a:prstGeom>
          <a:solidFill>
            <a:srgbClr val="F7F5FA"/>
          </a:solidFill>
          <a:ln w="9525">
            <a:solidFill>
              <a:srgbClr val="E5E2E8"/>
            </a:solidFill>
            <a:prstDash val="solid"/>
          </a:ln>
        </p:spPr>
      </p:sp>
      <p:sp>
        <p:nvSpPr>
          <p:cNvPr id="34" name="Text 32"/>
          <p:cNvSpPr txBox="1"/>
          <p:nvPr/>
        </p:nvSpPr>
        <p:spPr>
          <a:xfrm>
            <a:off x="3950208"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characterizes</a:t>
            </a:r>
            <a:endParaRPr lang="en-US" sz="950" dirty="0"/>
          </a:p>
        </p:txBody>
      </p:sp>
      <p:sp>
        <p:nvSpPr>
          <p:cNvPr id="35" name="Text 33"/>
          <p:cNvSpPr txBox="1"/>
          <p:nvPr/>
        </p:nvSpPr>
        <p:spPr>
          <a:xfrm>
            <a:off x="3950208"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207</a:t>
            </a:r>
            <a:endParaRPr lang="en-US" sz="900" dirty="0"/>
          </a:p>
        </p:txBody>
      </p:sp>
      <p:sp>
        <p:nvSpPr>
          <p:cNvPr id="36" name="Shape 34"/>
          <p:cNvSpPr/>
          <p:nvPr/>
        </p:nvSpPr>
        <p:spPr>
          <a:xfrm>
            <a:off x="5486400" y="3767328"/>
            <a:ext cx="1426464" cy="329184"/>
          </a:xfrm>
          <a:prstGeom prst="roundRect">
            <a:avLst>
              <a:gd name="adj" fmla="val 16667"/>
            </a:avLst>
          </a:prstGeom>
          <a:solidFill>
            <a:srgbClr val="F7F5FA"/>
          </a:solidFill>
          <a:ln w="9525">
            <a:solidFill>
              <a:srgbClr val="E5E2E8"/>
            </a:solidFill>
            <a:prstDash val="solid"/>
          </a:ln>
        </p:spPr>
      </p:sp>
      <p:sp>
        <p:nvSpPr>
          <p:cNvPr id="37" name="Text 35"/>
          <p:cNvSpPr txBox="1"/>
          <p:nvPr/>
        </p:nvSpPr>
        <p:spPr>
          <a:xfrm>
            <a:off x="5486400"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mirrors</a:t>
            </a:r>
            <a:endParaRPr lang="en-US" sz="950" dirty="0"/>
          </a:p>
        </p:txBody>
      </p:sp>
      <p:sp>
        <p:nvSpPr>
          <p:cNvPr id="38" name="Text 36"/>
          <p:cNvSpPr txBox="1"/>
          <p:nvPr/>
        </p:nvSpPr>
        <p:spPr>
          <a:xfrm>
            <a:off x="5486400"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364</a:t>
            </a:r>
            <a:endParaRPr lang="en-US" sz="900" dirty="0"/>
          </a:p>
        </p:txBody>
      </p:sp>
      <p:sp>
        <p:nvSpPr>
          <p:cNvPr id="39" name="Shape 37"/>
          <p:cNvSpPr/>
          <p:nvPr/>
        </p:nvSpPr>
        <p:spPr>
          <a:xfrm>
            <a:off x="7022592" y="3767328"/>
            <a:ext cx="1426464" cy="329184"/>
          </a:xfrm>
          <a:prstGeom prst="roundRect">
            <a:avLst>
              <a:gd name="adj" fmla="val 16667"/>
            </a:avLst>
          </a:prstGeom>
          <a:solidFill>
            <a:srgbClr val="F7F5FA"/>
          </a:solidFill>
          <a:ln w="9525">
            <a:solidFill>
              <a:srgbClr val="E5E2E8"/>
            </a:solidFill>
            <a:prstDash val="solid"/>
          </a:ln>
        </p:spPr>
      </p:sp>
      <p:sp>
        <p:nvSpPr>
          <p:cNvPr id="40" name="Text 38"/>
          <p:cNvSpPr txBox="1"/>
          <p:nvPr/>
        </p:nvSpPr>
        <p:spPr>
          <a:xfrm>
            <a:off x="7022592"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contrasts_with</a:t>
            </a:r>
            <a:endParaRPr lang="en-US" sz="950" dirty="0"/>
          </a:p>
        </p:txBody>
      </p:sp>
      <p:sp>
        <p:nvSpPr>
          <p:cNvPr id="41" name="Text 39"/>
          <p:cNvSpPr txBox="1"/>
          <p:nvPr/>
        </p:nvSpPr>
        <p:spPr>
          <a:xfrm>
            <a:off x="7022592"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498</a:t>
            </a:r>
            <a:endParaRPr lang="en-US" sz="900" dirty="0"/>
          </a:p>
        </p:txBody>
      </p:sp>
      <p:sp>
        <p:nvSpPr>
          <p:cNvPr id="42" name="Shape 40"/>
          <p:cNvSpPr/>
          <p:nvPr/>
        </p:nvSpPr>
        <p:spPr>
          <a:xfrm>
            <a:off x="8558784" y="3767328"/>
            <a:ext cx="1426464" cy="329184"/>
          </a:xfrm>
          <a:prstGeom prst="roundRect">
            <a:avLst>
              <a:gd name="adj" fmla="val 16667"/>
            </a:avLst>
          </a:prstGeom>
          <a:solidFill>
            <a:srgbClr val="F7F5FA"/>
          </a:solidFill>
          <a:ln w="9525">
            <a:solidFill>
              <a:srgbClr val="E5E2E8"/>
            </a:solidFill>
            <a:prstDash val="solid"/>
          </a:ln>
        </p:spPr>
      </p:sp>
      <p:sp>
        <p:nvSpPr>
          <p:cNvPr id="43" name="Text 41"/>
          <p:cNvSpPr txBox="1"/>
          <p:nvPr/>
        </p:nvSpPr>
        <p:spPr>
          <a:xfrm>
            <a:off x="8558784"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mistaken_for</a:t>
            </a:r>
            <a:endParaRPr lang="en-US" sz="950" dirty="0"/>
          </a:p>
        </p:txBody>
      </p:sp>
      <p:sp>
        <p:nvSpPr>
          <p:cNvPr id="44" name="Text 42"/>
          <p:cNvSpPr txBox="1"/>
          <p:nvPr/>
        </p:nvSpPr>
        <p:spPr>
          <a:xfrm>
            <a:off x="8558784"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30</a:t>
            </a:r>
            <a:endParaRPr lang="en-US" sz="900" dirty="0"/>
          </a:p>
        </p:txBody>
      </p:sp>
      <p:sp>
        <p:nvSpPr>
          <p:cNvPr id="45" name="Shape 43"/>
          <p:cNvSpPr/>
          <p:nvPr/>
        </p:nvSpPr>
        <p:spPr>
          <a:xfrm>
            <a:off x="10094976" y="3767328"/>
            <a:ext cx="1426464" cy="329184"/>
          </a:xfrm>
          <a:prstGeom prst="roundRect">
            <a:avLst>
              <a:gd name="adj" fmla="val 16667"/>
            </a:avLst>
          </a:prstGeom>
          <a:solidFill>
            <a:srgbClr val="F7F5FA"/>
          </a:solidFill>
          <a:ln w="9525">
            <a:solidFill>
              <a:srgbClr val="E5E2E8"/>
            </a:solidFill>
            <a:prstDash val="solid"/>
          </a:ln>
        </p:spPr>
      </p:sp>
      <p:sp>
        <p:nvSpPr>
          <p:cNvPr id="46" name="Text 44"/>
          <p:cNvSpPr txBox="1"/>
          <p:nvPr/>
        </p:nvSpPr>
        <p:spPr>
          <a:xfrm>
            <a:off x="10094976"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part_of</a:t>
            </a:r>
            <a:endParaRPr lang="en-US" sz="950" dirty="0"/>
          </a:p>
        </p:txBody>
      </p:sp>
      <p:sp>
        <p:nvSpPr>
          <p:cNvPr id="47" name="Text 45"/>
          <p:cNvSpPr txBox="1"/>
          <p:nvPr/>
        </p:nvSpPr>
        <p:spPr>
          <a:xfrm>
            <a:off x="10094976"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192</a:t>
            </a:r>
            <a:endParaRPr lang="en-US" sz="900" dirty="0"/>
          </a:p>
        </p:txBody>
      </p:sp>
      <p:sp>
        <p:nvSpPr>
          <p:cNvPr id="48" name="Shape 46"/>
          <p:cNvSpPr/>
          <p:nvPr/>
        </p:nvSpPr>
        <p:spPr>
          <a:xfrm>
            <a:off x="658368" y="4572000"/>
            <a:ext cx="164592" cy="164592"/>
          </a:xfrm>
          <a:prstGeom prst="ellipse">
            <a:avLst/>
          </a:prstGeom>
          <a:solidFill>
            <a:srgbClr val="5BB84F"/>
          </a:solidFill>
          <a:ln w="12700">
            <a:solidFill>
              <a:srgbClr val="333333"/>
            </a:solidFill>
            <a:prstDash val="solid"/>
          </a:ln>
        </p:spPr>
      </p:sp>
      <p:sp>
        <p:nvSpPr>
          <p:cNvPr id="49" name="Text 47"/>
          <p:cNvSpPr txBox="1"/>
          <p:nvPr/>
        </p:nvSpPr>
        <p:spPr>
          <a:xfrm>
            <a:off x="932688" y="4498848"/>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healing</a:t>
            </a:r>
            <a:pPr indent="0" marL="0">
              <a:buNone/>
            </a:pPr>
            <a:r>
              <a:rPr lang="en-US" sz="1150" dirty="0">
                <a:solidFill>
                  <a:srgbClr val="807C8A"/>
                </a:solidFill>
                <a:latin typeface="Calibri" pitchFamily="34" charset="0"/>
                <a:ea typeface="Calibri" pitchFamily="34" charset="-122"/>
                <a:cs typeface="Calibri" pitchFamily="34" charset="-120"/>
              </a:rPr>
              <a:t>   what changes it</a:t>
            </a:r>
            <a:endParaRPr lang="en-US" sz="1350" dirty="0"/>
          </a:p>
        </p:txBody>
      </p:sp>
      <p:sp>
        <p:nvSpPr>
          <p:cNvPr id="50" name="Shape 48"/>
          <p:cNvSpPr/>
          <p:nvPr/>
        </p:nvSpPr>
        <p:spPr>
          <a:xfrm>
            <a:off x="3950208" y="4480560"/>
            <a:ext cx="1426464" cy="329184"/>
          </a:xfrm>
          <a:prstGeom prst="roundRect">
            <a:avLst>
              <a:gd name="adj" fmla="val 16667"/>
            </a:avLst>
          </a:prstGeom>
          <a:solidFill>
            <a:srgbClr val="F7F5FA"/>
          </a:solidFill>
          <a:ln w="9525">
            <a:solidFill>
              <a:srgbClr val="E5E2E8"/>
            </a:solidFill>
            <a:prstDash val="solid"/>
          </a:ln>
        </p:spPr>
      </p:sp>
      <p:sp>
        <p:nvSpPr>
          <p:cNvPr id="51" name="Text 49"/>
          <p:cNvSpPr txBox="1"/>
          <p:nvPr/>
        </p:nvSpPr>
        <p:spPr>
          <a:xfrm>
            <a:off x="3950208" y="4480560"/>
            <a:ext cx="1426464" cy="329184"/>
          </a:xfrm>
          <a:prstGeom prst="rect">
            <a:avLst/>
          </a:prstGeom>
          <a:noFill/>
          <a:ln/>
        </p:spPr>
        <p:txBody>
          <a:bodyPr wrap="square" lIns="0" tIns="0" rIns="0" bIns="0" rtlCol="0" anchor="ctr"/>
          <a:lstStyle/>
          <a:p>
            <a:pPr algn="ctr" indent="0" marL="0">
              <a:buNone/>
            </a:pPr>
            <a:r>
              <a:rPr lang="en-US" sz="950" b="1" dirty="0">
                <a:solidFill>
                  <a:srgbClr val="5BB84F"/>
                </a:solidFill>
                <a:latin typeface="Courier New" pitchFamily="34" charset="0"/>
                <a:ea typeface="Courier New" pitchFamily="34" charset="-122"/>
                <a:cs typeface="Courier New" pitchFamily="34" charset="-120"/>
              </a:rPr>
              <a:t>healed_by</a:t>
            </a:r>
            <a:endParaRPr lang="en-US" sz="950" dirty="0"/>
          </a:p>
        </p:txBody>
      </p:sp>
      <p:sp>
        <p:nvSpPr>
          <p:cNvPr id="52" name="Text 50"/>
          <p:cNvSpPr txBox="1"/>
          <p:nvPr/>
        </p:nvSpPr>
        <p:spPr>
          <a:xfrm>
            <a:off x="3950208" y="4828032"/>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84</a:t>
            </a:r>
            <a:endParaRPr lang="en-US" sz="900" dirty="0"/>
          </a:p>
        </p:txBody>
      </p:sp>
      <p:sp>
        <p:nvSpPr>
          <p:cNvPr id="53" name="Shape 51"/>
          <p:cNvSpPr/>
          <p:nvPr/>
        </p:nvSpPr>
        <p:spPr>
          <a:xfrm>
            <a:off x="5486400" y="4480560"/>
            <a:ext cx="1426464" cy="329184"/>
          </a:xfrm>
          <a:prstGeom prst="roundRect">
            <a:avLst>
              <a:gd name="adj" fmla="val 16667"/>
            </a:avLst>
          </a:prstGeom>
          <a:solidFill>
            <a:srgbClr val="F7F5FA"/>
          </a:solidFill>
          <a:ln w="9525">
            <a:solidFill>
              <a:srgbClr val="E5E2E8"/>
            </a:solidFill>
            <a:prstDash val="solid"/>
          </a:ln>
        </p:spPr>
      </p:sp>
      <p:sp>
        <p:nvSpPr>
          <p:cNvPr id="54" name="Text 52"/>
          <p:cNvSpPr txBox="1"/>
          <p:nvPr/>
        </p:nvSpPr>
        <p:spPr>
          <a:xfrm>
            <a:off x="5486400" y="4480560"/>
            <a:ext cx="1426464" cy="329184"/>
          </a:xfrm>
          <a:prstGeom prst="rect">
            <a:avLst/>
          </a:prstGeom>
          <a:noFill/>
          <a:ln/>
        </p:spPr>
        <p:txBody>
          <a:bodyPr wrap="square" lIns="0" tIns="0" rIns="0" bIns="0" rtlCol="0" anchor="ctr"/>
          <a:lstStyle/>
          <a:p>
            <a:pPr algn="ctr" indent="0" marL="0">
              <a:buNone/>
            </a:pPr>
            <a:r>
              <a:rPr lang="en-US" sz="950" b="1" dirty="0">
                <a:solidFill>
                  <a:srgbClr val="5BB84F"/>
                </a:solidFill>
                <a:latin typeface="Courier New" pitchFamily="34" charset="0"/>
                <a:ea typeface="Courier New" pitchFamily="34" charset="-122"/>
                <a:cs typeface="Courier New" pitchFamily="34" charset="-120"/>
              </a:rPr>
              <a:t>requires</a:t>
            </a:r>
            <a:endParaRPr lang="en-US" sz="950" dirty="0"/>
          </a:p>
        </p:txBody>
      </p:sp>
      <p:sp>
        <p:nvSpPr>
          <p:cNvPr id="55" name="Text 53"/>
          <p:cNvSpPr txBox="1"/>
          <p:nvPr/>
        </p:nvSpPr>
        <p:spPr>
          <a:xfrm>
            <a:off x="5486400" y="4828032"/>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86</a:t>
            </a:r>
            <a:endParaRPr lang="en-US" sz="900" dirty="0"/>
          </a:p>
        </p:txBody>
      </p:sp>
      <p:sp>
        <p:nvSpPr>
          <p:cNvPr id="56" name="Shape 54"/>
          <p:cNvSpPr/>
          <p:nvPr/>
        </p:nvSpPr>
        <p:spPr>
          <a:xfrm>
            <a:off x="658368" y="5285232"/>
            <a:ext cx="164592" cy="164592"/>
          </a:xfrm>
          <a:prstGeom prst="ellipse">
            <a:avLst/>
          </a:prstGeom>
          <a:solidFill>
            <a:srgbClr val="8B8B96"/>
          </a:solidFill>
          <a:ln w="12700">
            <a:solidFill>
              <a:srgbClr val="333333"/>
            </a:solidFill>
            <a:prstDash val="solid"/>
          </a:ln>
        </p:spPr>
      </p:sp>
      <p:sp>
        <p:nvSpPr>
          <p:cNvPr id="57" name="Text 55"/>
          <p:cNvSpPr txBox="1"/>
          <p:nvPr/>
        </p:nvSpPr>
        <p:spPr>
          <a:xfrm>
            <a:off x="932688" y="5212080"/>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provenance</a:t>
            </a:r>
            <a:pPr indent="0" marL="0">
              <a:buNone/>
            </a:pPr>
            <a:r>
              <a:rPr lang="en-US" sz="1150" dirty="0">
                <a:solidFill>
                  <a:srgbClr val="807C8A"/>
                </a:solidFill>
                <a:latin typeface="Calibri" pitchFamily="34" charset="0"/>
                <a:ea typeface="Calibri" pitchFamily="34" charset="-122"/>
                <a:cs typeface="Calibri" pitchFamily="34" charset="-120"/>
              </a:rPr>
              <a:t>   where it came from</a:t>
            </a:r>
            <a:endParaRPr lang="en-US" sz="1350" dirty="0"/>
          </a:p>
        </p:txBody>
      </p:sp>
      <p:sp>
        <p:nvSpPr>
          <p:cNvPr id="58" name="Shape 56"/>
          <p:cNvSpPr/>
          <p:nvPr/>
        </p:nvSpPr>
        <p:spPr>
          <a:xfrm>
            <a:off x="3950208" y="5193792"/>
            <a:ext cx="1426464" cy="329184"/>
          </a:xfrm>
          <a:prstGeom prst="roundRect">
            <a:avLst>
              <a:gd name="adj" fmla="val 16667"/>
            </a:avLst>
          </a:prstGeom>
          <a:solidFill>
            <a:srgbClr val="F7F5FA"/>
          </a:solidFill>
          <a:ln w="9525">
            <a:solidFill>
              <a:srgbClr val="E5E2E8"/>
            </a:solidFill>
            <a:prstDash val="solid"/>
          </a:ln>
        </p:spPr>
      </p:sp>
      <p:sp>
        <p:nvSpPr>
          <p:cNvPr id="59" name="Text 57"/>
          <p:cNvSpPr txBox="1"/>
          <p:nvPr/>
        </p:nvSpPr>
        <p:spPr>
          <a:xfrm>
            <a:off x="3950208" y="5193792"/>
            <a:ext cx="1426464" cy="329184"/>
          </a:xfrm>
          <a:prstGeom prst="rect">
            <a:avLst/>
          </a:prstGeom>
          <a:noFill/>
          <a:ln/>
        </p:spPr>
        <p:txBody>
          <a:bodyPr wrap="square" lIns="0" tIns="0" rIns="0" bIns="0" rtlCol="0" anchor="ctr"/>
          <a:lstStyle/>
          <a:p>
            <a:pPr algn="ctr" indent="0" marL="0">
              <a:buNone/>
            </a:pPr>
            <a:r>
              <a:rPr lang="en-US" sz="950" b="1" dirty="0">
                <a:solidFill>
                  <a:srgbClr val="8B8B96"/>
                </a:solidFill>
                <a:latin typeface="Courier New" pitchFamily="34" charset="0"/>
                <a:ea typeface="Courier New" pitchFamily="34" charset="-122"/>
                <a:cs typeface="Courier New" pitchFamily="34" charset="-120"/>
              </a:rPr>
              <a:t>described_in</a:t>
            </a:r>
            <a:endParaRPr lang="en-US" sz="950" dirty="0"/>
          </a:p>
        </p:txBody>
      </p:sp>
      <p:sp>
        <p:nvSpPr>
          <p:cNvPr id="60" name="Text 58"/>
          <p:cNvSpPr txBox="1"/>
          <p:nvPr/>
        </p:nvSpPr>
        <p:spPr>
          <a:xfrm>
            <a:off x="3950208" y="5541264"/>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542</a:t>
            </a:r>
            <a:endParaRPr lang="en-US" sz="900" dirty="0"/>
          </a:p>
        </p:txBody>
      </p:sp>
      <p:sp>
        <p:nvSpPr>
          <p:cNvPr id="61" name="Shape 59"/>
          <p:cNvSpPr/>
          <p:nvPr/>
        </p:nvSpPr>
        <p:spPr>
          <a:xfrm>
            <a:off x="5486400" y="5193792"/>
            <a:ext cx="1426464" cy="329184"/>
          </a:xfrm>
          <a:prstGeom prst="roundRect">
            <a:avLst>
              <a:gd name="adj" fmla="val 16667"/>
            </a:avLst>
          </a:prstGeom>
          <a:solidFill>
            <a:srgbClr val="F7F5FA"/>
          </a:solidFill>
          <a:ln w="9525">
            <a:solidFill>
              <a:srgbClr val="E5E2E8"/>
            </a:solidFill>
            <a:prstDash val="solid"/>
          </a:ln>
        </p:spPr>
      </p:sp>
      <p:sp>
        <p:nvSpPr>
          <p:cNvPr id="62" name="Text 60"/>
          <p:cNvSpPr txBox="1"/>
          <p:nvPr/>
        </p:nvSpPr>
        <p:spPr>
          <a:xfrm>
            <a:off x="5486400" y="5193792"/>
            <a:ext cx="1426464" cy="329184"/>
          </a:xfrm>
          <a:prstGeom prst="rect">
            <a:avLst/>
          </a:prstGeom>
          <a:noFill/>
          <a:ln/>
        </p:spPr>
        <p:txBody>
          <a:bodyPr wrap="square" lIns="0" tIns="0" rIns="0" bIns="0" rtlCol="0" anchor="ctr"/>
          <a:lstStyle/>
          <a:p>
            <a:pPr algn="ctr" indent="0" marL="0">
              <a:buNone/>
            </a:pPr>
            <a:r>
              <a:rPr lang="en-US" sz="950" b="1" dirty="0">
                <a:solidFill>
                  <a:srgbClr val="8B8B96"/>
                </a:solidFill>
                <a:latin typeface="Courier New" pitchFamily="34" charset="0"/>
                <a:ea typeface="Courier New" pitchFamily="34" charset="-122"/>
                <a:cs typeface="Courier New" pitchFamily="34" charset="-120"/>
              </a:rPr>
              <a:t>derived_from</a:t>
            </a:r>
            <a:endParaRPr lang="en-US" sz="950" dirty="0"/>
          </a:p>
        </p:txBody>
      </p:sp>
      <p:sp>
        <p:nvSpPr>
          <p:cNvPr id="63" name="Text 61"/>
          <p:cNvSpPr txBox="1"/>
          <p:nvPr/>
        </p:nvSpPr>
        <p:spPr>
          <a:xfrm>
            <a:off x="5486400" y="5541264"/>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25</a:t>
            </a:r>
            <a:endParaRPr lang="en-US" sz="900" dirty="0"/>
          </a:p>
        </p:txBody>
      </p:sp>
      <p:sp>
        <p:nvSpPr>
          <p:cNvPr id="64" name="Text 62"/>
          <p:cNvSpPr txBox="1"/>
          <p:nvPr/>
        </p:nvSpPr>
        <p:spPr>
          <a:xfrm>
            <a:off x="658368" y="6108192"/>
            <a:ext cx="10874959" cy="45720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Flow predicates — triggers, deactivates, manifests_as — stay narrow on purpose: a rejection there is an authoring mistake, not a gap in the schema. Descriptive ones widen as real cases turn up.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9</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WHY BOTHER</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A link graph says "related". This says how.</a:t>
            </a:r>
            <a:endParaRPr lang="en-US" sz="3200" dirty="0"/>
          </a:p>
        </p:txBody>
      </p:sp>
      <p:sp>
        <p:nvSpPr>
          <p:cNvPr id="5" name="Shape 3"/>
          <p:cNvSpPr/>
          <p:nvPr/>
        </p:nvSpPr>
        <p:spPr>
          <a:xfrm>
            <a:off x="658368" y="1572768"/>
            <a:ext cx="5212080" cy="2743200"/>
          </a:xfrm>
          <a:prstGeom prst="roundRect">
            <a:avLst>
              <a:gd name="adj" fmla="val 2667"/>
            </a:avLst>
          </a:prstGeom>
          <a:solidFill>
            <a:srgbClr val="F7F5FA"/>
          </a:solidFill>
          <a:ln w="9525">
            <a:solidFill>
              <a:srgbClr val="E5E2E8"/>
            </a:solidFill>
            <a:prstDash val="solid"/>
          </a:ln>
        </p:spPr>
      </p:sp>
      <p:sp>
        <p:nvSpPr>
          <p:cNvPr id="6" name="Text 4"/>
          <p:cNvSpPr txBox="1"/>
          <p:nvPr/>
        </p:nvSpPr>
        <p:spPr>
          <a:xfrm>
            <a:off x="950976" y="1810512"/>
            <a:ext cx="4754880" cy="274320"/>
          </a:xfrm>
          <a:prstGeom prst="rect">
            <a:avLst/>
          </a:prstGeom>
          <a:noFill/>
          <a:ln/>
        </p:spPr>
        <p:txBody>
          <a:bodyPr wrap="square" lIns="0" tIns="0" rIns="0" bIns="0" rtlCol="0" anchor="ctr"/>
          <a:lstStyle/>
          <a:p>
            <a:pPr indent="0" marL="0">
              <a:buNone/>
            </a:pPr>
            <a:r>
              <a:rPr lang="en-US" sz="1450" b="1" dirty="0">
                <a:solidFill>
                  <a:srgbClr val="6A6875"/>
                </a:solidFill>
                <a:latin typeface="Calibri" pitchFamily="34" charset="0"/>
                <a:ea typeface="Calibri" pitchFamily="34" charset="-122"/>
                <a:cs typeface="Calibri" pitchFamily="34" charset="-120"/>
              </a:rPr>
              <a:t>An ordinary link graph</a:t>
            </a:r>
            <a:endParaRPr lang="en-US" sz="1450" dirty="0"/>
          </a:p>
        </p:txBody>
      </p:sp>
      <p:sp>
        <p:nvSpPr>
          <p:cNvPr id="7" name="Text 5"/>
          <p:cNvSpPr txBox="1"/>
          <p:nvPr/>
        </p:nvSpPr>
        <p:spPr>
          <a:xfrm>
            <a:off x="950976" y="2240280"/>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Contempt</a:t>
            </a:r>
            <a:endParaRPr lang="en-US" sz="1150" dirty="0"/>
          </a:p>
        </p:txBody>
      </p:sp>
      <p:sp>
        <p:nvSpPr>
          <p:cNvPr id="8" name="Text 6"/>
          <p:cNvSpPr txBox="1"/>
          <p:nvPr/>
        </p:nvSpPr>
        <p:spPr>
          <a:xfrm>
            <a:off x="950976" y="2642616"/>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Unregistered Hurt</a:t>
            </a:r>
            <a:endParaRPr lang="en-US" sz="1150" dirty="0"/>
          </a:p>
        </p:txBody>
      </p:sp>
      <p:sp>
        <p:nvSpPr>
          <p:cNvPr id="9" name="Text 7"/>
          <p:cNvSpPr txBox="1"/>
          <p:nvPr/>
        </p:nvSpPr>
        <p:spPr>
          <a:xfrm>
            <a:off x="950976" y="3044952"/>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Self-Regulation</a:t>
            </a:r>
            <a:endParaRPr lang="en-US" sz="1150" dirty="0"/>
          </a:p>
        </p:txBody>
      </p:sp>
      <p:sp>
        <p:nvSpPr>
          <p:cNvPr id="10" name="Text 8"/>
          <p:cNvSpPr txBox="1"/>
          <p:nvPr/>
        </p:nvSpPr>
        <p:spPr>
          <a:xfrm>
            <a:off x="950976" y="3447288"/>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Amplifying The Signal</a:t>
            </a:r>
            <a:endParaRPr lang="en-US" sz="1150" dirty="0"/>
          </a:p>
        </p:txBody>
      </p:sp>
      <p:sp>
        <p:nvSpPr>
          <p:cNvPr id="11" name="Text 9"/>
          <p:cNvSpPr txBox="1"/>
          <p:nvPr/>
        </p:nvSpPr>
        <p:spPr>
          <a:xfrm>
            <a:off x="658368" y="4480560"/>
            <a:ext cx="5212080" cy="1005840"/>
          </a:xfrm>
          <a:prstGeom prst="rect">
            <a:avLst/>
          </a:prstGeom>
          <a:noFill/>
          <a:ln/>
        </p:spPr>
        <p:txBody>
          <a:bodyPr wrap="square" lIns="0" tIns="0" rIns="0" bIns="0" rtlCol="0" anchor="ctr"/>
          <a:lstStyle/>
          <a:p>
            <a:pPr indent="0" marL="0">
              <a:lnSpc>
                <a:spcPts val="1750"/>
              </a:lnSpc>
              <a:buNone/>
            </a:pPr>
            <a:r>
              <a:rPr lang="en-US" sz="1200" dirty="0">
                <a:solidFill>
                  <a:srgbClr val="6A6875"/>
                </a:solidFill>
                <a:latin typeface="Calibri" pitchFamily="34" charset="0"/>
                <a:ea typeface="Calibri" pitchFamily="34" charset="-122"/>
                <a:cs typeface="Calibri" pitchFamily="34" charset="-120"/>
              </a:rPr>
              <a:t>Four undifferentiated links. You cannot tell what any of them mean, so you cannot answer a question with them.</a:t>
            </a:r>
            <a:endParaRPr lang="en-US" sz="1200" dirty="0"/>
          </a:p>
        </p:txBody>
      </p:sp>
      <p:sp>
        <p:nvSpPr>
          <p:cNvPr id="12" name="Shape 10"/>
          <p:cNvSpPr/>
          <p:nvPr/>
        </p:nvSpPr>
        <p:spPr>
          <a:xfrm>
            <a:off x="6327648" y="1572768"/>
            <a:ext cx="5212080" cy="2743200"/>
          </a:xfrm>
          <a:prstGeom prst="roundRect">
            <a:avLst>
              <a:gd name="adj" fmla="val 2667"/>
            </a:avLst>
          </a:prstGeom>
          <a:solidFill>
            <a:srgbClr val="FFFFFF"/>
          </a:solidFill>
          <a:ln w="9525">
            <a:solidFill>
              <a:srgbClr val="E5E2E8"/>
            </a:solidFill>
            <a:prstDash val="solid"/>
          </a:ln>
        </p:spPr>
      </p:sp>
      <p:sp>
        <p:nvSpPr>
          <p:cNvPr id="13" name="Text 11"/>
          <p:cNvSpPr txBox="1"/>
          <p:nvPr/>
        </p:nvSpPr>
        <p:spPr>
          <a:xfrm>
            <a:off x="6620256" y="1810512"/>
            <a:ext cx="4754880" cy="274320"/>
          </a:xfrm>
          <a:prstGeom prst="rect">
            <a:avLst/>
          </a:prstGeom>
          <a:noFill/>
          <a:ln/>
        </p:spPr>
        <p:txBody>
          <a:bodyPr wrap="square" lIns="0" tIns="0" rIns="0" bIns="0" rtlCol="0" anchor="ctr"/>
          <a:lstStyle/>
          <a:p>
            <a:pPr indent="0" marL="0">
              <a:buNone/>
            </a:pPr>
            <a:r>
              <a:rPr lang="en-US" sz="1450" b="1" dirty="0">
                <a:solidFill>
                  <a:srgbClr val="7B4BD8"/>
                </a:solidFill>
                <a:latin typeface="Calibri" pitchFamily="34" charset="0"/>
                <a:ea typeface="Calibri" pitchFamily="34" charset="-122"/>
                <a:cs typeface="Calibri" pitchFamily="34" charset="-120"/>
              </a:rPr>
              <a:t>The same node, typed</a:t>
            </a:r>
            <a:endParaRPr lang="en-US" sz="1450" dirty="0"/>
          </a:p>
        </p:txBody>
      </p:sp>
      <p:sp>
        <p:nvSpPr>
          <p:cNvPr id="14" name="Text 12"/>
          <p:cNvSpPr txBox="1"/>
          <p:nvPr/>
        </p:nvSpPr>
        <p:spPr>
          <a:xfrm>
            <a:off x="6620256" y="2240280"/>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manifests_as</a:t>
            </a:r>
            <a:pPr indent="0" marL="0">
              <a:buNone/>
            </a:pPr>
            <a:r>
              <a:rPr lang="en-US" sz="1150" dirty="0">
                <a:solidFill>
                  <a:srgbClr val="22222A"/>
                </a:solidFill>
                <a:latin typeface="Calibri" pitchFamily="34" charset="0"/>
                <a:ea typeface="Calibri" pitchFamily="34" charset="-122"/>
                <a:cs typeface="Calibri" pitchFamily="34" charset="-120"/>
              </a:rPr>
              <a:t>  Looking Down On The Partner</a:t>
            </a:r>
            <a:endParaRPr lang="en-US" sz="1000" dirty="0"/>
          </a:p>
        </p:txBody>
      </p:sp>
      <p:sp>
        <p:nvSpPr>
          <p:cNvPr id="15" name="Text 13"/>
          <p:cNvSpPr txBox="1"/>
          <p:nvPr/>
        </p:nvSpPr>
        <p:spPr>
          <a:xfrm>
            <a:off x="6620256" y="2642616"/>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deactivates</a:t>
            </a:r>
            <a:pPr indent="0" marL="0">
              <a:buNone/>
            </a:pPr>
            <a:r>
              <a:rPr lang="en-US" sz="1150" dirty="0">
                <a:solidFill>
                  <a:srgbClr val="22222A"/>
                </a:solidFill>
                <a:latin typeface="Calibri" pitchFamily="34" charset="0"/>
                <a:ea typeface="Calibri" pitchFamily="34" charset="-122"/>
                <a:cs typeface="Calibri" pitchFamily="34" charset="-120"/>
              </a:rPr>
              <a:t>  Unregistered Hurt</a:t>
            </a:r>
            <a:endParaRPr lang="en-US" sz="1000" dirty="0"/>
          </a:p>
        </p:txBody>
      </p:sp>
      <p:sp>
        <p:nvSpPr>
          <p:cNvPr id="16" name="Text 14"/>
          <p:cNvSpPr txBox="1"/>
          <p:nvPr/>
        </p:nvSpPr>
        <p:spPr>
          <a:xfrm>
            <a:off x="6620256" y="3044952"/>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mistaken_for</a:t>
            </a:r>
            <a:pPr indent="0" marL="0">
              <a:buNone/>
            </a:pPr>
            <a:r>
              <a:rPr lang="en-US" sz="1150" dirty="0">
                <a:solidFill>
                  <a:srgbClr val="22222A"/>
                </a:solidFill>
                <a:latin typeface="Calibri" pitchFamily="34" charset="0"/>
                <a:ea typeface="Calibri" pitchFamily="34" charset="-122"/>
                <a:cs typeface="Calibri" pitchFamily="34" charset="-120"/>
              </a:rPr>
              <a:t>  Self-Regulation</a:t>
            </a:r>
            <a:endParaRPr lang="en-US" sz="1000" dirty="0"/>
          </a:p>
        </p:txBody>
      </p:sp>
      <p:sp>
        <p:nvSpPr>
          <p:cNvPr id="17" name="Text 15"/>
          <p:cNvSpPr txBox="1"/>
          <p:nvPr/>
        </p:nvSpPr>
        <p:spPr>
          <a:xfrm>
            <a:off x="6620256" y="3447288"/>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mirrors</a:t>
            </a:r>
            <a:pPr indent="0" marL="0">
              <a:buNone/>
            </a:pPr>
            <a:r>
              <a:rPr lang="en-US" sz="1150" dirty="0">
                <a:solidFill>
                  <a:srgbClr val="22222A"/>
                </a:solidFill>
                <a:latin typeface="Calibri" pitchFamily="34" charset="0"/>
                <a:ea typeface="Calibri" pitchFamily="34" charset="-122"/>
                <a:cs typeface="Calibri" pitchFamily="34" charset="-120"/>
              </a:rPr>
              <a:t>  Amplifying The Signal</a:t>
            </a:r>
            <a:endParaRPr lang="en-US" sz="1000" dirty="0"/>
          </a:p>
        </p:txBody>
      </p:sp>
      <p:sp>
        <p:nvSpPr>
          <p:cNvPr id="18" name="Text 16"/>
          <p:cNvSpPr txBox="1"/>
          <p:nvPr/>
        </p:nvSpPr>
        <p:spPr>
          <a:xfrm>
            <a:off x="6327648" y="4480560"/>
            <a:ext cx="5212080" cy="1005840"/>
          </a:xfrm>
          <a:prstGeom prst="rect">
            <a:avLst/>
          </a:prstGeom>
          <a:noFill/>
          <a:ln/>
        </p:spPr>
        <p:txBody>
          <a:bodyPr wrap="square" lIns="0" tIns="0" rIns="0" bIns="0" rtlCol="0" anchor="ctr"/>
          <a:lstStyle/>
          <a:p>
            <a:pPr indent="0" marL="0">
              <a:lnSpc>
                <a:spcPts val="1750"/>
              </a:lnSpc>
              <a:buNone/>
            </a:pPr>
            <a:r>
              <a:rPr lang="en-US" sz="1200" dirty="0">
                <a:solidFill>
                  <a:srgbClr val="6A6875"/>
                </a:solidFill>
                <a:latin typeface="Calibri" pitchFamily="34" charset="0"/>
                <a:ea typeface="Calibri" pitchFamily="34" charset="-122"/>
                <a:cs typeface="Calibri" pitchFamily="34" charset="-120"/>
              </a:rPr>
              <a:t>Now each link answers a different question: what it looks like from outside, what it shuts off, what it gets confused with, and what the anxious equivalent is.</a:t>
            </a:r>
            <a:endParaRPr lang="en-US" sz="1200" dirty="0"/>
          </a:p>
        </p:txBody>
      </p:sp>
      <p:sp>
        <p:nvSpPr>
          <p:cNvPr id="19" name="Text 17"/>
          <p:cNvSpPr txBox="1"/>
          <p:nvPr/>
        </p:nvSpPr>
        <p:spPr>
          <a:xfrm>
            <a:off x="658368" y="5806440"/>
            <a:ext cx="10874959" cy="365760"/>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This is also what makes the corpus usable by a model: it can walk a mechanism rather than pattern-match a topic.</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10</a:t>
            </a:r>
            <a:endParaRPr lang="en-US" sz="900" dirty="0"/>
          </a:p>
        </p:txBody>
      </p:sp>
      <p:sp>
        <p:nvSpPr>
          <p:cNvPr id="3" name="Text 1"/>
          <p:cNvSpPr txBox="1"/>
          <p:nvPr/>
        </p:nvSpPr>
        <p:spPr>
          <a:xfrm>
            <a:off x="658368" y="265176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What is in it</a:t>
            </a:r>
            <a:endParaRPr lang="en-US" sz="4400" dirty="0"/>
          </a:p>
        </p:txBody>
      </p:sp>
      <p:sp>
        <p:nvSpPr>
          <p:cNvPr id="4" name="Text 2"/>
          <p:cNvSpPr txBox="1"/>
          <p:nvPr/>
        </p:nvSpPr>
        <p:spPr>
          <a:xfrm>
            <a:off x="658368" y="3611880"/>
            <a:ext cx="6766560" cy="640080"/>
          </a:xfrm>
          <a:prstGeom prst="rect">
            <a:avLst/>
          </a:prstGeom>
          <a:noFill/>
          <a:ln/>
        </p:spPr>
        <p:txBody>
          <a:bodyPr wrap="square" lIns="0" tIns="0" rIns="0" bIns="0" rtlCol="0" anchor="ctr"/>
          <a:lstStyle/>
          <a:p>
            <a:pPr indent="0" marL="0">
              <a:lnSpc>
                <a:spcPts val="2100"/>
              </a:lnSpc>
              <a:buNone/>
            </a:pPr>
            <a:r>
              <a:rPr lang="en-US" sz="1400" dirty="0">
                <a:solidFill>
                  <a:srgbClr val="9C98A8"/>
                </a:solidFill>
                <a:latin typeface="Calibri" pitchFamily="34" charset="0"/>
                <a:ea typeface="Calibri" pitchFamily="34" charset="-122"/>
                <a:cs typeface="Calibri" pitchFamily="34" charset="-120"/>
              </a:rPr>
              <a:t>A few nodes from each part of the graph — out of 590. Every gloss below is the note’s own first sentence.</a:t>
            </a:r>
            <a:endParaRPr lang="en-US" sz="1400" dirty="0"/>
          </a:p>
        </p:txBody>
      </p:sp>
      <p:sp>
        <p:nvSpPr>
          <p:cNvPr id="5" name="Shape 3"/>
          <p:cNvSpPr/>
          <p:nvPr/>
        </p:nvSpPr>
        <p:spPr>
          <a:xfrm>
            <a:off x="658368" y="4663440"/>
            <a:ext cx="201168" cy="201168"/>
          </a:xfrm>
          <a:prstGeom prst="ellipse">
            <a:avLst/>
          </a:prstGeom>
          <a:solidFill>
            <a:srgbClr val="F2643E"/>
          </a:solidFill>
          <a:ln w="12700">
            <a:solidFill>
              <a:srgbClr val="333333"/>
            </a:solidFill>
            <a:prstDash val="solid"/>
          </a:ln>
        </p:spPr>
      </p:sp>
      <p:sp>
        <p:nvSpPr>
          <p:cNvPr id="6" name="Shape 4"/>
          <p:cNvSpPr/>
          <p:nvPr/>
        </p:nvSpPr>
        <p:spPr>
          <a:xfrm>
            <a:off x="987552" y="4663440"/>
            <a:ext cx="201168" cy="201168"/>
          </a:xfrm>
          <a:prstGeom prst="ellipse">
            <a:avLst/>
          </a:prstGeom>
          <a:solidFill>
            <a:srgbClr val="EDA72C"/>
          </a:solidFill>
          <a:ln w="12700">
            <a:solidFill>
              <a:srgbClr val="333333"/>
            </a:solidFill>
            <a:prstDash val="solid"/>
          </a:ln>
        </p:spPr>
      </p:sp>
      <p:sp>
        <p:nvSpPr>
          <p:cNvPr id="7" name="Shape 5"/>
          <p:cNvSpPr/>
          <p:nvPr/>
        </p:nvSpPr>
        <p:spPr>
          <a:xfrm>
            <a:off x="1316736" y="4663440"/>
            <a:ext cx="201168" cy="201168"/>
          </a:xfrm>
          <a:prstGeom prst="ellipse">
            <a:avLst/>
          </a:prstGeom>
          <a:solidFill>
            <a:srgbClr val="E04F86"/>
          </a:solidFill>
          <a:ln w="12700">
            <a:solidFill>
              <a:srgbClr val="333333"/>
            </a:solidFill>
            <a:prstDash val="solid"/>
          </a:ln>
        </p:spPr>
      </p:sp>
      <p:sp>
        <p:nvSpPr>
          <p:cNvPr id="8" name="Shape 6"/>
          <p:cNvSpPr/>
          <p:nvPr/>
        </p:nvSpPr>
        <p:spPr>
          <a:xfrm>
            <a:off x="1645920" y="4663440"/>
            <a:ext cx="201168" cy="201168"/>
          </a:xfrm>
          <a:prstGeom prst="ellipse">
            <a:avLst/>
          </a:prstGeom>
          <a:solidFill>
            <a:srgbClr val="C56AD9"/>
          </a:solidFill>
          <a:ln w="12700">
            <a:solidFill>
              <a:srgbClr val="333333"/>
            </a:solidFill>
            <a:prstDash val="solid"/>
          </a:ln>
        </p:spPr>
      </p:sp>
      <p:sp>
        <p:nvSpPr>
          <p:cNvPr id="9" name="Shape 7"/>
          <p:cNvSpPr/>
          <p:nvPr/>
        </p:nvSpPr>
        <p:spPr>
          <a:xfrm>
            <a:off x="1975104" y="4663440"/>
            <a:ext cx="201168" cy="201168"/>
          </a:xfrm>
          <a:prstGeom prst="ellipse">
            <a:avLst/>
          </a:prstGeom>
          <a:solidFill>
            <a:srgbClr val="5B83E8"/>
          </a:solidFill>
          <a:ln w="12700">
            <a:solidFill>
              <a:srgbClr val="333333"/>
            </a:solidFill>
            <a:prstDash val="solid"/>
          </a:ln>
        </p:spPr>
      </p:sp>
      <p:sp>
        <p:nvSpPr>
          <p:cNvPr id="10" name="Shape 8"/>
          <p:cNvSpPr/>
          <p:nvPr/>
        </p:nvSpPr>
        <p:spPr>
          <a:xfrm>
            <a:off x="2304288" y="4663440"/>
            <a:ext cx="201168" cy="201168"/>
          </a:xfrm>
          <a:prstGeom prst="ellipse">
            <a:avLst/>
          </a:prstGeom>
          <a:solidFill>
            <a:srgbClr val="3C5FA8"/>
          </a:solidFill>
          <a:ln w="12700">
            <a:solidFill>
              <a:srgbClr val="333333"/>
            </a:solidFill>
            <a:prstDash val="solid"/>
          </a:ln>
        </p:spPr>
      </p:sp>
      <p:sp>
        <p:nvSpPr>
          <p:cNvPr id="11" name="Shape 9"/>
          <p:cNvSpPr/>
          <p:nvPr/>
        </p:nvSpPr>
        <p:spPr>
          <a:xfrm>
            <a:off x="2633472" y="4663440"/>
            <a:ext cx="201168" cy="201168"/>
          </a:xfrm>
          <a:prstGeom prst="ellipse">
            <a:avLst/>
          </a:prstGeom>
          <a:solidFill>
            <a:srgbClr val="5BB84F"/>
          </a:solidFill>
          <a:ln w="12700">
            <a:solidFill>
              <a:srgbClr val="333333"/>
            </a:solidFill>
            <a:prstDash val="solid"/>
          </a:ln>
        </p:spPr>
      </p:sp>
      <p:sp>
        <p:nvSpPr>
          <p:cNvPr id="12" name="Shape 10"/>
          <p:cNvSpPr/>
          <p:nvPr/>
        </p:nvSpPr>
        <p:spPr>
          <a:xfrm>
            <a:off x="2962656" y="4663440"/>
            <a:ext cx="201168" cy="201168"/>
          </a:xfrm>
          <a:prstGeom prst="ellipse">
            <a:avLst/>
          </a:prstGeom>
          <a:solidFill>
            <a:srgbClr val="2BB0A3"/>
          </a:solidFill>
          <a:ln w="12700">
            <a:solidFill>
              <a:srgbClr val="333333"/>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11</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MECHANISM</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Triggers and states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What sets the system off, and what is running underneath when it does. Small in number and heavily connected — these are the load-bearing nodes.</a:t>
            </a:r>
            <a:endParaRPr lang="en-US" sz="1450" dirty="0"/>
          </a:p>
        </p:txBody>
      </p:sp>
      <p:sp>
        <p:nvSpPr>
          <p:cNvPr id="6" name="Shape 4"/>
          <p:cNvSpPr/>
          <p:nvPr/>
        </p:nvSpPr>
        <p:spPr>
          <a:xfrm>
            <a:off x="658368" y="2537460"/>
            <a:ext cx="173736" cy="173736"/>
          </a:xfrm>
          <a:prstGeom prst="ellipse">
            <a:avLst/>
          </a:prstGeom>
          <a:solidFill>
            <a:srgbClr val="F2643E"/>
          </a:solidFill>
          <a:ln w="12700">
            <a:solidFill>
              <a:srgbClr val="F2643E"/>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Things Going Well</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DA:alternating AP:alternating FA:core</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signature fearful-avoidant trigger, and the one that makes the style hardest to read from outside: activation peaks not during conflict but when the relationship becomes calm, open and loving.</a:t>
            </a:r>
            <a:endParaRPr lang="en-US" sz="1150" dirty="0"/>
          </a:p>
        </p:txBody>
      </p:sp>
      <p:sp>
        <p:nvSpPr>
          <p:cNvPr id="10" name="Shape 8"/>
          <p:cNvSpPr/>
          <p:nvPr/>
        </p:nvSpPr>
        <p:spPr>
          <a:xfrm>
            <a:off x="6327648" y="2537460"/>
            <a:ext cx="173736" cy="173736"/>
          </a:xfrm>
          <a:prstGeom prst="ellipse">
            <a:avLst/>
          </a:prstGeom>
          <a:solidFill>
            <a:srgbClr val="F2643E"/>
          </a:solidFill>
          <a:ln w="12700">
            <a:solidFill>
              <a:srgbClr val="F2643E"/>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Broken Promise</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DA:core AP:feared FA:alternating</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A concrete instance of hurt that does not get registered: someone says they will do something and does not.</a:t>
            </a:r>
            <a:endParaRPr lang="en-US" sz="1150" dirty="0"/>
          </a:p>
        </p:txBody>
      </p:sp>
      <p:sp>
        <p:nvSpPr>
          <p:cNvPr id="14" name="Shape 12"/>
          <p:cNvSpPr/>
          <p:nvPr/>
        </p:nvSpPr>
        <p:spPr>
          <a:xfrm>
            <a:off x="658368" y="4293108"/>
            <a:ext cx="173736" cy="173736"/>
          </a:xfrm>
          <a:prstGeom prst="ellipse">
            <a:avLst/>
          </a:prstGeom>
          <a:solidFill>
            <a:srgbClr val="EDA72C"/>
          </a:solidFill>
          <a:ln w="12700">
            <a:solidFill>
              <a:srgbClr val="EDA72C"/>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Chronic Abandonment Fear</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AP:core FA:alternating</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A background dread of being left that stays conscious rather than surfacing only in crises.</a:t>
            </a:r>
            <a:endParaRPr lang="en-US" sz="1150" dirty="0"/>
          </a:p>
        </p:txBody>
      </p:sp>
      <p:sp>
        <p:nvSpPr>
          <p:cNvPr id="18" name="Shape 16"/>
          <p:cNvSpPr/>
          <p:nvPr/>
        </p:nvSpPr>
        <p:spPr>
          <a:xfrm>
            <a:off x="6327648" y="4293108"/>
            <a:ext cx="173736" cy="173736"/>
          </a:xfrm>
          <a:prstGeom prst="ellipse">
            <a:avLst/>
          </a:prstGeom>
          <a:solidFill>
            <a:srgbClr val="EDA72C"/>
          </a:solidFill>
          <a:ln w="12700">
            <a:solidFill>
              <a:srgbClr val="EDA72C"/>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Contempt</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AP:feared FA:alternating</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What arrives in place of the vulnerable feeling.</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Only 4 triggers and 26 states in the whole graph, against 245 concepts. The causal core is small; almost everything else hangs off it.</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12</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MECHANISM</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Strategies and behaviours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What the system does about the state, and what that looks like from the outside. The distinction matters: a strategy is not visible, a behaviour is.</a:t>
            </a:r>
            <a:endParaRPr lang="en-US" sz="1450" dirty="0"/>
          </a:p>
        </p:txBody>
      </p:sp>
      <p:sp>
        <p:nvSpPr>
          <p:cNvPr id="6" name="Shape 4"/>
          <p:cNvSpPr/>
          <p:nvPr/>
        </p:nvSpPr>
        <p:spPr>
          <a:xfrm>
            <a:off x="658368" y="2537460"/>
            <a:ext cx="173736" cy="173736"/>
          </a:xfrm>
          <a:prstGeom prst="ellipse">
            <a:avLst/>
          </a:prstGeom>
          <a:solidFill>
            <a:srgbClr val="E04F86"/>
          </a:solidFill>
          <a:ln w="12700">
            <a:solidFill>
              <a:srgbClr val="E04F86"/>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Affect Suppression</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5 videos   ·   DA:core AP:feared FA:alternating</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system does not merely hide hurt from other people — it withholds the experience from the person having it.</a:t>
            </a:r>
            <a:endParaRPr lang="en-US" sz="1150" dirty="0"/>
          </a:p>
        </p:txBody>
      </p:sp>
      <p:sp>
        <p:nvSpPr>
          <p:cNvPr id="10" name="Shape 8"/>
          <p:cNvSpPr/>
          <p:nvPr/>
        </p:nvSpPr>
        <p:spPr>
          <a:xfrm>
            <a:off x="6327648" y="2537460"/>
            <a:ext cx="173736" cy="173736"/>
          </a:xfrm>
          <a:prstGeom prst="ellipse">
            <a:avLst/>
          </a:prstGeom>
          <a:solidFill>
            <a:srgbClr val="E04F86"/>
          </a:solidFill>
          <a:ln w="12700">
            <a:solidFill>
              <a:srgbClr val="E04F86"/>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Hyperactivating Strategies</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6 videos   ·   AP:core FA:alternating</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anxious counterpart. The same growing dependency that sends the avoidant system scanning for cost sends this one scanning for signs the bond is at risk, because what it cannot afford to lose is the co-regulation…</a:t>
            </a:r>
            <a:endParaRPr lang="en-US" sz="1150" dirty="0"/>
          </a:p>
        </p:txBody>
      </p:sp>
      <p:sp>
        <p:nvSpPr>
          <p:cNvPr id="14" name="Shape 12"/>
          <p:cNvSpPr/>
          <p:nvPr/>
        </p:nvSpPr>
        <p:spPr>
          <a:xfrm>
            <a:off x="658368" y="4293108"/>
            <a:ext cx="173736" cy="173736"/>
          </a:xfrm>
          <a:prstGeom prst="ellipse">
            <a:avLst/>
          </a:prstGeom>
          <a:solidFill>
            <a:srgbClr val="C56AD9"/>
          </a:solidFill>
          <a:ln w="12700">
            <a:solidFill>
              <a:srgbClr val="C56AD9"/>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Emotional Withdrawal</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AP:feared FA:alternating</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visible end of deactivation: less contact, less disclosure, less of oneself brought into the room.</a:t>
            </a:r>
            <a:endParaRPr lang="en-US" sz="1150" dirty="0"/>
          </a:p>
        </p:txBody>
      </p:sp>
      <p:sp>
        <p:nvSpPr>
          <p:cNvPr id="18" name="Shape 16"/>
          <p:cNvSpPr/>
          <p:nvPr/>
        </p:nvSpPr>
        <p:spPr>
          <a:xfrm>
            <a:off x="6327648" y="4293108"/>
            <a:ext cx="173736" cy="173736"/>
          </a:xfrm>
          <a:prstGeom prst="ellipse">
            <a:avLst/>
          </a:prstGeom>
          <a:solidFill>
            <a:srgbClr val="C56AD9"/>
          </a:solidFill>
          <a:ln w="12700">
            <a:solidFill>
              <a:srgbClr val="C56AD9"/>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Honest Expression Of Need</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S:secure-form</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Saying what you need plainly, which requires first being in contact with it and able to name it.</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The lens line under each title is what that node is for each style — core, feared, alternating, absent. The same strategy is a defining move for one style and the thing another organises itself against.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13</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STRUCTURE</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Beliefs and origins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The conclusion that keeps a strategy running, and the developmental condition that made the conclusion reasonable at the time.</a:t>
            </a:r>
            <a:endParaRPr lang="en-US" sz="1450" dirty="0"/>
          </a:p>
        </p:txBody>
      </p:sp>
      <p:sp>
        <p:nvSpPr>
          <p:cNvPr id="6" name="Shape 4"/>
          <p:cNvSpPr/>
          <p:nvPr/>
        </p:nvSpPr>
        <p:spPr>
          <a:xfrm>
            <a:off x="658368" y="2537460"/>
            <a:ext cx="173736" cy="173736"/>
          </a:xfrm>
          <a:prstGeom prst="ellipse">
            <a:avLst/>
          </a:prstGeom>
          <a:solidFill>
            <a:srgbClr val="5B83E8"/>
          </a:solidFill>
          <a:ln w="12700">
            <a:solidFill>
              <a:srgbClr val="5B83E8"/>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The Redemption Fantasy</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AP:core FA:alternating</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wager underneath limerence: that things become permanently alright if this particular person can be got to care in this particular way.</a:t>
            </a:r>
            <a:endParaRPr lang="en-US" sz="1150" dirty="0"/>
          </a:p>
        </p:txBody>
      </p:sp>
      <p:sp>
        <p:nvSpPr>
          <p:cNvPr id="10" name="Shape 8"/>
          <p:cNvSpPr/>
          <p:nvPr/>
        </p:nvSpPr>
        <p:spPr>
          <a:xfrm>
            <a:off x="6327648" y="2537460"/>
            <a:ext cx="173736" cy="173736"/>
          </a:xfrm>
          <a:prstGeom prst="ellipse">
            <a:avLst/>
          </a:prstGeom>
          <a:solidFill>
            <a:srgbClr val="5B83E8"/>
          </a:solidFill>
          <a:ln w="12700">
            <a:solidFill>
              <a:srgbClr val="5B83E8"/>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Relationships Only Take</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FA:alternating</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conclusion that follows from never bringing your own wants to a relationship: if you do not ask it for anything, it cannot give you anything, and the ledger will always read as loss.</a:t>
            </a:r>
            <a:endParaRPr lang="en-US" sz="1150" dirty="0"/>
          </a:p>
        </p:txBody>
      </p:sp>
      <p:sp>
        <p:nvSpPr>
          <p:cNvPr id="14" name="Shape 12"/>
          <p:cNvSpPr/>
          <p:nvPr/>
        </p:nvSpPr>
        <p:spPr>
          <a:xfrm>
            <a:off x="658368" y="4293108"/>
            <a:ext cx="173736" cy="173736"/>
          </a:xfrm>
          <a:prstGeom prst="ellipse">
            <a:avLst/>
          </a:prstGeom>
          <a:solidFill>
            <a:srgbClr val="3C5FA8"/>
          </a:solidFill>
          <a:ln w="12700">
            <a:solidFill>
              <a:srgbClr val="3C5FA8"/>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Attachment-Seeking Met With Hostility</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6 videos   ·   DA:core AP:feared FA:alternating</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developmental condition behind avoidant patterning: reaching toward a caregiver in vulnerability or need predictably produced withdrawal or hostility rather than attunement.</a:t>
            </a:r>
            <a:endParaRPr lang="en-US" sz="1150" dirty="0"/>
          </a:p>
        </p:txBody>
      </p:sp>
      <p:sp>
        <p:nvSpPr>
          <p:cNvPr id="18" name="Shape 16"/>
          <p:cNvSpPr/>
          <p:nvPr/>
        </p:nvSpPr>
        <p:spPr>
          <a:xfrm>
            <a:off x="6327648" y="4293108"/>
            <a:ext cx="173736" cy="173736"/>
          </a:xfrm>
          <a:prstGeom prst="ellipse">
            <a:avLst/>
          </a:prstGeom>
          <a:solidFill>
            <a:srgbClr val="3C5FA8"/>
          </a:solidFill>
          <a:ln w="12700">
            <a:solidFill>
              <a:srgbClr val="3C5FA8"/>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Inconsistent Responsiveness</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AP:core FA:alternating</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Care that arrived sometimes and not others.</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Only 13 origins. They are the most connected nodes in the graph — a single developmental condition sits underneath dozens of adult moves.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14</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HEALING SIDE</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Practices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93 of them — the largest type after concepts. Not advice: things she describes someone actually doing, each linked to what it is supposed to unwind.</a:t>
            </a:r>
            <a:endParaRPr lang="en-US" sz="1450" dirty="0"/>
          </a:p>
        </p:txBody>
      </p:sp>
      <p:sp>
        <p:nvSpPr>
          <p:cNvPr id="6" name="Shape 4"/>
          <p:cNvSpPr/>
          <p:nvPr/>
        </p:nvSpPr>
        <p:spPr>
          <a:xfrm>
            <a:off x="658368" y="2537460"/>
            <a:ext cx="173736" cy="173736"/>
          </a:xfrm>
          <a:prstGeom prst="ellipse">
            <a:avLst/>
          </a:prstGeom>
          <a:solidFill>
            <a:srgbClr val="5BB84F"/>
          </a:solidFill>
          <a:ln w="12700">
            <a:solidFill>
              <a:srgbClr val="5BB84F"/>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Deciding Not To Decide</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DA:alternating AP:alternating FA:core</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Recognise the activated state and rule yourself out of decisions while you are in it, on the reasoning that a genuinely important decision can survive a delay.</a:t>
            </a:r>
            <a:endParaRPr lang="en-US" sz="1150" dirty="0"/>
          </a:p>
        </p:txBody>
      </p:sp>
      <p:sp>
        <p:nvSpPr>
          <p:cNvPr id="10" name="Shape 8"/>
          <p:cNvSpPr/>
          <p:nvPr/>
        </p:nvSpPr>
        <p:spPr>
          <a:xfrm>
            <a:off x="6327648" y="2537460"/>
            <a:ext cx="173736" cy="173736"/>
          </a:xfrm>
          <a:prstGeom prst="ellipse">
            <a:avLst/>
          </a:prstGeom>
          <a:solidFill>
            <a:srgbClr val="5BB84F"/>
          </a:solidFill>
          <a:ln w="12700">
            <a:solidFill>
              <a:srgbClr val="5BB84F"/>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Taking Your Partner At Face Value</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AP:core FA:core S:secondary</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Presenting your own position without editing and receiving theirs without decoding it.</a:t>
            </a:r>
            <a:endParaRPr lang="en-US" sz="1150" dirty="0"/>
          </a:p>
        </p:txBody>
      </p:sp>
      <p:sp>
        <p:nvSpPr>
          <p:cNvPr id="14" name="Shape 12"/>
          <p:cNvSpPr/>
          <p:nvPr/>
        </p:nvSpPr>
        <p:spPr>
          <a:xfrm>
            <a:off x="658368" y="4293108"/>
            <a:ext cx="173736" cy="173736"/>
          </a:xfrm>
          <a:prstGeom prst="ellipse">
            <a:avLst/>
          </a:prstGeom>
          <a:solidFill>
            <a:srgbClr val="5BB84F"/>
          </a:solidFill>
          <a:ln w="12700">
            <a:solidFill>
              <a:srgbClr val="5BB84F"/>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Tolerating Emotional Discomfort</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AP:core FA:core S:secondary</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She names this as the single capacity that most determines whether someone can sustain close relationships.</a:t>
            </a:r>
            <a:endParaRPr lang="en-US" sz="1150" dirty="0"/>
          </a:p>
        </p:txBody>
      </p:sp>
      <p:sp>
        <p:nvSpPr>
          <p:cNvPr id="18" name="Shape 16"/>
          <p:cNvSpPr/>
          <p:nvPr/>
        </p:nvSpPr>
        <p:spPr>
          <a:xfrm>
            <a:off x="6327648" y="4293108"/>
            <a:ext cx="173736" cy="173736"/>
          </a:xfrm>
          <a:prstGeom prst="ellipse">
            <a:avLst/>
          </a:prstGeom>
          <a:solidFill>
            <a:srgbClr val="5BB84F"/>
          </a:solidFill>
          <a:ln w="12700">
            <a:solidFill>
              <a:srgbClr val="5BB84F"/>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Naming The Feeling Accurately</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DA:core AP:core FA:core S:secondary</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Say what is actually there rather than a verdict about it.</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Every practice is joined to what it is meant to unwind by a healed_by or regulates edge, and some require another practice first — so the graph can say what has to come before what.</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15</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IDEAS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Concepts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245 nodes, the bulk of the graph: her named ideas and framings, the ones the rest of the material hangs off.</a:t>
            </a:r>
            <a:endParaRPr lang="en-US" sz="1450" dirty="0"/>
          </a:p>
        </p:txBody>
      </p:sp>
      <p:sp>
        <p:nvSpPr>
          <p:cNvPr id="6" name="Shape 4"/>
          <p:cNvSpPr/>
          <p:nvPr/>
        </p:nvSpPr>
        <p:spPr>
          <a:xfrm>
            <a:off x="658368" y="2537460"/>
            <a:ext cx="173736" cy="173736"/>
          </a:xfrm>
          <a:prstGeom prst="ellipse">
            <a:avLst/>
          </a:prstGeom>
          <a:solidFill>
            <a:srgbClr val="2BB0A3"/>
          </a:solidFill>
          <a:ln w="12700">
            <a:solidFill>
              <a:srgbClr val="2BB0A3"/>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Attunement</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DA:core AP:core FA:core S:secondary</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Reading another person's state, letting your own respond to it, and reflecting it back accurately before helping settle it.</a:t>
            </a:r>
            <a:endParaRPr lang="en-US" sz="1150" dirty="0"/>
          </a:p>
        </p:txBody>
      </p:sp>
      <p:sp>
        <p:nvSpPr>
          <p:cNvPr id="10" name="Shape 8"/>
          <p:cNvSpPr/>
          <p:nvPr/>
        </p:nvSpPr>
        <p:spPr>
          <a:xfrm>
            <a:off x="6327648" y="2537460"/>
            <a:ext cx="173736" cy="173736"/>
          </a:xfrm>
          <a:prstGeom prst="ellipse">
            <a:avLst/>
          </a:prstGeom>
          <a:solidFill>
            <a:srgbClr val="2BB0A3"/>
          </a:solidFill>
          <a:ln w="12700">
            <a:solidFill>
              <a:srgbClr val="2BB0A3"/>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The Conscious Competence Model</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DA:core AP:core FA:core S:secondary</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four-stage frame she maps healing onto: running the pattern without seeing it, running it while seeing it, being able to do otherwise with deliberate effort, and finally doing otherwise without effort.</a:t>
            </a:r>
            <a:endParaRPr lang="en-US" sz="1150" dirty="0"/>
          </a:p>
        </p:txBody>
      </p:sp>
      <p:sp>
        <p:nvSpPr>
          <p:cNvPr id="14" name="Shape 12"/>
          <p:cNvSpPr/>
          <p:nvPr/>
        </p:nvSpPr>
        <p:spPr>
          <a:xfrm>
            <a:off x="658368" y="4293108"/>
            <a:ext cx="173736" cy="173736"/>
          </a:xfrm>
          <a:prstGeom prst="ellipse">
            <a:avLst/>
          </a:prstGeom>
          <a:solidFill>
            <a:srgbClr val="2BB0A3"/>
          </a:solidFill>
          <a:ln w="12700">
            <a:solidFill>
              <a:srgbClr val="2BB0A3"/>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Co-Regulation</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DA:core AP:core FA:core S:secondary</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Two nervous systems settling each other. Mostly mundane — getting used to someone replying, to their presence in a week — rather than the dramatic comforting the word suggests, which is why becoming dependent on it goes…</a:t>
            </a:r>
            <a:endParaRPr lang="en-US" sz="1150" dirty="0"/>
          </a:p>
        </p:txBody>
      </p:sp>
      <p:sp>
        <p:nvSpPr>
          <p:cNvPr id="18" name="Shape 16"/>
          <p:cNvSpPr/>
          <p:nvPr/>
        </p:nvSpPr>
        <p:spPr>
          <a:xfrm>
            <a:off x="6327648" y="4293108"/>
            <a:ext cx="173736" cy="173736"/>
          </a:xfrm>
          <a:prstGeom prst="ellipse">
            <a:avLst/>
          </a:prstGeom>
          <a:solidFill>
            <a:srgbClr val="2BB0A3"/>
          </a:solidFill>
          <a:ln w="12700">
            <a:solidFill>
              <a:srgbClr val="2BB0A3"/>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Knowing The Mechanism</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AP:core FA:core S:secondary</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Her answer to why understanding the origin matters at all, given that understanding changes nothing by itself.</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Concepts are where her own vocabulary lives, and where a reader most often needs a definition rather than a diagram.</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16</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USEFUL ONE</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Mirrors</a:t>
            </a:r>
            <a:endParaRPr lang="en-US" sz="3200" dirty="0"/>
          </a:p>
        </p:txBody>
      </p:sp>
      <p:sp>
        <p:nvSpPr>
          <p:cNvPr id="5" name="Text 3"/>
          <p:cNvSpPr txBox="1"/>
          <p:nvPr/>
        </p:nvSpPr>
        <p:spPr>
          <a:xfrm>
            <a:off x="658368" y="1609344"/>
            <a:ext cx="8699967" cy="68580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The predicate that pairs a move in one style with its counterpart in another. It is the most useful relationship in the graph when helping someone, because it describes a pattern without claiming anything about who is running it.</a:t>
            </a:r>
            <a:endParaRPr lang="en-US" sz="1450" dirty="0"/>
          </a:p>
        </p:txBody>
      </p:sp>
      <p:sp>
        <p:nvSpPr>
          <p:cNvPr id="6" name="Shape 4"/>
          <p:cNvSpPr/>
          <p:nvPr/>
        </p:nvSpPr>
        <p:spPr>
          <a:xfrm>
            <a:off x="658368" y="2651760"/>
            <a:ext cx="10874959" cy="1051560"/>
          </a:xfrm>
          <a:prstGeom prst="roundRect">
            <a:avLst>
              <a:gd name="adj" fmla="val 6957"/>
            </a:avLst>
          </a:prstGeom>
          <a:solidFill>
            <a:srgbClr val="F7F5FA"/>
          </a:solidFill>
          <a:ln w="9525">
            <a:solidFill>
              <a:srgbClr val="E5E2E8"/>
            </a:solidFill>
            <a:prstDash val="solid"/>
          </a:ln>
        </p:spPr>
      </p:sp>
      <p:sp>
        <p:nvSpPr>
          <p:cNvPr id="7" name="Shape 5"/>
          <p:cNvSpPr/>
          <p:nvPr/>
        </p:nvSpPr>
        <p:spPr>
          <a:xfrm>
            <a:off x="932688" y="2907792"/>
            <a:ext cx="164592" cy="164592"/>
          </a:xfrm>
          <a:prstGeom prst="ellipse">
            <a:avLst/>
          </a:prstGeom>
          <a:solidFill>
            <a:srgbClr val="E04F86"/>
          </a:solidFill>
          <a:ln w="12700">
            <a:solidFill>
              <a:srgbClr val="333333"/>
            </a:solidFill>
            <a:prstDash val="solid"/>
          </a:ln>
        </p:spPr>
      </p:sp>
      <p:sp>
        <p:nvSpPr>
          <p:cNvPr id="8" name="Text 6"/>
          <p:cNvSpPr txBox="1"/>
          <p:nvPr/>
        </p:nvSpPr>
        <p:spPr>
          <a:xfrm>
            <a:off x="1188720" y="2834640"/>
            <a:ext cx="329184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Affect Suppression</a:t>
            </a:r>
            <a:endParaRPr lang="en-US" sz="1300" dirty="0"/>
          </a:p>
        </p:txBody>
      </p:sp>
      <p:sp>
        <p:nvSpPr>
          <p:cNvPr id="9" name="Text 7"/>
          <p:cNvSpPr txBox="1"/>
          <p:nvPr/>
        </p:nvSpPr>
        <p:spPr>
          <a:xfrm>
            <a:off x="4544568" y="2834640"/>
            <a:ext cx="365760" cy="292608"/>
          </a:xfrm>
          <a:prstGeom prst="rect">
            <a:avLst/>
          </a:prstGeom>
          <a:noFill/>
          <a:ln/>
        </p:spPr>
        <p:txBody>
          <a:bodyPr wrap="square" lIns="0" tIns="0" rIns="0" bIns="0" rtlCol="0" anchor="ctr"/>
          <a:lstStyle/>
          <a:p>
            <a:pPr algn="ctr" indent="0" marL="0">
              <a:buNone/>
            </a:pPr>
            <a:r>
              <a:rPr lang="en-US" sz="1500" dirty="0">
                <a:solidFill>
                  <a:srgbClr val="7B4BD8"/>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5029200" y="2907792"/>
            <a:ext cx="164592" cy="164592"/>
          </a:xfrm>
          <a:prstGeom prst="ellipse">
            <a:avLst/>
          </a:prstGeom>
          <a:solidFill>
            <a:srgbClr val="E04F86"/>
          </a:solidFill>
          <a:ln w="12700">
            <a:solidFill>
              <a:srgbClr val="333333"/>
            </a:solidFill>
            <a:prstDash val="solid"/>
          </a:ln>
        </p:spPr>
      </p:sp>
      <p:sp>
        <p:nvSpPr>
          <p:cNvPr id="11" name="Text 9"/>
          <p:cNvSpPr txBox="1"/>
          <p:nvPr/>
        </p:nvSpPr>
        <p:spPr>
          <a:xfrm>
            <a:off x="5285232" y="2834640"/>
            <a:ext cx="338328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Amplifying The Signal</a:t>
            </a:r>
            <a:endParaRPr lang="en-US" sz="1300" dirty="0"/>
          </a:p>
        </p:txBody>
      </p:sp>
      <p:sp>
        <p:nvSpPr>
          <p:cNvPr id="12" name="Text 10"/>
          <p:cNvSpPr txBox="1"/>
          <p:nvPr/>
        </p:nvSpPr>
        <p:spPr>
          <a:xfrm>
            <a:off x="1188720" y="3182112"/>
            <a:ext cx="9960559" cy="4572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The avoidant move and the anxious move are the same move — turning the volume of a feeling down, or up, so that it does what is needed.</a:t>
            </a:r>
            <a:endParaRPr lang="en-US" sz="1100" dirty="0"/>
          </a:p>
        </p:txBody>
      </p:sp>
      <p:sp>
        <p:nvSpPr>
          <p:cNvPr id="13" name="Shape 11"/>
          <p:cNvSpPr/>
          <p:nvPr/>
        </p:nvSpPr>
        <p:spPr>
          <a:xfrm>
            <a:off x="658368" y="3840480"/>
            <a:ext cx="10874959" cy="1051560"/>
          </a:xfrm>
          <a:prstGeom prst="roundRect">
            <a:avLst>
              <a:gd name="adj" fmla="val 6957"/>
            </a:avLst>
          </a:prstGeom>
          <a:solidFill>
            <a:srgbClr val="F7F5FA"/>
          </a:solidFill>
          <a:ln w="9525">
            <a:solidFill>
              <a:srgbClr val="E5E2E8"/>
            </a:solidFill>
            <a:prstDash val="solid"/>
          </a:ln>
        </p:spPr>
      </p:sp>
      <p:sp>
        <p:nvSpPr>
          <p:cNvPr id="14" name="Shape 12"/>
          <p:cNvSpPr/>
          <p:nvPr/>
        </p:nvSpPr>
        <p:spPr>
          <a:xfrm>
            <a:off x="932688" y="4096512"/>
            <a:ext cx="164592" cy="164592"/>
          </a:xfrm>
          <a:prstGeom prst="ellipse">
            <a:avLst/>
          </a:prstGeom>
          <a:solidFill>
            <a:srgbClr val="E04F86"/>
          </a:solidFill>
          <a:ln w="12700">
            <a:solidFill>
              <a:srgbClr val="333333"/>
            </a:solidFill>
            <a:prstDash val="solid"/>
          </a:ln>
        </p:spPr>
      </p:sp>
      <p:sp>
        <p:nvSpPr>
          <p:cNvPr id="15" name="Text 13"/>
          <p:cNvSpPr txBox="1"/>
          <p:nvPr/>
        </p:nvSpPr>
        <p:spPr>
          <a:xfrm>
            <a:off x="1188720" y="4023360"/>
            <a:ext cx="329184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Deactivating Strategies</a:t>
            </a:r>
            <a:endParaRPr lang="en-US" sz="1300" dirty="0"/>
          </a:p>
        </p:txBody>
      </p:sp>
      <p:sp>
        <p:nvSpPr>
          <p:cNvPr id="16" name="Text 14"/>
          <p:cNvSpPr txBox="1"/>
          <p:nvPr/>
        </p:nvSpPr>
        <p:spPr>
          <a:xfrm>
            <a:off x="4544568" y="4023360"/>
            <a:ext cx="365760" cy="292608"/>
          </a:xfrm>
          <a:prstGeom prst="rect">
            <a:avLst/>
          </a:prstGeom>
          <a:noFill/>
          <a:ln/>
        </p:spPr>
        <p:txBody>
          <a:bodyPr wrap="square" lIns="0" tIns="0" rIns="0" bIns="0" rtlCol="0" anchor="ctr"/>
          <a:lstStyle/>
          <a:p>
            <a:pPr algn="ctr" indent="0" marL="0">
              <a:buNone/>
            </a:pPr>
            <a:r>
              <a:rPr lang="en-US" sz="1500" dirty="0">
                <a:solidFill>
                  <a:srgbClr val="7B4BD8"/>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5029200" y="4096512"/>
            <a:ext cx="164592" cy="164592"/>
          </a:xfrm>
          <a:prstGeom prst="ellipse">
            <a:avLst/>
          </a:prstGeom>
          <a:solidFill>
            <a:srgbClr val="E04F86"/>
          </a:solidFill>
          <a:ln w="12700">
            <a:solidFill>
              <a:srgbClr val="333333"/>
            </a:solidFill>
            <a:prstDash val="solid"/>
          </a:ln>
        </p:spPr>
      </p:sp>
      <p:sp>
        <p:nvSpPr>
          <p:cNvPr id="18" name="Text 16"/>
          <p:cNvSpPr txBox="1"/>
          <p:nvPr/>
        </p:nvSpPr>
        <p:spPr>
          <a:xfrm>
            <a:off x="5285232" y="4023360"/>
            <a:ext cx="338328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Hyperactivating Strategies</a:t>
            </a:r>
            <a:endParaRPr lang="en-US" sz="1300" dirty="0"/>
          </a:p>
        </p:txBody>
      </p:sp>
      <p:sp>
        <p:nvSpPr>
          <p:cNvPr id="19" name="Text 17"/>
          <p:cNvSpPr txBox="1"/>
          <p:nvPr/>
        </p:nvSpPr>
        <p:spPr>
          <a:xfrm>
            <a:off x="1188720" y="4370832"/>
            <a:ext cx="9960559" cy="4572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Both are responses to growing dependency. One scans for cost, the other for signs the bond is at risk.</a:t>
            </a:r>
            <a:endParaRPr lang="en-US" sz="1100" dirty="0"/>
          </a:p>
        </p:txBody>
      </p:sp>
      <p:sp>
        <p:nvSpPr>
          <p:cNvPr id="20" name="Shape 18"/>
          <p:cNvSpPr/>
          <p:nvPr/>
        </p:nvSpPr>
        <p:spPr>
          <a:xfrm>
            <a:off x="658368" y="5029200"/>
            <a:ext cx="10874959" cy="1051560"/>
          </a:xfrm>
          <a:prstGeom prst="roundRect">
            <a:avLst>
              <a:gd name="adj" fmla="val 6957"/>
            </a:avLst>
          </a:prstGeom>
          <a:solidFill>
            <a:srgbClr val="F7F5FA"/>
          </a:solidFill>
          <a:ln w="9525">
            <a:solidFill>
              <a:srgbClr val="E5E2E8"/>
            </a:solidFill>
            <a:prstDash val="solid"/>
          </a:ln>
        </p:spPr>
      </p:sp>
      <p:sp>
        <p:nvSpPr>
          <p:cNvPr id="21" name="Shape 19"/>
          <p:cNvSpPr/>
          <p:nvPr/>
        </p:nvSpPr>
        <p:spPr>
          <a:xfrm>
            <a:off x="932688" y="5285232"/>
            <a:ext cx="164592" cy="164592"/>
          </a:xfrm>
          <a:prstGeom prst="ellipse">
            <a:avLst/>
          </a:prstGeom>
          <a:solidFill>
            <a:srgbClr val="3C5FA8"/>
          </a:solidFill>
          <a:ln w="12700">
            <a:solidFill>
              <a:srgbClr val="333333"/>
            </a:solidFill>
            <a:prstDash val="solid"/>
          </a:ln>
        </p:spPr>
      </p:sp>
      <p:sp>
        <p:nvSpPr>
          <p:cNvPr id="22" name="Text 20"/>
          <p:cNvSpPr txBox="1"/>
          <p:nvPr/>
        </p:nvSpPr>
        <p:spPr>
          <a:xfrm>
            <a:off x="1188720" y="5212080"/>
            <a:ext cx="329184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Attachment-Seeking Met With Hostility</a:t>
            </a:r>
            <a:endParaRPr lang="en-US" sz="1300" dirty="0"/>
          </a:p>
        </p:txBody>
      </p:sp>
      <p:sp>
        <p:nvSpPr>
          <p:cNvPr id="23" name="Text 21"/>
          <p:cNvSpPr txBox="1"/>
          <p:nvPr/>
        </p:nvSpPr>
        <p:spPr>
          <a:xfrm>
            <a:off x="4544568" y="5212080"/>
            <a:ext cx="365760" cy="292608"/>
          </a:xfrm>
          <a:prstGeom prst="rect">
            <a:avLst/>
          </a:prstGeom>
          <a:noFill/>
          <a:ln/>
        </p:spPr>
        <p:txBody>
          <a:bodyPr wrap="square" lIns="0" tIns="0" rIns="0" bIns="0" rtlCol="0" anchor="ctr"/>
          <a:lstStyle/>
          <a:p>
            <a:pPr algn="ctr" indent="0" marL="0">
              <a:buNone/>
            </a:pPr>
            <a:r>
              <a:rPr lang="en-US" sz="1500" dirty="0">
                <a:solidFill>
                  <a:srgbClr val="7B4BD8"/>
                </a:solidFill>
                <a:latin typeface="Calibri" pitchFamily="34" charset="0"/>
                <a:ea typeface="Calibri" pitchFamily="34" charset="-122"/>
                <a:cs typeface="Calibri" pitchFamily="34" charset="-120"/>
              </a:rPr>
              <a:t>⟷</a:t>
            </a:r>
            <a:endParaRPr lang="en-US" sz="1500" dirty="0"/>
          </a:p>
        </p:txBody>
      </p:sp>
      <p:sp>
        <p:nvSpPr>
          <p:cNvPr id="24" name="Shape 22"/>
          <p:cNvSpPr/>
          <p:nvPr/>
        </p:nvSpPr>
        <p:spPr>
          <a:xfrm>
            <a:off x="5029200" y="5285232"/>
            <a:ext cx="164592" cy="164592"/>
          </a:xfrm>
          <a:prstGeom prst="ellipse">
            <a:avLst/>
          </a:prstGeom>
          <a:solidFill>
            <a:srgbClr val="3C5FA8"/>
          </a:solidFill>
          <a:ln w="12700">
            <a:solidFill>
              <a:srgbClr val="333333"/>
            </a:solidFill>
            <a:prstDash val="solid"/>
          </a:ln>
        </p:spPr>
      </p:sp>
      <p:sp>
        <p:nvSpPr>
          <p:cNvPr id="25" name="Text 23"/>
          <p:cNvSpPr txBox="1"/>
          <p:nvPr/>
        </p:nvSpPr>
        <p:spPr>
          <a:xfrm>
            <a:off x="5285232" y="5212080"/>
            <a:ext cx="338328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Inconsistent Responsiveness</a:t>
            </a:r>
            <a:endParaRPr lang="en-US" sz="1300" dirty="0"/>
          </a:p>
        </p:txBody>
      </p:sp>
      <p:sp>
        <p:nvSpPr>
          <p:cNvPr id="26" name="Text 24"/>
          <p:cNvSpPr txBox="1"/>
          <p:nvPr/>
        </p:nvSpPr>
        <p:spPr>
          <a:xfrm>
            <a:off x="1188720" y="5559552"/>
            <a:ext cx="9960559" cy="4572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Two developmental conditions that produce opposite adaptations from the same unmet need.</a:t>
            </a:r>
            <a:endParaRPr lang="en-US" sz="1100" dirty="0"/>
          </a:p>
        </p:txBody>
      </p:sp>
      <p:sp>
        <p:nvSpPr>
          <p:cNvPr id="27" name="Text 25"/>
          <p:cNvSpPr txBox="1"/>
          <p:nvPr/>
        </p:nvSpPr>
        <p:spPr>
          <a:xfrm>
            <a:off x="658368" y="6236208"/>
            <a:ext cx="10874959" cy="320040"/>
          </a:xfrm>
          <a:prstGeom prst="rect">
            <a:avLst/>
          </a:prstGeom>
          <a:noFill/>
          <a:ln/>
        </p:spPr>
        <p:txBody>
          <a:bodyPr wrap="square" lIns="0" tIns="0" rIns="0" bIns="0" rtlCol="0" anchor="ctr"/>
          <a:lstStyle/>
          <a:p>
            <a:pPr indent="0" marL="0">
              <a:buNone/>
            </a:pPr>
            <a:r>
              <a:rPr lang="en-US" sz="1200" i="1" dirty="0">
                <a:solidFill>
                  <a:srgbClr val="807C8A"/>
                </a:solidFill>
                <a:latin typeface="Calibri" pitchFamily="34" charset="0"/>
                <a:ea typeface="Calibri" pitchFamily="34" charset="-122"/>
                <a:cs typeface="Calibri" pitchFamily="34" charset="-120"/>
              </a:rPr>
              <a:t>364 mirror edges. None of them says who is which.</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17</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WHY A DIRECTED GRAPH</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The loops are the point</a:t>
            </a:r>
            <a:endParaRPr lang="en-US" sz="3200" dirty="0"/>
          </a:p>
        </p:txBody>
      </p:sp>
      <p:sp>
        <p:nvSpPr>
          <p:cNvPr id="5" name="Text 3"/>
          <p:cNvSpPr txBox="1"/>
          <p:nvPr/>
        </p:nvSpPr>
        <p:spPr>
          <a:xfrm>
            <a:off x="658368" y="1609344"/>
            <a:ext cx="8917467" cy="64008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Cycles are searched for automatically across the causal edges. They are not errors — they are the pursue/withdraw loop, the shame spiral, the on-again-off-again cycle, found in the data rather than asserted.</a:t>
            </a:r>
            <a:endParaRPr lang="en-US" sz="1450" dirty="0"/>
          </a:p>
        </p:txBody>
      </p:sp>
      <p:sp>
        <p:nvSpPr>
          <p:cNvPr id="6" name="Shape 4"/>
          <p:cNvSpPr/>
          <p:nvPr/>
        </p:nvSpPr>
        <p:spPr>
          <a:xfrm>
            <a:off x="710032" y="2697480"/>
            <a:ext cx="2432304" cy="1051560"/>
          </a:xfrm>
          <a:prstGeom prst="roundRect">
            <a:avLst>
              <a:gd name="adj" fmla="val 6957"/>
            </a:avLst>
          </a:prstGeom>
          <a:solidFill>
            <a:srgbClr val="F7F5FA"/>
          </a:solidFill>
          <a:ln w="12700">
            <a:solidFill>
              <a:srgbClr val="7B4BD8"/>
            </a:solidFill>
            <a:prstDash val="solid"/>
          </a:ln>
        </p:spPr>
      </p:sp>
      <p:sp>
        <p:nvSpPr>
          <p:cNvPr id="7" name="Text 5"/>
          <p:cNvSpPr txBox="1"/>
          <p:nvPr/>
        </p:nvSpPr>
        <p:spPr>
          <a:xfrm>
            <a:off x="856336"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Looking Down On The Partner</a:t>
            </a:r>
            <a:endParaRPr lang="en-US" sz="1200" dirty="0"/>
          </a:p>
        </p:txBody>
      </p:sp>
      <p:sp>
        <p:nvSpPr>
          <p:cNvPr id="8" name="Shape 6"/>
          <p:cNvSpPr/>
          <p:nvPr/>
        </p:nvSpPr>
        <p:spPr>
          <a:xfrm>
            <a:off x="3197200" y="3223260"/>
            <a:ext cx="237744" cy="0"/>
          </a:xfrm>
          <a:prstGeom prst="line">
            <a:avLst/>
          </a:prstGeom>
          <a:noFill/>
          <a:ln w="19050">
            <a:solidFill>
              <a:srgbClr val="7B4BD8"/>
            </a:solidFill>
            <a:prstDash val="solid"/>
            <a:tailEnd type="triangle"/>
          </a:ln>
        </p:spPr>
      </p:sp>
      <p:sp>
        <p:nvSpPr>
          <p:cNvPr id="9" name="Shape 7"/>
          <p:cNvSpPr/>
          <p:nvPr/>
        </p:nvSpPr>
        <p:spPr>
          <a:xfrm>
            <a:off x="3489808" y="2697480"/>
            <a:ext cx="2432304" cy="1051560"/>
          </a:xfrm>
          <a:prstGeom prst="roundRect">
            <a:avLst>
              <a:gd name="adj" fmla="val 6957"/>
            </a:avLst>
          </a:prstGeom>
          <a:solidFill>
            <a:srgbClr val="F7F5FA"/>
          </a:solidFill>
          <a:ln w="12700">
            <a:solidFill>
              <a:srgbClr val="7B4BD8"/>
            </a:solidFill>
            <a:prstDash val="solid"/>
          </a:ln>
        </p:spPr>
      </p:sp>
      <p:sp>
        <p:nvSpPr>
          <p:cNvPr id="10" name="Text 8"/>
          <p:cNvSpPr txBox="1"/>
          <p:nvPr/>
        </p:nvSpPr>
        <p:spPr>
          <a:xfrm>
            <a:off x="3636112"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The Partner's Dysregulation</a:t>
            </a:r>
            <a:endParaRPr lang="en-US" sz="1200" dirty="0"/>
          </a:p>
        </p:txBody>
      </p:sp>
      <p:sp>
        <p:nvSpPr>
          <p:cNvPr id="11" name="Shape 9"/>
          <p:cNvSpPr/>
          <p:nvPr/>
        </p:nvSpPr>
        <p:spPr>
          <a:xfrm>
            <a:off x="5976976" y="3223260"/>
            <a:ext cx="237744" cy="0"/>
          </a:xfrm>
          <a:prstGeom prst="line">
            <a:avLst/>
          </a:prstGeom>
          <a:noFill/>
          <a:ln w="19050">
            <a:solidFill>
              <a:srgbClr val="7B4BD8"/>
            </a:solidFill>
            <a:prstDash val="solid"/>
            <a:tailEnd type="triangle"/>
          </a:ln>
        </p:spPr>
      </p:sp>
      <p:sp>
        <p:nvSpPr>
          <p:cNvPr id="12" name="Shape 10"/>
          <p:cNvSpPr/>
          <p:nvPr/>
        </p:nvSpPr>
        <p:spPr>
          <a:xfrm>
            <a:off x="6269584" y="2697480"/>
            <a:ext cx="2432304" cy="1051560"/>
          </a:xfrm>
          <a:prstGeom prst="roundRect">
            <a:avLst>
              <a:gd name="adj" fmla="val 6957"/>
            </a:avLst>
          </a:prstGeom>
          <a:solidFill>
            <a:srgbClr val="F7F5FA"/>
          </a:solidFill>
          <a:ln w="12700">
            <a:solidFill>
              <a:srgbClr val="7B4BD8"/>
            </a:solidFill>
            <a:prstDash val="solid"/>
          </a:ln>
        </p:spPr>
      </p:sp>
      <p:sp>
        <p:nvSpPr>
          <p:cNvPr id="13" name="Text 11"/>
          <p:cNvSpPr txBox="1"/>
          <p:nvPr/>
        </p:nvSpPr>
        <p:spPr>
          <a:xfrm>
            <a:off x="6415888"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Partner Stops Rising To The Occasion</a:t>
            </a:r>
            <a:endParaRPr lang="en-US" sz="1200" dirty="0"/>
          </a:p>
        </p:txBody>
      </p:sp>
      <p:sp>
        <p:nvSpPr>
          <p:cNvPr id="14" name="Shape 12"/>
          <p:cNvSpPr/>
          <p:nvPr/>
        </p:nvSpPr>
        <p:spPr>
          <a:xfrm>
            <a:off x="8756752" y="3223260"/>
            <a:ext cx="237744" cy="0"/>
          </a:xfrm>
          <a:prstGeom prst="line">
            <a:avLst/>
          </a:prstGeom>
          <a:noFill/>
          <a:ln w="19050">
            <a:solidFill>
              <a:srgbClr val="7B4BD8"/>
            </a:solidFill>
            <a:prstDash val="solid"/>
            <a:tailEnd type="triangle"/>
          </a:ln>
        </p:spPr>
      </p:sp>
      <p:sp>
        <p:nvSpPr>
          <p:cNvPr id="15" name="Shape 13"/>
          <p:cNvSpPr/>
          <p:nvPr/>
        </p:nvSpPr>
        <p:spPr>
          <a:xfrm>
            <a:off x="9049360" y="2697480"/>
            <a:ext cx="2432304" cy="1051560"/>
          </a:xfrm>
          <a:prstGeom prst="roundRect">
            <a:avLst>
              <a:gd name="adj" fmla="val 6957"/>
            </a:avLst>
          </a:prstGeom>
          <a:solidFill>
            <a:srgbClr val="F7F5FA"/>
          </a:solidFill>
          <a:ln w="12700">
            <a:solidFill>
              <a:srgbClr val="7B4BD8"/>
            </a:solidFill>
            <a:prstDash val="solid"/>
          </a:ln>
        </p:spPr>
      </p:sp>
      <p:sp>
        <p:nvSpPr>
          <p:cNvPr id="16" name="Text 14"/>
          <p:cNvSpPr txBox="1"/>
          <p:nvPr/>
        </p:nvSpPr>
        <p:spPr>
          <a:xfrm>
            <a:off x="9195664"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Unregistered Hurt</a:t>
            </a:r>
            <a:endParaRPr lang="en-US" sz="1200" dirty="0"/>
          </a:p>
        </p:txBody>
      </p:sp>
      <p:sp>
        <p:nvSpPr>
          <p:cNvPr id="17" name="Shape 15"/>
          <p:cNvSpPr/>
          <p:nvPr/>
        </p:nvSpPr>
        <p:spPr>
          <a:xfrm>
            <a:off x="11115904" y="3749040"/>
            <a:ext cx="0" cy="502920"/>
          </a:xfrm>
          <a:prstGeom prst="line">
            <a:avLst/>
          </a:prstGeom>
          <a:noFill/>
          <a:ln w="19050">
            <a:solidFill>
              <a:srgbClr val="7B4BD8"/>
            </a:solidFill>
            <a:prstDash val="solid"/>
          </a:ln>
        </p:spPr>
      </p:sp>
      <p:sp>
        <p:nvSpPr>
          <p:cNvPr id="18" name="Shape 16"/>
          <p:cNvSpPr/>
          <p:nvPr/>
        </p:nvSpPr>
        <p:spPr>
          <a:xfrm>
            <a:off x="1075792" y="4251960"/>
            <a:ext cx="10040112" cy="0"/>
          </a:xfrm>
          <a:prstGeom prst="line">
            <a:avLst/>
          </a:prstGeom>
          <a:noFill/>
          <a:ln w="19050">
            <a:solidFill>
              <a:srgbClr val="7B4BD8"/>
            </a:solidFill>
            <a:prstDash val="solid"/>
          </a:ln>
        </p:spPr>
      </p:sp>
      <p:sp>
        <p:nvSpPr>
          <p:cNvPr id="19" name="Shape 17"/>
          <p:cNvSpPr/>
          <p:nvPr/>
        </p:nvSpPr>
        <p:spPr>
          <a:xfrm>
            <a:off x="1075792" y="3749040"/>
            <a:ext cx="0" cy="502920"/>
          </a:xfrm>
          <a:prstGeom prst="line">
            <a:avLst/>
          </a:prstGeom>
          <a:noFill/>
          <a:ln w="19050">
            <a:solidFill>
              <a:srgbClr val="7B4BD8"/>
            </a:solidFill>
            <a:prstDash val="solid"/>
            <a:headEnd type="triangle"/>
          </a:ln>
        </p:spPr>
      </p:sp>
      <p:sp>
        <p:nvSpPr>
          <p:cNvPr id="20" name="Text 18"/>
          <p:cNvSpPr txBox="1"/>
          <p:nvPr/>
        </p:nvSpPr>
        <p:spPr>
          <a:xfrm>
            <a:off x="658368" y="4288536"/>
            <a:ext cx="10874959" cy="274320"/>
          </a:xfrm>
          <a:prstGeom prst="rect">
            <a:avLst/>
          </a:prstGeom>
          <a:noFill/>
          <a:ln/>
        </p:spPr>
        <p:txBody>
          <a:bodyPr wrap="square" lIns="0" tIns="0" rIns="0" bIns="0" rtlCol="0" anchor="ctr"/>
          <a:lstStyle/>
          <a:p>
            <a:pPr algn="ctr" indent="0" marL="0">
              <a:buNone/>
            </a:pPr>
            <a:r>
              <a:rPr lang="en-US" sz="1050" i="1" dirty="0">
                <a:solidFill>
                  <a:srgbClr val="7B4BD8"/>
                </a:solidFill>
                <a:latin typeface="Calibri" pitchFamily="34" charset="0"/>
                <a:ea typeface="Calibri" pitchFamily="34" charset="-122"/>
                <a:cs typeface="Calibri" pitchFamily="34" charset="-120"/>
              </a:rPr>
              <a:t>and round again</a:t>
            </a:r>
            <a:endParaRPr lang="en-US" sz="1050" dirty="0"/>
          </a:p>
        </p:txBody>
      </p:sp>
      <p:sp>
        <p:nvSpPr>
          <p:cNvPr id="21" name="Text 19"/>
          <p:cNvSpPr txBox="1"/>
          <p:nvPr/>
        </p:nvSpPr>
        <p:spPr>
          <a:xfrm>
            <a:off x="658368" y="4892040"/>
            <a:ext cx="10874959" cy="274320"/>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The other four found in the graph</a:t>
            </a:r>
            <a:endParaRPr lang="en-US" sz="1250" dirty="0"/>
          </a:p>
        </p:txBody>
      </p:sp>
      <p:sp>
        <p:nvSpPr>
          <p:cNvPr id="22" name="Text 20"/>
          <p:cNvSpPr txBox="1"/>
          <p:nvPr/>
        </p:nvSpPr>
        <p:spPr>
          <a:xfrm>
            <a:off x="658368" y="5248656"/>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2 steps   </a:t>
            </a:r>
            <a:pPr indent="0" marL="0">
              <a:buNone/>
            </a:pPr>
            <a:r>
              <a:rPr lang="en-US" sz="1100" dirty="0">
                <a:solidFill>
                  <a:srgbClr val="6A6875"/>
                </a:solidFill>
                <a:latin typeface="Calibri" pitchFamily="34" charset="0"/>
                <a:ea typeface="Calibri" pitchFamily="34" charset="-122"/>
                <a:cs typeface="Calibri" pitchFamily="34" charset="-120"/>
              </a:rPr>
              <a:t>Minimizing What You Are Going Through  →  Self-Disgust At Your Own Need</a:t>
            </a:r>
            <a:endParaRPr lang="en-US" sz="1000" dirty="0"/>
          </a:p>
        </p:txBody>
      </p:sp>
      <p:sp>
        <p:nvSpPr>
          <p:cNvPr id="23" name="Text 21"/>
          <p:cNvSpPr txBox="1"/>
          <p:nvPr/>
        </p:nvSpPr>
        <p:spPr>
          <a:xfrm>
            <a:off x="658368" y="5541264"/>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3 steps   </a:t>
            </a:r>
            <a:pPr indent="0" marL="0">
              <a:buNone/>
            </a:pPr>
            <a:r>
              <a:rPr lang="en-US" sz="1100" dirty="0">
                <a:solidFill>
                  <a:srgbClr val="6A6875"/>
                </a:solidFill>
                <a:latin typeface="Calibri" pitchFamily="34" charset="0"/>
                <a:ea typeface="Calibri" pitchFamily="34" charset="-122"/>
                <a:cs typeface="Calibri" pitchFamily="34" charset="-120"/>
              </a:rPr>
              <a:t>Scanning For Confirmation  →  Chronic Abandonment Fear  →  Monitoring The Bond</a:t>
            </a:r>
            <a:endParaRPr lang="en-US" sz="1000" dirty="0"/>
          </a:p>
        </p:txBody>
      </p:sp>
      <p:sp>
        <p:nvSpPr>
          <p:cNvPr id="24" name="Text 22"/>
          <p:cNvSpPr txBox="1"/>
          <p:nvPr/>
        </p:nvSpPr>
        <p:spPr>
          <a:xfrm>
            <a:off x="658368" y="5833872"/>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6 steps   </a:t>
            </a:r>
            <a:pPr indent="0" marL="0">
              <a:buNone/>
            </a:pPr>
            <a:r>
              <a:rPr lang="en-US" sz="1100" dirty="0">
                <a:solidFill>
                  <a:srgbClr val="6A6875"/>
                </a:solidFill>
                <a:latin typeface="Calibri" pitchFamily="34" charset="0"/>
                <a:ea typeface="Calibri" pitchFamily="34" charset="-122"/>
                <a:cs typeface="Calibri" pitchFamily="34" charset="-120"/>
              </a:rPr>
              <a:t>Breaking It Off  →  Longing At A Safe Distance  →  Hyperactivating Strategies  →  Returning To The Relationship  →…</a:t>
            </a:r>
            <a:endParaRPr lang="en-US" sz="1000" dirty="0"/>
          </a:p>
        </p:txBody>
      </p:sp>
      <p:sp>
        <p:nvSpPr>
          <p:cNvPr id="25" name="Text 23"/>
          <p:cNvSpPr txBox="1"/>
          <p:nvPr/>
        </p:nvSpPr>
        <p:spPr>
          <a:xfrm>
            <a:off x="658368" y="6126480"/>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6 steps   </a:t>
            </a:r>
            <a:pPr indent="0" marL="0">
              <a:buNone/>
            </a:pPr>
            <a:r>
              <a:rPr lang="en-US" sz="1100" dirty="0">
                <a:solidFill>
                  <a:srgbClr val="6A6875"/>
                </a:solidFill>
                <a:latin typeface="Calibri" pitchFamily="34" charset="0"/>
                <a:ea typeface="Calibri" pitchFamily="34" charset="-122"/>
                <a:cs typeface="Calibri" pitchFamily="34" charset="-120"/>
              </a:rPr>
              <a:t>Emotional Withdrawal  →  Longing At A Safe Distance  →  Hyperactivating Strategies  →  Returning To The Relationship…</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18</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FOUR READINGS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The same node, through four lenses</a:t>
            </a:r>
            <a:endParaRPr lang="en-US" sz="3200" dirty="0"/>
          </a:p>
        </p:txBody>
      </p:sp>
      <p:sp>
        <p:nvSpPr>
          <p:cNvPr id="5" name="Text 3"/>
          <p:cNvSpPr txBox="1"/>
          <p:nvPr/>
        </p:nvSpPr>
        <p:spPr>
          <a:xfrm>
            <a:off x="658368" y="1609344"/>
            <a:ext cx="8917467" cy="54864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Every node records what it is for each style. Closeness is a threat through one lens and a promise that never arrives through another — same topology, different weight.</a:t>
            </a:r>
            <a:endParaRPr lang="en-US" sz="1450" dirty="0"/>
          </a:p>
        </p:txBody>
      </p:sp>
      <p:sp>
        <p:nvSpPr>
          <p:cNvPr id="6" name="Text 4"/>
          <p:cNvSpPr txBox="1"/>
          <p:nvPr/>
        </p:nvSpPr>
        <p:spPr>
          <a:xfrm>
            <a:off x="658368" y="237744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core</a:t>
            </a:r>
            <a:endParaRPr lang="en-US" sz="1300" dirty="0"/>
          </a:p>
        </p:txBody>
      </p:sp>
      <p:sp>
        <p:nvSpPr>
          <p:cNvPr id="7" name="Text 5"/>
          <p:cNvSpPr txBox="1"/>
          <p:nvPr/>
        </p:nvSpPr>
        <p:spPr>
          <a:xfrm>
            <a:off x="658368" y="265176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A defining move of that style — you would expect to find it running.</a:t>
            </a:r>
            <a:endParaRPr lang="en-US" sz="1150" dirty="0"/>
          </a:p>
        </p:txBody>
      </p:sp>
      <p:sp>
        <p:nvSpPr>
          <p:cNvPr id="8" name="Text 6"/>
          <p:cNvSpPr txBox="1"/>
          <p:nvPr/>
        </p:nvSpPr>
        <p:spPr>
          <a:xfrm>
            <a:off x="6327648" y="237744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alternating</a:t>
            </a:r>
            <a:endParaRPr lang="en-US" sz="1300" dirty="0"/>
          </a:p>
        </p:txBody>
      </p:sp>
      <p:sp>
        <p:nvSpPr>
          <p:cNvPr id="9" name="Text 7"/>
          <p:cNvSpPr txBox="1"/>
          <p:nvPr/>
        </p:nvSpPr>
        <p:spPr>
          <a:xfrm>
            <a:off x="6327648" y="265176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Present by oscillation rather than by default. This is how fearful-avoidant is carried in the graph: not a third style, but both, in turn.</a:t>
            </a:r>
            <a:endParaRPr lang="en-US" sz="1150" dirty="0"/>
          </a:p>
        </p:txBody>
      </p:sp>
      <p:sp>
        <p:nvSpPr>
          <p:cNvPr id="10" name="Text 8"/>
          <p:cNvSpPr txBox="1"/>
          <p:nvPr/>
        </p:nvSpPr>
        <p:spPr>
          <a:xfrm>
            <a:off x="658368" y="338328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secondary</a:t>
            </a:r>
            <a:endParaRPr lang="en-US" sz="1300" dirty="0"/>
          </a:p>
        </p:txBody>
      </p:sp>
      <p:sp>
        <p:nvSpPr>
          <p:cNvPr id="11" name="Text 9"/>
          <p:cNvSpPr txBox="1"/>
          <p:nvPr/>
        </p:nvSpPr>
        <p:spPr>
          <a:xfrm>
            <a:off x="658368" y="365760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Shows up, but is not what defines the pattern.</a:t>
            </a:r>
            <a:endParaRPr lang="en-US" sz="1150" dirty="0"/>
          </a:p>
        </p:txBody>
      </p:sp>
      <p:sp>
        <p:nvSpPr>
          <p:cNvPr id="12" name="Text 10"/>
          <p:cNvSpPr txBox="1"/>
          <p:nvPr/>
        </p:nvSpPr>
        <p:spPr>
          <a:xfrm>
            <a:off x="6327648" y="338328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feared</a:t>
            </a:r>
            <a:endParaRPr lang="en-US" sz="1300" dirty="0"/>
          </a:p>
        </p:txBody>
      </p:sp>
      <p:sp>
        <p:nvSpPr>
          <p:cNvPr id="13" name="Text 11"/>
          <p:cNvSpPr txBox="1"/>
          <p:nvPr/>
        </p:nvSpPr>
        <p:spPr>
          <a:xfrm>
            <a:off x="6327648" y="365760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The thing that style organises itself against.</a:t>
            </a:r>
            <a:endParaRPr lang="en-US" sz="1150" dirty="0"/>
          </a:p>
        </p:txBody>
      </p:sp>
      <p:sp>
        <p:nvSpPr>
          <p:cNvPr id="14" name="Text 12"/>
          <p:cNvSpPr txBox="1"/>
          <p:nvPr/>
        </p:nvSpPr>
        <p:spPr>
          <a:xfrm>
            <a:off x="658368" y="438912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secure-form</a:t>
            </a:r>
            <a:endParaRPr lang="en-US" sz="1300" dirty="0"/>
          </a:p>
        </p:txBody>
      </p:sp>
      <p:sp>
        <p:nvSpPr>
          <p:cNvPr id="15" name="Text 13"/>
          <p:cNvSpPr txBox="1"/>
          <p:nvPr/>
        </p:nvSpPr>
        <p:spPr>
          <a:xfrm>
            <a:off x="658368" y="466344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What this looks like when it is not a defence.</a:t>
            </a:r>
            <a:endParaRPr lang="en-US" sz="1150" dirty="0"/>
          </a:p>
        </p:txBody>
      </p:sp>
      <p:sp>
        <p:nvSpPr>
          <p:cNvPr id="16" name="Text 14"/>
          <p:cNvSpPr txBox="1"/>
          <p:nvPr/>
        </p:nvSpPr>
        <p:spPr>
          <a:xfrm>
            <a:off x="6327648" y="438912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absent</a:t>
            </a:r>
            <a:endParaRPr lang="en-US" sz="1300" dirty="0"/>
          </a:p>
        </p:txBody>
      </p:sp>
      <p:sp>
        <p:nvSpPr>
          <p:cNvPr id="17" name="Text 15"/>
          <p:cNvSpPr txBox="1"/>
          <p:nvPr/>
        </p:nvSpPr>
        <p:spPr>
          <a:xfrm>
            <a:off x="6327648" y="466344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Not part of that lens at all. Filtered out rather than greyed.</a:t>
            </a:r>
            <a:endParaRPr lang="en-US" sz="1150" dirty="0"/>
          </a:p>
        </p:txBody>
      </p:sp>
      <p:sp>
        <p:nvSpPr>
          <p:cNvPr id="18" name="Shape 16"/>
          <p:cNvSpPr/>
          <p:nvPr/>
        </p:nvSpPr>
        <p:spPr>
          <a:xfrm>
            <a:off x="658368" y="5394960"/>
            <a:ext cx="10874959" cy="896112"/>
          </a:xfrm>
          <a:prstGeom prst="roundRect">
            <a:avLst>
              <a:gd name="adj" fmla="val 8163"/>
            </a:avLst>
          </a:prstGeom>
          <a:solidFill>
            <a:srgbClr val="F7F5FA"/>
          </a:solidFill>
          <a:ln w="9525">
            <a:solidFill>
              <a:srgbClr val="E5E2E8"/>
            </a:solidFill>
            <a:prstDash val="solid"/>
          </a:ln>
        </p:spPr>
      </p:sp>
      <p:sp>
        <p:nvSpPr>
          <p:cNvPr id="19" name="Text 17"/>
          <p:cNvSpPr txBox="1"/>
          <p:nvPr/>
        </p:nvSpPr>
        <p:spPr>
          <a:xfrm>
            <a:off x="950976" y="5577840"/>
            <a:ext cx="10289743" cy="274320"/>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Affect Suppression</a:t>
            </a:r>
            <a:pPr indent="0" marL="0">
              <a:buNone/>
            </a:pPr>
            <a:r>
              <a:rPr lang="en-US" sz="1150" dirty="0">
                <a:solidFill>
                  <a:srgbClr val="6A6875"/>
                </a:solidFill>
                <a:latin typeface="Calibri" pitchFamily="34" charset="0"/>
                <a:ea typeface="Calibri" pitchFamily="34" charset="-122"/>
                <a:cs typeface="Calibri" pitchFamily="34" charset="-120"/>
              </a:rPr>
              <a:t>     dismissive-avoidant </a:t>
            </a:r>
            <a:pPr indent="0" marL="0">
              <a:buNone/>
            </a:pPr>
            <a:r>
              <a:rPr lang="en-US" sz="1150" b="1" dirty="0">
                <a:solidFill>
                  <a:srgbClr val="E04F86"/>
                </a:solidFill>
                <a:latin typeface="Calibri" pitchFamily="34" charset="0"/>
                <a:ea typeface="Calibri" pitchFamily="34" charset="-122"/>
                <a:cs typeface="Calibri" pitchFamily="34" charset="-120"/>
              </a:rPr>
              <a:t>core</a:t>
            </a:r>
            <a:pPr indent="0" marL="0">
              <a:buNone/>
            </a:pPr>
            <a:r>
              <a:rPr lang="en-US" sz="1150" dirty="0">
                <a:solidFill>
                  <a:srgbClr val="6A6875"/>
                </a:solidFill>
                <a:latin typeface="Calibri" pitchFamily="34" charset="0"/>
                <a:ea typeface="Calibri" pitchFamily="34" charset="-122"/>
                <a:cs typeface="Calibri" pitchFamily="34" charset="-120"/>
              </a:rPr>
              <a:t>     anxious-preoccupied </a:t>
            </a:r>
            <a:pPr indent="0" marL="0">
              <a:buNone/>
            </a:pPr>
            <a:r>
              <a:rPr lang="en-US" sz="1150" b="1" dirty="0">
                <a:solidFill>
                  <a:srgbClr val="EDA72C"/>
                </a:solidFill>
                <a:latin typeface="Calibri" pitchFamily="34" charset="0"/>
                <a:ea typeface="Calibri" pitchFamily="34" charset="-122"/>
                <a:cs typeface="Calibri" pitchFamily="34" charset="-120"/>
              </a:rPr>
              <a:t>feared</a:t>
            </a:r>
            <a:pPr indent="0" marL="0">
              <a:buNone/>
            </a:pPr>
            <a:r>
              <a:rPr lang="en-US" sz="1150" dirty="0">
                <a:solidFill>
                  <a:srgbClr val="6A6875"/>
                </a:solidFill>
                <a:latin typeface="Calibri" pitchFamily="34" charset="0"/>
                <a:ea typeface="Calibri" pitchFamily="34" charset="-122"/>
                <a:cs typeface="Calibri" pitchFamily="34" charset="-120"/>
              </a:rPr>
              <a:t>     fearful-avoidant </a:t>
            </a:r>
            <a:pPr indent="0" marL="0">
              <a:buNone/>
            </a:pPr>
            <a:r>
              <a:rPr lang="en-US" sz="1150" b="1" dirty="0">
                <a:solidFill>
                  <a:srgbClr val="5B83E8"/>
                </a:solidFill>
                <a:latin typeface="Calibri" pitchFamily="34" charset="0"/>
                <a:ea typeface="Calibri" pitchFamily="34" charset="-122"/>
                <a:cs typeface="Calibri" pitchFamily="34" charset="-120"/>
              </a:rPr>
              <a:t>alternating</a:t>
            </a:r>
            <a:pPr indent="0" marL="0">
              <a:buNone/>
            </a:pPr>
            <a:r>
              <a:rPr lang="en-US" sz="1150" dirty="0">
                <a:solidFill>
                  <a:srgbClr val="6A6875"/>
                </a:solidFill>
                <a:latin typeface="Calibri" pitchFamily="34" charset="0"/>
                <a:ea typeface="Calibri" pitchFamily="34" charset="-122"/>
                <a:cs typeface="Calibri" pitchFamily="34" charset="-120"/>
              </a:rPr>
              <a:t>     secure </a:t>
            </a:r>
            <a:pPr indent="0" marL="0">
              <a:buNone/>
            </a:pPr>
            <a:r>
              <a:rPr lang="en-US" sz="1150" dirty="0">
                <a:solidFill>
                  <a:srgbClr val="807C8A"/>
                </a:solidFill>
                <a:latin typeface="Calibri" pitchFamily="34" charset="0"/>
                <a:ea typeface="Calibri" pitchFamily="34" charset="-122"/>
                <a:cs typeface="Calibri" pitchFamily="34" charset="-120"/>
              </a:rPr>
              <a:t>absent</a:t>
            </a:r>
            <a:endParaRPr lang="en-US" sz="1300" dirty="0"/>
          </a:p>
        </p:txBody>
      </p:sp>
      <p:sp>
        <p:nvSpPr>
          <p:cNvPr id="20" name="Text 18"/>
          <p:cNvSpPr txBox="1"/>
          <p:nvPr/>
        </p:nvSpPr>
        <p:spPr>
          <a:xfrm>
            <a:off x="950976" y="5888736"/>
            <a:ext cx="10289743" cy="274320"/>
          </a:xfrm>
          <a:prstGeom prst="rect">
            <a:avLst/>
          </a:prstGeom>
          <a:noFill/>
          <a:ln/>
        </p:spPr>
        <p:txBody>
          <a:bodyPr wrap="square" lIns="0" tIns="0" rIns="0" bIns="0" rtlCol="0" anchor="ctr"/>
          <a:lstStyle/>
          <a:p>
            <a:pPr indent="0" marL="0">
              <a:buNone/>
            </a:pPr>
            <a:r>
              <a:rPr lang="en-US" sz="1100" i="1" dirty="0">
                <a:solidFill>
                  <a:srgbClr val="807C8A"/>
                </a:solidFill>
                <a:latin typeface="Calibri" pitchFamily="34" charset="0"/>
                <a:ea typeface="Calibri" pitchFamily="34" charset="-122"/>
                <a:cs typeface="Calibri" pitchFamily="34" charset="-120"/>
              </a:rPr>
              <a:t>One node. Four different things depending on who is reading it.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19</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OTHER DIRECTION</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Signs of change</a:t>
            </a:r>
            <a:endParaRPr lang="en-US" sz="3200" dirty="0"/>
          </a:p>
        </p:txBody>
      </p:sp>
      <p:sp>
        <p:nvSpPr>
          <p:cNvPr id="5" name="Text 3"/>
          <p:cNvSpPr txBox="1"/>
          <p:nvPr/>
        </p:nvSpPr>
        <p:spPr>
          <a:xfrm>
            <a:off x="658368" y="1609344"/>
            <a:ext cx="9243715" cy="54864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Nodes can be flagged as markers: things that show up when something is working. A graph of only symptoms would be a graph of what is wrong with you, which is not what any of this is for.</a:t>
            </a:r>
            <a:endParaRPr lang="en-US" sz="1450" dirty="0"/>
          </a:p>
        </p:txBody>
      </p:sp>
      <p:sp>
        <p:nvSpPr>
          <p:cNvPr id="6" name="Shape 4"/>
          <p:cNvSpPr/>
          <p:nvPr/>
        </p:nvSpPr>
        <p:spPr>
          <a:xfrm>
            <a:off x="658368" y="2441448"/>
            <a:ext cx="173736" cy="173736"/>
          </a:xfrm>
          <a:prstGeom prst="ellipse">
            <a:avLst/>
          </a:prstGeom>
          <a:solidFill>
            <a:srgbClr val="FFFFFF"/>
          </a:solidFill>
          <a:ln w="19050">
            <a:solidFill>
              <a:srgbClr val="5BB84F"/>
            </a:solidFill>
            <a:prstDash val="solid"/>
          </a:ln>
        </p:spPr>
      </p:sp>
      <p:sp>
        <p:nvSpPr>
          <p:cNvPr id="7" name="Text 5"/>
          <p:cNvSpPr txBox="1"/>
          <p:nvPr/>
        </p:nvSpPr>
        <p:spPr>
          <a:xfrm>
            <a:off x="969264" y="2395728"/>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Consciously Adapting To Each Relationship</a:t>
            </a:r>
            <a:endParaRPr lang="en-US" sz="1300" dirty="0"/>
          </a:p>
        </p:txBody>
      </p:sp>
      <p:sp>
        <p:nvSpPr>
          <p:cNvPr id="8" name="Text 6"/>
          <p:cNvSpPr txBox="1"/>
          <p:nvPr/>
        </p:nvSpPr>
        <p:spPr>
          <a:xfrm>
            <a:off x="4892040" y="2395728"/>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Feeling avoidant around some people and anxious around others is not evidence of fearful-avoidance — most people pull back a little from a surplus of anxious energy and lean in a little toward…</a:t>
            </a:r>
            <a:endParaRPr lang="en-US" sz="1150" dirty="0"/>
          </a:p>
        </p:txBody>
      </p:sp>
      <p:sp>
        <p:nvSpPr>
          <p:cNvPr id="9" name="Shape 7"/>
          <p:cNvSpPr/>
          <p:nvPr/>
        </p:nvSpPr>
        <p:spPr>
          <a:xfrm>
            <a:off x="658368" y="3227832"/>
            <a:ext cx="173736" cy="173736"/>
          </a:xfrm>
          <a:prstGeom prst="ellipse">
            <a:avLst/>
          </a:prstGeom>
          <a:solidFill>
            <a:srgbClr val="FFFFFF"/>
          </a:solidFill>
          <a:ln w="19050">
            <a:solidFill>
              <a:srgbClr val="5BB84F"/>
            </a:solidFill>
            <a:prstDash val="solid"/>
          </a:ln>
        </p:spPr>
      </p:sp>
      <p:sp>
        <p:nvSpPr>
          <p:cNvPr id="10" name="Text 8"/>
          <p:cNvSpPr txBox="1"/>
          <p:nvPr/>
        </p:nvSpPr>
        <p:spPr>
          <a:xfrm>
            <a:off x="969264" y="3182112"/>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Not Taking Moods Personally</a:t>
            </a:r>
            <a:endParaRPr lang="en-US" sz="1300" dirty="0"/>
          </a:p>
        </p:txBody>
      </p:sp>
      <p:sp>
        <p:nvSpPr>
          <p:cNvPr id="11" name="Text 9"/>
          <p:cNvSpPr txBox="1"/>
          <p:nvPr/>
        </p:nvSpPr>
        <p:spPr>
          <a:xfrm>
            <a:off x="4892040" y="3182112"/>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There are two ways to take a mood personally: reading it as rejection, or being irritated that someone is displaying what you have learned to suppress.</a:t>
            </a:r>
            <a:endParaRPr lang="en-US" sz="1150" dirty="0"/>
          </a:p>
        </p:txBody>
      </p:sp>
      <p:sp>
        <p:nvSpPr>
          <p:cNvPr id="12" name="Shape 10"/>
          <p:cNvSpPr/>
          <p:nvPr/>
        </p:nvSpPr>
        <p:spPr>
          <a:xfrm>
            <a:off x="658368" y="4014216"/>
            <a:ext cx="173736" cy="173736"/>
          </a:xfrm>
          <a:prstGeom prst="ellipse">
            <a:avLst/>
          </a:prstGeom>
          <a:solidFill>
            <a:srgbClr val="FFFFFF"/>
          </a:solidFill>
          <a:ln w="19050">
            <a:solidFill>
              <a:srgbClr val="5BB84F"/>
            </a:solidFill>
            <a:prstDash val="solid"/>
          </a:ln>
        </p:spPr>
      </p:sp>
      <p:sp>
        <p:nvSpPr>
          <p:cNvPr id="13" name="Text 11"/>
          <p:cNvSpPr txBox="1"/>
          <p:nvPr/>
        </p:nvSpPr>
        <p:spPr>
          <a:xfrm>
            <a:off x="969264" y="3968496"/>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Letting The Pain Land</a:t>
            </a:r>
            <a:endParaRPr lang="en-US" sz="1300" dirty="0"/>
          </a:p>
        </p:txBody>
      </p:sp>
      <p:sp>
        <p:nvSpPr>
          <p:cNvPr id="14" name="Text 12"/>
          <p:cNvSpPr txBox="1"/>
          <p:nvPr/>
        </p:nvSpPr>
        <p:spPr>
          <a:xfrm>
            <a:off x="4892040" y="3968496"/>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A sign of change: registering the cost of an interaction while it is happening rather than reconstructing it later without the charge.</a:t>
            </a:r>
            <a:endParaRPr lang="en-US" sz="1150" dirty="0"/>
          </a:p>
        </p:txBody>
      </p:sp>
      <p:sp>
        <p:nvSpPr>
          <p:cNvPr id="15" name="Shape 13"/>
          <p:cNvSpPr/>
          <p:nvPr/>
        </p:nvSpPr>
        <p:spPr>
          <a:xfrm>
            <a:off x="658368" y="4800600"/>
            <a:ext cx="173736" cy="173736"/>
          </a:xfrm>
          <a:prstGeom prst="ellipse">
            <a:avLst/>
          </a:prstGeom>
          <a:solidFill>
            <a:srgbClr val="FFFFFF"/>
          </a:solidFill>
          <a:ln w="19050">
            <a:solidFill>
              <a:srgbClr val="5BB84F"/>
            </a:solidFill>
            <a:prstDash val="solid"/>
          </a:ln>
        </p:spPr>
      </p:sp>
      <p:sp>
        <p:nvSpPr>
          <p:cNvPr id="16" name="Text 14"/>
          <p:cNvSpPr txBox="1"/>
          <p:nvPr/>
        </p:nvSpPr>
        <p:spPr>
          <a:xfrm>
            <a:off x="969264" y="4754880"/>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Naming The Fantasy</a:t>
            </a:r>
            <a:endParaRPr lang="en-US" sz="1300" dirty="0"/>
          </a:p>
        </p:txBody>
      </p:sp>
      <p:sp>
        <p:nvSpPr>
          <p:cNvPr id="17" name="Text 15"/>
          <p:cNvSpPr txBox="1"/>
          <p:nvPr/>
        </p:nvSpPr>
        <p:spPr>
          <a:xfrm>
            <a:off x="4892040" y="4754880"/>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A sign of change: spotting the invented version while it is running, and letting the real person be disappointing rather than treating the gap as something they owe you.</a:t>
            </a:r>
            <a:endParaRPr lang="en-US" sz="1150" dirty="0"/>
          </a:p>
        </p:txBody>
      </p:sp>
      <p:sp>
        <p:nvSpPr>
          <p:cNvPr id="18" name="Shape 16"/>
          <p:cNvSpPr/>
          <p:nvPr/>
        </p:nvSpPr>
        <p:spPr>
          <a:xfrm>
            <a:off x="658368" y="5586984"/>
            <a:ext cx="173736" cy="173736"/>
          </a:xfrm>
          <a:prstGeom prst="ellipse">
            <a:avLst/>
          </a:prstGeom>
          <a:solidFill>
            <a:srgbClr val="FFFFFF"/>
          </a:solidFill>
          <a:ln w="19050">
            <a:solidFill>
              <a:srgbClr val="5BB84F"/>
            </a:solidFill>
            <a:prstDash val="solid"/>
          </a:ln>
        </p:spPr>
      </p:sp>
      <p:sp>
        <p:nvSpPr>
          <p:cNvPr id="19" name="Text 17"/>
          <p:cNvSpPr txBox="1"/>
          <p:nvPr/>
        </p:nvSpPr>
        <p:spPr>
          <a:xfrm>
            <a:off x="969264" y="5541264"/>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Recognizing Your Own Vulnerability</a:t>
            </a:r>
            <a:endParaRPr lang="en-US" sz="1300" dirty="0"/>
          </a:p>
        </p:txBody>
      </p:sp>
      <p:sp>
        <p:nvSpPr>
          <p:cNvPr id="20" name="Text 18"/>
          <p:cNvSpPr txBox="1"/>
          <p:nvPr/>
        </p:nvSpPr>
        <p:spPr>
          <a:xfrm>
            <a:off x="4892040" y="5541264"/>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A sign of change: locating the places, past or present, where you needed care and did not get it — without first requiring a justification for why it counts.</a:t>
            </a:r>
            <a:endParaRPr lang="en-US" sz="1150" dirty="0"/>
          </a:p>
        </p:txBody>
      </p:sp>
      <p:sp>
        <p:nvSpPr>
          <p:cNvPr id="21" name="Text 19"/>
          <p:cNvSpPr txBox="1"/>
          <p:nvPr/>
        </p:nvSpPr>
        <p:spPr>
          <a:xfrm>
            <a:off x="658368" y="6263640"/>
            <a:ext cx="10874959" cy="274320"/>
          </a:xfrm>
          <a:prstGeom prst="rect">
            <a:avLst/>
          </a:prstGeom>
          <a:noFill/>
          <a:ln/>
        </p:spPr>
        <p:txBody>
          <a:bodyPr wrap="square" lIns="0" tIns="0" rIns="0" bIns="0" rtlCol="0" anchor="ctr"/>
          <a:lstStyle/>
          <a:p>
            <a:pPr indent="0" marL="0">
              <a:buNone/>
            </a:pPr>
            <a:r>
              <a:rPr lang="en-US" sz="1100" i="1" dirty="0">
                <a:solidFill>
                  <a:srgbClr val="807C8A"/>
                </a:solidFill>
                <a:latin typeface="Calibri" pitchFamily="34" charset="0"/>
                <a:ea typeface="Calibri" pitchFamily="34" charset="-122"/>
                <a:cs typeface="Calibri" pitchFamily="34" charset="-120"/>
              </a:rPr>
              <a:t>The hollow ring is how the explorer draws them, too.</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20</a:t>
            </a:r>
            <a:endParaRPr lang="en-US" sz="900" dirty="0"/>
          </a:p>
        </p:txBody>
      </p:sp>
      <p:sp>
        <p:nvSpPr>
          <p:cNvPr id="3" name="Text 1"/>
          <p:cNvSpPr txBox="1"/>
          <p:nvPr/>
        </p:nvSpPr>
        <p:spPr>
          <a:xfrm>
            <a:off x="658368" y="265176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How it works</a:t>
            </a:r>
            <a:endParaRPr lang="en-US" sz="4400" dirty="0"/>
          </a:p>
        </p:txBody>
      </p:sp>
      <p:sp>
        <p:nvSpPr>
          <p:cNvPr id="4" name="Text 2"/>
          <p:cNvSpPr txBox="1"/>
          <p:nvPr/>
        </p:nvSpPr>
        <p:spPr>
          <a:xfrm>
            <a:off x="658368" y="3611880"/>
            <a:ext cx="6766560" cy="457200"/>
          </a:xfrm>
          <a:prstGeom prst="rect">
            <a:avLst/>
          </a:prstGeom>
          <a:noFill/>
          <a:ln/>
        </p:spPr>
        <p:txBody>
          <a:bodyPr wrap="square" lIns="0" tIns="0" rIns="0" bIns="0" rtlCol="0" anchor="ctr"/>
          <a:lstStyle/>
          <a:p>
            <a:pPr indent="0" marL="0">
              <a:buNone/>
            </a:pPr>
            <a:r>
              <a:rPr lang="en-US" sz="1400" dirty="0">
                <a:solidFill>
                  <a:srgbClr val="9C98A8"/>
                </a:solidFill>
                <a:latin typeface="Calibri" pitchFamily="34" charset="0"/>
                <a:ea typeface="Calibri" pitchFamily="34" charset="-122"/>
                <a:cs typeface="Calibri" pitchFamily="34" charset="-120"/>
              </a:rPr>
              <a:t>The pipeline, what is checked, and what an assistant is actually handed.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21</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BUILD</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From a transcript to three surfaces</a:t>
            </a:r>
            <a:endParaRPr lang="en-US" sz="3200" dirty="0"/>
          </a:p>
        </p:txBody>
      </p:sp>
      <p:sp>
        <p:nvSpPr>
          <p:cNvPr id="5" name="Shape 3"/>
          <p:cNvSpPr/>
          <p:nvPr/>
        </p:nvSpPr>
        <p:spPr>
          <a:xfrm>
            <a:off x="658368" y="1737360"/>
            <a:ext cx="1897014" cy="2331720"/>
          </a:xfrm>
          <a:prstGeom prst="roundRect">
            <a:avLst>
              <a:gd name="adj" fmla="val 3856"/>
            </a:avLst>
          </a:prstGeom>
          <a:solidFill>
            <a:srgbClr val="F7F5FA"/>
          </a:solidFill>
          <a:ln w="9525">
            <a:solidFill>
              <a:srgbClr val="E5E2E8"/>
            </a:solidFill>
            <a:prstDash val="solid"/>
          </a:ln>
        </p:spPr>
      </p:sp>
      <p:sp>
        <p:nvSpPr>
          <p:cNvPr id="6" name="Text 4"/>
          <p:cNvSpPr txBox="1"/>
          <p:nvPr/>
        </p:nvSpPr>
        <p:spPr>
          <a:xfrm>
            <a:off x="877824"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77824"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Transcript</a:t>
            </a:r>
            <a:endParaRPr lang="en-US" sz="1400" dirty="0"/>
          </a:p>
        </p:txBody>
      </p:sp>
      <p:sp>
        <p:nvSpPr>
          <p:cNvPr id="8" name="Text 6"/>
          <p:cNvSpPr txBox="1"/>
          <p:nvPr/>
        </p:nvSpPr>
        <p:spPr>
          <a:xfrm>
            <a:off x="877824"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Pulled per video. Working input only — gitignored, never committed, never published.</a:t>
            </a:r>
            <a:endParaRPr lang="en-US" sz="1050" dirty="0"/>
          </a:p>
        </p:txBody>
      </p:sp>
      <p:sp>
        <p:nvSpPr>
          <p:cNvPr id="9" name="Shape 7"/>
          <p:cNvSpPr/>
          <p:nvPr/>
        </p:nvSpPr>
        <p:spPr>
          <a:xfrm>
            <a:off x="2628534" y="2880360"/>
            <a:ext cx="201168" cy="0"/>
          </a:xfrm>
          <a:prstGeom prst="line">
            <a:avLst/>
          </a:prstGeom>
          <a:noFill/>
          <a:ln w="15875">
            <a:solidFill>
              <a:srgbClr val="807C8A"/>
            </a:solidFill>
            <a:prstDash val="solid"/>
            <a:tailEnd type="triangle"/>
          </a:ln>
        </p:spPr>
      </p:sp>
      <p:sp>
        <p:nvSpPr>
          <p:cNvPr id="10" name="Shape 8"/>
          <p:cNvSpPr/>
          <p:nvPr/>
        </p:nvSpPr>
        <p:spPr>
          <a:xfrm>
            <a:off x="2902854" y="1737360"/>
            <a:ext cx="1897014" cy="2331720"/>
          </a:xfrm>
          <a:prstGeom prst="roundRect">
            <a:avLst>
              <a:gd name="adj" fmla="val 3856"/>
            </a:avLst>
          </a:prstGeom>
          <a:solidFill>
            <a:srgbClr val="F7F5FA"/>
          </a:solidFill>
          <a:ln w="9525">
            <a:solidFill>
              <a:srgbClr val="E5E2E8"/>
            </a:solidFill>
            <a:prstDash val="solid"/>
          </a:ln>
        </p:spPr>
      </p:sp>
      <p:sp>
        <p:nvSpPr>
          <p:cNvPr id="11" name="Text 9"/>
          <p:cNvSpPr txBox="1"/>
          <p:nvPr/>
        </p:nvSpPr>
        <p:spPr>
          <a:xfrm>
            <a:off x="3122310"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2</a:t>
            </a:r>
            <a:endParaRPr lang="en-US" sz="2200" dirty="0"/>
          </a:p>
        </p:txBody>
      </p:sp>
      <p:sp>
        <p:nvSpPr>
          <p:cNvPr id="12" name="Text 10"/>
          <p:cNvSpPr txBox="1"/>
          <p:nvPr/>
        </p:nvSpPr>
        <p:spPr>
          <a:xfrm>
            <a:off x="3122310"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Mining</a:t>
            </a:r>
            <a:endParaRPr lang="en-US" sz="1400" dirty="0"/>
          </a:p>
        </p:txBody>
      </p:sp>
      <p:sp>
        <p:nvSpPr>
          <p:cNvPr id="13" name="Text 11"/>
          <p:cNvSpPr txBox="1"/>
          <p:nvPr/>
        </p:nvSpPr>
        <p:spPr>
          <a:xfrm>
            <a:off x="3122310"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Claims read out by hand into notes: a gloss, a lens map, and typed edges with timestamps.</a:t>
            </a:r>
            <a:endParaRPr lang="en-US" sz="1050" dirty="0"/>
          </a:p>
        </p:txBody>
      </p:sp>
      <p:sp>
        <p:nvSpPr>
          <p:cNvPr id="14" name="Shape 12"/>
          <p:cNvSpPr/>
          <p:nvPr/>
        </p:nvSpPr>
        <p:spPr>
          <a:xfrm>
            <a:off x="4873020" y="2880360"/>
            <a:ext cx="201168" cy="0"/>
          </a:xfrm>
          <a:prstGeom prst="line">
            <a:avLst/>
          </a:prstGeom>
          <a:noFill/>
          <a:ln w="15875">
            <a:solidFill>
              <a:srgbClr val="807C8A"/>
            </a:solidFill>
            <a:prstDash val="solid"/>
            <a:tailEnd type="triangle"/>
          </a:ln>
        </p:spPr>
      </p:sp>
      <p:sp>
        <p:nvSpPr>
          <p:cNvPr id="15" name="Shape 13"/>
          <p:cNvSpPr/>
          <p:nvPr/>
        </p:nvSpPr>
        <p:spPr>
          <a:xfrm>
            <a:off x="5147340" y="1737360"/>
            <a:ext cx="1897014" cy="2331720"/>
          </a:xfrm>
          <a:prstGeom prst="roundRect">
            <a:avLst>
              <a:gd name="adj" fmla="val 3856"/>
            </a:avLst>
          </a:prstGeom>
          <a:solidFill>
            <a:srgbClr val="F7F5FA"/>
          </a:solidFill>
          <a:ln w="9525">
            <a:solidFill>
              <a:srgbClr val="E5E2E8"/>
            </a:solidFill>
            <a:prstDash val="solid"/>
          </a:ln>
        </p:spPr>
      </p:sp>
      <p:sp>
        <p:nvSpPr>
          <p:cNvPr id="16" name="Text 14"/>
          <p:cNvSpPr txBox="1"/>
          <p:nvPr/>
        </p:nvSpPr>
        <p:spPr>
          <a:xfrm>
            <a:off x="5366796"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3</a:t>
            </a:r>
            <a:endParaRPr lang="en-US" sz="2200" dirty="0"/>
          </a:p>
        </p:txBody>
      </p:sp>
      <p:sp>
        <p:nvSpPr>
          <p:cNvPr id="17" name="Text 15"/>
          <p:cNvSpPr txBox="1"/>
          <p:nvPr/>
        </p:nvSpPr>
        <p:spPr>
          <a:xfrm>
            <a:off x="5366796"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Validate</a:t>
            </a:r>
            <a:endParaRPr lang="en-US" sz="1400" dirty="0"/>
          </a:p>
        </p:txBody>
      </p:sp>
      <p:sp>
        <p:nvSpPr>
          <p:cNvPr id="18" name="Text 16"/>
          <p:cNvSpPr txBox="1"/>
          <p:nvPr/>
        </p:nvSpPr>
        <p:spPr>
          <a:xfrm>
            <a:off x="5366796"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A closed vocabulary, enforced. Domain and range checked on every edge; nothing lands that fails.</a:t>
            </a:r>
            <a:endParaRPr lang="en-US" sz="1050" dirty="0"/>
          </a:p>
        </p:txBody>
      </p:sp>
      <p:sp>
        <p:nvSpPr>
          <p:cNvPr id="19" name="Shape 17"/>
          <p:cNvSpPr/>
          <p:nvPr/>
        </p:nvSpPr>
        <p:spPr>
          <a:xfrm>
            <a:off x="7117507" y="2880360"/>
            <a:ext cx="201168" cy="0"/>
          </a:xfrm>
          <a:prstGeom prst="line">
            <a:avLst/>
          </a:prstGeom>
          <a:noFill/>
          <a:ln w="15875">
            <a:solidFill>
              <a:srgbClr val="807C8A"/>
            </a:solidFill>
            <a:prstDash val="solid"/>
            <a:tailEnd type="triangle"/>
          </a:ln>
        </p:spPr>
      </p:sp>
      <p:sp>
        <p:nvSpPr>
          <p:cNvPr id="20" name="Shape 18"/>
          <p:cNvSpPr/>
          <p:nvPr/>
        </p:nvSpPr>
        <p:spPr>
          <a:xfrm>
            <a:off x="7391827" y="1737360"/>
            <a:ext cx="1897014" cy="2331720"/>
          </a:xfrm>
          <a:prstGeom prst="roundRect">
            <a:avLst>
              <a:gd name="adj" fmla="val 3856"/>
            </a:avLst>
          </a:prstGeom>
          <a:solidFill>
            <a:srgbClr val="F7F5FA"/>
          </a:solidFill>
          <a:ln w="9525">
            <a:solidFill>
              <a:srgbClr val="E5E2E8"/>
            </a:solidFill>
            <a:prstDash val="solid"/>
          </a:ln>
        </p:spPr>
      </p:sp>
      <p:sp>
        <p:nvSpPr>
          <p:cNvPr id="21" name="Text 19"/>
          <p:cNvSpPr txBox="1"/>
          <p:nvPr/>
        </p:nvSpPr>
        <p:spPr>
          <a:xfrm>
            <a:off x="7611283"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4</a:t>
            </a:r>
            <a:endParaRPr lang="en-US" sz="2200" dirty="0"/>
          </a:p>
        </p:txBody>
      </p:sp>
      <p:sp>
        <p:nvSpPr>
          <p:cNvPr id="22" name="Text 20"/>
          <p:cNvSpPr txBox="1"/>
          <p:nvPr/>
        </p:nvSpPr>
        <p:spPr>
          <a:xfrm>
            <a:off x="7611283"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Build</a:t>
            </a:r>
            <a:endParaRPr lang="en-US" sz="1400" dirty="0"/>
          </a:p>
        </p:txBody>
      </p:sp>
      <p:sp>
        <p:nvSpPr>
          <p:cNvPr id="23" name="Text 21"/>
          <p:cNvSpPr txBox="1"/>
          <p:nvPr/>
        </p:nvSpPr>
        <p:spPr>
          <a:xfrm>
            <a:off x="7611283"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Quartz renders the notes; scripts emit the graph JSON, the explorer, the toolbox and the agent kit.</a:t>
            </a:r>
            <a:endParaRPr lang="en-US" sz="1050" dirty="0"/>
          </a:p>
        </p:txBody>
      </p:sp>
      <p:sp>
        <p:nvSpPr>
          <p:cNvPr id="24" name="Shape 22"/>
          <p:cNvSpPr/>
          <p:nvPr/>
        </p:nvSpPr>
        <p:spPr>
          <a:xfrm>
            <a:off x="9361993" y="2880360"/>
            <a:ext cx="201168" cy="0"/>
          </a:xfrm>
          <a:prstGeom prst="line">
            <a:avLst/>
          </a:prstGeom>
          <a:noFill/>
          <a:ln w="15875">
            <a:solidFill>
              <a:srgbClr val="807C8A"/>
            </a:solidFill>
            <a:prstDash val="solid"/>
            <a:tailEnd type="triangle"/>
          </a:ln>
        </p:spPr>
      </p:sp>
      <p:sp>
        <p:nvSpPr>
          <p:cNvPr id="25" name="Shape 23"/>
          <p:cNvSpPr/>
          <p:nvPr/>
        </p:nvSpPr>
        <p:spPr>
          <a:xfrm>
            <a:off x="9636313" y="1737360"/>
            <a:ext cx="1897014" cy="2331720"/>
          </a:xfrm>
          <a:prstGeom prst="roundRect">
            <a:avLst>
              <a:gd name="adj" fmla="val 3856"/>
            </a:avLst>
          </a:prstGeom>
          <a:solidFill>
            <a:srgbClr val="F7F5FA"/>
          </a:solidFill>
          <a:ln w="9525">
            <a:solidFill>
              <a:srgbClr val="E5E2E8"/>
            </a:solidFill>
            <a:prstDash val="solid"/>
          </a:ln>
        </p:spPr>
      </p:sp>
      <p:sp>
        <p:nvSpPr>
          <p:cNvPr id="26" name="Text 24"/>
          <p:cNvSpPr txBox="1"/>
          <p:nvPr/>
        </p:nvSpPr>
        <p:spPr>
          <a:xfrm>
            <a:off x="9855769"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5</a:t>
            </a:r>
            <a:endParaRPr lang="en-US" sz="2200" dirty="0"/>
          </a:p>
        </p:txBody>
      </p:sp>
      <p:sp>
        <p:nvSpPr>
          <p:cNvPr id="27" name="Text 25"/>
          <p:cNvSpPr txBox="1"/>
          <p:nvPr/>
        </p:nvSpPr>
        <p:spPr>
          <a:xfrm>
            <a:off x="9855769"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Check</a:t>
            </a:r>
            <a:endParaRPr lang="en-US" sz="1400" dirty="0"/>
          </a:p>
        </p:txBody>
      </p:sp>
      <p:sp>
        <p:nvSpPr>
          <p:cNvPr id="28" name="Text 26"/>
          <p:cNvSpPr txBox="1"/>
          <p:nvPr/>
        </p:nvSpPr>
        <p:spPr>
          <a:xfrm>
            <a:off x="9855769"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A smoke test over the published HTML — not the source — then it deploys.</a:t>
            </a:r>
            <a:endParaRPr lang="en-US" sz="1050" dirty="0"/>
          </a:p>
        </p:txBody>
      </p:sp>
      <p:sp>
        <p:nvSpPr>
          <p:cNvPr id="29" name="Text 27"/>
          <p:cNvSpPr txBox="1"/>
          <p:nvPr/>
        </p:nvSpPr>
        <p:spPr>
          <a:xfrm>
            <a:off x="658368" y="4434840"/>
            <a:ext cx="10874959"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Everything downstream is generated</a:t>
            </a:r>
            <a:endParaRPr lang="en-US" sz="1500" dirty="0"/>
          </a:p>
        </p:txBody>
      </p:sp>
      <p:sp>
        <p:nvSpPr>
          <p:cNvPr id="30" name="Text 28"/>
          <p:cNvSpPr txBox="1"/>
          <p:nvPr/>
        </p:nvSpPr>
        <p:spPr>
          <a:xfrm>
            <a:off x="658368" y="4800600"/>
            <a:ext cx="6766560" cy="109728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The site, the explorer data, the toolbox, the agent kit and this deck are all emitted from the notes by script. Nothing is maintained in two places, so nothing can drift — and the same pipeline runs locally and in CI, so what deploys is what was tested.</a:t>
            </a:r>
            <a:endParaRPr lang="en-US" sz="1250" dirty="0"/>
          </a:p>
        </p:txBody>
      </p:sp>
      <p:sp>
        <p:nvSpPr>
          <p:cNvPr id="31" name="Text 29"/>
          <p:cNvSpPr txBox="1"/>
          <p:nvPr/>
        </p:nvSpPr>
        <p:spPr>
          <a:xfrm>
            <a:off x="7863840" y="4434840"/>
            <a:ext cx="3657600"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Zero runtime dependencies</a:t>
            </a:r>
            <a:endParaRPr lang="en-US" sz="1500" dirty="0"/>
          </a:p>
        </p:txBody>
      </p:sp>
      <p:sp>
        <p:nvSpPr>
          <p:cNvPr id="32" name="Text 30"/>
          <p:cNvSpPr txBox="1"/>
          <p:nvPr/>
        </p:nvSpPr>
        <p:spPr>
          <a:xfrm>
            <a:off x="7863840" y="4800600"/>
            <a:ext cx="3657600" cy="109728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The note format is parsed by hand-written code — no YAML library, no graph database, no server. The published site is static files, which is also why the whole thing can be handed to an assistant as a folder.</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22</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WHAT IS ENFORCED</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The checks that refuse a change</a:t>
            </a:r>
            <a:endParaRPr lang="en-US" sz="3200" dirty="0"/>
          </a:p>
        </p:txBody>
      </p:sp>
      <p:sp>
        <p:nvSpPr>
          <p:cNvPr id="5" name="Shape 3"/>
          <p:cNvSpPr/>
          <p:nvPr/>
        </p:nvSpPr>
        <p:spPr>
          <a:xfrm>
            <a:off x="658368" y="1600200"/>
            <a:ext cx="5212080" cy="1298448"/>
          </a:xfrm>
          <a:prstGeom prst="roundRect">
            <a:avLst>
              <a:gd name="adj" fmla="val 5634"/>
            </a:avLst>
          </a:prstGeom>
          <a:solidFill>
            <a:srgbClr val="F7F5FA"/>
          </a:solidFill>
          <a:ln w="9525">
            <a:solidFill>
              <a:srgbClr val="E5E2E8"/>
            </a:solidFill>
            <a:prstDash val="solid"/>
          </a:ln>
        </p:spPr>
      </p:sp>
      <p:sp>
        <p:nvSpPr>
          <p:cNvPr id="6" name="Text 4"/>
          <p:cNvSpPr txBox="1"/>
          <p:nvPr/>
        </p:nvSpPr>
        <p:spPr>
          <a:xfrm>
            <a:off x="932688" y="1783080"/>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Closed vocabulary</a:t>
            </a:r>
            <a:endParaRPr lang="en-US" sz="1350" dirty="0"/>
          </a:p>
        </p:txBody>
      </p:sp>
      <p:sp>
        <p:nvSpPr>
          <p:cNvPr id="7" name="Text 5"/>
          <p:cNvSpPr txBox="1"/>
          <p:nvPr/>
        </p:nvSpPr>
        <p:spPr>
          <a:xfrm>
            <a:off x="932688" y="2103120"/>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Eleven node types, sixteen predicates. Anything else is rejected outright.</a:t>
            </a:r>
            <a:endParaRPr lang="en-US" sz="1100" dirty="0"/>
          </a:p>
        </p:txBody>
      </p:sp>
      <p:sp>
        <p:nvSpPr>
          <p:cNvPr id="8" name="Shape 6"/>
          <p:cNvSpPr/>
          <p:nvPr/>
        </p:nvSpPr>
        <p:spPr>
          <a:xfrm>
            <a:off x="6327648" y="1600200"/>
            <a:ext cx="5212080" cy="1298448"/>
          </a:xfrm>
          <a:prstGeom prst="roundRect">
            <a:avLst>
              <a:gd name="adj" fmla="val 5634"/>
            </a:avLst>
          </a:prstGeom>
          <a:solidFill>
            <a:srgbClr val="F7F5FA"/>
          </a:solidFill>
          <a:ln w="9525">
            <a:solidFill>
              <a:srgbClr val="E5E2E8"/>
            </a:solidFill>
            <a:prstDash val="solid"/>
          </a:ln>
        </p:spPr>
      </p:sp>
      <p:sp>
        <p:nvSpPr>
          <p:cNvPr id="9" name="Text 7"/>
          <p:cNvSpPr txBox="1"/>
          <p:nvPr/>
        </p:nvSpPr>
        <p:spPr>
          <a:xfrm>
            <a:off x="6601968" y="1783080"/>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Domain and range</a:t>
            </a:r>
            <a:endParaRPr lang="en-US" sz="1350" dirty="0"/>
          </a:p>
        </p:txBody>
      </p:sp>
      <p:sp>
        <p:nvSpPr>
          <p:cNvPr id="10" name="Text 8"/>
          <p:cNvSpPr txBox="1"/>
          <p:nvPr/>
        </p:nvSpPr>
        <p:spPr>
          <a:xfrm>
            <a:off x="6601968" y="2103120"/>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practice cannot trigger anything; only a belief can sustain a strategy. Every edge is checked against the table.</a:t>
            </a:r>
            <a:endParaRPr lang="en-US" sz="1100" dirty="0"/>
          </a:p>
        </p:txBody>
      </p:sp>
      <p:sp>
        <p:nvSpPr>
          <p:cNvPr id="11" name="Shape 9"/>
          <p:cNvSpPr/>
          <p:nvPr/>
        </p:nvSpPr>
        <p:spPr>
          <a:xfrm>
            <a:off x="658368" y="3081528"/>
            <a:ext cx="5212080" cy="1298448"/>
          </a:xfrm>
          <a:prstGeom prst="roundRect">
            <a:avLst>
              <a:gd name="adj" fmla="val 5634"/>
            </a:avLst>
          </a:prstGeom>
          <a:solidFill>
            <a:srgbClr val="F7F5FA"/>
          </a:solidFill>
          <a:ln w="9525">
            <a:solidFill>
              <a:srgbClr val="E5E2E8"/>
            </a:solidFill>
            <a:prstDash val="solid"/>
          </a:ln>
        </p:spPr>
      </p:sp>
      <p:sp>
        <p:nvSpPr>
          <p:cNvPr id="12" name="Text 10"/>
          <p:cNvSpPr txBox="1"/>
          <p:nvPr/>
        </p:nvSpPr>
        <p:spPr>
          <a:xfrm>
            <a:off x="932688" y="3264408"/>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Every link resolves</a:t>
            </a:r>
            <a:endParaRPr lang="en-US" sz="1350" dirty="0"/>
          </a:p>
        </p:txBody>
      </p:sp>
      <p:sp>
        <p:nvSpPr>
          <p:cNvPr id="13" name="Text 11"/>
          <p:cNvSpPr txBox="1"/>
          <p:nvPr/>
        </p:nvSpPr>
        <p:spPr>
          <a:xfrm>
            <a:off x="932688" y="3584448"/>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wikilink to a title that does not exist fails the build rather than publishing a dead end.</a:t>
            </a:r>
            <a:endParaRPr lang="en-US" sz="1100" dirty="0"/>
          </a:p>
        </p:txBody>
      </p:sp>
      <p:sp>
        <p:nvSpPr>
          <p:cNvPr id="14" name="Shape 12"/>
          <p:cNvSpPr/>
          <p:nvPr/>
        </p:nvSpPr>
        <p:spPr>
          <a:xfrm>
            <a:off x="6327648" y="3081528"/>
            <a:ext cx="5212080" cy="1298448"/>
          </a:xfrm>
          <a:prstGeom prst="roundRect">
            <a:avLst>
              <a:gd name="adj" fmla="val 5634"/>
            </a:avLst>
          </a:prstGeom>
          <a:solidFill>
            <a:srgbClr val="F7F5FA"/>
          </a:solidFill>
          <a:ln w="9525">
            <a:solidFill>
              <a:srgbClr val="E5E2E8"/>
            </a:solidFill>
            <a:prstDash val="solid"/>
          </a:ln>
        </p:spPr>
      </p:sp>
      <p:sp>
        <p:nvSpPr>
          <p:cNvPr id="15" name="Text 13"/>
          <p:cNvSpPr txBox="1"/>
          <p:nvPr/>
        </p:nvSpPr>
        <p:spPr>
          <a:xfrm>
            <a:off x="6601968" y="3264408"/>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No dead ends in a flow</a:t>
            </a:r>
            <a:endParaRPr lang="en-US" sz="1350" dirty="0"/>
          </a:p>
        </p:txBody>
      </p:sp>
      <p:sp>
        <p:nvSpPr>
          <p:cNvPr id="16" name="Text 14"/>
          <p:cNvSpPr txBox="1"/>
          <p:nvPr/>
        </p:nvSpPr>
        <p:spPr>
          <a:xfrm>
            <a:off x="6601968" y="3584448"/>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step that is not an exit must lead somewhere, and every step must be reachable from the first.</a:t>
            </a:r>
            <a:endParaRPr lang="en-US" sz="1100" dirty="0"/>
          </a:p>
        </p:txBody>
      </p:sp>
      <p:sp>
        <p:nvSpPr>
          <p:cNvPr id="17" name="Shape 15"/>
          <p:cNvSpPr/>
          <p:nvPr/>
        </p:nvSpPr>
        <p:spPr>
          <a:xfrm>
            <a:off x="658368" y="4562856"/>
            <a:ext cx="5212080" cy="1298448"/>
          </a:xfrm>
          <a:prstGeom prst="roundRect">
            <a:avLst>
              <a:gd name="adj" fmla="val 5634"/>
            </a:avLst>
          </a:prstGeom>
          <a:solidFill>
            <a:srgbClr val="F7F5FA"/>
          </a:solidFill>
          <a:ln w="9525">
            <a:solidFill>
              <a:srgbClr val="E5E2E8"/>
            </a:solidFill>
            <a:prstDash val="solid"/>
          </a:ln>
        </p:spPr>
      </p:sp>
      <p:sp>
        <p:nvSpPr>
          <p:cNvPr id="18" name="Text 16"/>
          <p:cNvSpPr txBox="1"/>
          <p:nvPr/>
        </p:nvSpPr>
        <p:spPr>
          <a:xfrm>
            <a:off x="932688" y="4745736"/>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The safety gate comes first</a:t>
            </a:r>
            <a:endParaRPr lang="en-US" sz="1350" dirty="0"/>
          </a:p>
        </p:txBody>
      </p:sp>
      <p:sp>
        <p:nvSpPr>
          <p:cNvPr id="19" name="Text 17"/>
          <p:cNvSpPr txBox="1"/>
          <p:nvPr/>
        </p:nvSpPr>
        <p:spPr>
          <a:xfrm>
            <a:off x="932688" y="5065776"/>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flow whose reframe step sits before its safety gate is rejected. The rule is structural, not remembered.</a:t>
            </a:r>
            <a:endParaRPr lang="en-US" sz="1100" dirty="0"/>
          </a:p>
        </p:txBody>
      </p:sp>
      <p:sp>
        <p:nvSpPr>
          <p:cNvPr id="20" name="Shape 18"/>
          <p:cNvSpPr/>
          <p:nvPr/>
        </p:nvSpPr>
        <p:spPr>
          <a:xfrm>
            <a:off x="6327648" y="4562856"/>
            <a:ext cx="5212080" cy="1298448"/>
          </a:xfrm>
          <a:prstGeom prst="roundRect">
            <a:avLst>
              <a:gd name="adj" fmla="val 5634"/>
            </a:avLst>
          </a:prstGeom>
          <a:solidFill>
            <a:srgbClr val="F7F5FA"/>
          </a:solidFill>
          <a:ln w="9525">
            <a:solidFill>
              <a:srgbClr val="E5E2E8"/>
            </a:solidFill>
            <a:prstDash val="solid"/>
          </a:ln>
        </p:spPr>
      </p:sp>
      <p:sp>
        <p:nvSpPr>
          <p:cNvPr id="21" name="Text 19"/>
          <p:cNvSpPr txBox="1"/>
          <p:nvPr/>
        </p:nvSpPr>
        <p:spPr>
          <a:xfrm>
            <a:off x="6601968" y="4745736"/>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The published site</a:t>
            </a:r>
            <a:endParaRPr lang="en-US" sz="1350" dirty="0"/>
          </a:p>
        </p:txBody>
      </p:sp>
      <p:sp>
        <p:nvSpPr>
          <p:cNvPr id="22" name="Text 20"/>
          <p:cNvSpPr txBox="1"/>
          <p:nvPr/>
        </p:nvSpPr>
        <p:spPr>
          <a:xfrm>
            <a:off x="6601968" y="5065776"/>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smoke test over the built HTML: no unexpanded templates, no empty sections, no page the home page fails to link to.</a:t>
            </a:r>
            <a:endParaRPr lang="en-US" sz="1100" dirty="0"/>
          </a:p>
        </p:txBody>
      </p:sp>
      <p:sp>
        <p:nvSpPr>
          <p:cNvPr id="23" name="Text 21"/>
          <p:cNvSpPr txBox="1"/>
          <p:nvPr/>
        </p:nvSpPr>
        <p:spPr>
          <a:xfrm>
            <a:off x="658368" y="6126480"/>
            <a:ext cx="10874959" cy="45720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The last one exists because every presentation defect this project has had was found by a person looking, not by a check. The data was always validated; what shipped was not.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23</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9E86E8"/>
                </a:solidFill>
                <a:latin typeface="Calibri" pitchFamily="34" charset="0"/>
                <a:ea typeface="Calibri" pitchFamily="34" charset="-122"/>
                <a:cs typeface="Calibri" pitchFamily="34" charset="-120"/>
              </a:rPr>
              <a:t>THE CONSTRAINTS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Seven rules, and one of them is code</a:t>
            </a:r>
            <a:endParaRPr lang="en-US" sz="3400" dirty="0"/>
          </a:p>
        </p:txBody>
      </p:sp>
      <p:sp>
        <p:nvSpPr>
          <p:cNvPr id="5" name="Text 3"/>
          <p:cNvSpPr txBox="1"/>
          <p:nvPr/>
        </p:nvSpPr>
        <p:spPr>
          <a:xfrm>
            <a:off x="658368" y="1691640"/>
            <a:ext cx="7863840" cy="777240"/>
          </a:xfrm>
          <a:prstGeom prst="rect">
            <a:avLst/>
          </a:prstGeom>
          <a:noFill/>
          <a:ln/>
        </p:spPr>
        <p:txBody>
          <a:bodyPr wrap="square" lIns="0" tIns="0" rIns="0" bIns="0" rtlCol="0" anchor="ctr"/>
          <a:lstStyle/>
          <a:p>
            <a:pPr indent="0" marL="0">
              <a:lnSpc>
                <a:spcPts val="2000"/>
              </a:lnSpc>
              <a:buNone/>
            </a:pPr>
            <a:r>
              <a:rPr lang="en-US" sz="1350" dirty="0">
                <a:solidFill>
                  <a:srgbClr val="A9A5B4"/>
                </a:solidFill>
                <a:latin typeface="Calibri" pitchFamily="34" charset="0"/>
                <a:ea typeface="Calibri" pitchFamily="34" charset="-122"/>
                <a:cs typeface="Calibri" pitchFamily="34" charset="-120"/>
              </a:rPr>
              <a:t>Anything built on this graph inherits these. They are in the repo, they are shipped inside the agent kit, and the first one is enforced by the flow validator rather than trusted to memory.</a:t>
            </a:r>
            <a:endParaRPr lang="en-US" sz="1350" dirty="0"/>
          </a:p>
        </p:txBody>
      </p:sp>
      <p:sp>
        <p:nvSpPr>
          <p:cNvPr id="6" name="Text 4"/>
          <p:cNvSpPr txBox="1"/>
          <p:nvPr/>
        </p:nvSpPr>
        <p:spPr>
          <a:xfrm>
            <a:off x="658368" y="2743200"/>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1</a:t>
            </a:r>
            <a:endParaRPr lang="en-US" sz="1200" dirty="0"/>
          </a:p>
        </p:txBody>
      </p:sp>
      <p:sp>
        <p:nvSpPr>
          <p:cNvPr id="7" name="Text 5"/>
          <p:cNvSpPr txBox="1"/>
          <p:nvPr/>
        </p:nvSpPr>
        <p:spPr>
          <a:xfrm>
            <a:off x="969264" y="2743200"/>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Screen before you reframe</a:t>
            </a:r>
            <a:endParaRPr lang="en-US" sz="1250" dirty="0"/>
          </a:p>
        </p:txBody>
      </p:sp>
      <p:sp>
        <p:nvSpPr>
          <p:cNvPr id="8" name="Text 6"/>
          <p:cNvSpPr txBox="1"/>
          <p:nvPr/>
        </p:nvSpPr>
        <p:spPr>
          <a:xfrm>
            <a:off x="969264" y="3008376"/>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Patterns amplify real signals; they do not manufacture them. Establish nothing is actually happening first.</a:t>
            </a:r>
            <a:endParaRPr lang="en-US" sz="1050" dirty="0"/>
          </a:p>
        </p:txBody>
      </p:sp>
      <p:sp>
        <p:nvSpPr>
          <p:cNvPr id="9" name="Text 7"/>
          <p:cNvSpPr txBox="1"/>
          <p:nvPr/>
        </p:nvSpPr>
        <p:spPr>
          <a:xfrm>
            <a:off x="6327648" y="2743200"/>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2</a:t>
            </a:r>
            <a:endParaRPr lang="en-US" sz="1200" dirty="0"/>
          </a:p>
        </p:txBody>
      </p:sp>
      <p:sp>
        <p:nvSpPr>
          <p:cNvPr id="10" name="Text 8"/>
          <p:cNvSpPr txBox="1"/>
          <p:nvPr/>
        </p:nvSpPr>
        <p:spPr>
          <a:xfrm>
            <a:off x="6638544" y="2743200"/>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Never tell anyone their style</a:t>
            </a:r>
            <a:endParaRPr lang="en-US" sz="1250" dirty="0"/>
          </a:p>
        </p:txBody>
      </p:sp>
      <p:sp>
        <p:nvSpPr>
          <p:cNvPr id="11" name="Text 9"/>
          <p:cNvSpPr txBox="1"/>
          <p:nvPr/>
        </p:nvSpPr>
        <p:spPr>
          <a:xfrm>
            <a:off x="6638544" y="3008376"/>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Not as a guess, not as "this sounds like". Recognition, not classification.</a:t>
            </a:r>
            <a:endParaRPr lang="en-US" sz="1050" dirty="0"/>
          </a:p>
        </p:txBody>
      </p:sp>
      <p:sp>
        <p:nvSpPr>
          <p:cNvPr id="12" name="Text 10"/>
          <p:cNvSpPr txBox="1"/>
          <p:nvPr/>
        </p:nvSpPr>
        <p:spPr>
          <a:xfrm>
            <a:off x="658368" y="3685032"/>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3</a:t>
            </a:r>
            <a:endParaRPr lang="en-US" sz="1200" dirty="0"/>
          </a:p>
        </p:txBody>
      </p:sp>
      <p:sp>
        <p:nvSpPr>
          <p:cNvPr id="13" name="Text 11"/>
          <p:cNvSpPr txBox="1"/>
          <p:nvPr/>
        </p:nvSpPr>
        <p:spPr>
          <a:xfrm>
            <a:off x="969264" y="3685032"/>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Never type an absent partner</a:t>
            </a:r>
            <a:endParaRPr lang="en-US" sz="1250" dirty="0"/>
          </a:p>
        </p:txBody>
      </p:sp>
      <p:sp>
        <p:nvSpPr>
          <p:cNvPr id="14" name="Text 12"/>
          <p:cNvSpPr txBox="1"/>
          <p:nvPr/>
        </p:nvSpPr>
        <p:spPr>
          <a:xfrm>
            <a:off x="969264" y="3950208"/>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The person in the room is the only one whose interior is available.</a:t>
            </a:r>
            <a:endParaRPr lang="en-US" sz="1050" dirty="0"/>
          </a:p>
        </p:txBody>
      </p:sp>
      <p:sp>
        <p:nvSpPr>
          <p:cNvPr id="15" name="Text 13"/>
          <p:cNvSpPr txBox="1"/>
          <p:nvPr/>
        </p:nvSpPr>
        <p:spPr>
          <a:xfrm>
            <a:off x="6327648" y="3685032"/>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4</a:t>
            </a:r>
            <a:endParaRPr lang="en-US" sz="1200" dirty="0"/>
          </a:p>
        </p:txBody>
      </p:sp>
      <p:sp>
        <p:nvSpPr>
          <p:cNvPr id="16" name="Text 14"/>
          <p:cNvSpPr txBox="1"/>
          <p:nvPr/>
        </p:nvSpPr>
        <p:spPr>
          <a:xfrm>
            <a:off x="6638544" y="3685032"/>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Cite it or do not say it</a:t>
            </a:r>
            <a:endParaRPr lang="en-US" sz="1250" dirty="0"/>
          </a:p>
        </p:txBody>
      </p:sp>
      <p:sp>
        <p:nvSpPr>
          <p:cNvPr id="17" name="Text 15"/>
          <p:cNvSpPr txBox="1"/>
          <p:nvPr/>
        </p:nvSpPr>
        <p:spPr>
          <a:xfrm>
            <a:off x="6638544" y="3950208"/>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Untraceable claims get flagged as inference or left out.</a:t>
            </a:r>
            <a:endParaRPr lang="en-US" sz="1050" dirty="0"/>
          </a:p>
        </p:txBody>
      </p:sp>
      <p:sp>
        <p:nvSpPr>
          <p:cNvPr id="18" name="Text 16"/>
          <p:cNvSpPr txBox="1"/>
          <p:nvPr/>
        </p:nvSpPr>
        <p:spPr>
          <a:xfrm>
            <a:off x="658368" y="4626864"/>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5</a:t>
            </a:r>
            <a:endParaRPr lang="en-US" sz="1200" dirty="0"/>
          </a:p>
        </p:txBody>
      </p:sp>
      <p:sp>
        <p:nvSpPr>
          <p:cNvPr id="19" name="Text 17"/>
          <p:cNvSpPr txBox="1"/>
          <p:nvPr/>
        </p:nvSpPr>
        <p:spPr>
          <a:xfrm>
            <a:off x="969264" y="4626864"/>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 diagnosis, no quiz, no scoring</a:t>
            </a:r>
            <a:endParaRPr lang="en-US" sz="1250" dirty="0"/>
          </a:p>
        </p:txBody>
      </p:sp>
      <p:sp>
        <p:nvSpPr>
          <p:cNvPr id="20" name="Text 18"/>
          <p:cNvSpPr txBox="1"/>
          <p:nvPr/>
        </p:nvSpPr>
        <p:spPr>
          <a:xfrm>
            <a:off x="969264" y="4892040"/>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No instrument that outputs a category.</a:t>
            </a:r>
            <a:endParaRPr lang="en-US" sz="1050" dirty="0"/>
          </a:p>
        </p:txBody>
      </p:sp>
      <p:sp>
        <p:nvSpPr>
          <p:cNvPr id="21" name="Text 19"/>
          <p:cNvSpPr txBox="1"/>
          <p:nvPr/>
        </p:nvSpPr>
        <p:spPr>
          <a:xfrm>
            <a:off x="6327648" y="4626864"/>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6</a:t>
            </a:r>
            <a:endParaRPr lang="en-US" sz="1200" dirty="0"/>
          </a:p>
        </p:txBody>
      </p:sp>
      <p:sp>
        <p:nvSpPr>
          <p:cNvPr id="22" name="Text 20"/>
          <p:cNvSpPr txBox="1"/>
          <p:nvPr/>
        </p:nvSpPr>
        <p:spPr>
          <a:xfrm>
            <a:off x="6638544" y="4626864"/>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Hand off in a crisis</a:t>
            </a:r>
            <a:endParaRPr lang="en-US" sz="1250" dirty="0"/>
          </a:p>
        </p:txBody>
      </p:sp>
      <p:sp>
        <p:nvSpPr>
          <p:cNvPr id="23" name="Text 21"/>
          <p:cNvSpPr txBox="1"/>
          <p:nvPr/>
        </p:nvSpPr>
        <p:spPr>
          <a:xfrm>
            <a:off x="6638544" y="4892040"/>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Distress above the working range needs a person, not a decision tree.</a:t>
            </a:r>
            <a:endParaRPr lang="en-US" sz="1050" dirty="0"/>
          </a:p>
        </p:txBody>
      </p:sp>
      <p:sp>
        <p:nvSpPr>
          <p:cNvPr id="24" name="Text 22"/>
          <p:cNvSpPr txBox="1"/>
          <p:nvPr/>
        </p:nvSpPr>
        <p:spPr>
          <a:xfrm>
            <a:off x="658368" y="5568696"/>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7</a:t>
            </a:r>
            <a:endParaRPr lang="en-US" sz="1200" dirty="0"/>
          </a:p>
        </p:txBody>
      </p:sp>
      <p:sp>
        <p:nvSpPr>
          <p:cNvPr id="25" name="Text 23"/>
          <p:cNvSpPr txBox="1"/>
          <p:nvPr/>
        </p:nvSpPr>
        <p:spPr>
          <a:xfrm>
            <a:off x="969264" y="5568696"/>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Not therapy, and no expertise claimed</a:t>
            </a:r>
            <a:endParaRPr lang="en-US" sz="1250" dirty="0"/>
          </a:p>
        </p:txBody>
      </p:sp>
      <p:sp>
        <p:nvSpPr>
          <p:cNvPr id="26" name="Text 24"/>
          <p:cNvSpPr txBox="1"/>
          <p:nvPr/>
        </p:nvSpPr>
        <p:spPr>
          <a:xfrm>
            <a:off x="969264" y="5833872"/>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Priebe states her own position plainly. Anything built on the corpus inherits that ceiling.</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24</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TOOLBOX</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Twelve flows, for when it is happening now</a:t>
            </a:r>
            <a:endParaRPr lang="en-US" sz="3200" dirty="0"/>
          </a:p>
        </p:txBody>
      </p:sp>
      <p:sp>
        <p:nvSpPr>
          <p:cNvPr id="5" name="Text 3"/>
          <p:cNvSpPr txBox="1"/>
          <p:nvPr/>
        </p:nvSpPr>
        <p:spPr>
          <a:xfrm>
            <a:off x="658368" y="1609344"/>
            <a:ext cx="9134966" cy="59436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Each flow is data, not prose: a sequence of questions with branches, validated like everything else. It asks; it does not score, diagnose or advise. 141 steps across the twelve, citing 117 nodes.</a:t>
            </a:r>
            <a:endParaRPr lang="en-US" sz="1450" dirty="0"/>
          </a:p>
        </p:txBody>
      </p:sp>
      <p:sp>
        <p:nvSpPr>
          <p:cNvPr id="6" name="Shape 4"/>
          <p:cNvSpPr/>
          <p:nvPr/>
        </p:nvSpPr>
        <p:spPr>
          <a:xfrm>
            <a:off x="658368" y="2478024"/>
            <a:ext cx="118872" cy="118872"/>
          </a:xfrm>
          <a:prstGeom prst="ellipse">
            <a:avLst/>
          </a:prstGeom>
          <a:solidFill>
            <a:srgbClr val="5BB84F"/>
          </a:solidFill>
          <a:ln w="12700">
            <a:solidFill>
              <a:srgbClr val="333333"/>
            </a:solidFill>
            <a:prstDash val="solid"/>
          </a:ln>
        </p:spPr>
      </p:sp>
      <p:sp>
        <p:nvSpPr>
          <p:cNvPr id="7" name="Text 5"/>
          <p:cNvSpPr txBox="1"/>
          <p:nvPr/>
        </p:nvSpPr>
        <p:spPr>
          <a:xfrm>
            <a:off x="896112" y="239572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think they’re pulling away”</a:t>
            </a:r>
            <a:endParaRPr lang="en-US" sz="1200" dirty="0"/>
          </a:p>
        </p:txBody>
      </p:sp>
      <p:sp>
        <p:nvSpPr>
          <p:cNvPr id="8" name="Shape 6"/>
          <p:cNvSpPr/>
          <p:nvPr/>
        </p:nvSpPr>
        <p:spPr>
          <a:xfrm>
            <a:off x="6327648" y="2478024"/>
            <a:ext cx="118872" cy="118872"/>
          </a:xfrm>
          <a:prstGeom prst="ellipse">
            <a:avLst/>
          </a:prstGeom>
          <a:solidFill>
            <a:srgbClr val="5BB84F"/>
          </a:solidFill>
          <a:ln w="12700">
            <a:solidFill>
              <a:srgbClr val="333333"/>
            </a:solidFill>
            <a:prstDash val="solid"/>
          </a:ln>
        </p:spPr>
      </p:sp>
      <p:sp>
        <p:nvSpPr>
          <p:cNvPr id="9" name="Text 7"/>
          <p:cNvSpPr txBox="1"/>
          <p:nvPr/>
        </p:nvSpPr>
        <p:spPr>
          <a:xfrm>
            <a:off x="6565392" y="239572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want to message them again”</a:t>
            </a:r>
            <a:endParaRPr lang="en-US" sz="1200" dirty="0"/>
          </a:p>
        </p:txBody>
      </p:sp>
      <p:sp>
        <p:nvSpPr>
          <p:cNvPr id="10" name="Shape 8"/>
          <p:cNvSpPr/>
          <p:nvPr/>
        </p:nvSpPr>
        <p:spPr>
          <a:xfrm>
            <a:off x="658368" y="2862072"/>
            <a:ext cx="118872" cy="118872"/>
          </a:xfrm>
          <a:prstGeom prst="ellipse">
            <a:avLst/>
          </a:prstGeom>
          <a:solidFill>
            <a:srgbClr val="5BB84F"/>
          </a:solidFill>
          <a:ln w="12700">
            <a:solidFill>
              <a:srgbClr val="333333"/>
            </a:solidFill>
            <a:prstDash val="solid"/>
          </a:ln>
        </p:spPr>
      </p:sp>
      <p:sp>
        <p:nvSpPr>
          <p:cNvPr id="11" name="Text 9"/>
          <p:cNvSpPr txBox="1"/>
          <p:nvPr/>
        </p:nvSpPr>
        <p:spPr>
          <a:xfrm>
            <a:off x="896112" y="2779776"/>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“We keep having the same fight”</a:t>
            </a:r>
            <a:endParaRPr lang="en-US" sz="1200" dirty="0"/>
          </a:p>
        </p:txBody>
      </p:sp>
      <p:sp>
        <p:nvSpPr>
          <p:cNvPr id="12" name="Shape 10"/>
          <p:cNvSpPr/>
          <p:nvPr/>
        </p:nvSpPr>
        <p:spPr>
          <a:xfrm>
            <a:off x="6327648" y="2862072"/>
            <a:ext cx="118872" cy="118872"/>
          </a:xfrm>
          <a:prstGeom prst="ellipse">
            <a:avLst/>
          </a:prstGeom>
          <a:solidFill>
            <a:srgbClr val="5BB84F"/>
          </a:solidFill>
          <a:ln w="12700">
            <a:solidFill>
              <a:srgbClr val="333333"/>
            </a:solidFill>
            <a:prstDash val="solid"/>
          </a:ln>
        </p:spPr>
      </p:sp>
      <p:sp>
        <p:nvSpPr>
          <p:cNvPr id="13" name="Text 11"/>
          <p:cNvSpPr txBox="1"/>
          <p:nvPr/>
        </p:nvSpPr>
        <p:spPr>
          <a:xfrm>
            <a:off x="6565392" y="2779776"/>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“I’ve gone cold on someone and I don’t know why”</a:t>
            </a:r>
            <a:endParaRPr lang="en-US" sz="1200" dirty="0"/>
          </a:p>
        </p:txBody>
      </p:sp>
      <p:sp>
        <p:nvSpPr>
          <p:cNvPr id="14" name="Shape 12"/>
          <p:cNvSpPr/>
          <p:nvPr/>
        </p:nvSpPr>
        <p:spPr>
          <a:xfrm>
            <a:off x="658368" y="3246120"/>
            <a:ext cx="118872" cy="118872"/>
          </a:xfrm>
          <a:prstGeom prst="ellipse">
            <a:avLst/>
          </a:prstGeom>
          <a:solidFill>
            <a:srgbClr val="5BB84F"/>
          </a:solidFill>
          <a:ln w="12700">
            <a:solidFill>
              <a:srgbClr val="333333"/>
            </a:solidFill>
            <a:prstDash val="solid"/>
          </a:ln>
        </p:spPr>
      </p:sp>
      <p:sp>
        <p:nvSpPr>
          <p:cNvPr id="15" name="Text 13"/>
          <p:cNvSpPr txBox="1"/>
          <p:nvPr/>
        </p:nvSpPr>
        <p:spPr>
          <a:xfrm>
            <a:off x="896112" y="3163824"/>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“They asked for space and I’m spiralling”</a:t>
            </a:r>
            <a:endParaRPr lang="en-US" sz="1200" dirty="0"/>
          </a:p>
        </p:txBody>
      </p:sp>
      <p:sp>
        <p:nvSpPr>
          <p:cNvPr id="16" name="Shape 14"/>
          <p:cNvSpPr/>
          <p:nvPr/>
        </p:nvSpPr>
        <p:spPr>
          <a:xfrm>
            <a:off x="6327648" y="3246120"/>
            <a:ext cx="118872" cy="118872"/>
          </a:xfrm>
          <a:prstGeom prst="ellipse">
            <a:avLst/>
          </a:prstGeom>
          <a:solidFill>
            <a:srgbClr val="5BB84F"/>
          </a:solidFill>
          <a:ln w="12700">
            <a:solidFill>
              <a:srgbClr val="333333"/>
            </a:solidFill>
            <a:prstDash val="solid"/>
          </a:ln>
        </p:spPr>
      </p:sp>
      <p:sp>
        <p:nvSpPr>
          <p:cNvPr id="17" name="Text 15"/>
          <p:cNvSpPr txBox="1"/>
          <p:nvPr/>
        </p:nvSpPr>
        <p:spPr>
          <a:xfrm>
            <a:off x="6565392" y="3163824"/>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feel nothing and I think I should”</a:t>
            </a:r>
            <a:endParaRPr lang="en-US" sz="1200" dirty="0"/>
          </a:p>
        </p:txBody>
      </p:sp>
      <p:sp>
        <p:nvSpPr>
          <p:cNvPr id="18" name="Shape 16"/>
          <p:cNvSpPr/>
          <p:nvPr/>
        </p:nvSpPr>
        <p:spPr>
          <a:xfrm>
            <a:off x="658368" y="3630168"/>
            <a:ext cx="118872" cy="118872"/>
          </a:xfrm>
          <a:prstGeom prst="ellipse">
            <a:avLst/>
          </a:prstGeom>
          <a:solidFill>
            <a:srgbClr val="5BB84F"/>
          </a:solidFill>
          <a:ln w="12700">
            <a:solidFill>
              <a:srgbClr val="333333"/>
            </a:solidFill>
            <a:prstDash val="solid"/>
          </a:ln>
        </p:spPr>
      </p:sp>
      <p:sp>
        <p:nvSpPr>
          <p:cNvPr id="19" name="Text 17"/>
          <p:cNvSpPr txBox="1"/>
          <p:nvPr/>
        </p:nvSpPr>
        <p:spPr>
          <a:xfrm>
            <a:off x="896112" y="3547872"/>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“I’m angry and I can’t tell if it’s proportionate”</a:t>
            </a:r>
            <a:endParaRPr lang="en-US" sz="1200" dirty="0"/>
          </a:p>
        </p:txBody>
      </p:sp>
      <p:sp>
        <p:nvSpPr>
          <p:cNvPr id="20" name="Shape 18"/>
          <p:cNvSpPr/>
          <p:nvPr/>
        </p:nvSpPr>
        <p:spPr>
          <a:xfrm>
            <a:off x="6327648" y="3630168"/>
            <a:ext cx="118872" cy="118872"/>
          </a:xfrm>
          <a:prstGeom prst="ellipse">
            <a:avLst/>
          </a:prstGeom>
          <a:solidFill>
            <a:srgbClr val="5BB84F"/>
          </a:solidFill>
          <a:ln w="12700">
            <a:solidFill>
              <a:srgbClr val="333333"/>
            </a:solidFill>
            <a:prstDash val="solid"/>
          </a:ln>
        </p:spPr>
      </p:sp>
      <p:sp>
        <p:nvSpPr>
          <p:cNvPr id="21" name="Text 19"/>
          <p:cNvSpPr txBox="1"/>
          <p:nvPr/>
        </p:nvSpPr>
        <p:spPr>
          <a:xfrm>
            <a:off x="6565392" y="3547872"/>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“They say I hurt them and I don’t see it”</a:t>
            </a:r>
            <a:endParaRPr lang="en-US" sz="1200" dirty="0"/>
          </a:p>
        </p:txBody>
      </p:sp>
      <p:sp>
        <p:nvSpPr>
          <p:cNvPr id="22" name="Shape 20"/>
          <p:cNvSpPr/>
          <p:nvPr/>
        </p:nvSpPr>
        <p:spPr>
          <a:xfrm>
            <a:off x="658368" y="4014216"/>
            <a:ext cx="118872" cy="118872"/>
          </a:xfrm>
          <a:prstGeom prst="ellipse">
            <a:avLst/>
          </a:prstGeom>
          <a:solidFill>
            <a:srgbClr val="5BB84F"/>
          </a:solidFill>
          <a:ln w="12700">
            <a:solidFill>
              <a:srgbClr val="333333"/>
            </a:solidFill>
            <a:prstDash val="solid"/>
          </a:ln>
        </p:spPr>
      </p:sp>
      <p:sp>
        <p:nvSpPr>
          <p:cNvPr id="23" name="Text 21"/>
          <p:cNvSpPr txBox="1"/>
          <p:nvPr/>
        </p:nvSpPr>
        <p:spPr>
          <a:xfrm>
            <a:off x="896112" y="3931920"/>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want to end it and I don’t know if that’s real”</a:t>
            </a:r>
            <a:endParaRPr lang="en-US" sz="1200" dirty="0"/>
          </a:p>
        </p:txBody>
      </p:sp>
      <p:sp>
        <p:nvSpPr>
          <p:cNvPr id="24" name="Shape 22"/>
          <p:cNvSpPr/>
          <p:nvPr/>
        </p:nvSpPr>
        <p:spPr>
          <a:xfrm>
            <a:off x="6327648" y="4014216"/>
            <a:ext cx="118872" cy="118872"/>
          </a:xfrm>
          <a:prstGeom prst="ellipse">
            <a:avLst/>
          </a:prstGeom>
          <a:solidFill>
            <a:srgbClr val="5BB84F"/>
          </a:solidFill>
          <a:ln w="12700">
            <a:solidFill>
              <a:srgbClr val="333333"/>
            </a:solidFill>
            <a:prstDash val="solid"/>
          </a:ln>
        </p:spPr>
      </p:sp>
      <p:sp>
        <p:nvSpPr>
          <p:cNvPr id="25" name="Text 23"/>
          <p:cNvSpPr txBox="1"/>
          <p:nvPr/>
        </p:nvSpPr>
        <p:spPr>
          <a:xfrm>
            <a:off x="6565392" y="3931920"/>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“I’m thinking about getting back together with them”</a:t>
            </a:r>
            <a:endParaRPr lang="en-US" sz="1200" dirty="0"/>
          </a:p>
        </p:txBody>
      </p:sp>
      <p:sp>
        <p:nvSpPr>
          <p:cNvPr id="26" name="Shape 24"/>
          <p:cNvSpPr/>
          <p:nvPr/>
        </p:nvSpPr>
        <p:spPr>
          <a:xfrm>
            <a:off x="658368" y="4398264"/>
            <a:ext cx="118872" cy="118872"/>
          </a:xfrm>
          <a:prstGeom prst="ellipse">
            <a:avLst/>
          </a:prstGeom>
          <a:solidFill>
            <a:srgbClr val="5BB84F"/>
          </a:solidFill>
          <a:ln w="12700">
            <a:solidFill>
              <a:srgbClr val="333333"/>
            </a:solidFill>
            <a:prstDash val="solid"/>
          </a:ln>
        </p:spPr>
      </p:sp>
      <p:sp>
        <p:nvSpPr>
          <p:cNvPr id="27" name="Text 25"/>
          <p:cNvSpPr txBox="1"/>
          <p:nvPr/>
        </p:nvSpPr>
        <p:spPr>
          <a:xfrm>
            <a:off x="896112" y="431596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“There’s something I want to say and it feels too small”</a:t>
            </a:r>
            <a:endParaRPr lang="en-US" sz="1200" dirty="0"/>
          </a:p>
        </p:txBody>
      </p:sp>
      <p:sp>
        <p:nvSpPr>
          <p:cNvPr id="28" name="Shape 26"/>
          <p:cNvSpPr/>
          <p:nvPr/>
        </p:nvSpPr>
        <p:spPr>
          <a:xfrm>
            <a:off x="6327648" y="4398264"/>
            <a:ext cx="118872" cy="118872"/>
          </a:xfrm>
          <a:prstGeom prst="ellipse">
            <a:avLst/>
          </a:prstGeom>
          <a:solidFill>
            <a:srgbClr val="5BB84F"/>
          </a:solidFill>
          <a:ln w="12700">
            <a:solidFill>
              <a:srgbClr val="333333"/>
            </a:solidFill>
            <a:prstDash val="solid"/>
          </a:ln>
        </p:spPr>
      </p:sp>
      <p:sp>
        <p:nvSpPr>
          <p:cNvPr id="29" name="Text 27"/>
          <p:cNvSpPr txBox="1"/>
          <p:nvPr/>
        </p:nvSpPr>
        <p:spPr>
          <a:xfrm>
            <a:off x="6565392" y="431596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messed up and I don’t know what to do now”</a:t>
            </a:r>
            <a:endParaRPr lang="en-US" sz="1200" dirty="0"/>
          </a:p>
        </p:txBody>
      </p:sp>
      <p:sp>
        <p:nvSpPr>
          <p:cNvPr id="30" name="Shape 28"/>
          <p:cNvSpPr/>
          <p:nvPr/>
        </p:nvSpPr>
        <p:spPr>
          <a:xfrm>
            <a:off x="658368" y="4846320"/>
            <a:ext cx="10874959" cy="1417320"/>
          </a:xfrm>
          <a:prstGeom prst="roundRect">
            <a:avLst>
              <a:gd name="adj" fmla="val 5161"/>
            </a:avLst>
          </a:prstGeom>
          <a:solidFill>
            <a:srgbClr val="F7F5FA"/>
          </a:solidFill>
          <a:ln w="9525">
            <a:solidFill>
              <a:srgbClr val="E5E2E8"/>
            </a:solidFill>
            <a:prstDash val="solid"/>
          </a:ln>
        </p:spPr>
      </p:sp>
      <p:sp>
        <p:nvSpPr>
          <p:cNvPr id="31" name="Text 29"/>
          <p:cNvSpPr txBox="1"/>
          <p:nvPr/>
        </p:nvSpPr>
        <p:spPr>
          <a:xfrm>
            <a:off x="950976" y="5047488"/>
            <a:ext cx="10289743"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Every one of them opens with a gate</a:t>
            </a:r>
            <a:endParaRPr lang="en-US" sz="1400" dirty="0"/>
          </a:p>
        </p:txBody>
      </p:sp>
      <p:sp>
        <p:nvSpPr>
          <p:cNvPr id="32" name="Text 30"/>
          <p:cNvSpPr txBox="1"/>
          <p:nvPr/>
        </p:nvSpPr>
        <p:spPr>
          <a:xfrm>
            <a:off x="950976" y="5376672"/>
            <a:ext cx="10289743" cy="82296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Before any attachment reading is offered, the flow asks whether something real may be happening — and stops if it might be. It cuts both ways: an anxious-leaning flow stops when the alarm is correct, and an avoidant-leaning one stops when there is a genuine reason to leave. In "They say I hurt them and I don’t see it", answering that you almost always end up at fault routes to a stop that says more self-scrutiny will deepen the imbalance.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25</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AGENT KIT</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What an assistant is handed</a:t>
            </a:r>
            <a:endParaRPr lang="en-US" sz="3200" dirty="0"/>
          </a:p>
        </p:txBody>
      </p:sp>
      <p:sp>
        <p:nvSpPr>
          <p:cNvPr id="5" name="Text 3"/>
          <p:cNvSpPr txBox="1"/>
          <p:nvPr/>
        </p:nvSpPr>
        <p:spPr>
          <a:xfrm>
            <a:off x="658368" y="1609344"/>
            <a:ext cx="8699967" cy="41148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A static folder at /agent/. No query endpoint and no server — at this size there does not need to be one.</a:t>
            </a:r>
            <a:endParaRPr lang="en-US" sz="1450" dirty="0"/>
          </a:p>
        </p:txBody>
      </p:sp>
      <p:sp>
        <p:nvSpPr>
          <p:cNvPr id="6" name="Text 4"/>
          <p:cNvSpPr txBox="1"/>
          <p:nvPr/>
        </p:nvSpPr>
        <p:spPr>
          <a:xfrm>
            <a:off x="658368" y="2157984"/>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graph.json</a:t>
            </a:r>
            <a:endParaRPr lang="en-US" sz="1200" dirty="0"/>
          </a:p>
        </p:txBody>
      </p:sp>
      <p:sp>
        <p:nvSpPr>
          <p:cNvPr id="7" name="Text 5"/>
          <p:cNvSpPr txBox="1"/>
          <p:nvPr/>
        </p:nvSpPr>
        <p:spPr>
          <a:xfrm>
            <a:off x="2990088" y="2157984"/>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820 KB</a:t>
            </a:r>
            <a:endParaRPr lang="en-US" sz="1050" dirty="0"/>
          </a:p>
        </p:txBody>
      </p:sp>
      <p:sp>
        <p:nvSpPr>
          <p:cNvPr id="8" name="Text 6"/>
          <p:cNvSpPr txBox="1"/>
          <p:nvPr/>
        </p:nvSpPr>
        <p:spPr>
          <a:xfrm>
            <a:off x="4270248" y="2157984"/>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whole graph. Fetch it and traverse it — fine for a program, far too much for a context window.</a:t>
            </a:r>
            <a:endParaRPr lang="en-US" sz="1150" dirty="0"/>
          </a:p>
        </p:txBody>
      </p:sp>
      <p:sp>
        <p:nvSpPr>
          <p:cNvPr id="9" name="Text 7"/>
          <p:cNvSpPr txBox="1"/>
          <p:nvPr/>
        </p:nvSpPr>
        <p:spPr>
          <a:xfrm>
            <a:off x="658368" y="2761488"/>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context/</a:t>
            </a:r>
            <a:endParaRPr lang="en-US" sz="1200" dirty="0"/>
          </a:p>
        </p:txBody>
      </p:sp>
      <p:sp>
        <p:nvSpPr>
          <p:cNvPr id="10" name="Text 8"/>
          <p:cNvSpPr txBox="1"/>
          <p:nvPr/>
        </p:nvSpPr>
        <p:spPr>
          <a:xfrm>
            <a:off x="2990088" y="2761488"/>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~110k tokens</a:t>
            </a:r>
            <a:endParaRPr lang="en-US" sz="1050" dirty="0"/>
          </a:p>
        </p:txBody>
      </p:sp>
      <p:sp>
        <p:nvSpPr>
          <p:cNvPr id="11" name="Text 9"/>
          <p:cNvSpPr txBox="1"/>
          <p:nvPr/>
        </p:nvSpPr>
        <p:spPr>
          <a:xfrm>
            <a:off x="4270248" y="2761488"/>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same graph as markdown, sliced so it can be loaded one piece at a time.</a:t>
            </a:r>
            <a:endParaRPr lang="en-US" sz="1150" dirty="0"/>
          </a:p>
        </p:txBody>
      </p:sp>
      <p:sp>
        <p:nvSpPr>
          <p:cNvPr id="12" name="Text 10"/>
          <p:cNvSpPr txBox="1"/>
          <p:nvPr/>
        </p:nvSpPr>
        <p:spPr>
          <a:xfrm>
            <a:off x="658368" y="3364992"/>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nodes.tsv</a:t>
            </a:r>
            <a:endParaRPr lang="en-US" sz="1200" dirty="0"/>
          </a:p>
        </p:txBody>
      </p:sp>
      <p:sp>
        <p:nvSpPr>
          <p:cNvPr id="13" name="Text 11"/>
          <p:cNvSpPr txBox="1"/>
          <p:nvPr/>
        </p:nvSpPr>
        <p:spPr>
          <a:xfrm>
            <a:off x="2990088" y="3364992"/>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115 KB</a:t>
            </a:r>
            <a:endParaRPr lang="en-US" sz="1050" dirty="0"/>
          </a:p>
        </p:txBody>
      </p:sp>
      <p:sp>
        <p:nvSpPr>
          <p:cNvPr id="14" name="Text 12"/>
          <p:cNvSpPr txBox="1"/>
          <p:nvPr/>
        </p:nvSpPr>
        <p:spPr>
          <a:xfrm>
            <a:off x="4270248" y="3364992"/>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id, type, title, gloss — one line per node, for deciding what to look at.</a:t>
            </a:r>
            <a:endParaRPr lang="en-US" sz="1150" dirty="0"/>
          </a:p>
        </p:txBody>
      </p:sp>
      <p:sp>
        <p:nvSpPr>
          <p:cNvPr id="15" name="Text 13"/>
          <p:cNvSpPr txBox="1"/>
          <p:nvPr/>
        </p:nvSpPr>
        <p:spPr>
          <a:xfrm>
            <a:off x="658368" y="3968496"/>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operating-rules.md</a:t>
            </a:r>
            <a:endParaRPr lang="en-US" sz="1200" dirty="0"/>
          </a:p>
        </p:txBody>
      </p:sp>
      <p:sp>
        <p:nvSpPr>
          <p:cNvPr id="16" name="Text 14"/>
          <p:cNvSpPr txBox="1"/>
          <p:nvPr/>
        </p:nvSpPr>
        <p:spPr>
          <a:xfrm>
            <a:off x="2990088" y="3968496"/>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binding</a:t>
            </a:r>
            <a:endParaRPr lang="en-US" sz="1050" dirty="0"/>
          </a:p>
        </p:txBody>
      </p:sp>
      <p:sp>
        <p:nvSpPr>
          <p:cNvPr id="17" name="Text 15"/>
          <p:cNvSpPr txBox="1"/>
          <p:nvPr/>
        </p:nvSpPr>
        <p:spPr>
          <a:xfrm>
            <a:off x="4270248" y="3968496"/>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seven rules. Shipped with the data so they travel with it.</a:t>
            </a:r>
            <a:endParaRPr lang="en-US" sz="1150" dirty="0"/>
          </a:p>
        </p:txBody>
      </p:sp>
      <p:sp>
        <p:nvSpPr>
          <p:cNvPr id="18" name="Text 16"/>
          <p:cNvSpPr txBox="1"/>
          <p:nvPr/>
        </p:nvSpPr>
        <p:spPr>
          <a:xfrm>
            <a:off x="658368" y="4572000"/>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schema.json</a:t>
            </a:r>
            <a:endParaRPr lang="en-US" sz="1200" dirty="0"/>
          </a:p>
        </p:txBody>
      </p:sp>
      <p:sp>
        <p:nvSpPr>
          <p:cNvPr id="19" name="Text 17"/>
          <p:cNvSpPr txBox="1"/>
          <p:nvPr/>
        </p:nvSpPr>
        <p:spPr>
          <a:xfrm>
            <a:off x="2990088" y="4572000"/>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reference</a:t>
            </a:r>
            <a:endParaRPr lang="en-US" sz="1050" dirty="0"/>
          </a:p>
        </p:txBody>
      </p:sp>
      <p:sp>
        <p:nvSpPr>
          <p:cNvPr id="20" name="Text 18"/>
          <p:cNvSpPr txBox="1"/>
          <p:nvPr/>
        </p:nvSpPr>
        <p:spPr>
          <a:xfrm>
            <a:off x="4270248" y="4572000"/>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closed vocabulary, so a consumer can check rather than guess.</a:t>
            </a:r>
            <a:endParaRPr lang="en-US" sz="1150" dirty="0"/>
          </a:p>
        </p:txBody>
      </p:sp>
      <p:sp>
        <p:nvSpPr>
          <p:cNvPr id="21" name="Text 19"/>
          <p:cNvSpPr txBox="1"/>
          <p:nvPr/>
        </p:nvSpPr>
        <p:spPr>
          <a:xfrm>
            <a:off x="658368" y="5175504"/>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flows.json</a:t>
            </a:r>
            <a:endParaRPr lang="en-US" sz="1200" dirty="0"/>
          </a:p>
        </p:txBody>
      </p:sp>
      <p:sp>
        <p:nvSpPr>
          <p:cNvPr id="22" name="Text 20"/>
          <p:cNvSpPr txBox="1"/>
          <p:nvPr/>
        </p:nvSpPr>
        <p:spPr>
          <a:xfrm>
            <a:off x="2990088" y="5175504"/>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12 flows</a:t>
            </a:r>
            <a:endParaRPr lang="en-US" sz="1050" dirty="0"/>
          </a:p>
        </p:txBody>
      </p:sp>
      <p:sp>
        <p:nvSpPr>
          <p:cNvPr id="23" name="Text 21"/>
          <p:cNvSpPr txBox="1"/>
          <p:nvPr/>
        </p:nvSpPr>
        <p:spPr>
          <a:xfrm>
            <a:off x="4270248" y="5175504"/>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decision flows behind the toolbox, with their gates intact.</a:t>
            </a:r>
            <a:endParaRPr lang="en-US" sz="1150" dirty="0"/>
          </a:p>
        </p:txBody>
      </p:sp>
      <p:sp>
        <p:nvSpPr>
          <p:cNvPr id="24" name="Shape 22"/>
          <p:cNvSpPr/>
          <p:nvPr/>
        </p:nvSpPr>
        <p:spPr>
          <a:xfrm>
            <a:off x="658368" y="5779008"/>
            <a:ext cx="10874959" cy="603504"/>
          </a:xfrm>
          <a:prstGeom prst="roundRect">
            <a:avLst>
              <a:gd name="adj" fmla="val 12121"/>
            </a:avLst>
          </a:prstGeom>
          <a:solidFill>
            <a:srgbClr val="F7F5FA"/>
          </a:solidFill>
          <a:ln w="9525">
            <a:solidFill>
              <a:srgbClr val="E5E2E8"/>
            </a:solidFill>
            <a:prstDash val="solid"/>
          </a:ln>
        </p:spPr>
      </p:sp>
      <p:sp>
        <p:nvSpPr>
          <p:cNvPr id="25" name="Text 23"/>
          <p:cNvSpPr txBox="1"/>
          <p:nvPr/>
        </p:nvSpPr>
        <p:spPr>
          <a:xfrm>
            <a:off x="950976" y="5779008"/>
            <a:ext cx="10289743" cy="603504"/>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The README is the contract: node and edge shape, all sixteen predicates with domain and range, what the lenses mean, and what not to do with any of it.</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26</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TWO MODES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Talking about it, and wandering through it</a:t>
            </a:r>
            <a:endParaRPr lang="en-US" sz="3200" dirty="0"/>
          </a:p>
        </p:txBody>
      </p:sp>
      <p:pic>
        <p:nvPicPr>
          <p:cNvPr id="5" name="Image 0" descr="/mnt/user-data/outputs/deck-discussion.png">    </p:cNvPr>
          <p:cNvPicPr>
            <a:picLocks noChangeAspect="1"/>
          </p:cNvPicPr>
          <p:nvPr/>
        </p:nvPicPr>
        <p:blipFill>
          <a:blip r:embed="rId1"/>
          <a:stretch>
            <a:fillRect/>
          </a:stretch>
        </p:blipFill>
        <p:spPr>
          <a:xfrm>
            <a:off x="658368" y="1417320"/>
            <a:ext cx="5394960" cy="3163824"/>
          </a:xfrm>
          <a:prstGeom prst="rect">
            <a:avLst/>
          </a:prstGeom>
        </p:spPr>
      </p:pic>
      <p:sp>
        <p:nvSpPr>
          <p:cNvPr id="6" name="Text 3"/>
          <p:cNvSpPr txBox="1"/>
          <p:nvPr/>
        </p:nvSpPr>
        <p:spPr>
          <a:xfrm>
            <a:off x="658368" y="4828032"/>
            <a:ext cx="5394960" cy="274320"/>
          </a:xfrm>
          <a:prstGeom prst="rect">
            <a:avLst/>
          </a:prstGeom>
          <a:noFill/>
          <a:ln/>
        </p:spPr>
        <p:txBody>
          <a:bodyPr wrap="square" lIns="0" tIns="0" rIns="0" bIns="0" rtlCol="0" anchor="ctr"/>
          <a:lstStyle/>
          <a:p>
            <a:pPr indent="0" marL="0">
              <a:buNone/>
            </a:pPr>
            <a:r>
              <a:rPr lang="en-US" sz="1500" b="1" dirty="0">
                <a:solidFill>
                  <a:srgbClr val="7B4BD8"/>
                </a:solidFill>
                <a:latin typeface="Calibri" pitchFamily="34" charset="0"/>
                <a:ea typeface="Calibri" pitchFamily="34" charset="-122"/>
                <a:cs typeface="Calibri" pitchFamily="34" charset="-120"/>
              </a:rPr>
              <a:t>Discussion</a:t>
            </a:r>
            <a:endParaRPr lang="en-US" sz="1500" dirty="0"/>
          </a:p>
        </p:txBody>
      </p:sp>
      <p:sp>
        <p:nvSpPr>
          <p:cNvPr id="7" name="Text 4"/>
          <p:cNvSpPr txBox="1"/>
          <p:nvPr/>
        </p:nvSpPr>
        <p:spPr>
          <a:xfrm>
            <a:off x="658368" y="5138928"/>
            <a:ext cx="5394960" cy="12344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The assistant picks the nodes and writes a link. The page opens on exactly those, highlighted, with its sentence above them. No server and no socket — the URL is the transport, so it works on a static host and with any assistant that can type.</a:t>
            </a:r>
            <a:endParaRPr lang="en-US" sz="1150" dirty="0"/>
          </a:p>
        </p:txBody>
      </p:sp>
      <p:pic>
        <p:nvPicPr>
          <p:cNvPr id="8" name="Image 1" descr="/mnt/user-data/outputs/deck-explore.png">    </p:cNvPr>
          <p:cNvPicPr>
            <a:picLocks noChangeAspect="1"/>
          </p:cNvPicPr>
          <p:nvPr/>
        </p:nvPicPr>
        <p:blipFill>
          <a:blip r:embed="rId2"/>
          <a:stretch>
            <a:fillRect/>
          </a:stretch>
        </p:blipFill>
        <p:spPr>
          <a:xfrm>
            <a:off x="6144768" y="1417320"/>
            <a:ext cx="5394960" cy="3163824"/>
          </a:xfrm>
          <a:prstGeom prst="rect">
            <a:avLst/>
          </a:prstGeom>
        </p:spPr>
      </p:pic>
      <p:sp>
        <p:nvSpPr>
          <p:cNvPr id="9" name="Text 5"/>
          <p:cNvSpPr txBox="1"/>
          <p:nvPr/>
        </p:nvSpPr>
        <p:spPr>
          <a:xfrm>
            <a:off x="6144768" y="4828032"/>
            <a:ext cx="5394960" cy="274320"/>
          </a:xfrm>
          <a:prstGeom prst="rect">
            <a:avLst/>
          </a:prstGeom>
          <a:noFill/>
          <a:ln/>
        </p:spPr>
        <p:txBody>
          <a:bodyPr wrap="square" lIns="0" tIns="0" rIns="0" bIns="0" rtlCol="0" anchor="ctr"/>
          <a:lstStyle/>
          <a:p>
            <a:pPr indent="0" marL="0">
              <a:buNone/>
            </a:pPr>
            <a:r>
              <a:rPr lang="en-US" sz="1500" b="1" dirty="0">
                <a:solidFill>
                  <a:srgbClr val="7B4BD8"/>
                </a:solidFill>
                <a:latin typeface="Calibri" pitchFamily="34" charset="0"/>
                <a:ea typeface="Calibri" pitchFamily="34" charset="-122"/>
                <a:cs typeface="Calibri" pitchFamily="34" charset="-120"/>
              </a:rPr>
              <a:t>Exploration</a:t>
            </a:r>
            <a:endParaRPr lang="en-US" sz="1500" dirty="0"/>
          </a:p>
        </p:txBody>
      </p:sp>
      <p:sp>
        <p:nvSpPr>
          <p:cNvPr id="10" name="Text 6"/>
          <p:cNvSpPr txBox="1"/>
          <p:nvPr/>
        </p:nvSpPr>
        <p:spPr>
          <a:xfrm>
            <a:off x="6144768" y="5138928"/>
            <a:ext cx="5394960" cy="12344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You take over. Click any neighbour to re-centre on it, filter by relationship family or by lens, trace the shortest path between two ideas, or step through a loop. The back button walks your path.</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27</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HONESTY</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What this is not</a:t>
            </a:r>
            <a:endParaRPr lang="en-US" sz="3200" dirty="0"/>
          </a:p>
        </p:txBody>
      </p:sp>
      <p:sp>
        <p:nvSpPr>
          <p:cNvPr id="5" name="Text 3"/>
          <p:cNvSpPr txBox="1"/>
          <p:nvPr/>
        </p:nvSpPr>
        <p:spPr>
          <a:xfrm>
            <a:off x="658368" y="1481328"/>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One person’s corpus</a:t>
            </a:r>
            <a:endParaRPr lang="en-US" sz="1300" dirty="0"/>
          </a:p>
        </p:txBody>
      </p:sp>
      <p:sp>
        <p:nvSpPr>
          <p:cNvPr id="6" name="Text 4"/>
          <p:cNvSpPr txBox="1"/>
          <p:nvPr/>
        </p:nvSpPr>
        <p:spPr>
          <a:xfrm>
            <a:off x="4892040" y="1481328"/>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Everything here is Heidi Priebe’s framing. It is not a survey of attachment research, and where she diverges from the literature the graph records her, faithfully, without adjudicating.</a:t>
            </a:r>
            <a:endParaRPr lang="en-US" sz="1150" dirty="0"/>
          </a:p>
        </p:txBody>
      </p:sp>
      <p:sp>
        <p:nvSpPr>
          <p:cNvPr id="7" name="Text 5"/>
          <p:cNvSpPr txBox="1"/>
          <p:nvPr/>
        </p:nvSpPr>
        <p:spPr>
          <a:xfrm>
            <a:off x="658368" y="2450592"/>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A ceiling inherited from the source</a:t>
            </a:r>
            <a:endParaRPr lang="en-US" sz="1300" dirty="0"/>
          </a:p>
        </p:txBody>
      </p:sp>
      <p:sp>
        <p:nvSpPr>
          <p:cNvPr id="8" name="Text 6"/>
          <p:cNvSpPr txBox="1"/>
          <p:nvPr/>
        </p:nvSpPr>
        <p:spPr>
          <a:xfrm>
            <a:off x="4892040" y="2450592"/>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She states her own position plainly — largely self-taught, doing a master’s, not an expert. Anything built on the corpus inherits that and should not present itself as clinical guidance.</a:t>
            </a:r>
            <a:endParaRPr lang="en-US" sz="1150" dirty="0"/>
          </a:p>
        </p:txBody>
      </p:sp>
      <p:sp>
        <p:nvSpPr>
          <p:cNvPr id="9" name="Text 7"/>
          <p:cNvSpPr txBox="1"/>
          <p:nvPr/>
        </p:nvSpPr>
        <p:spPr>
          <a:xfrm>
            <a:off x="658368" y="3419856"/>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101 nodes marked "literature" are unverified</a:t>
            </a:r>
            <a:endParaRPr lang="en-US" sz="1300" dirty="0"/>
          </a:p>
        </p:txBody>
      </p:sp>
      <p:sp>
        <p:nvSpPr>
          <p:cNvPr id="10" name="Text 8"/>
          <p:cNvSpPr txBox="1"/>
          <p:nvPr/>
        </p:nvSpPr>
        <p:spPr>
          <a:xfrm>
            <a:off x="4892040" y="3419856"/>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They are labelled as standard attachment theory because she presents them that way. Checking them against the primary literature is parked, deliberately, and the label says where an idea came from — not how well established it is.</a:t>
            </a:r>
            <a:endParaRPr lang="en-US" sz="1150" dirty="0"/>
          </a:p>
        </p:txBody>
      </p:sp>
      <p:sp>
        <p:nvSpPr>
          <p:cNvPr id="11" name="Text 9"/>
          <p:cNvSpPr txBox="1"/>
          <p:nvPr/>
        </p:nvSpPr>
        <p:spPr>
          <a:xfrm>
            <a:off x="658368" y="4389120"/>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Not a diagnosis, not a test</a:t>
            </a:r>
            <a:endParaRPr lang="en-US" sz="1300" dirty="0"/>
          </a:p>
        </p:txBody>
      </p:sp>
      <p:sp>
        <p:nvSpPr>
          <p:cNvPr id="12" name="Text 10"/>
          <p:cNvSpPr txBox="1"/>
          <p:nvPr/>
        </p:nvSpPr>
        <p:spPr>
          <a:xfrm>
            <a:off x="4892040" y="4389120"/>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Nothing outputs a category. If it ever does, that is a bug in something built on it, not a feature of the graph.</a:t>
            </a:r>
            <a:endParaRPr lang="en-US" sz="1150" dirty="0"/>
          </a:p>
        </p:txBody>
      </p:sp>
      <p:sp>
        <p:nvSpPr>
          <p:cNvPr id="13" name="Text 11"/>
          <p:cNvSpPr txBox="1"/>
          <p:nvPr/>
        </p:nvSpPr>
        <p:spPr>
          <a:xfrm>
            <a:off x="658368" y="5358384"/>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Derivative, and dependent</a:t>
            </a:r>
            <a:endParaRPr lang="en-US" sz="1300" dirty="0"/>
          </a:p>
        </p:txBody>
      </p:sp>
      <p:sp>
        <p:nvSpPr>
          <p:cNvPr id="14" name="Text 12"/>
          <p:cNvSpPr txBox="1"/>
          <p:nvPr/>
        </p:nvSpPr>
        <p:spPr>
          <a:xfrm>
            <a:off x="4892040" y="5358384"/>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This is an index into her work built to help someone re-find it, not to replace watching it. All credit for the ideas is hers.</a:t>
            </a:r>
            <a:endParaRPr lang="en-US" sz="1150" dirty="0"/>
          </a:p>
        </p:txBody>
      </p:sp>
      <p:sp>
        <p:nvSpPr>
          <p:cNvPr id="15" name="Text 13"/>
          <p:cNvSpPr txBox="1"/>
          <p:nvPr/>
        </p:nvSpPr>
        <p:spPr>
          <a:xfrm>
            <a:off x="658368" y="6217920"/>
            <a:ext cx="10874959" cy="365760"/>
          </a:xfrm>
          <a:prstGeom prst="rect">
            <a:avLst/>
          </a:prstGeom>
          <a:noFill/>
          <a:ln/>
        </p:spPr>
        <p:txBody>
          <a:bodyPr wrap="square" lIns="0" tIns="0" rIns="0" bIns="0" rtlCol="0" anchor="ctr"/>
          <a:lstStyle/>
          <a:p>
            <a:pPr indent="0" marL="0">
              <a:buNone/>
            </a:pPr>
            <a:r>
              <a:rPr lang="en-US" sz="1150" i="1" dirty="0">
                <a:solidFill>
                  <a:srgbClr val="807C8A"/>
                </a:solidFill>
                <a:latin typeface="Calibri" pitchFamily="34" charset="0"/>
                <a:ea typeface="Calibri" pitchFamily="34" charset="-122"/>
                <a:cs typeface="Calibri" pitchFamily="34" charset="-120"/>
              </a:rPr>
              <a:t>Attachment styles are a framework for self-understanding, not a diagnosis, a personality type, or a fixed trait. Nothing here is therapy or a substitute for it.</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28</a:t>
            </a:r>
            <a:endParaRPr lang="en-US" sz="900" dirty="0"/>
          </a:p>
        </p:txBody>
      </p:sp>
      <p:sp>
        <p:nvSpPr>
          <p:cNvPr id="3" name="Text 1"/>
          <p:cNvSpPr txBox="1"/>
          <p:nvPr/>
        </p:nvSpPr>
        <p:spPr>
          <a:xfrm>
            <a:off x="658368" y="1371600"/>
            <a:ext cx="73152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it goes next</a:t>
            </a:r>
            <a:endParaRPr lang="en-US" sz="3800" dirty="0"/>
          </a:p>
        </p:txBody>
      </p:sp>
      <p:sp>
        <p:nvSpPr>
          <p:cNvPr id="4" name="Text 2"/>
          <p:cNvSpPr txBox="1"/>
          <p:nvPr/>
        </p:nvSpPr>
        <p:spPr>
          <a:xfrm>
            <a:off x="658368" y="2331720"/>
            <a:ext cx="3429000" cy="548640"/>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Extend beyond one voice</a:t>
            </a:r>
            <a:endParaRPr lang="en-US" sz="1500" dirty="0"/>
          </a:p>
        </p:txBody>
      </p:sp>
      <p:sp>
        <p:nvSpPr>
          <p:cNvPr id="5" name="Text 3"/>
          <p:cNvSpPr txBox="1"/>
          <p:nvPr/>
        </p:nvSpPr>
        <p:spPr>
          <a:xfrm>
            <a:off x="658368" y="2971800"/>
            <a:ext cx="3429000" cy="1280160"/>
          </a:xfrm>
          <a:prstGeom prst="rect">
            <a:avLst/>
          </a:prstGeom>
          <a:noFill/>
          <a:ln/>
        </p:spPr>
        <p:txBody>
          <a:bodyPr wrap="square" lIns="0" tIns="0" rIns="0" bIns="0" rtlCol="0" anchor="ctr"/>
          <a:lstStyle/>
          <a:p>
            <a:pPr indent="0" marL="0">
              <a:lnSpc>
                <a:spcPts val="1650"/>
              </a:lnSpc>
              <a:buNone/>
            </a:pPr>
            <a:r>
              <a:rPr lang="en-US" sz="1150" dirty="0">
                <a:solidFill>
                  <a:srgbClr val="918D9D"/>
                </a:solidFill>
                <a:latin typeface="Calibri" pitchFamily="34" charset="0"/>
                <a:ea typeface="Calibri" pitchFamily="34" charset="-122"/>
                <a:cs typeface="Calibri" pitchFamily="34" charset="-120"/>
              </a:rPr>
              <a:t>The schema already carries an attribution field and a source type. Adding a second corpus is a matter of mining, not redesign.</a:t>
            </a:r>
            <a:endParaRPr lang="en-US" sz="1150" dirty="0"/>
          </a:p>
        </p:txBody>
      </p:sp>
      <p:sp>
        <p:nvSpPr>
          <p:cNvPr id="6" name="Text 4"/>
          <p:cNvSpPr txBox="1"/>
          <p:nvPr/>
        </p:nvSpPr>
        <p:spPr>
          <a:xfrm>
            <a:off x="4453128" y="2331720"/>
            <a:ext cx="3429000" cy="548640"/>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Verify the literature nodes</a:t>
            </a:r>
            <a:endParaRPr lang="en-US" sz="1500" dirty="0"/>
          </a:p>
        </p:txBody>
      </p:sp>
      <p:sp>
        <p:nvSpPr>
          <p:cNvPr id="7" name="Text 5"/>
          <p:cNvSpPr txBox="1"/>
          <p:nvPr/>
        </p:nvSpPr>
        <p:spPr>
          <a:xfrm>
            <a:off x="4453128" y="2971800"/>
            <a:ext cx="3429000" cy="1280160"/>
          </a:xfrm>
          <a:prstGeom prst="rect">
            <a:avLst/>
          </a:prstGeom>
          <a:noFill/>
          <a:ln/>
        </p:spPr>
        <p:txBody>
          <a:bodyPr wrap="square" lIns="0" tIns="0" rIns="0" bIns="0" rtlCol="0" anchor="ctr"/>
          <a:lstStyle/>
          <a:p>
            <a:pPr indent="0" marL="0">
              <a:lnSpc>
                <a:spcPts val="1650"/>
              </a:lnSpc>
              <a:buNone/>
            </a:pPr>
            <a:r>
              <a:rPr lang="en-US" sz="1150" dirty="0">
                <a:solidFill>
                  <a:srgbClr val="918D9D"/>
                </a:solidFill>
                <a:latin typeface="Calibri" pitchFamily="34" charset="0"/>
                <a:ea typeface="Calibri" pitchFamily="34" charset="-122"/>
                <a:cs typeface="Calibri" pitchFamily="34" charset="-120"/>
              </a:rPr>
              <a:t>Check the 101 nodes marked "literature" against the primary sources, and record the result separately from where the idea came from.</a:t>
            </a:r>
            <a:endParaRPr lang="en-US" sz="1150" dirty="0"/>
          </a:p>
        </p:txBody>
      </p:sp>
      <p:sp>
        <p:nvSpPr>
          <p:cNvPr id="8" name="Text 6"/>
          <p:cNvSpPr txBox="1"/>
          <p:nvPr/>
        </p:nvSpPr>
        <p:spPr>
          <a:xfrm>
            <a:off x="8247888" y="2331720"/>
            <a:ext cx="3429000" cy="548640"/>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Sharpen the assistant side</a:t>
            </a:r>
            <a:endParaRPr lang="en-US" sz="1500" dirty="0"/>
          </a:p>
        </p:txBody>
      </p:sp>
      <p:sp>
        <p:nvSpPr>
          <p:cNvPr id="9" name="Text 7"/>
          <p:cNvSpPr txBox="1"/>
          <p:nvPr/>
        </p:nvSpPr>
        <p:spPr>
          <a:xfrm>
            <a:off x="8247888" y="2971800"/>
            <a:ext cx="3429000" cy="1280160"/>
          </a:xfrm>
          <a:prstGeom prst="rect">
            <a:avLst/>
          </a:prstGeom>
          <a:noFill/>
          <a:ln/>
        </p:spPr>
        <p:txBody>
          <a:bodyPr wrap="square" lIns="0" tIns="0" rIns="0" bIns="0" rtlCol="0" anchor="ctr"/>
          <a:lstStyle/>
          <a:p>
            <a:pPr indent="0" marL="0">
              <a:lnSpc>
                <a:spcPts val="1650"/>
              </a:lnSpc>
              <a:buNone/>
            </a:pPr>
            <a:r>
              <a:rPr lang="en-US" sz="1150" dirty="0">
                <a:solidFill>
                  <a:srgbClr val="918D9D"/>
                </a:solidFill>
                <a:latin typeface="Calibri" pitchFamily="34" charset="0"/>
                <a:ea typeface="Calibri" pitchFamily="34" charset="-122"/>
                <a:cs typeface="Calibri" pitchFamily="34" charset="-120"/>
              </a:rPr>
              <a:t>The kit gives a model the data and the rules. What it does not yet give is worked examples of using them well.</a:t>
            </a:r>
            <a:endParaRPr lang="en-US" sz="1150" dirty="0"/>
          </a:p>
        </p:txBody>
      </p:sp>
      <p:sp>
        <p:nvSpPr>
          <p:cNvPr id="10" name="Text 8"/>
          <p:cNvSpPr txBox="1"/>
          <p:nvPr/>
        </p:nvSpPr>
        <p:spPr>
          <a:xfrm>
            <a:off x="658368" y="5029200"/>
            <a:ext cx="7772400" cy="320040"/>
          </a:xfrm>
          <a:prstGeom prst="rect">
            <a:avLst/>
          </a:prstGeom>
          <a:noFill/>
          <a:ln/>
        </p:spPr>
        <p:txBody>
          <a:bodyPr wrap="square" lIns="0" tIns="0" rIns="0" bIns="0" rtlCol="0" anchor="ctr"/>
          <a:lstStyle/>
          <a:p>
            <a:pPr indent="0" marL="0">
              <a:buNone/>
            </a:pPr>
            <a:r>
              <a:rPr lang="en-US" sz="1500" dirty="0">
                <a:solidFill>
                  <a:srgbClr val="FFFFFF"/>
                </a:solidFill>
                <a:latin typeface="Cambria" pitchFamily="34" charset="0"/>
                <a:ea typeface="Cambria" pitchFamily="34" charset="-122"/>
                <a:cs typeface="Cambria" pitchFamily="34" charset="-120"/>
              </a:rPr>
              <a:t>All credit for the ideas belongs to Heidi Priebe.</a:t>
            </a:r>
            <a:endParaRPr lang="en-US" sz="1500" dirty="0"/>
          </a:p>
        </p:txBody>
      </p:sp>
      <p:sp>
        <p:nvSpPr>
          <p:cNvPr id="11" name="Text 9"/>
          <p:cNvSpPr txBox="1"/>
          <p:nvPr/>
        </p:nvSpPr>
        <p:spPr>
          <a:xfrm>
            <a:off x="658368" y="5376672"/>
            <a:ext cx="7772400" cy="292608"/>
          </a:xfrm>
          <a:prstGeom prst="rect">
            <a:avLst/>
          </a:prstGeom>
          <a:noFill/>
          <a:ln/>
        </p:spPr>
        <p:txBody>
          <a:bodyPr wrap="square" lIns="0" tIns="0" rIns="0" bIns="0" rtlCol="0" anchor="ctr"/>
          <a:lstStyle/>
          <a:p>
            <a:pPr indent="0" marL="0">
              <a:buNone/>
            </a:pPr>
            <a:r>
              <a:rPr lang="en-US" sz="1250" dirty="0">
                <a:solidFill>
                  <a:srgbClr val="9E86E8"/>
                </a:solidFill>
                <a:latin typeface="Calibri" pitchFamily="34" charset="0"/>
                <a:ea typeface="Calibri" pitchFamily="34" charset="-122"/>
                <a:cs typeface="Calibri" pitchFamily="34" charset="-120"/>
              </a:rPr>
              <a:t>youtube.com/@heidipriebe1</a:t>
            </a:r>
            <a:endParaRPr lang="en-US" sz="1250" dirty="0"/>
          </a:p>
        </p:txBody>
      </p:sp>
      <p:sp>
        <p:nvSpPr>
          <p:cNvPr id="12" name="Text 10"/>
          <p:cNvSpPr txBox="1"/>
          <p:nvPr/>
        </p:nvSpPr>
        <p:spPr>
          <a:xfrm>
            <a:off x="658368" y="5897880"/>
            <a:ext cx="8686800" cy="320040"/>
          </a:xfrm>
          <a:prstGeom prst="rect">
            <a:avLst/>
          </a:prstGeom>
          <a:noFill/>
          <a:ln/>
        </p:spPr>
        <p:txBody>
          <a:bodyPr wrap="square" lIns="0" tIns="0" rIns="0" bIns="0" rtlCol="0" anchor="ctr"/>
          <a:lstStyle/>
          <a:p>
            <a:pPr indent="0" marL="0">
              <a:buNone/>
            </a:pPr>
            <a:r>
              <a:rPr lang="en-US" sz="1150" dirty="0">
                <a:solidFill>
                  <a:srgbClr val="76727F"/>
                </a:solidFill>
                <a:latin typeface="Calibri" pitchFamily="34" charset="0"/>
                <a:ea typeface="Calibri" pitchFamily="34" charset="-122"/>
                <a:cs typeface="Calibri" pitchFamily="34" charset="-120"/>
              </a:rPr>
              <a:t>The site, the toolbox and the agent kit are one static build from one set of notes.</a:t>
            </a:r>
            <a:endParaRPr lang="en-US" sz="1150" dirty="0"/>
          </a:p>
        </p:txBody>
      </p:sp>
      <p:sp>
        <p:nvSpPr>
          <p:cNvPr id="13" name="Shape 11"/>
          <p:cNvSpPr/>
          <p:nvPr/>
        </p:nvSpPr>
        <p:spPr>
          <a:xfrm>
            <a:off x="658368" y="6355080"/>
            <a:ext cx="182880" cy="182880"/>
          </a:xfrm>
          <a:prstGeom prst="ellipse">
            <a:avLst/>
          </a:prstGeom>
          <a:solidFill>
            <a:srgbClr val="F2643E"/>
          </a:solidFill>
          <a:ln w="12700">
            <a:solidFill>
              <a:srgbClr val="333333"/>
            </a:solidFill>
            <a:prstDash val="solid"/>
          </a:ln>
        </p:spPr>
      </p:sp>
      <p:sp>
        <p:nvSpPr>
          <p:cNvPr id="14" name="Shape 12"/>
          <p:cNvSpPr/>
          <p:nvPr/>
        </p:nvSpPr>
        <p:spPr>
          <a:xfrm>
            <a:off x="987552" y="6355080"/>
            <a:ext cx="182880" cy="182880"/>
          </a:xfrm>
          <a:prstGeom prst="ellipse">
            <a:avLst/>
          </a:prstGeom>
          <a:solidFill>
            <a:srgbClr val="EDA72C"/>
          </a:solidFill>
          <a:ln w="12700">
            <a:solidFill>
              <a:srgbClr val="333333"/>
            </a:solidFill>
            <a:prstDash val="solid"/>
          </a:ln>
        </p:spPr>
      </p:sp>
      <p:sp>
        <p:nvSpPr>
          <p:cNvPr id="15" name="Shape 13"/>
          <p:cNvSpPr/>
          <p:nvPr/>
        </p:nvSpPr>
        <p:spPr>
          <a:xfrm>
            <a:off x="1316736" y="6355080"/>
            <a:ext cx="182880" cy="182880"/>
          </a:xfrm>
          <a:prstGeom prst="ellipse">
            <a:avLst/>
          </a:prstGeom>
          <a:solidFill>
            <a:srgbClr val="E04F86"/>
          </a:solidFill>
          <a:ln w="12700">
            <a:solidFill>
              <a:srgbClr val="333333"/>
            </a:solidFill>
            <a:prstDash val="solid"/>
          </a:ln>
        </p:spPr>
      </p:sp>
      <p:sp>
        <p:nvSpPr>
          <p:cNvPr id="16" name="Shape 14"/>
          <p:cNvSpPr/>
          <p:nvPr/>
        </p:nvSpPr>
        <p:spPr>
          <a:xfrm>
            <a:off x="1645920" y="6355080"/>
            <a:ext cx="182880" cy="182880"/>
          </a:xfrm>
          <a:prstGeom prst="ellipse">
            <a:avLst/>
          </a:prstGeom>
          <a:solidFill>
            <a:srgbClr val="C56AD9"/>
          </a:solidFill>
          <a:ln w="12700">
            <a:solidFill>
              <a:srgbClr val="333333"/>
            </a:solidFill>
            <a:prstDash val="solid"/>
          </a:ln>
        </p:spPr>
      </p:sp>
      <p:sp>
        <p:nvSpPr>
          <p:cNvPr id="17" name="Shape 15"/>
          <p:cNvSpPr/>
          <p:nvPr/>
        </p:nvSpPr>
        <p:spPr>
          <a:xfrm>
            <a:off x="1975104" y="6355080"/>
            <a:ext cx="182880" cy="182880"/>
          </a:xfrm>
          <a:prstGeom prst="ellipse">
            <a:avLst/>
          </a:prstGeom>
          <a:solidFill>
            <a:srgbClr val="5B83E8"/>
          </a:solidFill>
          <a:ln w="12700">
            <a:solidFill>
              <a:srgbClr val="333333"/>
            </a:solidFill>
            <a:prstDash val="solid"/>
          </a:ln>
        </p:spPr>
      </p:sp>
      <p:sp>
        <p:nvSpPr>
          <p:cNvPr id="18" name="Shape 16"/>
          <p:cNvSpPr/>
          <p:nvPr/>
        </p:nvSpPr>
        <p:spPr>
          <a:xfrm>
            <a:off x="2304288" y="6355080"/>
            <a:ext cx="182880" cy="182880"/>
          </a:xfrm>
          <a:prstGeom prst="ellipse">
            <a:avLst/>
          </a:prstGeom>
          <a:solidFill>
            <a:srgbClr val="3C5FA8"/>
          </a:solidFill>
          <a:ln w="12700">
            <a:solidFill>
              <a:srgbClr val="333333"/>
            </a:solidFill>
            <a:prstDash val="solid"/>
          </a:ln>
        </p:spPr>
      </p:sp>
      <p:sp>
        <p:nvSpPr>
          <p:cNvPr id="19" name="Shape 17"/>
          <p:cNvSpPr/>
          <p:nvPr/>
        </p:nvSpPr>
        <p:spPr>
          <a:xfrm>
            <a:off x="2633472" y="6355080"/>
            <a:ext cx="182880" cy="182880"/>
          </a:xfrm>
          <a:prstGeom prst="ellipse">
            <a:avLst/>
          </a:prstGeom>
          <a:solidFill>
            <a:srgbClr val="5BB84F"/>
          </a:solidFill>
          <a:ln w="12700">
            <a:solidFill>
              <a:srgbClr val="333333"/>
            </a:solidFill>
            <a:prstDash val="solid"/>
          </a:ln>
        </p:spPr>
      </p:sp>
      <p:sp>
        <p:nvSpPr>
          <p:cNvPr id="20" name="Shape 18"/>
          <p:cNvSpPr/>
          <p:nvPr/>
        </p:nvSpPr>
        <p:spPr>
          <a:xfrm>
            <a:off x="2962656" y="6355080"/>
            <a:ext cx="182880" cy="182880"/>
          </a:xfrm>
          <a:prstGeom prst="ellipse">
            <a:avLst/>
          </a:prstGeom>
          <a:solidFill>
            <a:srgbClr val="2BB0A3"/>
          </a:solidFill>
          <a:ln w="12700">
            <a:solidFill>
              <a:srgbClr val="333333"/>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2026-09-06T20:35:10Z</dcterms:created>
  <dcterms:modified xsi:type="dcterms:W3CDTF">2026-09-06T20:35:10Z</dcterms:modified>
</cp:coreProperties>
</file>